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ffbc32-91f9-762e-8e0f-86fff6d053a3}">
          <p14:sldIdLst>
            <p14:sldId id="256"/>
            <p14:sldId id="257"/>
            <p14:sldId id="258"/>
          </p14:sldIdLst>
        </p14:section>
        <p14:section name="Interface" id="{78d3544c-216f-a9ab-b373-c7aef7fd0a7b}">
          <p14:sldIdLst>
            <p14:sldId id="259"/>
            <p14:sldId id="260"/>
          </p14:sldIdLst>
        </p14:section>
        <p14:section name="Camions" id="{d7aa763f-575e-96c1-660c-556dc1b673c5}">
          <p14:sldIdLst>
            <p14:sldId id="261"/>
            <p14:sldId id="262"/>
            <p14:sldId id="263"/>
          </p14:sldIdLst>
        </p14:section>
        <p14:section name="Chauffeurs et personnel" id="{8ed6b036-d91a-a43e-fb79-ceaebfa0b5ce}">
          <p14:sldIdLst>
            <p14:sldId id="264"/>
            <p14:sldId id="265"/>
            <p14:sldId id="266"/>
          </p14:sldIdLst>
        </p14:section>
        <p14:section name="Trajets" id="{7213bb97-6ead-8ba4-02a1-f5d99dff306c}">
          <p14:sldIdLst>
            <p14:sldId id="267"/>
            <p14:sldId id="268"/>
            <p14:sldId id="269"/>
          </p14:sldIdLst>
        </p14:section>
        <p14:section name="Carburant, finances et suivi" id="{86d4e9d2-1a2d-7058-3e9b-856834f5a4c7}">
          <p14:sldIdLst>
            <p14:sldId id="270"/>
            <p14:sldId id="271"/>
            <p14:sldId id="272"/>
            <p14:sldId id="273"/>
          </p14:sldIdLst>
        </p14:section>
        <p14:section name="Ateliers" id="{9b31fddd-f788-c287-63d4-cfa0fc4b1d59}">
          <p14:sldIdLst>
            <p14:sldId id="274"/>
            <p14:sldId id="275"/>
            <p14:sldId id="276"/>
          </p14:sldIdLst>
        </p14:section>
        <p14:section name="Coûts et bonnes pratiques" id="{5b5541ae-c90a-411c-ad8c-3fc1dcefd6ed}">
          <p14:sldIdLst>
            <p14:sldId id="277"/>
            <p14:sldId id="278"/>
          </p14:sldIdLst>
        </p14:section>
        <p14:section name="Conclusion" id="{e3781447-1729-c110-591b-b359ac457e79}">
          <p14:sldIdLst>
            <p14:sldId id="279"/>
            <p14:sldId id="280"/>
          </p14:sldIdLst>
        </p14:section>
        <p14:section name="Après la formation" id="{bdb5732c-2eb9-b73e-7111-29f674ef2743}">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Accueillir les participants, se présenter et faire un rapide tour de table (nom, service, utilisation prévue de l'application). Compléter les champs Organisation, Formateur et Date avant la séance. Annoncer la durée (environ 2 h) et l'alternance entre explications, démonstrations et exercices en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objectifs et le déroulé. Les durées sont indicatives : les ajuster selon le groupe. Préciser que certains écrans seront vus plus en détail lors de séances complémentaires (feuille de route en fin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aux participants comment ces informations sont suivies aujourd'hui (papier, tableurs, appels). Présenter les quatre domaines. Prévenir que le nom technique « Track » peut apparaître dans certains menus : il s'agit bien de Division Terrestre Internationale. On garde les libellés anglais des menus pour se repérer à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se connecter et parcourir le menu latéral sans ouvrir de formulaire. Lire à voix haute les libellés des menus tels qu'ils apparaissent. Une fois la capture ajoutée, placer les repères 1 à 4 avec des flèches ou des encadrés. Ne décrire que les zones réellement visibles sur la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chaque indicateur à partir de la capture, en rappelant que les chiffres sont des exemples d'écran. EXERCICE RAPIDE : demander à un participant de dire où il regarderait d'abord pour savoir si une alerte demande une action. Ne pas interpréter de calcul qui ne serait pas visible à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ouvrir « Vehicle Management », rechercher un véhicule par immatriculation, puis par modèle. Appliquer un filtre de statut. Basculer entre la vue en cartes et la vue en liste si l'écran le permet. Utiliser uniquement des immatriculations fictives ou masquées dans les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une fiche avec le groupe. Insister sur la différence entre consulter une fiche (aucun risque) et la modifier (action réservée selon les permissions qui seront validées). Ne pas cliquer sur un bouton de modification pendant la démonstration. Si un bouton de modification est visible sur la capture, le signaler sans détailler la procédure.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seulement où se trouvent les menus « Vehicle Group » et « Route » dans le menu latéral. Ne pas décrire de procédure de création ou de modification tant que les captures correspondantes ne sont pas fournies. Ce sujet est approfondi dans une séance complémentaire.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ouvrir « Driver Info », filtrer par statut, puis rechercher un chauffeur par nom, numéro de permis ou contact. Sur les supports, remplacer les noms, numéros de permis et contacts par des exemples fictifs (ex. « Chauffeur A », « Permis 000-EXEMPLE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une fiche chauffeur. Insister sur la date d'expiration du permis : c'est une information à surveiller. Citer « Driver Performance » comme rubrique existante, sans décrire ses indicateurs : ils seront présentés lors d'une séance complémentaire avec une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Situer les rubriques du personnel dans le menu, avec leurs libellés exacts. Ne pas décrire les champs ni les procédures (ajout d'un employé, saisie de la présence, calcul de la paie) tant que les captures ne sont pas fournies. Noter les questions des participants RH pour la séance complémentaire dédiée. Les données du personnel sont sensibles : à masquer systématiquement.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quatre statuts tels qu'ils apparaissent dans l'application. Un trajet annulé (« Cancelled ») ne passe pas forcément par les autres statuts. Demander : « Où chercheriez-vous un trajet prévu demain ? » (réponse : Upcoming).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un trajet et parcourir les informations dans l'ordre des repères. Remplacer le nom du client et du chauffeur par des exemples fictifs sur la capture. Rappeler que l'on consulte : aucune modification pendant la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GUIDÉE : 1) ouvrir un trajet « Ongoing » ; 2) relever le véhicule et le chauffeur ; 3) retrouver le véhicule dans « Vehicle Management » et comparer le chauffeur associé ; 4) ouvrir le profil dans « Driver Info » et vérifier la date d'expiration du permis. Question au groupe : que faire si les informations ne concordent pas ? (réponse attendue : ne pas corriger soi-même sans droit, signaler au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recherche dans « Fuel Info » et lire une ligne : véhicule, date, quantité, coût, chauffeur, reçu. Signaler l'existence du bouton « Add Fuel » sans faire de saisie : la procédure d'ajout et le droit de saisie seront discutés dans l'atelier sur les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l'indicateur « transactions » du tableau de bord. Ne pas décrire de catégories, de calculs ni de procédures comptables tant que l'écran financier n'est pas fourni. Noter les questions des responsables finance pour la séance complémentaire dédiée.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Situer les trois menus et expliquer leur rôle général. Ne pas détailler la création d'un entretien, d'un rappel ou d'un mouvement de stock. Demander qui, dans l'organisation, s'occupe aujourd'hui de l'entretien et des pièces : utile pour l'atelier sur les 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l'utilité générale des trois rubriques. Faire le lien avec l'indicateur « alertes » du tableau de bord. Ne pas décrire de réglages (création de zone, seuils d'alerte) sans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Former des groupes en mélangeant les services. Chaque groupe indique, pour chaque activité, quel métier la réalise aujourd'hui et lequel devrait la réaliser dans l'application. Mise en commun de 5 minutes : noter les réponses au tableau. Elles servent de base directe à l'atelier sur les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la matrice avec les participants, rôle par rôle, à partir des réponses de l'atelier précédent. Pour chaque case : « Ce rôle a-t-il besoin de ce droit pour faire son travail ? ». Principe à rappeler : donner le minimum nécessaire. Préciser à plusieurs reprises qu'il s'agit d'une proposition : les droits réels doivent être validés par l'organisation et vérifiés dans l'application avant diffusion de la matrice. Photographier ou recopier la matrice remplie en fin d'atelier.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Attribuer un scénario par groupe (15 minutes). Utiliser un environnement de démonstration ou des données fictives. Consigne : consulter uniquement, ne rien créer ni modifier. Chaque groupe présente en une minute son chemin dans les menus. Scénario E : s'appuyer sur la matrice de l'atelier précédent ; la bonne réponse est le rôle retenu par le groupe, à confirmer par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uniquement les montants communiqués. Hébergement du serveur : 100 000 FCFA par an. Maintenance : 100 000 FCFA par mois, formation des agents comprise. Le premier paiement est de 300 000 FCFA : il couvre le premier mois de maintenance et deux mois payés d'avance (mois 2 et 3). À partir du quatrième mois, le règlement est mensuel : 100 000 FCFA par mois. Ne pas calculer ni annoncer d'autres frais. Renvoyer toute question contractuelle vers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responsabilité de chacun : une donnée erronée (mauvais camion, mauvais chauffeur) fausse les suivis de tous. Préciser à qui signaler une erreur ou un besoin de formation (contact à confirmer par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 Vehicle Management », recherche par nom, modèle ou immatriculation. 2) Dans « Driver Info », sur le profil du chauffeur. 3) « Upcoming ». 4) Véhicule, date, quantité, coût, chauffeur et reçu lorsqu'il est présent. 5) Dans les rubriques Employés, Présence et Paie du menu (libellés exacts à confirmer avec la capture). 6) Non : la matrice est une base de discussion, à valider par l'organisation puis à vérifier dans l'application avant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les acquis. Recueillir les questions restées sans réponse et les noter dans l'encadré « Questions à suivre » avec la personne chargée d'y répondre. Rappeler la suite : validation de la matrice des permissions et séances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ces sujets comme des approfondissements à planifier, pas comme du contenu de la formation initiale. Chaque séance nécessite les captures des écrans concernés. Dates et ordre à définir avec l'organisation selon les priorités des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2436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5"/>
                </a:solidFill>
              </a:rPr>
              <a:t>Division Terrestre Internationale — Formation initiale</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nchor="b"/>
          <a:lstStyle/>
          <a:p>
            <a:pPr indent="0" marL="0">
              <a:buNone/>
            </a:pPr>
            <a:r>
              <a:rPr lang="en-US" sz="3800" b="1" dirty="0">
                <a:solidFill>
                  <a:schemeClr val="bg1"/>
                </a:solidFill>
              </a:rPr>
              <a:t>Formation à Division Terrestre Internationale : gestion de flotte, du personnel et des finances</a:t>
            </a:r>
            <a:endParaRPr lang="en-US" sz="3800" dirty="0"/>
          </a:p>
        </p:txBody>
      </p:sp>
      <p:sp>
        <p:nvSpPr>
          <p:cNvPr id="3" name="Text 1"/>
          <p:cNvSpPr txBox="1"/>
          <p:nvPr/>
        </p:nvSpPr>
        <p:spPr>
          <a:xfrm>
            <a:off x="731520" y="3840480"/>
            <a:ext cx="10698480" cy="457200"/>
          </a:xfrm>
          <a:prstGeom prst="rect">
            <a:avLst/>
          </a:prstGeom>
          <a:noFill/>
          <a:ln/>
        </p:spPr>
        <p:txBody>
          <a:bodyPr wrap="square" rtlCol="0" anchor="t"/>
          <a:lstStyle/>
          <a:p>
            <a:pPr indent="0" marL="0">
              <a:buNone/>
            </a:pPr>
            <a:r>
              <a:rPr lang="en-US" sz="1800" dirty="0">
                <a:solidFill>
                  <a:schemeClr val="accent1"/>
                </a:solidFill>
              </a:rPr>
              <a:t>Formation initiale — environ 2 heures, avec démonstrations et exercices en groupe</a:t>
            </a:r>
            <a:endParaRPr lang="en-US" sz="1800" dirty="0"/>
          </a:p>
        </p:txBody>
      </p:sp>
      <p:sp>
        <p:nvSpPr>
          <p:cNvPr id="4" name="Text 2"/>
          <p:cNvSpPr txBox="1"/>
          <p:nvPr/>
        </p:nvSpPr>
        <p:spPr>
          <a:xfrm>
            <a:off x="731520" y="4663440"/>
            <a:ext cx="5486400" cy="1188720"/>
          </a:xfrm>
          <a:prstGeom prst="rect">
            <a:avLst/>
          </a:prstGeom>
          <a:noFill/>
          <a:ln/>
        </p:spPr>
        <p:txBody>
          <a:bodyPr wrap="square" rtlCol="0" anchor="t"/>
          <a:lstStyle/>
          <a:p>
            <a:pPr indent="0" marL="0">
              <a:spcAft>
                <a:spcPts val="400"/>
              </a:spcAft>
              <a:buNone/>
            </a:pPr>
            <a:r>
              <a:rPr lang="en-US" sz="1600" dirty="0">
                <a:solidFill>
                  <a:schemeClr val="bg1"/>
                </a:solidFill>
              </a:rPr>
              <a:t>Organisation : [à compléter]</a:t>
            </a:r>
            <a:endParaRPr lang="en-US" sz="1600" dirty="0"/>
          </a:p>
          <a:p>
            <a:pPr indent="0" marL="0">
              <a:spcAft>
                <a:spcPts val="400"/>
              </a:spcAft>
              <a:buNone/>
            </a:pPr>
            <a:r>
              <a:rPr lang="en-US" sz="1600" dirty="0">
                <a:solidFill>
                  <a:schemeClr val="bg1"/>
                </a:solidFill>
              </a:rPr>
              <a:t>Formateur : [à compléter]</a:t>
            </a:r>
            <a:endParaRPr lang="en-US" sz="1600" dirty="0"/>
          </a:p>
          <a:p>
            <a:pPr indent="0" marL="0">
              <a:spcAft>
                <a:spcPts val="400"/>
              </a:spcAft>
              <a:buNone/>
            </a:pPr>
            <a:r>
              <a:rPr lang="en-US" sz="1600" dirty="0">
                <a:solidFill>
                  <a:schemeClr val="bg1"/>
                </a:solidFill>
              </a:rPr>
              <a:t>Date : [à compléter]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Objectifs et déroulé de la séance</a:t>
            </a:r>
            <a:endParaRPr lang="en-US" sz="3000" dirty="0"/>
          </a:p>
        </p:txBody>
      </p:sp>
      <p:sp>
        <p:nvSpPr>
          <p:cNvPr id="3" name="Text 1"/>
          <p:cNvSpPr txBox="1"/>
          <p:nvPr/>
        </p:nvSpPr>
        <p:spPr>
          <a:xfrm>
            <a:off x="548640" y="1280160"/>
            <a:ext cx="5486400" cy="365760"/>
          </a:xfrm>
          <a:prstGeom prst="rect">
            <a:avLst/>
          </a:prstGeom>
          <a:noFill/>
          <a:ln/>
        </p:spPr>
        <p:txBody>
          <a:bodyPr wrap="square" rtlCol="0" anchor="t"/>
          <a:lstStyle/>
          <a:p>
            <a:pPr indent="0" marL="0">
              <a:buNone/>
            </a:pPr>
            <a:r>
              <a:rPr lang="en-US" sz="1500" b="1" dirty="0">
                <a:solidFill>
                  <a:schemeClr val="tx2"/>
                </a:solidFill>
              </a:rPr>
              <a:t>À la fin de la formation, vous saurez :</a:t>
            </a:r>
            <a:endParaRPr lang="en-US" sz="1500" dirty="0"/>
          </a:p>
        </p:txBody>
      </p:sp>
      <p:sp>
        <p:nvSpPr>
          <p:cNvPr id="4" name="Text 2"/>
          <p:cNvSpPr txBox="1"/>
          <p:nvPr/>
        </p:nvSpPr>
        <p:spPr>
          <a:xfrm>
            <a:off x="548640" y="1737360"/>
            <a:ext cx="5486400" cy="438912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Comprendre les fonctions de base de l'application</a:t>
            </a:r>
            <a:endParaRPr lang="en-US" sz="1500" dirty="0"/>
          </a:p>
          <a:p>
            <a:pPr marL="342900" indent="-342900">
              <a:spcAft>
                <a:spcPts val="600"/>
              </a:spcAft>
              <a:buSzPct val="100000"/>
              <a:buChar char="•"/>
            </a:pPr>
            <a:r>
              <a:rPr lang="en-US" sz="1500" dirty="0">
                <a:solidFill>
                  <a:schemeClr val="tx1"/>
                </a:solidFill>
              </a:rPr>
              <a:t>Retrouver les informations sur les camions, les chauffeurs et le personnel</a:t>
            </a:r>
            <a:endParaRPr lang="en-US" sz="1500" dirty="0"/>
          </a:p>
          <a:p>
            <a:pPr marL="342900" indent="-342900">
              <a:spcAft>
                <a:spcPts val="600"/>
              </a:spcAft>
              <a:buSzPct val="100000"/>
              <a:buChar char="•"/>
            </a:pPr>
            <a:r>
              <a:rPr lang="en-US" sz="1500" dirty="0">
                <a:solidFill>
                  <a:schemeClr val="tx1"/>
                </a:solidFill>
              </a:rPr>
              <a:t>Comprendre les informations financières présentées</a:t>
            </a:r>
            <a:endParaRPr lang="en-US" sz="1500" dirty="0"/>
          </a:p>
          <a:p>
            <a:pPr marL="342900" indent="-342900">
              <a:spcAft>
                <a:spcPts val="600"/>
              </a:spcAft>
              <a:buSzPct val="100000"/>
              <a:buChar char="•"/>
            </a:pPr>
            <a:r>
              <a:rPr lang="en-US" sz="1500" dirty="0">
                <a:solidFill>
                  <a:schemeClr val="tx1"/>
                </a:solidFill>
              </a:rPr>
              <a:t>Savoir qui est responsable de chaque opération</a:t>
            </a:r>
            <a:endParaRPr lang="en-US" sz="1500" dirty="0"/>
          </a:p>
          <a:p>
            <a:pPr marL="342900" indent="-342900">
              <a:spcAft>
                <a:spcPts val="600"/>
              </a:spcAft>
              <a:buSzPct val="100000"/>
              <a:buChar char="•"/>
            </a:pPr>
            <a:r>
              <a:rPr lang="en-US" sz="1500" dirty="0">
                <a:solidFill>
                  <a:schemeClr val="tx1"/>
                </a:solidFill>
              </a:rPr>
              <a:t>Définir en groupe les permissions nécessaires selon les rôles</a:t>
            </a:r>
            <a:endParaRPr lang="en-US" sz="1500" dirty="0"/>
          </a:p>
          <a:p>
            <a:pPr marL="342900" indent="-342900">
              <a:spcAft>
                <a:spcPts val="600"/>
              </a:spcAft>
              <a:buSzPct val="100000"/>
              <a:buChar char="•"/>
            </a:pPr>
            <a:r>
              <a:rPr lang="en-US" sz="1500" dirty="0">
                <a:solidFill>
                  <a:schemeClr val="tx1"/>
                </a:solidFill>
              </a:rPr>
              <a:t>Connaître les coûts d'hébergement et de maintenance</a:t>
            </a:r>
            <a:endParaRPr lang="en-US" sz="1500" dirty="0"/>
          </a:p>
        </p:txBody>
      </p:sp>
      <p:sp>
        <p:nvSpPr>
          <p:cNvPr id="5" name="Shape 3"/>
          <p:cNvSpPr/>
          <p:nvPr/>
        </p:nvSpPr>
        <p:spPr>
          <a:xfrm>
            <a:off x="6583680" y="1371600"/>
            <a:ext cx="5029200" cy="777240"/>
          </a:xfrm>
          <a:prstGeom prst="roundRect">
            <a:avLst>
              <a:gd name="adj" fmla="val 9412"/>
            </a:avLst>
          </a:prstGeom>
          <a:solidFill>
            <a:schemeClr val="bg2"/>
          </a:solidFill>
          <a:ln w="12700">
            <a:solidFill>
              <a:schemeClr val="bg2"/>
            </a:solidFill>
            <a:prstDash val="solid"/>
          </a:ln>
        </p:spPr>
      </p:sp>
      <p:sp>
        <p:nvSpPr>
          <p:cNvPr id="6" name="Text 4"/>
          <p:cNvSpPr txBox="1"/>
          <p:nvPr/>
        </p:nvSpPr>
        <p:spPr>
          <a:xfrm>
            <a:off x="6720840" y="1371600"/>
            <a:ext cx="1188720" cy="777240"/>
          </a:xfrm>
          <a:prstGeom prst="rect">
            <a:avLst/>
          </a:prstGeom>
          <a:noFill/>
          <a:ln/>
        </p:spPr>
        <p:txBody>
          <a:bodyPr wrap="square" rtlCol="0" anchor="ctr"/>
          <a:lstStyle/>
          <a:p>
            <a:pPr indent="0" marL="0">
              <a:buNone/>
            </a:pPr>
            <a:r>
              <a:rPr lang="en-US" sz="1500" b="1" dirty="0">
                <a:solidFill>
                  <a:schemeClr val="accent2"/>
                </a:solidFill>
              </a:rPr>
              <a:t>15 min</a:t>
            </a:r>
            <a:endParaRPr lang="en-US" sz="1500" dirty="0"/>
          </a:p>
        </p:txBody>
      </p:sp>
      <p:sp>
        <p:nvSpPr>
          <p:cNvPr id="7" name="Text 5"/>
          <p:cNvSpPr txBox="1"/>
          <p:nvPr/>
        </p:nvSpPr>
        <p:spPr>
          <a:xfrm>
            <a:off x="7909560" y="1371600"/>
            <a:ext cx="3566160" cy="777240"/>
          </a:xfrm>
          <a:prstGeom prst="rect">
            <a:avLst/>
          </a:prstGeom>
          <a:noFill/>
          <a:ln/>
        </p:spPr>
        <p:txBody>
          <a:bodyPr wrap="square" rtlCol="0" anchor="ctr"/>
          <a:lstStyle/>
          <a:p>
            <a:pPr indent="0" marL="0">
              <a:buNone/>
            </a:pPr>
            <a:r>
              <a:rPr lang="en-US" sz="1500" dirty="0">
                <a:solidFill>
                  <a:schemeClr val="tx1"/>
                </a:solidFill>
              </a:rPr>
              <a:t>Introduction et interface</a:t>
            </a:r>
            <a:endParaRPr lang="en-US" sz="1500" dirty="0"/>
          </a:p>
        </p:txBody>
      </p:sp>
      <p:sp>
        <p:nvSpPr>
          <p:cNvPr id="8" name="Shape 6"/>
          <p:cNvSpPr/>
          <p:nvPr/>
        </p:nvSpPr>
        <p:spPr>
          <a:xfrm>
            <a:off x="6583680" y="2304288"/>
            <a:ext cx="5029200" cy="777240"/>
          </a:xfrm>
          <a:prstGeom prst="roundRect">
            <a:avLst>
              <a:gd name="adj" fmla="val 9412"/>
            </a:avLst>
          </a:prstGeom>
          <a:solidFill>
            <a:schemeClr val="bg2"/>
          </a:solidFill>
          <a:ln w="12700">
            <a:solidFill>
              <a:schemeClr val="bg2"/>
            </a:solidFill>
            <a:prstDash val="solid"/>
          </a:ln>
        </p:spPr>
      </p:sp>
      <p:sp>
        <p:nvSpPr>
          <p:cNvPr id="9" name="Text 7"/>
          <p:cNvSpPr txBox="1"/>
          <p:nvPr/>
        </p:nvSpPr>
        <p:spPr>
          <a:xfrm>
            <a:off x="6720840" y="2304288"/>
            <a:ext cx="1188720" cy="777240"/>
          </a:xfrm>
          <a:prstGeom prst="rect">
            <a:avLst/>
          </a:prstGeom>
          <a:noFill/>
          <a:ln/>
        </p:spPr>
        <p:txBody>
          <a:bodyPr wrap="square" rtlCol="0" anchor="ctr"/>
          <a:lstStyle/>
          <a:p>
            <a:pPr indent="0" marL="0">
              <a:buNone/>
            </a:pPr>
            <a:r>
              <a:rPr lang="en-US" sz="1500" b="1" dirty="0">
                <a:solidFill>
                  <a:schemeClr val="accent2"/>
                </a:solidFill>
              </a:rPr>
              <a:t>45 min</a:t>
            </a:r>
            <a:endParaRPr lang="en-US" sz="1500" dirty="0"/>
          </a:p>
        </p:txBody>
      </p:sp>
      <p:sp>
        <p:nvSpPr>
          <p:cNvPr id="10" name="Text 8"/>
          <p:cNvSpPr txBox="1"/>
          <p:nvPr/>
        </p:nvSpPr>
        <p:spPr>
          <a:xfrm>
            <a:off x="7909560" y="2304288"/>
            <a:ext cx="3566160" cy="777240"/>
          </a:xfrm>
          <a:prstGeom prst="rect">
            <a:avLst/>
          </a:prstGeom>
          <a:noFill/>
          <a:ln/>
        </p:spPr>
        <p:txBody>
          <a:bodyPr wrap="square" rtlCol="0" anchor="ctr"/>
          <a:lstStyle/>
          <a:p>
            <a:pPr indent="0" marL="0">
              <a:buNone/>
            </a:pPr>
            <a:r>
              <a:rPr lang="en-US" sz="1500" dirty="0">
                <a:solidFill>
                  <a:schemeClr val="tx1"/>
                </a:solidFill>
              </a:rPr>
              <a:t>Camions, chauffeurs, personnel, trajets</a:t>
            </a:r>
            <a:endParaRPr lang="en-US" sz="1500" dirty="0"/>
          </a:p>
        </p:txBody>
      </p:sp>
      <p:sp>
        <p:nvSpPr>
          <p:cNvPr id="11" name="Shape 9"/>
          <p:cNvSpPr/>
          <p:nvPr/>
        </p:nvSpPr>
        <p:spPr>
          <a:xfrm>
            <a:off x="6583680" y="3236976"/>
            <a:ext cx="5029200" cy="777240"/>
          </a:xfrm>
          <a:prstGeom prst="roundRect">
            <a:avLst>
              <a:gd name="adj" fmla="val 9412"/>
            </a:avLst>
          </a:prstGeom>
          <a:solidFill>
            <a:schemeClr val="bg2"/>
          </a:solidFill>
          <a:ln w="12700">
            <a:solidFill>
              <a:schemeClr val="bg2"/>
            </a:solidFill>
            <a:prstDash val="solid"/>
          </a:ln>
        </p:spPr>
      </p:sp>
      <p:sp>
        <p:nvSpPr>
          <p:cNvPr id="12" name="Text 10"/>
          <p:cNvSpPr txBox="1"/>
          <p:nvPr/>
        </p:nvSpPr>
        <p:spPr>
          <a:xfrm>
            <a:off x="6720840" y="3236976"/>
            <a:ext cx="1188720" cy="777240"/>
          </a:xfrm>
          <a:prstGeom prst="rect">
            <a:avLst/>
          </a:prstGeom>
          <a:noFill/>
          <a:ln/>
        </p:spPr>
        <p:txBody>
          <a:bodyPr wrap="square" rtlCol="0" anchor="ctr"/>
          <a:lstStyle/>
          <a:p>
            <a:pPr indent="0" marL="0">
              <a:buNone/>
            </a:pPr>
            <a:r>
              <a:rPr lang="en-US" sz="1500" b="1" dirty="0">
                <a:solidFill>
                  <a:schemeClr val="accent2"/>
                </a:solidFill>
              </a:rPr>
              <a:t>20 min</a:t>
            </a:r>
            <a:endParaRPr lang="en-US" sz="1500" dirty="0"/>
          </a:p>
        </p:txBody>
      </p:sp>
      <p:sp>
        <p:nvSpPr>
          <p:cNvPr id="13" name="Text 11"/>
          <p:cNvSpPr txBox="1"/>
          <p:nvPr/>
        </p:nvSpPr>
        <p:spPr>
          <a:xfrm>
            <a:off x="7909560" y="3236976"/>
            <a:ext cx="3566160" cy="777240"/>
          </a:xfrm>
          <a:prstGeom prst="rect">
            <a:avLst/>
          </a:prstGeom>
          <a:noFill/>
          <a:ln/>
        </p:spPr>
        <p:txBody>
          <a:bodyPr wrap="square" rtlCol="0" anchor="ctr"/>
          <a:lstStyle/>
          <a:p>
            <a:pPr indent="0" marL="0">
              <a:buNone/>
            </a:pPr>
            <a:r>
              <a:rPr lang="en-US" sz="1500" dirty="0">
                <a:solidFill>
                  <a:schemeClr val="tx1"/>
                </a:solidFill>
              </a:rPr>
              <a:t>Carburant, finances, entretien, suivi</a:t>
            </a:r>
            <a:endParaRPr lang="en-US" sz="1500" dirty="0"/>
          </a:p>
        </p:txBody>
      </p:sp>
      <p:sp>
        <p:nvSpPr>
          <p:cNvPr id="14" name="Shape 12"/>
          <p:cNvSpPr/>
          <p:nvPr/>
        </p:nvSpPr>
        <p:spPr>
          <a:xfrm>
            <a:off x="6583680" y="4169664"/>
            <a:ext cx="5029200" cy="777240"/>
          </a:xfrm>
          <a:prstGeom prst="roundRect">
            <a:avLst>
              <a:gd name="adj" fmla="val 9412"/>
            </a:avLst>
          </a:prstGeom>
          <a:solidFill>
            <a:schemeClr val="bg2"/>
          </a:solidFill>
          <a:ln w="12700">
            <a:solidFill>
              <a:schemeClr val="bg2"/>
            </a:solidFill>
            <a:prstDash val="solid"/>
          </a:ln>
        </p:spPr>
      </p:sp>
      <p:sp>
        <p:nvSpPr>
          <p:cNvPr id="15" name="Text 13"/>
          <p:cNvSpPr txBox="1"/>
          <p:nvPr/>
        </p:nvSpPr>
        <p:spPr>
          <a:xfrm>
            <a:off x="6720840" y="4169664"/>
            <a:ext cx="1188720" cy="777240"/>
          </a:xfrm>
          <a:prstGeom prst="rect">
            <a:avLst/>
          </a:prstGeom>
          <a:noFill/>
          <a:ln/>
        </p:spPr>
        <p:txBody>
          <a:bodyPr wrap="square" rtlCol="0" anchor="ctr"/>
          <a:lstStyle/>
          <a:p>
            <a:pPr indent="0" marL="0">
              <a:buNone/>
            </a:pPr>
            <a:r>
              <a:rPr lang="en-US" sz="1500" b="1" dirty="0">
                <a:solidFill>
                  <a:schemeClr val="accent2"/>
                </a:solidFill>
              </a:rPr>
              <a:t>30 min</a:t>
            </a:r>
            <a:endParaRPr lang="en-US" sz="1500" dirty="0"/>
          </a:p>
        </p:txBody>
      </p:sp>
      <p:sp>
        <p:nvSpPr>
          <p:cNvPr id="16" name="Text 14"/>
          <p:cNvSpPr txBox="1"/>
          <p:nvPr/>
        </p:nvSpPr>
        <p:spPr>
          <a:xfrm>
            <a:off x="7909560" y="4169664"/>
            <a:ext cx="3566160" cy="777240"/>
          </a:xfrm>
          <a:prstGeom prst="rect">
            <a:avLst/>
          </a:prstGeom>
          <a:noFill/>
          <a:ln/>
        </p:spPr>
        <p:txBody>
          <a:bodyPr wrap="square" rtlCol="0" anchor="ctr"/>
          <a:lstStyle/>
          <a:p>
            <a:pPr indent="0" marL="0">
              <a:buNone/>
            </a:pPr>
            <a:r>
              <a:rPr lang="en-US" sz="1500" dirty="0">
                <a:solidFill>
                  <a:schemeClr val="tx1"/>
                </a:solidFill>
              </a:rPr>
              <a:t>Ateliers : rôles, permissions, exercice</a:t>
            </a:r>
            <a:endParaRPr lang="en-US" sz="1500" dirty="0"/>
          </a:p>
        </p:txBody>
      </p:sp>
      <p:sp>
        <p:nvSpPr>
          <p:cNvPr id="17" name="Shape 15"/>
          <p:cNvSpPr/>
          <p:nvPr/>
        </p:nvSpPr>
        <p:spPr>
          <a:xfrm>
            <a:off x="6583680" y="5102352"/>
            <a:ext cx="5029200" cy="777240"/>
          </a:xfrm>
          <a:prstGeom prst="roundRect">
            <a:avLst>
              <a:gd name="adj" fmla="val 9412"/>
            </a:avLst>
          </a:prstGeom>
          <a:solidFill>
            <a:schemeClr val="bg2"/>
          </a:solidFill>
          <a:ln w="12700">
            <a:solidFill>
              <a:schemeClr val="bg2"/>
            </a:solidFill>
            <a:prstDash val="solid"/>
          </a:ln>
        </p:spPr>
      </p:sp>
      <p:sp>
        <p:nvSpPr>
          <p:cNvPr id="18" name="Text 16"/>
          <p:cNvSpPr txBox="1"/>
          <p:nvPr/>
        </p:nvSpPr>
        <p:spPr>
          <a:xfrm>
            <a:off x="6720840" y="5102352"/>
            <a:ext cx="1188720" cy="777240"/>
          </a:xfrm>
          <a:prstGeom prst="rect">
            <a:avLst/>
          </a:prstGeom>
          <a:noFill/>
          <a:ln/>
        </p:spPr>
        <p:txBody>
          <a:bodyPr wrap="square" rtlCol="0" anchor="ctr"/>
          <a:lstStyle/>
          <a:p>
            <a:pPr indent="0" marL="0">
              <a:buNone/>
            </a:pPr>
            <a:r>
              <a:rPr lang="en-US" sz="1500" b="1" dirty="0">
                <a:solidFill>
                  <a:schemeClr val="accent2"/>
                </a:solidFill>
              </a:rPr>
              <a:t>10 min</a:t>
            </a:r>
            <a:endParaRPr lang="en-US" sz="1500" dirty="0"/>
          </a:p>
        </p:txBody>
      </p:sp>
      <p:sp>
        <p:nvSpPr>
          <p:cNvPr id="19" name="Text 17"/>
          <p:cNvSpPr txBox="1"/>
          <p:nvPr/>
        </p:nvSpPr>
        <p:spPr>
          <a:xfrm>
            <a:off x="7909560" y="5102352"/>
            <a:ext cx="3566160" cy="777240"/>
          </a:xfrm>
          <a:prstGeom prst="rect">
            <a:avLst/>
          </a:prstGeom>
          <a:noFill/>
          <a:ln/>
        </p:spPr>
        <p:txBody>
          <a:bodyPr wrap="square" rtlCol="0" anchor="ctr"/>
          <a:lstStyle/>
          <a:p>
            <a:pPr indent="0" marL="0">
              <a:buNone/>
            </a:pPr>
            <a:r>
              <a:rPr lang="en-US" sz="1500" dirty="0">
                <a:solidFill>
                  <a:schemeClr val="tx1"/>
                </a:solidFill>
              </a:rPr>
              <a:t>Coûts, bonnes pratiques, quiz, questions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Pourquoi utiliser l'application ?</a:t>
            </a:r>
            <a:endParaRPr lang="en-US" sz="3000" dirty="0"/>
          </a:p>
        </p:txBody>
      </p:sp>
      <p:sp>
        <p:nvSpPr>
          <p:cNvPr id="3" name="Text 1"/>
          <p:cNvSpPr txBox="1"/>
          <p:nvPr/>
        </p:nvSpPr>
        <p:spPr>
          <a:xfrm>
            <a:off x="548640" y="1234440"/>
            <a:ext cx="10972800" cy="457200"/>
          </a:xfrm>
          <a:prstGeom prst="rect">
            <a:avLst/>
          </a:prstGeom>
          <a:noFill/>
          <a:ln/>
        </p:spPr>
        <p:txBody>
          <a:bodyPr wrap="square" rtlCol="0" anchor="t"/>
          <a:lstStyle/>
          <a:p>
            <a:pPr indent="0" marL="0">
              <a:buNone/>
            </a:pPr>
            <a:r>
              <a:rPr lang="en-US" sz="1700" i="1" dirty="0">
                <a:solidFill>
                  <a:schemeClr val="accent2"/>
                </a:solidFill>
              </a:rPr>
              <a:t>Un seul outil pour suivre l'activité et retrouver la bonne information au bon moment.</a:t>
            </a:r>
            <a:endParaRPr lang="en-US" sz="1700" dirty="0"/>
          </a:p>
        </p:txBody>
      </p:sp>
      <p:sp>
        <p:nvSpPr>
          <p:cNvPr id="4" name="Shape 2"/>
          <p:cNvSpPr/>
          <p:nvPr/>
        </p:nvSpPr>
        <p:spPr>
          <a:xfrm>
            <a:off x="731520" y="205740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731520" y="20574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Shape 4"/>
          <p:cNvSpPr/>
          <p:nvPr/>
        </p:nvSpPr>
        <p:spPr>
          <a:xfrm>
            <a:off x="548640" y="2834640"/>
            <a:ext cx="2606040" cy="237744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731520" y="2971800"/>
            <a:ext cx="2240280" cy="2103120"/>
          </a:xfrm>
          <a:prstGeom prst="rect">
            <a:avLst/>
          </a:prstGeom>
          <a:noFill/>
          <a:ln/>
        </p:spPr>
        <p:txBody>
          <a:bodyPr wrap="square" rtlCol="0" anchor="t"/>
          <a:lstStyle/>
          <a:p>
            <a:pPr indent="0" marL="0">
              <a:spcAft>
                <a:spcPts val="600"/>
              </a:spcAft>
              <a:buNone/>
            </a:pPr>
            <a:r>
              <a:rPr lang="en-US" sz="1600" b="1" dirty="0">
                <a:solidFill>
                  <a:schemeClr val="tx2"/>
                </a:solidFill>
              </a:rPr>
              <a:t>Camions</a:t>
            </a:r>
            <a:endParaRPr lang="en-US" sz="1500" dirty="0"/>
          </a:p>
          <a:p>
            <a:pPr indent="0" marL="0">
              <a:buNone/>
            </a:pPr>
            <a:r>
              <a:rPr lang="en-US" sz="1400" dirty="0">
                <a:solidFill>
                  <a:schemeClr val="tx1"/>
                </a:solidFill>
              </a:rPr>
              <a:t>Retrouver un véhicule, son statut, son chauffeur et ses trajets.</a:t>
            </a:r>
            <a:endParaRPr lang="en-US" sz="1500" dirty="0"/>
          </a:p>
        </p:txBody>
      </p:sp>
      <p:sp>
        <p:nvSpPr>
          <p:cNvPr id="8" name="Shape 6"/>
          <p:cNvSpPr/>
          <p:nvPr/>
        </p:nvSpPr>
        <p:spPr>
          <a:xfrm>
            <a:off x="3566160" y="2057400"/>
            <a:ext cx="640080" cy="640080"/>
          </a:xfrm>
          <a:prstGeom prst="ellipse">
            <a:avLst/>
          </a:prstGeom>
          <a:solidFill>
            <a:schemeClr val="accent1"/>
          </a:solidFill>
          <a:ln w="12700">
            <a:solidFill>
              <a:schemeClr val="accent1"/>
            </a:solidFill>
            <a:prstDash val="solid"/>
          </a:ln>
        </p:spPr>
      </p:sp>
      <p:sp>
        <p:nvSpPr>
          <p:cNvPr id="9" name="Text 7"/>
          <p:cNvSpPr txBox="1"/>
          <p:nvPr/>
        </p:nvSpPr>
        <p:spPr>
          <a:xfrm>
            <a:off x="3566160" y="20574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Shape 8"/>
          <p:cNvSpPr/>
          <p:nvPr/>
        </p:nvSpPr>
        <p:spPr>
          <a:xfrm>
            <a:off x="3383280" y="2834640"/>
            <a:ext cx="2606040" cy="2377440"/>
          </a:xfrm>
          <a:prstGeom prst="roundRect">
            <a:avLst>
              <a:gd name="adj" fmla="val 3077"/>
            </a:avLst>
          </a:prstGeom>
          <a:solidFill>
            <a:schemeClr val="bg2"/>
          </a:solidFill>
          <a:ln w="12700">
            <a:solidFill>
              <a:schemeClr val="bg2"/>
            </a:solidFill>
            <a:prstDash val="solid"/>
          </a:ln>
        </p:spPr>
      </p:sp>
      <p:sp>
        <p:nvSpPr>
          <p:cNvPr id="11" name="Text 9"/>
          <p:cNvSpPr txBox="1"/>
          <p:nvPr/>
        </p:nvSpPr>
        <p:spPr>
          <a:xfrm>
            <a:off x="3566160" y="2971800"/>
            <a:ext cx="2240280" cy="2103120"/>
          </a:xfrm>
          <a:prstGeom prst="rect">
            <a:avLst/>
          </a:prstGeom>
          <a:noFill/>
          <a:ln/>
        </p:spPr>
        <p:txBody>
          <a:bodyPr wrap="square" rtlCol="0" anchor="t"/>
          <a:lstStyle/>
          <a:p>
            <a:pPr indent="0" marL="0">
              <a:spcAft>
                <a:spcPts val="600"/>
              </a:spcAft>
              <a:buNone/>
            </a:pPr>
            <a:r>
              <a:rPr lang="en-US" sz="1600" b="1" dirty="0">
                <a:solidFill>
                  <a:schemeClr val="tx2"/>
                </a:solidFill>
              </a:rPr>
              <a:t>Chauffeurs</a:t>
            </a:r>
            <a:endParaRPr lang="en-US" sz="1500" dirty="0"/>
          </a:p>
          <a:p>
            <a:pPr indent="0" marL="0">
              <a:buNone/>
            </a:pPr>
            <a:r>
              <a:rPr lang="en-US" sz="1400" dirty="0">
                <a:solidFill>
                  <a:schemeClr val="tx1"/>
                </a:solidFill>
              </a:rPr>
              <a:t>Consulter les profils, les permis et le suivi des chauffeurs.</a:t>
            </a:r>
            <a:endParaRPr lang="en-US" sz="1500" dirty="0"/>
          </a:p>
        </p:txBody>
      </p:sp>
      <p:sp>
        <p:nvSpPr>
          <p:cNvPr id="12" name="Shape 10"/>
          <p:cNvSpPr/>
          <p:nvPr/>
        </p:nvSpPr>
        <p:spPr>
          <a:xfrm>
            <a:off x="6400800" y="205740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6400800" y="20574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Shape 12"/>
          <p:cNvSpPr/>
          <p:nvPr/>
        </p:nvSpPr>
        <p:spPr>
          <a:xfrm>
            <a:off x="6217920" y="2834640"/>
            <a:ext cx="2606040" cy="2377440"/>
          </a:xfrm>
          <a:prstGeom prst="roundRect">
            <a:avLst>
              <a:gd name="adj" fmla="val 3077"/>
            </a:avLst>
          </a:prstGeom>
          <a:solidFill>
            <a:schemeClr val="bg2"/>
          </a:solidFill>
          <a:ln w="12700">
            <a:solidFill>
              <a:schemeClr val="bg2"/>
            </a:solidFill>
            <a:prstDash val="solid"/>
          </a:ln>
        </p:spPr>
      </p:sp>
      <p:sp>
        <p:nvSpPr>
          <p:cNvPr id="15" name="Text 13"/>
          <p:cNvSpPr txBox="1"/>
          <p:nvPr/>
        </p:nvSpPr>
        <p:spPr>
          <a:xfrm>
            <a:off x="6400800" y="2971800"/>
            <a:ext cx="2240280" cy="2103120"/>
          </a:xfrm>
          <a:prstGeom prst="rect">
            <a:avLst/>
          </a:prstGeom>
          <a:noFill/>
          <a:ln/>
        </p:spPr>
        <p:txBody>
          <a:bodyPr wrap="square" rtlCol="0" anchor="t"/>
          <a:lstStyle/>
          <a:p>
            <a:pPr indent="0" marL="0">
              <a:spcAft>
                <a:spcPts val="600"/>
              </a:spcAft>
              <a:buNone/>
            </a:pPr>
            <a:r>
              <a:rPr lang="en-US" sz="1600" b="1" dirty="0">
                <a:solidFill>
                  <a:schemeClr val="tx2"/>
                </a:solidFill>
              </a:rPr>
              <a:t>Personnel</a:t>
            </a:r>
            <a:endParaRPr lang="en-US" sz="1500" dirty="0"/>
          </a:p>
          <a:p>
            <a:pPr indent="0" marL="0">
              <a:buNone/>
            </a:pPr>
            <a:r>
              <a:rPr lang="en-US" sz="1400" dirty="0">
                <a:solidFill>
                  <a:schemeClr val="tx1"/>
                </a:solidFill>
              </a:rPr>
              <a:t>Accéder aux rubriques des employés, de la présence et de la paie.</a:t>
            </a:r>
            <a:endParaRPr lang="en-US" sz="1500" dirty="0"/>
          </a:p>
        </p:txBody>
      </p:sp>
      <p:sp>
        <p:nvSpPr>
          <p:cNvPr id="16" name="Shape 14"/>
          <p:cNvSpPr/>
          <p:nvPr/>
        </p:nvSpPr>
        <p:spPr>
          <a:xfrm>
            <a:off x="9235440" y="205740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9235440" y="20574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Shape 16"/>
          <p:cNvSpPr/>
          <p:nvPr/>
        </p:nvSpPr>
        <p:spPr>
          <a:xfrm>
            <a:off x="9052560" y="2834640"/>
            <a:ext cx="2606040" cy="2377440"/>
          </a:xfrm>
          <a:prstGeom prst="roundRect">
            <a:avLst>
              <a:gd name="adj" fmla="val 3077"/>
            </a:avLst>
          </a:prstGeom>
          <a:solidFill>
            <a:schemeClr val="bg2"/>
          </a:solidFill>
          <a:ln w="12700">
            <a:solidFill>
              <a:schemeClr val="bg2"/>
            </a:solidFill>
            <a:prstDash val="solid"/>
          </a:ln>
        </p:spPr>
      </p:sp>
      <p:sp>
        <p:nvSpPr>
          <p:cNvPr id="19" name="Text 17"/>
          <p:cNvSpPr txBox="1"/>
          <p:nvPr/>
        </p:nvSpPr>
        <p:spPr>
          <a:xfrm>
            <a:off x="9235440" y="2971800"/>
            <a:ext cx="2240280" cy="2103120"/>
          </a:xfrm>
          <a:prstGeom prst="rect">
            <a:avLst/>
          </a:prstGeom>
          <a:noFill/>
          <a:ln/>
        </p:spPr>
        <p:txBody>
          <a:bodyPr wrap="square" rtlCol="0" anchor="t"/>
          <a:lstStyle/>
          <a:p>
            <a:pPr indent="0" marL="0">
              <a:spcAft>
                <a:spcPts val="600"/>
              </a:spcAft>
              <a:buNone/>
            </a:pPr>
            <a:r>
              <a:rPr lang="en-US" sz="1600" b="1" dirty="0">
                <a:solidFill>
                  <a:schemeClr val="tx2"/>
                </a:solidFill>
              </a:rPr>
              <a:t>Finances</a:t>
            </a:r>
            <a:endParaRPr lang="en-US" sz="1500" dirty="0"/>
          </a:p>
          <a:p>
            <a:pPr indent="0" marL="0">
              <a:buNone/>
            </a:pPr>
            <a:r>
              <a:rPr lang="en-US" sz="1400" dirty="0">
                <a:solidFill>
                  <a:schemeClr val="tx1"/>
                </a:solidFill>
              </a:rPr>
              <a:t>Consulter les transactions et les coûts selon les écrans disponibles.</a:t>
            </a:r>
            <a:endParaRPr lang="en-US" sz="1500" dirty="0"/>
          </a:p>
        </p:txBody>
      </p:sp>
      <p:sp>
        <p:nvSpPr>
          <p:cNvPr id="20" name="Text 18"/>
          <p:cNvSpPr txBox="1"/>
          <p:nvPr/>
        </p:nvSpPr>
        <p:spPr>
          <a:xfrm>
            <a:off x="548640" y="5577840"/>
            <a:ext cx="10972800" cy="457200"/>
          </a:xfrm>
          <a:prstGeom prst="rect">
            <a:avLst/>
          </a:prstGeom>
          <a:noFill/>
          <a:ln/>
        </p:spPr>
        <p:txBody>
          <a:bodyPr wrap="square" rtlCol="0" anchor="t"/>
          <a:lstStyle/>
          <a:p>
            <a:pPr indent="0" marL="0">
              <a:buNone/>
            </a:pPr>
            <a:r>
              <a:rPr lang="en-US" sz="1200" dirty="0">
                <a:solidFill>
                  <a:schemeClr val="accent5"/>
                </a:solidFill>
              </a:rPr>
              <a:t>« Track » peut encore apparaître dans certains menus : c'est le nom technique de Division Terrestre Internationale.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Découvrir l'interface</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page d'accueil après connexion, menu latéral déplié</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1"/>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4" name="Shape 12"/>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Text 14"/>
          <p:cNvSpPr txBox="1"/>
          <p:nvPr/>
        </p:nvSpPr>
        <p:spPr>
          <a:xfrm>
            <a:off x="8138160" y="1746504"/>
            <a:ext cx="3502152" cy="777240"/>
          </a:xfrm>
          <a:prstGeom prst="rect">
            <a:avLst/>
          </a:prstGeom>
          <a:noFill/>
          <a:ln/>
        </p:spPr>
        <p:txBody>
          <a:bodyPr wrap="square" lIns="0" tIns="0" rIns="0" bIns="0" rtlCol="0" anchor="t"/>
          <a:lstStyle/>
          <a:p>
            <a:pPr indent="0" marL="0">
              <a:buNone/>
            </a:pPr>
            <a:r>
              <a:rPr lang="en-US" sz="1400" dirty="0">
                <a:solidFill>
                  <a:schemeClr val="tx1"/>
                </a:solidFill>
              </a:rPr>
              <a:t>Menu latéral : accès à toutes les rubriques (camions, chauffeurs, trajets, carburant…)</a:t>
            </a:r>
            <a:endParaRPr lang="en-US" sz="1400" dirty="0"/>
          </a:p>
        </p:txBody>
      </p:sp>
      <p:sp>
        <p:nvSpPr>
          <p:cNvPr id="17" name="Shape 15"/>
          <p:cNvSpPr/>
          <p:nvPr/>
        </p:nvSpPr>
        <p:spPr>
          <a:xfrm>
            <a:off x="7635240" y="25603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7635240" y="2560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8138160" y="2523744"/>
            <a:ext cx="3502152" cy="777240"/>
          </a:xfrm>
          <a:prstGeom prst="rect">
            <a:avLst/>
          </a:prstGeom>
          <a:noFill/>
          <a:ln/>
        </p:spPr>
        <p:txBody>
          <a:bodyPr wrap="square" lIns="0" tIns="0" rIns="0" bIns="0" rtlCol="0" anchor="t"/>
          <a:lstStyle/>
          <a:p>
            <a:pPr indent="0" marL="0">
              <a:buNone/>
            </a:pPr>
            <a:r>
              <a:rPr lang="en-US" sz="1400" dirty="0">
                <a:solidFill>
                  <a:schemeClr val="tx1"/>
                </a:solidFill>
              </a:rPr>
              <a:t>Tableau de bord : vue d'ensemble de l'activité</a:t>
            </a:r>
            <a:endParaRPr lang="en-US" sz="1400" dirty="0"/>
          </a:p>
        </p:txBody>
      </p:sp>
      <p:sp>
        <p:nvSpPr>
          <p:cNvPr id="20" name="Shape 18"/>
          <p:cNvSpPr/>
          <p:nvPr/>
        </p:nvSpPr>
        <p:spPr>
          <a:xfrm>
            <a:off x="7635240" y="333756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7635240" y="3337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2" name="Text 20"/>
          <p:cNvSpPr txBox="1"/>
          <p:nvPr/>
        </p:nvSpPr>
        <p:spPr>
          <a:xfrm>
            <a:off x="8138160" y="3300984"/>
            <a:ext cx="3502152" cy="777240"/>
          </a:xfrm>
          <a:prstGeom prst="rect">
            <a:avLst/>
          </a:prstGeom>
          <a:noFill/>
          <a:ln/>
        </p:spPr>
        <p:txBody>
          <a:bodyPr wrap="square" lIns="0" tIns="0" rIns="0" bIns="0" rtlCol="0" anchor="t"/>
          <a:lstStyle/>
          <a:p>
            <a:pPr indent="0" marL="0">
              <a:buNone/>
            </a:pPr>
            <a:r>
              <a:rPr lang="en-US" sz="1400" dirty="0">
                <a:solidFill>
                  <a:schemeClr val="tx1"/>
                </a:solidFill>
              </a:rPr>
              <a:t>Zone de navigation principale (en-tête, recherche, compte), selon la capture</a:t>
            </a:r>
            <a:endParaRPr lang="en-US" sz="1400" dirty="0"/>
          </a:p>
        </p:txBody>
      </p:sp>
      <p:sp>
        <p:nvSpPr>
          <p:cNvPr id="23" name="Shape 21"/>
          <p:cNvSpPr/>
          <p:nvPr/>
        </p:nvSpPr>
        <p:spPr>
          <a:xfrm>
            <a:off x="7635240" y="411480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7635240"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Text 23"/>
          <p:cNvSpPr txBox="1"/>
          <p:nvPr/>
        </p:nvSpPr>
        <p:spPr>
          <a:xfrm>
            <a:off x="8138160" y="4078224"/>
            <a:ext cx="3502152" cy="777240"/>
          </a:xfrm>
          <a:prstGeom prst="rect">
            <a:avLst/>
          </a:prstGeom>
          <a:noFill/>
          <a:ln/>
        </p:spPr>
        <p:txBody>
          <a:bodyPr wrap="square" lIns="0" tIns="0" rIns="0" bIns="0" rtlCol="0" anchor="t"/>
          <a:lstStyle/>
          <a:p>
            <a:pPr indent="0" marL="0">
              <a:buNone/>
            </a:pPr>
            <a:r>
              <a:rPr lang="en-US" sz="1400" dirty="0">
                <a:solidFill>
                  <a:schemeClr val="tx1"/>
                </a:solidFill>
              </a:rPr>
              <a:t>Mention « Track » éventuelle : nom technique de l'application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Lire le tableau de bord</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tableau de bord complet</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Shape 11"/>
          <p:cNvSpPr/>
          <p:nvPr/>
        </p:nvSpPr>
        <p:spPr>
          <a:xfrm>
            <a:off x="2788920" y="155448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278892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Shape 13"/>
          <p:cNvSpPr/>
          <p:nvPr/>
        </p:nvSpPr>
        <p:spPr>
          <a:xfrm>
            <a:off x="3291840" y="155448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32918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7" name="Text 15"/>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8" name="Shape 16"/>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0" name="Text 18"/>
          <p:cNvSpPr txBox="1"/>
          <p:nvPr/>
        </p:nvSpPr>
        <p:spPr>
          <a:xfrm>
            <a:off x="8138160" y="1746504"/>
            <a:ext cx="3502152" cy="731520"/>
          </a:xfrm>
          <a:prstGeom prst="rect">
            <a:avLst/>
          </a:prstGeom>
          <a:noFill/>
          <a:ln/>
        </p:spPr>
        <p:txBody>
          <a:bodyPr wrap="square" lIns="0" tIns="0" rIns="0" bIns="0" rtlCol="0" anchor="t"/>
          <a:lstStyle/>
          <a:p>
            <a:pPr indent="0" marL="0">
              <a:buNone/>
            </a:pPr>
            <a:r>
              <a:rPr lang="en-US" sz="1400" dirty="0">
                <a:solidFill>
                  <a:schemeClr val="tx1"/>
                </a:solidFill>
              </a:rPr>
              <a:t>Flotte : indicateurs sur les véhicules</a:t>
            </a:r>
            <a:endParaRPr lang="en-US" sz="1400" dirty="0"/>
          </a:p>
        </p:txBody>
      </p:sp>
      <p:sp>
        <p:nvSpPr>
          <p:cNvPr id="21" name="Shape 19"/>
          <p:cNvSpPr/>
          <p:nvPr/>
        </p:nvSpPr>
        <p:spPr>
          <a:xfrm>
            <a:off x="7635240" y="2514600"/>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7635240" y="25146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3" name="Text 21"/>
          <p:cNvSpPr txBox="1"/>
          <p:nvPr/>
        </p:nvSpPr>
        <p:spPr>
          <a:xfrm>
            <a:off x="8138160" y="2478024"/>
            <a:ext cx="3502152" cy="731520"/>
          </a:xfrm>
          <a:prstGeom prst="rect">
            <a:avLst/>
          </a:prstGeom>
          <a:noFill/>
          <a:ln/>
        </p:spPr>
        <p:txBody>
          <a:bodyPr wrap="square" lIns="0" tIns="0" rIns="0" bIns="0" rtlCol="0" anchor="t"/>
          <a:lstStyle/>
          <a:p>
            <a:pPr indent="0" marL="0">
              <a:buNone/>
            </a:pPr>
            <a:r>
              <a:rPr lang="en-US" sz="1400" dirty="0">
                <a:solidFill>
                  <a:schemeClr val="tx1"/>
                </a:solidFill>
              </a:rPr>
              <a:t>Chauffeurs : indicateurs sur les chauffeurs</a:t>
            </a:r>
            <a:endParaRPr lang="en-US" sz="1400" dirty="0"/>
          </a:p>
        </p:txBody>
      </p:sp>
      <p:sp>
        <p:nvSpPr>
          <p:cNvPr id="24" name="Shape 22"/>
          <p:cNvSpPr/>
          <p:nvPr/>
        </p:nvSpPr>
        <p:spPr>
          <a:xfrm>
            <a:off x="7635240" y="3246120"/>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7635240" y="32461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6" name="Text 24"/>
          <p:cNvSpPr txBox="1"/>
          <p:nvPr/>
        </p:nvSpPr>
        <p:spPr>
          <a:xfrm>
            <a:off x="8138160" y="3209544"/>
            <a:ext cx="3502152" cy="731520"/>
          </a:xfrm>
          <a:prstGeom prst="rect">
            <a:avLst/>
          </a:prstGeom>
          <a:noFill/>
          <a:ln/>
        </p:spPr>
        <p:txBody>
          <a:bodyPr wrap="square" lIns="0" tIns="0" rIns="0" bIns="0" rtlCol="0" anchor="t"/>
          <a:lstStyle/>
          <a:p>
            <a:pPr indent="0" marL="0">
              <a:buNone/>
            </a:pPr>
            <a:r>
              <a:rPr lang="en-US" sz="1400" dirty="0">
                <a:solidFill>
                  <a:schemeClr val="tx1"/>
                </a:solidFill>
              </a:rPr>
              <a:t>Trajets : activité en cours et à venir</a:t>
            </a:r>
            <a:endParaRPr lang="en-US" sz="1400" dirty="0"/>
          </a:p>
        </p:txBody>
      </p:sp>
      <p:sp>
        <p:nvSpPr>
          <p:cNvPr id="27" name="Shape 25"/>
          <p:cNvSpPr/>
          <p:nvPr/>
        </p:nvSpPr>
        <p:spPr>
          <a:xfrm>
            <a:off x="7635240" y="3977640"/>
            <a:ext cx="384048" cy="384048"/>
          </a:xfrm>
          <a:prstGeom prst="ellipse">
            <a:avLst/>
          </a:prstGeom>
          <a:solidFill>
            <a:schemeClr val="accent1"/>
          </a:solidFill>
          <a:ln w="12700">
            <a:solidFill>
              <a:schemeClr val="accent1"/>
            </a:solidFill>
            <a:prstDash val="solid"/>
          </a:ln>
        </p:spPr>
      </p:sp>
      <p:sp>
        <p:nvSpPr>
          <p:cNvPr id="28" name="Text 26"/>
          <p:cNvSpPr txBox="1"/>
          <p:nvPr/>
        </p:nvSpPr>
        <p:spPr>
          <a:xfrm>
            <a:off x="7635240" y="3977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9" name="Text 27"/>
          <p:cNvSpPr txBox="1"/>
          <p:nvPr/>
        </p:nvSpPr>
        <p:spPr>
          <a:xfrm>
            <a:off x="8138160" y="3941064"/>
            <a:ext cx="3502152" cy="731520"/>
          </a:xfrm>
          <a:prstGeom prst="rect">
            <a:avLst/>
          </a:prstGeom>
          <a:noFill/>
          <a:ln/>
        </p:spPr>
        <p:txBody>
          <a:bodyPr wrap="square" lIns="0" tIns="0" rIns="0" bIns="0" rtlCol="0" anchor="t"/>
          <a:lstStyle/>
          <a:p>
            <a:pPr indent="0" marL="0">
              <a:buNone/>
            </a:pPr>
            <a:r>
              <a:rPr lang="en-US" sz="1400" dirty="0">
                <a:solidFill>
                  <a:schemeClr val="tx1"/>
                </a:solidFill>
              </a:rPr>
              <a:t>Carburant : consommation et dépenses</a:t>
            </a:r>
            <a:endParaRPr lang="en-US" sz="1400" dirty="0"/>
          </a:p>
        </p:txBody>
      </p:sp>
      <p:sp>
        <p:nvSpPr>
          <p:cNvPr id="30" name="Shape 28"/>
          <p:cNvSpPr/>
          <p:nvPr/>
        </p:nvSpPr>
        <p:spPr>
          <a:xfrm>
            <a:off x="7635240" y="4709160"/>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7635240" y="47091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2" name="Text 30"/>
          <p:cNvSpPr txBox="1"/>
          <p:nvPr/>
        </p:nvSpPr>
        <p:spPr>
          <a:xfrm>
            <a:off x="8138160" y="4672584"/>
            <a:ext cx="3502152" cy="731520"/>
          </a:xfrm>
          <a:prstGeom prst="rect">
            <a:avLst/>
          </a:prstGeom>
          <a:noFill/>
          <a:ln/>
        </p:spPr>
        <p:txBody>
          <a:bodyPr wrap="square" lIns="0" tIns="0" rIns="0" bIns="0" rtlCol="0" anchor="t"/>
          <a:lstStyle/>
          <a:p>
            <a:pPr indent="0" marL="0">
              <a:buNone/>
            </a:pPr>
            <a:r>
              <a:rPr lang="en-US" sz="1400" dirty="0">
                <a:solidFill>
                  <a:schemeClr val="tx1"/>
                </a:solidFill>
              </a:rPr>
              <a:t>Transactions : mouvements financiers</a:t>
            </a:r>
            <a:endParaRPr lang="en-US" sz="1400" dirty="0"/>
          </a:p>
        </p:txBody>
      </p:sp>
      <p:sp>
        <p:nvSpPr>
          <p:cNvPr id="33" name="Shape 31"/>
          <p:cNvSpPr/>
          <p:nvPr/>
        </p:nvSpPr>
        <p:spPr>
          <a:xfrm>
            <a:off x="7635240" y="5440680"/>
            <a:ext cx="384048" cy="384048"/>
          </a:xfrm>
          <a:prstGeom prst="ellipse">
            <a:avLst/>
          </a:prstGeom>
          <a:solidFill>
            <a:schemeClr val="accent1"/>
          </a:solidFill>
          <a:ln w="12700">
            <a:solidFill>
              <a:schemeClr val="accent1"/>
            </a:solidFill>
            <a:prstDash val="solid"/>
          </a:ln>
        </p:spPr>
      </p:sp>
      <p:sp>
        <p:nvSpPr>
          <p:cNvPr id="34" name="Text 32"/>
          <p:cNvSpPr txBox="1"/>
          <p:nvPr/>
        </p:nvSpPr>
        <p:spPr>
          <a:xfrm>
            <a:off x="7635240" y="54406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5" name="Text 33"/>
          <p:cNvSpPr txBox="1"/>
          <p:nvPr/>
        </p:nvSpPr>
        <p:spPr>
          <a:xfrm>
            <a:off x="8138160" y="5404104"/>
            <a:ext cx="3502152" cy="731520"/>
          </a:xfrm>
          <a:prstGeom prst="rect">
            <a:avLst/>
          </a:prstGeom>
          <a:noFill/>
          <a:ln/>
        </p:spPr>
        <p:txBody>
          <a:bodyPr wrap="square" lIns="0" tIns="0" rIns="0" bIns="0" rtlCol="0" anchor="t"/>
          <a:lstStyle/>
          <a:p>
            <a:pPr indent="0" marL="0">
              <a:buNone/>
            </a:pPr>
            <a:r>
              <a:rPr lang="en-US" sz="1400" dirty="0">
                <a:solidFill>
                  <a:schemeClr val="tx1"/>
                </a:solidFill>
              </a:rPr>
              <a:t>Alertes : points à surveiller</a:t>
            </a:r>
            <a:endParaRPr lang="en-US" sz="1400" dirty="0"/>
          </a:p>
        </p:txBody>
      </p:sp>
      <p:sp>
        <p:nvSpPr>
          <p:cNvPr id="36" name="Text 34"/>
          <p:cNvSpPr txBox="1"/>
          <p:nvPr/>
        </p:nvSpPr>
        <p:spPr>
          <a:xfrm>
            <a:off x="548640" y="6217920"/>
            <a:ext cx="6766560" cy="182880"/>
          </a:xfrm>
          <a:prstGeom prst="rect">
            <a:avLst/>
          </a:prstGeom>
          <a:noFill/>
          <a:ln/>
        </p:spPr>
        <p:txBody>
          <a:bodyPr wrap="square" lIns="0" tIns="0" rIns="0" bIns="0" rtlCol="0" anchor="t"/>
          <a:lstStyle/>
          <a:p>
            <a:pPr indent="0" marL="0">
              <a:buNone/>
            </a:pPr>
            <a:r>
              <a:rPr lang="en-US" sz="1100" i="1" dirty="0">
                <a:solidFill>
                  <a:schemeClr val="accent4"/>
                </a:solidFill>
              </a:rPr>
              <a:t>Les chiffres affichés sont des exemples d'écran, pas des résultats réels.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Gestion des camions : retrouver un véhicule</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Vehicle Management — liste des véhicules</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1"/>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4" name="Shape 12"/>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Text 14"/>
          <p:cNvSpPr txBox="1"/>
          <p:nvPr/>
        </p:nvSpPr>
        <p:spPr>
          <a:xfrm>
            <a:off x="8138160" y="1746504"/>
            <a:ext cx="3502152" cy="777240"/>
          </a:xfrm>
          <a:prstGeom prst="rect">
            <a:avLst/>
          </a:prstGeom>
          <a:noFill/>
          <a:ln/>
        </p:spPr>
        <p:txBody>
          <a:bodyPr wrap="square" lIns="0" tIns="0" rIns="0" bIns="0" rtlCol="0" anchor="t"/>
          <a:lstStyle/>
          <a:p>
            <a:pPr indent="0" marL="0">
              <a:buNone/>
            </a:pPr>
            <a:r>
              <a:rPr lang="en-US" sz="1400" dirty="0">
                <a:solidFill>
                  <a:schemeClr val="tx1"/>
                </a:solidFill>
              </a:rPr>
              <a:t>Menu « Vehicle Management »</a:t>
            </a:r>
            <a:endParaRPr lang="en-US" sz="1400" dirty="0"/>
          </a:p>
        </p:txBody>
      </p:sp>
      <p:sp>
        <p:nvSpPr>
          <p:cNvPr id="17" name="Shape 15"/>
          <p:cNvSpPr/>
          <p:nvPr/>
        </p:nvSpPr>
        <p:spPr>
          <a:xfrm>
            <a:off x="7635240" y="25603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7635240" y="2560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8138160" y="2523744"/>
            <a:ext cx="3502152" cy="777240"/>
          </a:xfrm>
          <a:prstGeom prst="rect">
            <a:avLst/>
          </a:prstGeom>
          <a:noFill/>
          <a:ln/>
        </p:spPr>
        <p:txBody>
          <a:bodyPr wrap="square" lIns="0" tIns="0" rIns="0" bIns="0" rtlCol="0" anchor="t"/>
          <a:lstStyle/>
          <a:p>
            <a:pPr indent="0" marL="0">
              <a:buNone/>
            </a:pPr>
            <a:r>
              <a:rPr lang="en-US" sz="1400" dirty="0">
                <a:solidFill>
                  <a:schemeClr val="tx1"/>
                </a:solidFill>
              </a:rPr>
              <a:t>Recherche par nom, modèle ou immatriculation</a:t>
            </a:r>
            <a:endParaRPr lang="en-US" sz="1400" dirty="0"/>
          </a:p>
        </p:txBody>
      </p:sp>
      <p:sp>
        <p:nvSpPr>
          <p:cNvPr id="20" name="Shape 18"/>
          <p:cNvSpPr/>
          <p:nvPr/>
        </p:nvSpPr>
        <p:spPr>
          <a:xfrm>
            <a:off x="7635240" y="333756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7635240" y="3337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2" name="Text 20"/>
          <p:cNvSpPr txBox="1"/>
          <p:nvPr/>
        </p:nvSpPr>
        <p:spPr>
          <a:xfrm>
            <a:off x="8138160" y="3300984"/>
            <a:ext cx="3502152" cy="777240"/>
          </a:xfrm>
          <a:prstGeom prst="rect">
            <a:avLst/>
          </a:prstGeom>
          <a:noFill/>
          <a:ln/>
        </p:spPr>
        <p:txBody>
          <a:bodyPr wrap="square" lIns="0" tIns="0" rIns="0" bIns="0" rtlCol="0" anchor="t"/>
          <a:lstStyle/>
          <a:p>
            <a:pPr indent="0" marL="0">
              <a:buNone/>
            </a:pPr>
            <a:r>
              <a:rPr lang="en-US" sz="1400" dirty="0">
                <a:solidFill>
                  <a:schemeClr val="tx1"/>
                </a:solidFill>
              </a:rPr>
              <a:t>Filtres de statut</a:t>
            </a:r>
            <a:endParaRPr lang="en-US" sz="1400" dirty="0"/>
          </a:p>
        </p:txBody>
      </p:sp>
      <p:sp>
        <p:nvSpPr>
          <p:cNvPr id="23" name="Shape 21"/>
          <p:cNvSpPr/>
          <p:nvPr/>
        </p:nvSpPr>
        <p:spPr>
          <a:xfrm>
            <a:off x="7635240" y="411480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7635240"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Text 23"/>
          <p:cNvSpPr txBox="1"/>
          <p:nvPr/>
        </p:nvSpPr>
        <p:spPr>
          <a:xfrm>
            <a:off x="8138160" y="4078224"/>
            <a:ext cx="3502152" cy="777240"/>
          </a:xfrm>
          <a:prstGeom prst="rect">
            <a:avLst/>
          </a:prstGeom>
          <a:noFill/>
          <a:ln/>
        </p:spPr>
        <p:txBody>
          <a:bodyPr wrap="square" lIns="0" tIns="0" rIns="0" bIns="0" rtlCol="0" anchor="t"/>
          <a:lstStyle/>
          <a:p>
            <a:pPr indent="0" marL="0">
              <a:buNone/>
            </a:pPr>
            <a:r>
              <a:rPr lang="en-US" sz="1400" dirty="0">
                <a:solidFill>
                  <a:schemeClr val="tx1"/>
                </a:solidFill>
              </a:rPr>
              <a:t>Vue en cartes ou en liste (si visible)</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Gestion des camions : lire une fiche</a:t>
            </a:r>
            <a:endParaRPr lang="en-US" sz="3000" dirty="0"/>
          </a:p>
        </p:txBody>
      </p:sp>
      <p:sp>
        <p:nvSpPr>
          <p:cNvPr id="3" name="Capture à ajouter"/>
          <p:cNvSpPr/>
          <p:nvPr/>
        </p:nvSpPr>
        <p:spPr>
          <a:xfrm>
            <a:off x="548640" y="1325880"/>
            <a:ext cx="603504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530352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fiche détaillée d'un véhicule</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1"/>
          <p:cNvSpPr txBox="1"/>
          <p:nvPr/>
        </p:nvSpPr>
        <p:spPr>
          <a:xfrm>
            <a:off x="6903720" y="1325880"/>
            <a:ext cx="473659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4" name="Shape 12"/>
          <p:cNvSpPr/>
          <p:nvPr/>
        </p:nvSpPr>
        <p:spPr>
          <a:xfrm>
            <a:off x="6903720" y="17830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690372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Text 14"/>
          <p:cNvSpPr txBox="1"/>
          <p:nvPr/>
        </p:nvSpPr>
        <p:spPr>
          <a:xfrm>
            <a:off x="7406640" y="1746504"/>
            <a:ext cx="4233672" cy="777240"/>
          </a:xfrm>
          <a:prstGeom prst="rect">
            <a:avLst/>
          </a:prstGeom>
          <a:noFill/>
          <a:ln/>
        </p:spPr>
        <p:txBody>
          <a:bodyPr wrap="square" lIns="0" tIns="0" rIns="0" bIns="0" rtlCol="0" anchor="t"/>
          <a:lstStyle/>
          <a:p>
            <a:pPr indent="0" marL="0">
              <a:buNone/>
            </a:pPr>
            <a:r>
              <a:rPr lang="en-US" sz="1400" dirty="0">
                <a:solidFill>
                  <a:schemeClr val="tx1"/>
                </a:solidFill>
              </a:rPr>
              <a:t>Statut du véhicule</a:t>
            </a:r>
            <a:endParaRPr lang="en-US" sz="1400" dirty="0"/>
          </a:p>
        </p:txBody>
      </p:sp>
      <p:sp>
        <p:nvSpPr>
          <p:cNvPr id="17" name="Shape 15"/>
          <p:cNvSpPr/>
          <p:nvPr/>
        </p:nvSpPr>
        <p:spPr>
          <a:xfrm>
            <a:off x="6903720" y="25603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6903720" y="2560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7406640" y="2523744"/>
            <a:ext cx="4233672" cy="777240"/>
          </a:xfrm>
          <a:prstGeom prst="rect">
            <a:avLst/>
          </a:prstGeom>
          <a:noFill/>
          <a:ln/>
        </p:spPr>
        <p:txBody>
          <a:bodyPr wrap="square" lIns="0" tIns="0" rIns="0" bIns="0" rtlCol="0" anchor="t"/>
          <a:lstStyle/>
          <a:p>
            <a:pPr indent="0" marL="0">
              <a:buNone/>
            </a:pPr>
            <a:r>
              <a:rPr lang="en-US" sz="1400" dirty="0">
                <a:solidFill>
                  <a:schemeClr val="tx1"/>
                </a:solidFill>
              </a:rPr>
              <a:t>Chauffeur associé</a:t>
            </a:r>
            <a:endParaRPr lang="en-US" sz="1400" dirty="0"/>
          </a:p>
        </p:txBody>
      </p:sp>
      <p:sp>
        <p:nvSpPr>
          <p:cNvPr id="20" name="Shape 18"/>
          <p:cNvSpPr/>
          <p:nvPr/>
        </p:nvSpPr>
        <p:spPr>
          <a:xfrm>
            <a:off x="6903720" y="333756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6903720" y="3337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2" name="Text 20"/>
          <p:cNvSpPr txBox="1"/>
          <p:nvPr/>
        </p:nvSpPr>
        <p:spPr>
          <a:xfrm>
            <a:off x="7406640" y="3300984"/>
            <a:ext cx="4233672" cy="777240"/>
          </a:xfrm>
          <a:prstGeom prst="rect">
            <a:avLst/>
          </a:prstGeom>
          <a:noFill/>
          <a:ln/>
        </p:spPr>
        <p:txBody>
          <a:bodyPr wrap="square" lIns="0" tIns="0" rIns="0" bIns="0" rtlCol="0" anchor="t"/>
          <a:lstStyle/>
          <a:p>
            <a:pPr indent="0" marL="0">
              <a:buNone/>
            </a:pPr>
            <a:r>
              <a:rPr lang="en-US" sz="1400" dirty="0">
                <a:solidFill>
                  <a:schemeClr val="tx1"/>
                </a:solidFill>
              </a:rPr>
              <a:t>Carburant courant</a:t>
            </a:r>
            <a:endParaRPr lang="en-US" sz="1400" dirty="0"/>
          </a:p>
        </p:txBody>
      </p:sp>
      <p:sp>
        <p:nvSpPr>
          <p:cNvPr id="23" name="Shape 21"/>
          <p:cNvSpPr/>
          <p:nvPr/>
        </p:nvSpPr>
        <p:spPr>
          <a:xfrm>
            <a:off x="6903720" y="411480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6903720"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Text 23"/>
          <p:cNvSpPr txBox="1"/>
          <p:nvPr/>
        </p:nvSpPr>
        <p:spPr>
          <a:xfrm>
            <a:off x="7406640" y="4078224"/>
            <a:ext cx="4233672" cy="777240"/>
          </a:xfrm>
          <a:prstGeom prst="rect">
            <a:avLst/>
          </a:prstGeom>
          <a:noFill/>
          <a:ln/>
        </p:spPr>
        <p:txBody>
          <a:bodyPr wrap="square" lIns="0" tIns="0" rIns="0" bIns="0" rtlCol="0" anchor="t"/>
          <a:lstStyle/>
          <a:p>
            <a:pPr indent="0" marL="0">
              <a:buNone/>
            </a:pPr>
            <a:r>
              <a:rPr lang="en-US" sz="1400" dirty="0">
                <a:solidFill>
                  <a:schemeClr val="tx1"/>
                </a:solidFill>
              </a:rPr>
              <a:t>Type de véhicule</a:t>
            </a:r>
            <a:endParaRPr lang="en-US" sz="1400" dirty="0"/>
          </a:p>
        </p:txBody>
      </p:sp>
      <p:sp>
        <p:nvSpPr>
          <p:cNvPr id="27" name="Text 24"/>
          <p:cNvSpPr txBox="1"/>
          <p:nvPr/>
        </p:nvSpPr>
        <p:spPr>
          <a:xfrm>
            <a:off x="548640" y="6217920"/>
            <a:ext cx="6035040" cy="182880"/>
          </a:xfrm>
          <a:prstGeom prst="rect">
            <a:avLst/>
          </a:prstGeom>
          <a:noFill/>
          <a:ln/>
        </p:spPr>
        <p:txBody>
          <a:bodyPr wrap="square" lIns="0" tIns="0" rIns="0" bIns="0" rtlCol="0" anchor="t"/>
          <a:lstStyle/>
          <a:p>
            <a:pPr indent="0" marL="0">
              <a:buNone/>
            </a:pPr>
            <a:r>
              <a:rPr lang="en-US" sz="1200" b="1" dirty="0">
                <a:solidFill>
                  <a:schemeClr val="accent3"/>
                </a:solidFill>
              </a:rPr>
              <a:t>Consulter</a:t>
            </a:r>
            <a:pPr indent="0" marL="0">
              <a:buNone/>
            </a:pPr>
            <a:r>
              <a:rPr lang="en-US" sz="1200" dirty="0">
                <a:solidFill>
                  <a:schemeClr val="tx1"/>
                </a:solidFill>
              </a:rPr>
              <a:t> une fiche ≠ </a:t>
            </a:r>
            <a:pPr indent="0" marL="0">
              <a:buNone/>
            </a:pPr>
            <a:r>
              <a:rPr lang="en-US" sz="1200" b="1" dirty="0">
                <a:solidFill>
                  <a:schemeClr val="accent4"/>
                </a:solidFill>
              </a:rPr>
              <a:t>modifier</a:t>
            </a:r>
            <a:pPr indent="0" marL="0">
              <a:buNone/>
            </a:pPr>
            <a:r>
              <a:rPr lang="en-US" sz="1200" dirty="0">
                <a:solidFill>
                  <a:schemeClr val="tx1"/>
                </a:solidFill>
              </a:rPr>
              <a:t> une fiche (selon les droits validés).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Groupes et itinéraires</a:t>
            </a:r>
            <a:endParaRPr lang="en-US" sz="3000" dirty="0"/>
          </a:p>
        </p:txBody>
      </p:sp>
      <p:sp>
        <p:nvSpPr>
          <p:cNvPr id="3" name="Shape 1"/>
          <p:cNvSpPr/>
          <p:nvPr/>
        </p:nvSpPr>
        <p:spPr>
          <a:xfrm>
            <a:off x="548640" y="1371600"/>
            <a:ext cx="539496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731520" y="1508760"/>
            <a:ext cx="5029200" cy="1737360"/>
          </a:xfrm>
          <a:prstGeom prst="rect">
            <a:avLst/>
          </a:prstGeom>
          <a:noFill/>
          <a:ln/>
        </p:spPr>
        <p:txBody>
          <a:bodyPr wrap="square" rtlCol="0" anchor="t"/>
          <a:lstStyle/>
          <a:p>
            <a:pPr indent="0" marL="0">
              <a:spcAft>
                <a:spcPts val="600"/>
              </a:spcAft>
              <a:buNone/>
            </a:pPr>
            <a:r>
              <a:rPr lang="en-US" sz="1600" b="1" dirty="0">
                <a:solidFill>
                  <a:schemeClr val="tx2"/>
                </a:solidFill>
              </a:rPr>
              <a:t>Vehicle Group</a:t>
            </a:r>
            <a:endParaRPr lang="en-US" sz="1500" dirty="0"/>
          </a:p>
          <a:p>
            <a:pPr indent="0" marL="0">
              <a:buNone/>
            </a:pPr>
            <a:r>
              <a:rPr lang="en-US" sz="1400" dirty="0">
                <a:solidFill>
                  <a:schemeClr val="tx1"/>
                </a:solidFill>
              </a:rPr>
              <a:t>Rubrique de regroupement des véhicules. Procédure détaillée présentée seulement avec une capture dédiée.</a:t>
            </a:r>
            <a:endParaRPr lang="en-US" sz="1500" dirty="0"/>
          </a:p>
        </p:txBody>
      </p:sp>
      <p:sp>
        <p:nvSpPr>
          <p:cNvPr id="5" name="Shape 3"/>
          <p:cNvSpPr/>
          <p:nvPr/>
        </p:nvSpPr>
        <p:spPr>
          <a:xfrm>
            <a:off x="6217920" y="1371600"/>
            <a:ext cx="5394960" cy="2011680"/>
          </a:xfrm>
          <a:prstGeom prst="roundRect">
            <a:avLst>
              <a:gd name="adj" fmla="val 3636"/>
            </a:avLst>
          </a:prstGeom>
          <a:solidFill>
            <a:schemeClr val="bg2"/>
          </a:solidFill>
          <a:ln w="12700">
            <a:solidFill>
              <a:schemeClr val="bg2"/>
            </a:solidFill>
            <a:prstDash val="solid"/>
          </a:ln>
        </p:spPr>
      </p:sp>
      <p:sp>
        <p:nvSpPr>
          <p:cNvPr id="6" name="Text 4"/>
          <p:cNvSpPr txBox="1"/>
          <p:nvPr/>
        </p:nvSpPr>
        <p:spPr>
          <a:xfrm>
            <a:off x="6400800" y="1508760"/>
            <a:ext cx="5029200" cy="1737360"/>
          </a:xfrm>
          <a:prstGeom prst="rect">
            <a:avLst/>
          </a:prstGeom>
          <a:noFill/>
          <a:ln/>
        </p:spPr>
        <p:txBody>
          <a:bodyPr wrap="square" rtlCol="0" anchor="t"/>
          <a:lstStyle/>
          <a:p>
            <a:pPr indent="0" marL="0">
              <a:spcAft>
                <a:spcPts val="600"/>
              </a:spcAft>
              <a:buNone/>
            </a:pPr>
            <a:r>
              <a:rPr lang="en-US" sz="1600" b="1" dirty="0">
                <a:solidFill>
                  <a:schemeClr val="tx2"/>
                </a:solidFill>
              </a:rPr>
              <a:t>Route</a:t>
            </a:r>
            <a:endParaRPr lang="en-US" sz="1500" dirty="0"/>
          </a:p>
          <a:p>
            <a:pPr indent="0" marL="0">
              <a:buNone/>
            </a:pPr>
            <a:r>
              <a:rPr lang="en-US" sz="1400" dirty="0">
                <a:solidFill>
                  <a:schemeClr val="tx1"/>
                </a:solidFill>
              </a:rPr>
              <a:t>Rubrique des itinéraires. Procédure détaillée présentée seulement avec une capture dédiée.</a:t>
            </a:r>
            <a:endParaRPr lang="en-US" sz="1500" dirty="0"/>
          </a:p>
        </p:txBody>
      </p:sp>
      <p:sp>
        <p:nvSpPr>
          <p:cNvPr id="7" name="Capture à ajouter"/>
          <p:cNvSpPr/>
          <p:nvPr/>
        </p:nvSpPr>
        <p:spPr>
          <a:xfrm>
            <a:off x="548640" y="3657600"/>
            <a:ext cx="11064240" cy="2468880"/>
          </a:xfrm>
          <a:prstGeom prst="rect">
            <a:avLst/>
          </a:prstGeom>
          <a:solidFill>
            <a:schemeClr val="bg2"/>
          </a:solidFill>
          <a:ln w="15875">
            <a:solidFill>
              <a:schemeClr val="accent5"/>
            </a:solidFill>
            <a:prstDash val="dash"/>
          </a:ln>
        </p:spPr>
      </p:sp>
      <p:sp>
        <p:nvSpPr>
          <p:cNvPr id="8" name="Text 6"/>
          <p:cNvSpPr txBox="1"/>
          <p:nvPr/>
        </p:nvSpPr>
        <p:spPr>
          <a:xfrm>
            <a:off x="914400" y="4160520"/>
            <a:ext cx="1033272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Vehicle Group (liste) et Route (liste)</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Gestion des chauffeurs : retrouver un profil</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Driver Info — liste des chauffeurs</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9"/>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2" name="Shape 10"/>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4" name="Text 12"/>
          <p:cNvSpPr txBox="1"/>
          <p:nvPr/>
        </p:nvSpPr>
        <p:spPr>
          <a:xfrm>
            <a:off x="8138160" y="1746504"/>
            <a:ext cx="3502152" cy="777240"/>
          </a:xfrm>
          <a:prstGeom prst="rect">
            <a:avLst/>
          </a:prstGeom>
          <a:noFill/>
          <a:ln/>
        </p:spPr>
        <p:txBody>
          <a:bodyPr wrap="square" lIns="0" tIns="0" rIns="0" bIns="0" rtlCol="0" anchor="t"/>
          <a:lstStyle/>
          <a:p>
            <a:pPr indent="0" marL="0">
              <a:buNone/>
            </a:pPr>
            <a:r>
              <a:rPr lang="en-US" sz="1400" dirty="0">
                <a:solidFill>
                  <a:schemeClr val="tx1"/>
                </a:solidFill>
              </a:rPr>
              <a:t>Menu « Driver Info »</a:t>
            </a:r>
            <a:endParaRPr lang="en-US" sz="1400" dirty="0"/>
          </a:p>
        </p:txBody>
      </p:sp>
      <p:sp>
        <p:nvSpPr>
          <p:cNvPr id="15" name="Shape 13"/>
          <p:cNvSpPr/>
          <p:nvPr/>
        </p:nvSpPr>
        <p:spPr>
          <a:xfrm>
            <a:off x="7635240" y="256032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7635240" y="2560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7" name="Text 15"/>
          <p:cNvSpPr txBox="1"/>
          <p:nvPr/>
        </p:nvSpPr>
        <p:spPr>
          <a:xfrm>
            <a:off x="8138160" y="2523744"/>
            <a:ext cx="3502152" cy="777240"/>
          </a:xfrm>
          <a:prstGeom prst="rect">
            <a:avLst/>
          </a:prstGeom>
          <a:noFill/>
          <a:ln/>
        </p:spPr>
        <p:txBody>
          <a:bodyPr wrap="square" lIns="0" tIns="0" rIns="0" bIns="0" rtlCol="0" anchor="t"/>
          <a:lstStyle/>
          <a:p>
            <a:pPr indent="0" marL="0">
              <a:buNone/>
            </a:pPr>
            <a:r>
              <a:rPr lang="en-US" sz="1400" dirty="0">
                <a:solidFill>
                  <a:schemeClr val="tx1"/>
                </a:solidFill>
              </a:rPr>
              <a:t>Filtres de statut</a:t>
            </a:r>
            <a:endParaRPr lang="en-US" sz="1400" dirty="0"/>
          </a:p>
        </p:txBody>
      </p:sp>
      <p:sp>
        <p:nvSpPr>
          <p:cNvPr id="18" name="Shape 16"/>
          <p:cNvSpPr/>
          <p:nvPr/>
        </p:nvSpPr>
        <p:spPr>
          <a:xfrm>
            <a:off x="7635240" y="333756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7635240" y="3337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0" name="Text 18"/>
          <p:cNvSpPr txBox="1"/>
          <p:nvPr/>
        </p:nvSpPr>
        <p:spPr>
          <a:xfrm>
            <a:off x="8138160" y="3300984"/>
            <a:ext cx="3502152" cy="777240"/>
          </a:xfrm>
          <a:prstGeom prst="rect">
            <a:avLst/>
          </a:prstGeom>
          <a:noFill/>
          <a:ln/>
        </p:spPr>
        <p:txBody>
          <a:bodyPr wrap="square" lIns="0" tIns="0" rIns="0" bIns="0" rtlCol="0" anchor="t"/>
          <a:lstStyle/>
          <a:p>
            <a:pPr indent="0" marL="0">
              <a:buNone/>
            </a:pPr>
            <a:r>
              <a:rPr lang="en-US" sz="1400" dirty="0">
                <a:solidFill>
                  <a:schemeClr val="tx1"/>
                </a:solidFill>
              </a:rPr>
              <a:t>Recherche par nom, permis ou contact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Informations et suivi des chauffeurs</a:t>
            </a:r>
            <a:endParaRPr lang="en-US" sz="3000" dirty="0"/>
          </a:p>
        </p:txBody>
      </p:sp>
      <p:sp>
        <p:nvSpPr>
          <p:cNvPr id="3" name="Capture à ajouter"/>
          <p:cNvSpPr/>
          <p:nvPr/>
        </p:nvSpPr>
        <p:spPr>
          <a:xfrm>
            <a:off x="548640" y="1325880"/>
            <a:ext cx="603504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530352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fiche d'un chauffeur</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1"/>
          <p:cNvSpPr txBox="1"/>
          <p:nvPr/>
        </p:nvSpPr>
        <p:spPr>
          <a:xfrm>
            <a:off x="6903720" y="1325880"/>
            <a:ext cx="473659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4" name="Shape 12"/>
          <p:cNvSpPr/>
          <p:nvPr/>
        </p:nvSpPr>
        <p:spPr>
          <a:xfrm>
            <a:off x="6903720" y="17830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690372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Text 14"/>
          <p:cNvSpPr txBox="1"/>
          <p:nvPr/>
        </p:nvSpPr>
        <p:spPr>
          <a:xfrm>
            <a:off x="7406640" y="1746504"/>
            <a:ext cx="4233672" cy="777240"/>
          </a:xfrm>
          <a:prstGeom prst="rect">
            <a:avLst/>
          </a:prstGeom>
          <a:noFill/>
          <a:ln/>
        </p:spPr>
        <p:txBody>
          <a:bodyPr wrap="square" lIns="0" tIns="0" rIns="0" bIns="0" rtlCol="0" anchor="t"/>
          <a:lstStyle/>
          <a:p>
            <a:pPr indent="0" marL="0">
              <a:buNone/>
            </a:pPr>
            <a:r>
              <a:rPr lang="en-US" sz="1400" dirty="0">
                <a:solidFill>
                  <a:schemeClr val="tx1"/>
                </a:solidFill>
              </a:rPr>
              <a:t>Statut du chauffeur</a:t>
            </a:r>
            <a:endParaRPr lang="en-US" sz="1400" dirty="0"/>
          </a:p>
        </p:txBody>
      </p:sp>
      <p:sp>
        <p:nvSpPr>
          <p:cNvPr id="17" name="Shape 15"/>
          <p:cNvSpPr/>
          <p:nvPr/>
        </p:nvSpPr>
        <p:spPr>
          <a:xfrm>
            <a:off x="6903720" y="25603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6903720" y="2560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7406640" y="2523744"/>
            <a:ext cx="4233672" cy="777240"/>
          </a:xfrm>
          <a:prstGeom prst="rect">
            <a:avLst/>
          </a:prstGeom>
          <a:noFill/>
          <a:ln/>
        </p:spPr>
        <p:txBody>
          <a:bodyPr wrap="square" lIns="0" tIns="0" rIns="0" bIns="0" rtlCol="0" anchor="t"/>
          <a:lstStyle/>
          <a:p>
            <a:pPr indent="0" marL="0">
              <a:buNone/>
            </a:pPr>
            <a:r>
              <a:rPr lang="en-US" sz="1400" dirty="0">
                <a:solidFill>
                  <a:schemeClr val="tx1"/>
                </a:solidFill>
              </a:rPr>
              <a:t>Permis de conduire</a:t>
            </a:r>
            <a:endParaRPr lang="en-US" sz="1400" dirty="0"/>
          </a:p>
        </p:txBody>
      </p:sp>
      <p:sp>
        <p:nvSpPr>
          <p:cNvPr id="20" name="Shape 18"/>
          <p:cNvSpPr/>
          <p:nvPr/>
        </p:nvSpPr>
        <p:spPr>
          <a:xfrm>
            <a:off x="6903720" y="333756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6903720" y="3337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2" name="Text 20"/>
          <p:cNvSpPr txBox="1"/>
          <p:nvPr/>
        </p:nvSpPr>
        <p:spPr>
          <a:xfrm>
            <a:off x="7406640" y="3300984"/>
            <a:ext cx="4233672" cy="777240"/>
          </a:xfrm>
          <a:prstGeom prst="rect">
            <a:avLst/>
          </a:prstGeom>
          <a:noFill/>
          <a:ln/>
        </p:spPr>
        <p:txBody>
          <a:bodyPr wrap="square" lIns="0" tIns="0" rIns="0" bIns="0" rtlCol="0" anchor="t"/>
          <a:lstStyle/>
          <a:p>
            <a:pPr indent="0" marL="0">
              <a:buNone/>
            </a:pPr>
            <a:r>
              <a:rPr lang="en-US" sz="1400" dirty="0">
                <a:solidFill>
                  <a:schemeClr val="tx1"/>
                </a:solidFill>
              </a:rPr>
              <a:t>Date d'expiration du permis</a:t>
            </a:r>
            <a:endParaRPr lang="en-US" sz="1400" dirty="0"/>
          </a:p>
        </p:txBody>
      </p:sp>
      <p:sp>
        <p:nvSpPr>
          <p:cNvPr id="23" name="Shape 21"/>
          <p:cNvSpPr/>
          <p:nvPr/>
        </p:nvSpPr>
        <p:spPr>
          <a:xfrm>
            <a:off x="6903720" y="411480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6903720"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Text 23"/>
          <p:cNvSpPr txBox="1"/>
          <p:nvPr/>
        </p:nvSpPr>
        <p:spPr>
          <a:xfrm>
            <a:off x="7406640" y="4078224"/>
            <a:ext cx="4233672" cy="777240"/>
          </a:xfrm>
          <a:prstGeom prst="rect">
            <a:avLst/>
          </a:prstGeom>
          <a:noFill/>
          <a:ln/>
        </p:spPr>
        <p:txBody>
          <a:bodyPr wrap="square" lIns="0" tIns="0" rIns="0" bIns="0" rtlCol="0" anchor="t"/>
          <a:lstStyle/>
          <a:p>
            <a:pPr indent="0" marL="0">
              <a:buNone/>
            </a:pPr>
            <a:r>
              <a:rPr lang="en-US" sz="1400" dirty="0">
                <a:solidFill>
                  <a:schemeClr val="tx1"/>
                </a:solidFill>
              </a:rPr>
              <a:t>Date d'inscription</a:t>
            </a:r>
            <a:endParaRPr lang="en-US" sz="1400" dirty="0"/>
          </a:p>
        </p:txBody>
      </p:sp>
      <p:sp>
        <p:nvSpPr>
          <p:cNvPr id="26" name="Text 24"/>
          <p:cNvSpPr txBox="1"/>
          <p:nvPr/>
        </p:nvSpPr>
        <p:spPr>
          <a:xfrm>
            <a:off x="548640" y="6217920"/>
            <a:ext cx="6035040" cy="182880"/>
          </a:xfrm>
          <a:prstGeom prst="rect">
            <a:avLst/>
          </a:prstGeom>
          <a:noFill/>
          <a:ln/>
        </p:spPr>
        <p:txBody>
          <a:bodyPr wrap="square" lIns="0" tIns="0" rIns="0" bIns="0" rtlCol="0" anchor="t"/>
          <a:lstStyle/>
          <a:p>
            <a:pPr indent="0" marL="0">
              <a:buNone/>
            </a:pPr>
            <a:r>
              <a:rPr lang="en-US" sz="1200" b="1" dirty="0">
                <a:solidFill>
                  <a:schemeClr val="tx1"/>
                </a:solidFill>
              </a:rPr>
              <a:t>Driver Performance</a:t>
            </a:r>
            <a:pPr indent="0" marL="0">
              <a:buNone/>
            </a:pPr>
            <a:r>
              <a:rPr lang="en-US" sz="1200" dirty="0">
                <a:solidFill>
                  <a:schemeClr val="tx1"/>
                </a:solidFill>
              </a:rPr>
              <a:t> : rubrique à approfondir avec une capture dédiée.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Gestion du personnel</a:t>
            </a:r>
            <a:endParaRPr lang="en-US" sz="3000" dirty="0"/>
          </a:p>
        </p:txBody>
      </p:sp>
      <p:sp>
        <p:nvSpPr>
          <p:cNvPr id="3" name="Shape 1"/>
          <p:cNvSpPr/>
          <p:nvPr/>
        </p:nvSpPr>
        <p:spPr>
          <a:xfrm>
            <a:off x="548640" y="1371600"/>
            <a:ext cx="3474720" cy="14630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731520" y="1508760"/>
            <a:ext cx="3108960" cy="1188720"/>
          </a:xfrm>
          <a:prstGeom prst="rect">
            <a:avLst/>
          </a:prstGeom>
          <a:noFill/>
          <a:ln/>
        </p:spPr>
        <p:txBody>
          <a:bodyPr wrap="square" rtlCol="0" anchor="t"/>
          <a:lstStyle/>
          <a:p>
            <a:pPr indent="0" marL="0">
              <a:spcAft>
                <a:spcPts val="600"/>
              </a:spcAft>
              <a:buNone/>
            </a:pPr>
            <a:r>
              <a:rPr lang="en-US" sz="1600" b="1" dirty="0">
                <a:solidFill>
                  <a:schemeClr val="tx2"/>
                </a:solidFill>
              </a:rPr>
              <a:t>Employés</a:t>
            </a:r>
            <a:endParaRPr lang="en-US" sz="1500" dirty="0"/>
          </a:p>
          <a:p>
            <a:pPr indent="0" marL="0">
              <a:buNone/>
            </a:pPr>
            <a:r>
              <a:rPr lang="en-US" sz="1400" dirty="0">
                <a:solidFill>
                  <a:schemeClr val="tx1"/>
                </a:solidFill>
              </a:rPr>
              <a:t>Rubrique des dossiers des employés.</a:t>
            </a:r>
            <a:endParaRPr lang="en-US" sz="1500" dirty="0"/>
          </a:p>
        </p:txBody>
      </p:sp>
      <p:sp>
        <p:nvSpPr>
          <p:cNvPr id="5" name="Shape 3"/>
          <p:cNvSpPr/>
          <p:nvPr/>
        </p:nvSpPr>
        <p:spPr>
          <a:xfrm>
            <a:off x="4297680" y="1371600"/>
            <a:ext cx="3474720" cy="1463040"/>
          </a:xfrm>
          <a:prstGeom prst="roundRect">
            <a:avLst>
              <a:gd name="adj" fmla="val 5000"/>
            </a:avLst>
          </a:prstGeom>
          <a:solidFill>
            <a:schemeClr val="bg2"/>
          </a:solidFill>
          <a:ln w="12700">
            <a:solidFill>
              <a:schemeClr val="bg2"/>
            </a:solidFill>
            <a:prstDash val="solid"/>
          </a:ln>
        </p:spPr>
      </p:sp>
      <p:sp>
        <p:nvSpPr>
          <p:cNvPr id="6" name="Text 4"/>
          <p:cNvSpPr txBox="1"/>
          <p:nvPr/>
        </p:nvSpPr>
        <p:spPr>
          <a:xfrm>
            <a:off x="4480560" y="1508760"/>
            <a:ext cx="3108960" cy="1188720"/>
          </a:xfrm>
          <a:prstGeom prst="rect">
            <a:avLst/>
          </a:prstGeom>
          <a:noFill/>
          <a:ln/>
        </p:spPr>
        <p:txBody>
          <a:bodyPr wrap="square" rtlCol="0" anchor="t"/>
          <a:lstStyle/>
          <a:p>
            <a:pPr indent="0" marL="0">
              <a:spcAft>
                <a:spcPts val="600"/>
              </a:spcAft>
              <a:buNone/>
            </a:pPr>
            <a:r>
              <a:rPr lang="en-US" sz="1600" b="1" dirty="0">
                <a:solidFill>
                  <a:schemeClr val="tx2"/>
                </a:solidFill>
              </a:rPr>
              <a:t>Présence</a:t>
            </a:r>
            <a:endParaRPr lang="en-US" sz="1500" dirty="0"/>
          </a:p>
          <a:p>
            <a:pPr indent="0" marL="0">
              <a:buNone/>
            </a:pPr>
            <a:r>
              <a:rPr lang="en-US" sz="1400" dirty="0">
                <a:solidFill>
                  <a:schemeClr val="tx1"/>
                </a:solidFill>
              </a:rPr>
              <a:t>Rubrique de suivi de la présence.</a:t>
            </a:r>
            <a:endParaRPr lang="en-US" sz="1500" dirty="0"/>
          </a:p>
        </p:txBody>
      </p:sp>
      <p:sp>
        <p:nvSpPr>
          <p:cNvPr id="7" name="Shape 5"/>
          <p:cNvSpPr/>
          <p:nvPr/>
        </p:nvSpPr>
        <p:spPr>
          <a:xfrm>
            <a:off x="8046720" y="1371600"/>
            <a:ext cx="3474720" cy="146304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8229600" y="1508760"/>
            <a:ext cx="3108960" cy="1188720"/>
          </a:xfrm>
          <a:prstGeom prst="rect">
            <a:avLst/>
          </a:prstGeom>
          <a:noFill/>
          <a:ln/>
        </p:spPr>
        <p:txBody>
          <a:bodyPr wrap="square" rtlCol="0" anchor="t"/>
          <a:lstStyle/>
          <a:p>
            <a:pPr indent="0" marL="0">
              <a:spcAft>
                <a:spcPts val="600"/>
              </a:spcAft>
              <a:buNone/>
            </a:pPr>
            <a:r>
              <a:rPr lang="en-US" sz="1600" b="1" dirty="0">
                <a:solidFill>
                  <a:schemeClr val="tx2"/>
                </a:solidFill>
              </a:rPr>
              <a:t>Paie</a:t>
            </a:r>
            <a:endParaRPr lang="en-US" sz="1500" dirty="0"/>
          </a:p>
          <a:p>
            <a:pPr indent="0" marL="0">
              <a:buNone/>
            </a:pPr>
            <a:r>
              <a:rPr lang="en-US" sz="1400" dirty="0">
                <a:solidFill>
                  <a:schemeClr val="tx1"/>
                </a:solidFill>
              </a:rPr>
              <a:t>Rubrique liée à la paie.</a:t>
            </a:r>
            <a:endParaRPr lang="en-US" sz="1500" dirty="0"/>
          </a:p>
        </p:txBody>
      </p:sp>
      <p:sp>
        <p:nvSpPr>
          <p:cNvPr id="9" name="Capture à ajouter"/>
          <p:cNvSpPr/>
          <p:nvPr/>
        </p:nvSpPr>
        <p:spPr>
          <a:xfrm>
            <a:off x="548640" y="3108960"/>
            <a:ext cx="11064240" cy="3017520"/>
          </a:xfrm>
          <a:prstGeom prst="rect">
            <a:avLst/>
          </a:prstGeom>
          <a:solidFill>
            <a:schemeClr val="bg2"/>
          </a:solidFill>
          <a:ln w="15875">
            <a:solidFill>
              <a:schemeClr val="accent5"/>
            </a:solidFill>
            <a:prstDash val="dash"/>
          </a:ln>
        </p:spPr>
      </p:sp>
      <p:sp>
        <p:nvSpPr>
          <p:cNvPr id="10" name="Text 8"/>
          <p:cNvSpPr txBox="1"/>
          <p:nvPr/>
        </p:nvSpPr>
        <p:spPr>
          <a:xfrm>
            <a:off x="914400" y="3886200"/>
            <a:ext cx="1033272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rubriques Employés, Présence et Paie (relever les libellés exacts des menus)</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Gestion des trajets : les statuts</a:t>
            </a:r>
            <a:endParaRPr lang="en-US" sz="3000" dirty="0"/>
          </a:p>
        </p:txBody>
      </p:sp>
      <p:sp>
        <p:nvSpPr>
          <p:cNvPr id="3" name="Shape 1"/>
          <p:cNvSpPr/>
          <p:nvPr/>
        </p:nvSpPr>
        <p:spPr>
          <a:xfrm>
            <a:off x="548640" y="1463040"/>
            <a:ext cx="2560320" cy="1371600"/>
          </a:xfrm>
          <a:prstGeom prst="roundRect">
            <a:avLst>
              <a:gd name="adj" fmla="val 6667"/>
            </a:avLst>
          </a:prstGeom>
          <a:solidFill>
            <a:schemeClr val="accent2"/>
          </a:solidFill>
          <a:ln w="12700">
            <a:solidFill>
              <a:schemeClr val="accent2"/>
            </a:solidFill>
            <a:prstDash val="solid"/>
          </a:ln>
        </p:spPr>
      </p:sp>
      <p:sp>
        <p:nvSpPr>
          <p:cNvPr id="4" name="Text 2"/>
          <p:cNvSpPr txBox="1"/>
          <p:nvPr/>
        </p:nvSpPr>
        <p:spPr>
          <a:xfrm>
            <a:off x="548640" y="1463040"/>
            <a:ext cx="2560320" cy="1371600"/>
          </a:xfrm>
          <a:prstGeom prst="rect">
            <a:avLst/>
          </a:prstGeom>
          <a:noFill/>
          <a:ln/>
        </p:spPr>
        <p:txBody>
          <a:bodyPr wrap="square" rtlCol="0" anchor="ctr"/>
          <a:lstStyle/>
          <a:p>
            <a:pPr algn="ctr" indent="0" marL="0">
              <a:buNone/>
            </a:pPr>
            <a:r>
              <a:rPr lang="en-US" sz="2200" b="1" dirty="0">
                <a:solidFill>
                  <a:schemeClr val="bg1"/>
                </a:solidFill>
              </a:rPr>
              <a:t>Upcoming</a:t>
            </a:r>
            <a:endParaRPr lang="en-US" sz="1500" dirty="0"/>
          </a:p>
          <a:p>
            <a:pPr algn="ctr" indent="0" marL="0">
              <a:buNone/>
            </a:pPr>
            <a:r>
              <a:rPr lang="en-US" sz="1500" dirty="0">
                <a:solidFill>
                  <a:schemeClr val="bg1"/>
                </a:solidFill>
              </a:rPr>
              <a:t>À venir</a:t>
            </a:r>
            <a:endParaRPr lang="en-US" sz="1500" dirty="0"/>
          </a:p>
        </p:txBody>
      </p:sp>
      <p:sp>
        <p:nvSpPr>
          <p:cNvPr id="5" name="Shape 3"/>
          <p:cNvSpPr/>
          <p:nvPr/>
        </p:nvSpPr>
        <p:spPr>
          <a:xfrm>
            <a:off x="3136392" y="2011680"/>
            <a:ext cx="219456" cy="274320"/>
          </a:xfrm>
          <a:prstGeom prst="rightArrow">
            <a:avLst/>
          </a:prstGeom>
          <a:solidFill>
            <a:schemeClr val="accent5"/>
          </a:solidFill>
          <a:ln w="12700">
            <a:solidFill>
              <a:schemeClr val="accent5"/>
            </a:solidFill>
            <a:prstDash val="solid"/>
          </a:ln>
        </p:spPr>
      </p:sp>
      <p:sp>
        <p:nvSpPr>
          <p:cNvPr id="6" name="Shape 4"/>
          <p:cNvSpPr/>
          <p:nvPr/>
        </p:nvSpPr>
        <p:spPr>
          <a:xfrm>
            <a:off x="3383280" y="1463040"/>
            <a:ext cx="2560320" cy="1371600"/>
          </a:xfrm>
          <a:prstGeom prst="roundRect">
            <a:avLst>
              <a:gd name="adj" fmla="val 6667"/>
            </a:avLst>
          </a:prstGeom>
          <a:solidFill>
            <a:schemeClr val="accent1"/>
          </a:solidFill>
          <a:ln w="12700">
            <a:solidFill>
              <a:schemeClr val="accent1"/>
            </a:solidFill>
            <a:prstDash val="solid"/>
          </a:ln>
        </p:spPr>
      </p:sp>
      <p:sp>
        <p:nvSpPr>
          <p:cNvPr id="7" name="Text 5"/>
          <p:cNvSpPr txBox="1"/>
          <p:nvPr/>
        </p:nvSpPr>
        <p:spPr>
          <a:xfrm>
            <a:off x="3383280" y="1463040"/>
            <a:ext cx="2560320" cy="1371600"/>
          </a:xfrm>
          <a:prstGeom prst="rect">
            <a:avLst/>
          </a:prstGeom>
          <a:noFill/>
          <a:ln/>
        </p:spPr>
        <p:txBody>
          <a:bodyPr wrap="square" rtlCol="0" anchor="ctr"/>
          <a:lstStyle/>
          <a:p>
            <a:pPr algn="ctr" indent="0" marL="0">
              <a:buNone/>
            </a:pPr>
            <a:r>
              <a:rPr lang="en-US" sz="2200" b="1" dirty="0">
                <a:solidFill>
                  <a:schemeClr val="bg1"/>
                </a:solidFill>
              </a:rPr>
              <a:t>Ongoing</a:t>
            </a:r>
            <a:endParaRPr lang="en-US" sz="1500" dirty="0"/>
          </a:p>
          <a:p>
            <a:pPr algn="ctr" indent="0" marL="0">
              <a:buNone/>
            </a:pPr>
            <a:r>
              <a:rPr lang="en-US" sz="1500" dirty="0">
                <a:solidFill>
                  <a:schemeClr val="bg1"/>
                </a:solidFill>
              </a:rPr>
              <a:t>En cours</a:t>
            </a:r>
            <a:endParaRPr lang="en-US" sz="1500" dirty="0"/>
          </a:p>
        </p:txBody>
      </p:sp>
      <p:sp>
        <p:nvSpPr>
          <p:cNvPr id="8" name="Shape 6"/>
          <p:cNvSpPr/>
          <p:nvPr/>
        </p:nvSpPr>
        <p:spPr>
          <a:xfrm>
            <a:off x="5971032" y="2011680"/>
            <a:ext cx="219456" cy="274320"/>
          </a:xfrm>
          <a:prstGeom prst="rightArrow">
            <a:avLst/>
          </a:prstGeom>
          <a:solidFill>
            <a:schemeClr val="accent5"/>
          </a:solidFill>
          <a:ln w="12700">
            <a:solidFill>
              <a:schemeClr val="accent5"/>
            </a:solidFill>
            <a:prstDash val="solid"/>
          </a:ln>
        </p:spPr>
      </p:sp>
      <p:sp>
        <p:nvSpPr>
          <p:cNvPr id="9" name="Shape 7"/>
          <p:cNvSpPr/>
          <p:nvPr/>
        </p:nvSpPr>
        <p:spPr>
          <a:xfrm>
            <a:off x="6217920" y="1463040"/>
            <a:ext cx="2560320" cy="1371600"/>
          </a:xfrm>
          <a:prstGeom prst="roundRect">
            <a:avLst>
              <a:gd name="adj" fmla="val 6667"/>
            </a:avLst>
          </a:prstGeom>
          <a:solidFill>
            <a:schemeClr val="accent3"/>
          </a:solidFill>
          <a:ln w="12700">
            <a:solidFill>
              <a:schemeClr val="accent3"/>
            </a:solidFill>
            <a:prstDash val="solid"/>
          </a:ln>
        </p:spPr>
      </p:sp>
      <p:sp>
        <p:nvSpPr>
          <p:cNvPr id="10" name="Text 8"/>
          <p:cNvSpPr txBox="1"/>
          <p:nvPr/>
        </p:nvSpPr>
        <p:spPr>
          <a:xfrm>
            <a:off x="6217920" y="1463040"/>
            <a:ext cx="2560320" cy="1371600"/>
          </a:xfrm>
          <a:prstGeom prst="rect">
            <a:avLst/>
          </a:prstGeom>
          <a:noFill/>
          <a:ln/>
        </p:spPr>
        <p:txBody>
          <a:bodyPr wrap="square" rtlCol="0" anchor="ctr"/>
          <a:lstStyle/>
          <a:p>
            <a:pPr algn="ctr" indent="0" marL="0">
              <a:buNone/>
            </a:pPr>
            <a:r>
              <a:rPr lang="en-US" sz="2200" b="1" dirty="0">
                <a:solidFill>
                  <a:schemeClr val="bg1"/>
                </a:solidFill>
              </a:rPr>
              <a:t>Completed</a:t>
            </a:r>
            <a:endParaRPr lang="en-US" sz="1500" dirty="0"/>
          </a:p>
          <a:p>
            <a:pPr algn="ctr" indent="0" marL="0">
              <a:buNone/>
            </a:pPr>
            <a:r>
              <a:rPr lang="en-US" sz="1500" dirty="0">
                <a:solidFill>
                  <a:schemeClr val="bg1"/>
                </a:solidFill>
              </a:rPr>
              <a:t>Terminé</a:t>
            </a:r>
            <a:endParaRPr lang="en-US" sz="1500" dirty="0"/>
          </a:p>
        </p:txBody>
      </p:sp>
      <p:sp>
        <p:nvSpPr>
          <p:cNvPr id="11" name="Shape 9"/>
          <p:cNvSpPr/>
          <p:nvPr/>
        </p:nvSpPr>
        <p:spPr>
          <a:xfrm>
            <a:off x="8805672" y="2011680"/>
            <a:ext cx="219456" cy="274320"/>
          </a:xfrm>
          <a:prstGeom prst="rightArrow">
            <a:avLst/>
          </a:prstGeom>
          <a:solidFill>
            <a:schemeClr val="accent5"/>
          </a:solidFill>
          <a:ln w="12700">
            <a:solidFill>
              <a:schemeClr val="accent5"/>
            </a:solidFill>
            <a:prstDash val="solid"/>
          </a:ln>
        </p:spPr>
      </p:sp>
      <p:sp>
        <p:nvSpPr>
          <p:cNvPr id="12" name="Shape 10"/>
          <p:cNvSpPr/>
          <p:nvPr/>
        </p:nvSpPr>
        <p:spPr>
          <a:xfrm>
            <a:off x="9052560" y="1463040"/>
            <a:ext cx="2560320" cy="1371600"/>
          </a:xfrm>
          <a:prstGeom prst="roundRect">
            <a:avLst>
              <a:gd name="adj" fmla="val 6667"/>
            </a:avLst>
          </a:prstGeom>
          <a:solidFill>
            <a:schemeClr val="accent4"/>
          </a:solidFill>
          <a:ln w="12700">
            <a:solidFill>
              <a:schemeClr val="accent4"/>
            </a:solidFill>
            <a:prstDash val="solid"/>
          </a:ln>
        </p:spPr>
      </p:sp>
      <p:sp>
        <p:nvSpPr>
          <p:cNvPr id="13" name="Text 11"/>
          <p:cNvSpPr txBox="1"/>
          <p:nvPr/>
        </p:nvSpPr>
        <p:spPr>
          <a:xfrm>
            <a:off x="9052560" y="1463040"/>
            <a:ext cx="2560320" cy="1371600"/>
          </a:xfrm>
          <a:prstGeom prst="rect">
            <a:avLst/>
          </a:prstGeom>
          <a:noFill/>
          <a:ln/>
        </p:spPr>
        <p:txBody>
          <a:bodyPr wrap="square" rtlCol="0" anchor="ctr"/>
          <a:lstStyle/>
          <a:p>
            <a:pPr algn="ctr" indent="0" marL="0">
              <a:buNone/>
            </a:pPr>
            <a:r>
              <a:rPr lang="en-US" sz="2200" b="1" dirty="0">
                <a:solidFill>
                  <a:schemeClr val="bg1"/>
                </a:solidFill>
              </a:rPr>
              <a:t>Cancelled</a:t>
            </a:r>
            <a:endParaRPr lang="en-US" sz="1500" dirty="0"/>
          </a:p>
          <a:p>
            <a:pPr algn="ctr" indent="0" marL="0">
              <a:buNone/>
            </a:pPr>
            <a:r>
              <a:rPr lang="en-US" sz="1500" dirty="0">
                <a:solidFill>
                  <a:schemeClr val="bg1"/>
                </a:solidFill>
              </a:rPr>
              <a:t>Annulé</a:t>
            </a:r>
            <a:endParaRPr lang="en-US" sz="1500" dirty="0"/>
          </a:p>
        </p:txBody>
      </p:sp>
      <p:sp>
        <p:nvSpPr>
          <p:cNvPr id="14" name="Capture à ajouter"/>
          <p:cNvSpPr/>
          <p:nvPr/>
        </p:nvSpPr>
        <p:spPr>
          <a:xfrm>
            <a:off x="548640" y="3200400"/>
            <a:ext cx="11064240" cy="2926080"/>
          </a:xfrm>
          <a:prstGeom prst="rect">
            <a:avLst/>
          </a:prstGeom>
          <a:solidFill>
            <a:schemeClr val="bg2"/>
          </a:solidFill>
          <a:ln w="15875">
            <a:solidFill>
              <a:schemeClr val="accent5"/>
            </a:solidFill>
            <a:prstDash val="dash"/>
          </a:ln>
        </p:spPr>
      </p:sp>
      <p:sp>
        <p:nvSpPr>
          <p:cNvPr id="15" name="Text 13"/>
          <p:cNvSpPr txBox="1"/>
          <p:nvPr/>
        </p:nvSpPr>
        <p:spPr>
          <a:xfrm>
            <a:off x="914400" y="3931920"/>
            <a:ext cx="1033272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liste des trajets avec les onglets ou filtres de statut</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Consulter un trajet</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détail d'un trajet</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Shape 11"/>
          <p:cNvSpPr/>
          <p:nvPr/>
        </p:nvSpPr>
        <p:spPr>
          <a:xfrm>
            <a:off x="2788920" y="155448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278892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Shape 13"/>
          <p:cNvSpPr/>
          <p:nvPr/>
        </p:nvSpPr>
        <p:spPr>
          <a:xfrm>
            <a:off x="3291840" y="155448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32918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7" name="Text 15"/>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8" name="Shape 16"/>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0" name="Text 18"/>
          <p:cNvSpPr txBox="1"/>
          <p:nvPr/>
        </p:nvSpPr>
        <p:spPr>
          <a:xfrm>
            <a:off x="8138160" y="1746504"/>
            <a:ext cx="3502152" cy="731520"/>
          </a:xfrm>
          <a:prstGeom prst="rect">
            <a:avLst/>
          </a:prstGeom>
          <a:noFill/>
          <a:ln/>
        </p:spPr>
        <p:txBody>
          <a:bodyPr wrap="square" lIns="0" tIns="0" rIns="0" bIns="0" rtlCol="0" anchor="t"/>
          <a:lstStyle/>
          <a:p>
            <a:pPr indent="0" marL="0">
              <a:buNone/>
            </a:pPr>
            <a:r>
              <a:rPr lang="en-US" sz="1400" dirty="0">
                <a:solidFill>
                  <a:schemeClr val="tx1"/>
                </a:solidFill>
              </a:rPr>
              <a:t>Véhicule et identifiant du trajet</a:t>
            </a:r>
            <a:endParaRPr lang="en-US" sz="1400" dirty="0"/>
          </a:p>
        </p:txBody>
      </p:sp>
      <p:sp>
        <p:nvSpPr>
          <p:cNvPr id="21" name="Shape 19"/>
          <p:cNvSpPr/>
          <p:nvPr/>
        </p:nvSpPr>
        <p:spPr>
          <a:xfrm>
            <a:off x="7635240" y="2514600"/>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7635240" y="25146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3" name="Text 21"/>
          <p:cNvSpPr txBox="1"/>
          <p:nvPr/>
        </p:nvSpPr>
        <p:spPr>
          <a:xfrm>
            <a:off x="8138160" y="2478024"/>
            <a:ext cx="3502152" cy="731520"/>
          </a:xfrm>
          <a:prstGeom prst="rect">
            <a:avLst/>
          </a:prstGeom>
          <a:noFill/>
          <a:ln/>
        </p:spPr>
        <p:txBody>
          <a:bodyPr wrap="square" lIns="0" tIns="0" rIns="0" bIns="0" rtlCol="0" anchor="t"/>
          <a:lstStyle/>
          <a:p>
            <a:pPr indent="0" marL="0">
              <a:buNone/>
            </a:pPr>
            <a:r>
              <a:rPr lang="en-US" sz="1400" dirty="0">
                <a:solidFill>
                  <a:schemeClr val="tx1"/>
                </a:solidFill>
              </a:rPr>
              <a:t>Itinéraire</a:t>
            </a:r>
            <a:endParaRPr lang="en-US" sz="1400" dirty="0"/>
          </a:p>
        </p:txBody>
      </p:sp>
      <p:sp>
        <p:nvSpPr>
          <p:cNvPr id="24" name="Shape 22"/>
          <p:cNvSpPr/>
          <p:nvPr/>
        </p:nvSpPr>
        <p:spPr>
          <a:xfrm>
            <a:off x="7635240" y="3246120"/>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7635240" y="32461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6" name="Text 24"/>
          <p:cNvSpPr txBox="1"/>
          <p:nvPr/>
        </p:nvSpPr>
        <p:spPr>
          <a:xfrm>
            <a:off x="8138160" y="3209544"/>
            <a:ext cx="3502152" cy="731520"/>
          </a:xfrm>
          <a:prstGeom prst="rect">
            <a:avLst/>
          </a:prstGeom>
          <a:noFill/>
          <a:ln/>
        </p:spPr>
        <p:txBody>
          <a:bodyPr wrap="square" lIns="0" tIns="0" rIns="0" bIns="0" rtlCol="0" anchor="t"/>
          <a:lstStyle/>
          <a:p>
            <a:pPr indent="0" marL="0">
              <a:buNone/>
            </a:pPr>
            <a:r>
              <a:rPr lang="en-US" sz="1400" dirty="0">
                <a:solidFill>
                  <a:schemeClr val="tx1"/>
                </a:solidFill>
              </a:rPr>
              <a:t>Client</a:t>
            </a:r>
            <a:endParaRPr lang="en-US" sz="1400" dirty="0"/>
          </a:p>
        </p:txBody>
      </p:sp>
      <p:sp>
        <p:nvSpPr>
          <p:cNvPr id="27" name="Shape 25"/>
          <p:cNvSpPr/>
          <p:nvPr/>
        </p:nvSpPr>
        <p:spPr>
          <a:xfrm>
            <a:off x="7635240" y="3977640"/>
            <a:ext cx="384048" cy="384048"/>
          </a:xfrm>
          <a:prstGeom prst="ellipse">
            <a:avLst/>
          </a:prstGeom>
          <a:solidFill>
            <a:schemeClr val="accent1"/>
          </a:solidFill>
          <a:ln w="12700">
            <a:solidFill>
              <a:schemeClr val="accent1"/>
            </a:solidFill>
            <a:prstDash val="solid"/>
          </a:ln>
        </p:spPr>
      </p:sp>
      <p:sp>
        <p:nvSpPr>
          <p:cNvPr id="28" name="Text 26"/>
          <p:cNvSpPr txBox="1"/>
          <p:nvPr/>
        </p:nvSpPr>
        <p:spPr>
          <a:xfrm>
            <a:off x="7635240" y="3977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9" name="Text 27"/>
          <p:cNvSpPr txBox="1"/>
          <p:nvPr/>
        </p:nvSpPr>
        <p:spPr>
          <a:xfrm>
            <a:off x="8138160" y="3941064"/>
            <a:ext cx="3502152" cy="731520"/>
          </a:xfrm>
          <a:prstGeom prst="rect">
            <a:avLst/>
          </a:prstGeom>
          <a:noFill/>
          <a:ln/>
        </p:spPr>
        <p:txBody>
          <a:bodyPr wrap="square" lIns="0" tIns="0" rIns="0" bIns="0" rtlCol="0" anchor="t"/>
          <a:lstStyle/>
          <a:p>
            <a:pPr indent="0" marL="0">
              <a:buNone/>
            </a:pPr>
            <a:r>
              <a:rPr lang="en-US" sz="1400" dirty="0">
                <a:solidFill>
                  <a:schemeClr val="tx1"/>
                </a:solidFill>
              </a:rPr>
              <a:t>Chauffeur et statut du chauffeur</a:t>
            </a:r>
            <a:endParaRPr lang="en-US" sz="1400" dirty="0"/>
          </a:p>
        </p:txBody>
      </p:sp>
      <p:sp>
        <p:nvSpPr>
          <p:cNvPr id="30" name="Shape 28"/>
          <p:cNvSpPr/>
          <p:nvPr/>
        </p:nvSpPr>
        <p:spPr>
          <a:xfrm>
            <a:off x="7635240" y="4709160"/>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7635240" y="47091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2" name="Text 30"/>
          <p:cNvSpPr txBox="1"/>
          <p:nvPr/>
        </p:nvSpPr>
        <p:spPr>
          <a:xfrm>
            <a:off x="8138160" y="4672584"/>
            <a:ext cx="3502152" cy="731520"/>
          </a:xfrm>
          <a:prstGeom prst="rect">
            <a:avLst/>
          </a:prstGeom>
          <a:noFill/>
          <a:ln/>
        </p:spPr>
        <p:txBody>
          <a:bodyPr wrap="square" lIns="0" tIns="0" rIns="0" bIns="0" rtlCol="0" anchor="t"/>
          <a:lstStyle/>
          <a:p>
            <a:pPr indent="0" marL="0">
              <a:buNone/>
            </a:pPr>
            <a:r>
              <a:rPr lang="en-US" sz="1400" dirty="0">
                <a:solidFill>
                  <a:schemeClr val="tx1"/>
                </a:solidFill>
              </a:rPr>
              <a:t>Dates de début et de fin</a:t>
            </a:r>
            <a:endParaRPr lang="en-US" sz="1400" dirty="0"/>
          </a:p>
        </p:txBody>
      </p:sp>
      <p:sp>
        <p:nvSpPr>
          <p:cNvPr id="33" name="Shape 31"/>
          <p:cNvSpPr/>
          <p:nvPr/>
        </p:nvSpPr>
        <p:spPr>
          <a:xfrm>
            <a:off x="7635240" y="5440680"/>
            <a:ext cx="384048" cy="384048"/>
          </a:xfrm>
          <a:prstGeom prst="ellipse">
            <a:avLst/>
          </a:prstGeom>
          <a:solidFill>
            <a:schemeClr val="accent1"/>
          </a:solidFill>
          <a:ln w="12700">
            <a:solidFill>
              <a:schemeClr val="accent1"/>
            </a:solidFill>
            <a:prstDash val="solid"/>
          </a:ln>
        </p:spPr>
      </p:sp>
      <p:sp>
        <p:nvSpPr>
          <p:cNvPr id="34" name="Text 32"/>
          <p:cNvSpPr txBox="1"/>
          <p:nvPr/>
        </p:nvSpPr>
        <p:spPr>
          <a:xfrm>
            <a:off x="7635240" y="54406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5" name="Text 33"/>
          <p:cNvSpPr txBox="1"/>
          <p:nvPr/>
        </p:nvSpPr>
        <p:spPr>
          <a:xfrm>
            <a:off x="8138160" y="5404104"/>
            <a:ext cx="3502152" cy="731520"/>
          </a:xfrm>
          <a:prstGeom prst="rect">
            <a:avLst/>
          </a:prstGeom>
          <a:noFill/>
          <a:ln/>
        </p:spPr>
        <p:txBody>
          <a:bodyPr wrap="square" lIns="0" tIns="0" rIns="0" bIns="0" rtlCol="0" anchor="t"/>
          <a:lstStyle/>
          <a:p>
            <a:pPr indent="0" marL="0">
              <a:buNone/>
            </a:pPr>
            <a:r>
              <a:rPr lang="en-US" sz="1400" dirty="0">
                <a:solidFill>
                  <a:schemeClr val="tx1"/>
                </a:solidFill>
              </a:rPr>
              <a:t>Détails du trajet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Relier camion, chauffeur et trajet</a:t>
            </a:r>
            <a:endParaRPr lang="en-US" sz="3000" dirty="0"/>
          </a:p>
        </p:txBody>
      </p:sp>
      <p:sp>
        <p:nvSpPr>
          <p:cNvPr id="3" name="Shape 1"/>
          <p:cNvSpPr/>
          <p:nvPr/>
        </p:nvSpPr>
        <p:spPr>
          <a:xfrm>
            <a:off x="1371600" y="1463040"/>
            <a:ext cx="2011680" cy="2011680"/>
          </a:xfrm>
          <a:prstGeom prst="ellipse">
            <a:avLst/>
          </a:prstGeom>
          <a:solidFill>
            <a:schemeClr val="tx2"/>
          </a:solidFill>
          <a:ln w="12700">
            <a:solidFill>
              <a:schemeClr val="tx2"/>
            </a:solidFill>
            <a:prstDash val="solid"/>
          </a:ln>
        </p:spPr>
      </p:sp>
      <p:sp>
        <p:nvSpPr>
          <p:cNvPr id="4" name="Text 2"/>
          <p:cNvSpPr txBox="1"/>
          <p:nvPr/>
        </p:nvSpPr>
        <p:spPr>
          <a:xfrm>
            <a:off x="1371600" y="1463040"/>
            <a:ext cx="2011680" cy="2011680"/>
          </a:xfrm>
          <a:prstGeom prst="rect">
            <a:avLst/>
          </a:prstGeom>
          <a:noFill/>
          <a:ln/>
        </p:spPr>
        <p:txBody>
          <a:bodyPr wrap="square" rtlCol="0" anchor="ctr"/>
          <a:lstStyle/>
          <a:p>
            <a:pPr algn="ctr" indent="0" marL="0">
              <a:buNone/>
            </a:pPr>
            <a:r>
              <a:rPr lang="en-US" sz="2000" b="1" dirty="0">
                <a:solidFill>
                  <a:schemeClr val="bg1"/>
                </a:solidFill>
              </a:rPr>
              <a:t>Camion</a:t>
            </a:r>
            <a:endParaRPr lang="en-US" sz="1500" dirty="0"/>
          </a:p>
          <a:p>
            <a:pPr algn="ctr" indent="0" marL="0">
              <a:buNone/>
            </a:pPr>
            <a:r>
              <a:rPr lang="en-US" sz="1200" dirty="0">
                <a:solidFill>
                  <a:schemeClr val="bg1"/>
                </a:solidFill>
              </a:rPr>
              <a:t>Vehicle Management</a:t>
            </a:r>
            <a:endParaRPr lang="en-US" sz="1500" dirty="0"/>
          </a:p>
        </p:txBody>
      </p:sp>
      <p:sp>
        <p:nvSpPr>
          <p:cNvPr id="5" name="Shape 3"/>
          <p:cNvSpPr/>
          <p:nvPr/>
        </p:nvSpPr>
        <p:spPr>
          <a:xfrm>
            <a:off x="3566160" y="2240280"/>
            <a:ext cx="1463040" cy="457200"/>
          </a:xfrm>
          <a:prstGeom prst="leftRightArrow">
            <a:avLst/>
          </a:prstGeom>
          <a:solidFill>
            <a:schemeClr val="accent1"/>
          </a:solidFill>
          <a:ln w="12700">
            <a:solidFill>
              <a:schemeClr val="accent1"/>
            </a:solidFill>
            <a:prstDash val="solid"/>
          </a:ln>
        </p:spPr>
      </p:sp>
      <p:sp>
        <p:nvSpPr>
          <p:cNvPr id="6" name="Shape 4"/>
          <p:cNvSpPr/>
          <p:nvPr/>
        </p:nvSpPr>
        <p:spPr>
          <a:xfrm>
            <a:off x="5212080" y="1463040"/>
            <a:ext cx="2011680" cy="2011680"/>
          </a:xfrm>
          <a:prstGeom prst="ellipse">
            <a:avLst/>
          </a:prstGeom>
          <a:solidFill>
            <a:schemeClr val="tx2"/>
          </a:solidFill>
          <a:ln w="12700">
            <a:solidFill>
              <a:schemeClr val="tx2"/>
            </a:solidFill>
            <a:prstDash val="solid"/>
          </a:ln>
        </p:spPr>
      </p:sp>
      <p:sp>
        <p:nvSpPr>
          <p:cNvPr id="7" name="Text 5"/>
          <p:cNvSpPr txBox="1"/>
          <p:nvPr/>
        </p:nvSpPr>
        <p:spPr>
          <a:xfrm>
            <a:off x="5212080" y="1463040"/>
            <a:ext cx="2011680" cy="2011680"/>
          </a:xfrm>
          <a:prstGeom prst="rect">
            <a:avLst/>
          </a:prstGeom>
          <a:noFill/>
          <a:ln/>
        </p:spPr>
        <p:txBody>
          <a:bodyPr wrap="square" rtlCol="0" anchor="ctr"/>
          <a:lstStyle/>
          <a:p>
            <a:pPr algn="ctr" indent="0" marL="0">
              <a:buNone/>
            </a:pPr>
            <a:r>
              <a:rPr lang="en-US" sz="2000" b="1" dirty="0">
                <a:solidFill>
                  <a:schemeClr val="bg1"/>
                </a:solidFill>
              </a:rPr>
              <a:t>Chauffeur</a:t>
            </a:r>
            <a:endParaRPr lang="en-US" sz="1500" dirty="0"/>
          </a:p>
          <a:p>
            <a:pPr algn="ctr" indent="0" marL="0">
              <a:buNone/>
            </a:pPr>
            <a:r>
              <a:rPr lang="en-US" sz="1200" dirty="0">
                <a:solidFill>
                  <a:schemeClr val="bg1"/>
                </a:solidFill>
              </a:rPr>
              <a:t>Driver Info</a:t>
            </a:r>
            <a:endParaRPr lang="en-US" sz="1500" dirty="0"/>
          </a:p>
        </p:txBody>
      </p:sp>
      <p:sp>
        <p:nvSpPr>
          <p:cNvPr id="8" name="Shape 6"/>
          <p:cNvSpPr/>
          <p:nvPr/>
        </p:nvSpPr>
        <p:spPr>
          <a:xfrm>
            <a:off x="7406640" y="2240280"/>
            <a:ext cx="1463040" cy="457200"/>
          </a:xfrm>
          <a:prstGeom prst="leftRightArrow">
            <a:avLst/>
          </a:prstGeom>
          <a:solidFill>
            <a:schemeClr val="accent1"/>
          </a:solidFill>
          <a:ln w="12700">
            <a:solidFill>
              <a:schemeClr val="accent1"/>
            </a:solidFill>
            <a:prstDash val="solid"/>
          </a:ln>
        </p:spPr>
      </p:sp>
      <p:sp>
        <p:nvSpPr>
          <p:cNvPr id="9" name="Shape 7"/>
          <p:cNvSpPr/>
          <p:nvPr/>
        </p:nvSpPr>
        <p:spPr>
          <a:xfrm>
            <a:off x="9052560" y="1463040"/>
            <a:ext cx="2011680" cy="2011680"/>
          </a:xfrm>
          <a:prstGeom prst="ellipse">
            <a:avLst/>
          </a:prstGeom>
          <a:solidFill>
            <a:schemeClr val="tx2"/>
          </a:solidFill>
          <a:ln w="12700">
            <a:solidFill>
              <a:schemeClr val="tx2"/>
            </a:solidFill>
            <a:prstDash val="solid"/>
          </a:ln>
        </p:spPr>
      </p:sp>
      <p:sp>
        <p:nvSpPr>
          <p:cNvPr id="10" name="Text 8"/>
          <p:cNvSpPr txBox="1"/>
          <p:nvPr/>
        </p:nvSpPr>
        <p:spPr>
          <a:xfrm>
            <a:off x="9052560" y="1463040"/>
            <a:ext cx="2011680" cy="2011680"/>
          </a:xfrm>
          <a:prstGeom prst="rect">
            <a:avLst/>
          </a:prstGeom>
          <a:noFill/>
          <a:ln/>
        </p:spPr>
        <p:txBody>
          <a:bodyPr wrap="square" rtlCol="0" anchor="ctr"/>
          <a:lstStyle/>
          <a:p>
            <a:pPr algn="ctr" indent="0" marL="0">
              <a:buNone/>
            </a:pPr>
            <a:r>
              <a:rPr lang="en-US" sz="2000" b="1" dirty="0">
                <a:solidFill>
                  <a:schemeClr val="bg1"/>
                </a:solidFill>
              </a:rPr>
              <a:t>Trajet</a:t>
            </a:r>
            <a:endParaRPr lang="en-US" sz="1500" dirty="0"/>
          </a:p>
          <a:p>
            <a:pPr algn="ctr" indent="0" marL="0">
              <a:buNone/>
            </a:pPr>
            <a:r>
              <a:rPr lang="en-US" sz="1200" dirty="0">
                <a:solidFill>
                  <a:schemeClr val="bg1"/>
                </a:solidFill>
              </a:rPr>
              <a:t>liste des trajets</a:t>
            </a:r>
            <a:endParaRPr lang="en-US" sz="1500" dirty="0"/>
          </a:p>
        </p:txBody>
      </p:sp>
      <p:sp>
        <p:nvSpPr>
          <p:cNvPr id="11" name="Text 9"/>
          <p:cNvSpPr txBox="1"/>
          <p:nvPr/>
        </p:nvSpPr>
        <p:spPr>
          <a:xfrm>
            <a:off x="548640" y="3840480"/>
            <a:ext cx="11064240" cy="365760"/>
          </a:xfrm>
          <a:prstGeom prst="rect">
            <a:avLst/>
          </a:prstGeom>
          <a:noFill/>
          <a:ln/>
        </p:spPr>
        <p:txBody>
          <a:bodyPr wrap="square" rtlCol="0" anchor="t"/>
          <a:lstStyle/>
          <a:p>
            <a:pPr algn="ctr" indent="0" marL="0">
              <a:buNone/>
            </a:pPr>
            <a:r>
              <a:rPr lang="en-US" sz="1500" b="1" dirty="0">
                <a:solidFill>
                  <a:schemeClr val="accent4"/>
                </a:solidFill>
              </a:rPr>
              <a:t>Démonstration en consultation uniquement — aucune création, aucune modification</a:t>
            </a:r>
            <a:endParaRPr lang="en-US" sz="1500" dirty="0"/>
          </a:p>
        </p:txBody>
      </p:sp>
      <p:sp>
        <p:nvSpPr>
          <p:cNvPr id="12" name="Text 10"/>
          <p:cNvSpPr txBox="1"/>
          <p:nvPr/>
        </p:nvSpPr>
        <p:spPr>
          <a:xfrm>
            <a:off x="1828800" y="4389120"/>
            <a:ext cx="8686800" cy="164592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Partir d'un trajet : noter le véhicule et le chauffeur affichés</a:t>
            </a:r>
            <a:endParaRPr lang="en-US" sz="1500" dirty="0"/>
          </a:p>
          <a:p>
            <a:pPr marL="342900" indent="-342900">
              <a:spcAft>
                <a:spcPts val="600"/>
              </a:spcAft>
              <a:buSzPct val="100000"/>
              <a:buChar char="•"/>
            </a:pPr>
            <a:r>
              <a:rPr lang="en-US" sz="1500" dirty="0">
                <a:solidFill>
                  <a:schemeClr val="tx1"/>
                </a:solidFill>
              </a:rPr>
              <a:t>Ouvrir la fiche du véhicule : vérifier le chauffeur associé et le statut</a:t>
            </a:r>
            <a:endParaRPr lang="en-US" sz="1500" dirty="0"/>
          </a:p>
          <a:p>
            <a:pPr marL="342900" indent="-342900">
              <a:spcAft>
                <a:spcPts val="600"/>
              </a:spcAft>
              <a:buSzPct val="100000"/>
              <a:buChar char="•"/>
            </a:pPr>
            <a:r>
              <a:rPr lang="en-US" sz="1500" dirty="0">
                <a:solidFill>
                  <a:schemeClr val="tx1"/>
                </a:solidFill>
              </a:rPr>
              <a:t>Ouvrir le profil du chauffeur : vérifier le statut et la validité du permis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Suivi du carburant</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Fuel Info — liste des pleins</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7724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Shape 5"/>
          <p:cNvSpPr/>
          <p:nvPr/>
        </p:nvSpPr>
        <p:spPr>
          <a:xfrm>
            <a:off x="1280160" y="15544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128016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Shape 7"/>
          <p:cNvSpPr/>
          <p:nvPr/>
        </p:nvSpPr>
        <p:spPr>
          <a:xfrm>
            <a:off x="1783080"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178308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Shape 9"/>
          <p:cNvSpPr/>
          <p:nvPr/>
        </p:nvSpPr>
        <p:spPr>
          <a:xfrm>
            <a:off x="228600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8600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Shape 11"/>
          <p:cNvSpPr/>
          <p:nvPr/>
        </p:nvSpPr>
        <p:spPr>
          <a:xfrm>
            <a:off x="2788920" y="155448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278892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Shape 13"/>
          <p:cNvSpPr/>
          <p:nvPr/>
        </p:nvSpPr>
        <p:spPr>
          <a:xfrm>
            <a:off x="3291840" y="155448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3291840" y="15544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7" name="Text 15"/>
          <p:cNvSpPr txBox="1"/>
          <p:nvPr/>
        </p:nvSpPr>
        <p:spPr>
          <a:xfrm>
            <a:off x="7635240" y="1325880"/>
            <a:ext cx="4005072" cy="365760"/>
          </a:xfrm>
          <a:prstGeom prst="rect">
            <a:avLst/>
          </a:prstGeom>
          <a:noFill/>
          <a:ln/>
        </p:spPr>
        <p:txBody>
          <a:bodyPr wrap="square" lIns="0" tIns="0" rIns="0" bIns="0" rtlCol="0" anchor="t"/>
          <a:lstStyle/>
          <a:p>
            <a:pPr indent="0" marL="0">
              <a:buNone/>
            </a:pPr>
            <a:r>
              <a:rPr lang="en-US" sz="1300" b="1" dirty="0">
                <a:solidFill>
                  <a:schemeClr val="accent5"/>
                </a:solidFill>
              </a:rPr>
              <a:t>Repères à placer sur la capture</a:t>
            </a:r>
            <a:endParaRPr lang="en-US" sz="1300" dirty="0"/>
          </a:p>
        </p:txBody>
      </p:sp>
      <p:sp>
        <p:nvSpPr>
          <p:cNvPr id="18" name="Shape 16"/>
          <p:cNvSpPr/>
          <p:nvPr/>
        </p:nvSpPr>
        <p:spPr>
          <a:xfrm>
            <a:off x="7635240" y="178308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7635240" y="17830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0" name="Text 18"/>
          <p:cNvSpPr txBox="1"/>
          <p:nvPr/>
        </p:nvSpPr>
        <p:spPr>
          <a:xfrm>
            <a:off x="8138160" y="1746504"/>
            <a:ext cx="3502152" cy="731520"/>
          </a:xfrm>
          <a:prstGeom prst="rect">
            <a:avLst/>
          </a:prstGeom>
          <a:noFill/>
          <a:ln/>
        </p:spPr>
        <p:txBody>
          <a:bodyPr wrap="square" lIns="0" tIns="0" rIns="0" bIns="0" rtlCol="0" anchor="t"/>
          <a:lstStyle/>
          <a:p>
            <a:pPr indent="0" marL="0">
              <a:buNone/>
            </a:pPr>
            <a:r>
              <a:rPr lang="en-US" sz="1400" dirty="0">
                <a:solidFill>
                  <a:schemeClr val="tx1"/>
                </a:solidFill>
              </a:rPr>
              <a:t>Menu « Fuel Info » et recherche</a:t>
            </a:r>
            <a:endParaRPr lang="en-US" sz="1400" dirty="0"/>
          </a:p>
        </p:txBody>
      </p:sp>
      <p:sp>
        <p:nvSpPr>
          <p:cNvPr id="21" name="Shape 19"/>
          <p:cNvSpPr/>
          <p:nvPr/>
        </p:nvSpPr>
        <p:spPr>
          <a:xfrm>
            <a:off x="7635240" y="2514600"/>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7635240" y="25146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3" name="Text 21"/>
          <p:cNvSpPr txBox="1"/>
          <p:nvPr/>
        </p:nvSpPr>
        <p:spPr>
          <a:xfrm>
            <a:off x="8138160" y="2478024"/>
            <a:ext cx="3502152" cy="731520"/>
          </a:xfrm>
          <a:prstGeom prst="rect">
            <a:avLst/>
          </a:prstGeom>
          <a:noFill/>
          <a:ln/>
        </p:spPr>
        <p:txBody>
          <a:bodyPr wrap="square" lIns="0" tIns="0" rIns="0" bIns="0" rtlCol="0" anchor="t"/>
          <a:lstStyle/>
          <a:p>
            <a:pPr indent="0" marL="0">
              <a:buNone/>
            </a:pPr>
            <a:r>
              <a:rPr lang="en-US" sz="1400" dirty="0">
                <a:solidFill>
                  <a:schemeClr val="tx1"/>
                </a:solidFill>
              </a:rPr>
              <a:t>Bouton « Add Fuel »</a:t>
            </a:r>
            <a:endParaRPr lang="en-US" sz="1400" dirty="0"/>
          </a:p>
        </p:txBody>
      </p:sp>
      <p:sp>
        <p:nvSpPr>
          <p:cNvPr id="24" name="Shape 22"/>
          <p:cNvSpPr/>
          <p:nvPr/>
        </p:nvSpPr>
        <p:spPr>
          <a:xfrm>
            <a:off x="7635240" y="3246120"/>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7635240" y="32461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6" name="Text 24"/>
          <p:cNvSpPr txBox="1"/>
          <p:nvPr/>
        </p:nvSpPr>
        <p:spPr>
          <a:xfrm>
            <a:off x="8138160" y="3209544"/>
            <a:ext cx="3502152" cy="731520"/>
          </a:xfrm>
          <a:prstGeom prst="rect">
            <a:avLst/>
          </a:prstGeom>
          <a:noFill/>
          <a:ln/>
        </p:spPr>
        <p:txBody>
          <a:bodyPr wrap="square" lIns="0" tIns="0" rIns="0" bIns="0" rtlCol="0" anchor="t"/>
          <a:lstStyle/>
          <a:p>
            <a:pPr indent="0" marL="0">
              <a:buNone/>
            </a:pPr>
            <a:r>
              <a:rPr lang="en-US" sz="1400" dirty="0">
                <a:solidFill>
                  <a:schemeClr val="tx1"/>
                </a:solidFill>
              </a:rPr>
              <a:t>Véhicule et date</a:t>
            </a:r>
            <a:endParaRPr lang="en-US" sz="1400" dirty="0"/>
          </a:p>
        </p:txBody>
      </p:sp>
      <p:sp>
        <p:nvSpPr>
          <p:cNvPr id="27" name="Shape 25"/>
          <p:cNvSpPr/>
          <p:nvPr/>
        </p:nvSpPr>
        <p:spPr>
          <a:xfrm>
            <a:off x="7635240" y="3977640"/>
            <a:ext cx="384048" cy="384048"/>
          </a:xfrm>
          <a:prstGeom prst="ellipse">
            <a:avLst/>
          </a:prstGeom>
          <a:solidFill>
            <a:schemeClr val="accent1"/>
          </a:solidFill>
          <a:ln w="12700">
            <a:solidFill>
              <a:schemeClr val="accent1"/>
            </a:solidFill>
            <a:prstDash val="solid"/>
          </a:ln>
        </p:spPr>
      </p:sp>
      <p:sp>
        <p:nvSpPr>
          <p:cNvPr id="28" name="Text 26"/>
          <p:cNvSpPr txBox="1"/>
          <p:nvPr/>
        </p:nvSpPr>
        <p:spPr>
          <a:xfrm>
            <a:off x="7635240" y="3977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9" name="Text 27"/>
          <p:cNvSpPr txBox="1"/>
          <p:nvPr/>
        </p:nvSpPr>
        <p:spPr>
          <a:xfrm>
            <a:off x="8138160" y="3941064"/>
            <a:ext cx="3502152" cy="731520"/>
          </a:xfrm>
          <a:prstGeom prst="rect">
            <a:avLst/>
          </a:prstGeom>
          <a:noFill/>
          <a:ln/>
        </p:spPr>
        <p:txBody>
          <a:bodyPr wrap="square" lIns="0" tIns="0" rIns="0" bIns="0" rtlCol="0" anchor="t"/>
          <a:lstStyle/>
          <a:p>
            <a:pPr indent="0" marL="0">
              <a:buNone/>
            </a:pPr>
            <a:r>
              <a:rPr lang="en-US" sz="1400" dirty="0">
                <a:solidFill>
                  <a:schemeClr val="tx1"/>
                </a:solidFill>
              </a:rPr>
              <a:t>Quantité et coût</a:t>
            </a:r>
            <a:endParaRPr lang="en-US" sz="1400" dirty="0"/>
          </a:p>
        </p:txBody>
      </p:sp>
      <p:sp>
        <p:nvSpPr>
          <p:cNvPr id="30" name="Shape 28"/>
          <p:cNvSpPr/>
          <p:nvPr/>
        </p:nvSpPr>
        <p:spPr>
          <a:xfrm>
            <a:off x="7635240" y="4709160"/>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7635240" y="47091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2" name="Text 30"/>
          <p:cNvSpPr txBox="1"/>
          <p:nvPr/>
        </p:nvSpPr>
        <p:spPr>
          <a:xfrm>
            <a:off x="8138160" y="4672584"/>
            <a:ext cx="3502152" cy="731520"/>
          </a:xfrm>
          <a:prstGeom prst="rect">
            <a:avLst/>
          </a:prstGeom>
          <a:noFill/>
          <a:ln/>
        </p:spPr>
        <p:txBody>
          <a:bodyPr wrap="square" lIns="0" tIns="0" rIns="0" bIns="0" rtlCol="0" anchor="t"/>
          <a:lstStyle/>
          <a:p>
            <a:pPr indent="0" marL="0">
              <a:buNone/>
            </a:pPr>
            <a:r>
              <a:rPr lang="en-US" sz="1400" dirty="0">
                <a:solidFill>
                  <a:schemeClr val="tx1"/>
                </a:solidFill>
              </a:rPr>
              <a:t>Chauffeur</a:t>
            </a:r>
            <a:endParaRPr lang="en-US" sz="1400" dirty="0"/>
          </a:p>
        </p:txBody>
      </p:sp>
      <p:sp>
        <p:nvSpPr>
          <p:cNvPr id="33" name="Shape 31"/>
          <p:cNvSpPr/>
          <p:nvPr/>
        </p:nvSpPr>
        <p:spPr>
          <a:xfrm>
            <a:off x="7635240" y="5440680"/>
            <a:ext cx="384048" cy="384048"/>
          </a:xfrm>
          <a:prstGeom prst="ellipse">
            <a:avLst/>
          </a:prstGeom>
          <a:solidFill>
            <a:schemeClr val="accent1"/>
          </a:solidFill>
          <a:ln w="12700">
            <a:solidFill>
              <a:schemeClr val="accent1"/>
            </a:solidFill>
            <a:prstDash val="solid"/>
          </a:ln>
        </p:spPr>
      </p:sp>
      <p:sp>
        <p:nvSpPr>
          <p:cNvPr id="34" name="Text 32"/>
          <p:cNvSpPr txBox="1"/>
          <p:nvPr/>
        </p:nvSpPr>
        <p:spPr>
          <a:xfrm>
            <a:off x="7635240" y="54406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5" name="Text 33"/>
          <p:cNvSpPr txBox="1"/>
          <p:nvPr/>
        </p:nvSpPr>
        <p:spPr>
          <a:xfrm>
            <a:off x="8138160" y="5404104"/>
            <a:ext cx="3502152" cy="731520"/>
          </a:xfrm>
          <a:prstGeom prst="rect">
            <a:avLst/>
          </a:prstGeom>
          <a:noFill/>
          <a:ln/>
        </p:spPr>
        <p:txBody>
          <a:bodyPr wrap="square" lIns="0" tIns="0" rIns="0" bIns="0" rtlCol="0" anchor="t"/>
          <a:lstStyle/>
          <a:p>
            <a:pPr indent="0" marL="0">
              <a:buNone/>
            </a:pPr>
            <a:r>
              <a:rPr lang="en-US" sz="1400" dirty="0">
                <a:solidFill>
                  <a:schemeClr val="tx1"/>
                </a:solidFill>
              </a:rPr>
              <a:t>Reçu (lorsqu'il est présent)</a:t>
            </a:r>
            <a:endParaRPr lang="en-US" sz="1400" dirty="0"/>
          </a:p>
        </p:txBody>
      </p:sp>
      <p:sp>
        <p:nvSpPr>
          <p:cNvPr id="36" name="Text 34"/>
          <p:cNvSpPr txBox="1"/>
          <p:nvPr/>
        </p:nvSpPr>
        <p:spPr>
          <a:xfrm>
            <a:off x="548640" y="6217920"/>
            <a:ext cx="6766560" cy="182880"/>
          </a:xfrm>
          <a:prstGeom prst="rect">
            <a:avLst/>
          </a:prstGeom>
          <a:noFill/>
          <a:ln/>
        </p:spPr>
        <p:txBody>
          <a:bodyPr wrap="square" lIns="0" tIns="0" rIns="0" bIns="0" rtlCol="0" anchor="t"/>
          <a:lstStyle/>
          <a:p>
            <a:pPr indent="0" marL="0">
              <a:buNone/>
            </a:pPr>
            <a:r>
              <a:rPr lang="en-US" sz="1100" i="1" dirty="0">
                <a:solidFill>
                  <a:schemeClr val="accent4"/>
                </a:solidFill>
              </a:rPr>
              <a:t>Les quantités et montants visibles sont des exemples d'écran.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Finances : comprendre les informations disponibles</a:t>
            </a:r>
            <a:endParaRPr lang="en-US" sz="3000" dirty="0"/>
          </a:p>
        </p:txBody>
      </p:sp>
      <p:sp>
        <p:nvSpPr>
          <p:cNvPr id="3" name="Capture à ajouter"/>
          <p:cNvSpPr/>
          <p:nvPr/>
        </p:nvSpPr>
        <p:spPr>
          <a:xfrm>
            <a:off x="548640" y="1325880"/>
            <a:ext cx="6766560" cy="4846320"/>
          </a:xfrm>
          <a:prstGeom prst="rect">
            <a:avLst/>
          </a:prstGeom>
          <a:solidFill>
            <a:schemeClr val="bg2"/>
          </a:solidFill>
          <a:ln w="15875">
            <a:solidFill>
              <a:schemeClr val="accent5"/>
            </a:solidFill>
            <a:prstDash val="dash"/>
          </a:ln>
        </p:spPr>
      </p:sp>
      <p:sp>
        <p:nvSpPr>
          <p:cNvPr id="4" name="Text 2"/>
          <p:cNvSpPr txBox="1"/>
          <p:nvPr/>
        </p:nvSpPr>
        <p:spPr>
          <a:xfrm>
            <a:off x="914400" y="3017520"/>
            <a:ext cx="6035040" cy="1463040"/>
          </a:xfrm>
          <a:prstGeom prst="rect">
            <a:avLst/>
          </a:prstGeom>
          <a:noFill/>
          <a:ln/>
        </p:spPr>
        <p:txBody>
          <a:bodyPr wrap="square" rtlCol="0" anchor="ctr"/>
          <a:lstStyle/>
          <a:p>
            <a:pPr algn="ctr" indent="0" marL="0">
              <a:buNone/>
            </a:pPr>
            <a:r>
              <a:rPr lang="en-US" sz="2000" b="1" dirty="0">
                <a:solidFill>
                  <a:schemeClr val="accent4"/>
                </a:solidFill>
              </a:rPr>
              <a:t>Capture à ajouter</a:t>
            </a:r>
            <a:endParaRPr lang="en-US" sz="1500" dirty="0"/>
          </a:p>
          <a:p>
            <a:pPr algn="ctr" indent="0" marL="0">
              <a:buNone/>
            </a:pPr>
            <a:r>
              <a:rPr lang="en-US" sz="1400" dirty="0">
                <a:solidFill>
                  <a:schemeClr val="tx2"/>
                </a:solidFill>
              </a:rPr>
              <a:t>Écran : Capture financière à ajouter : transactions, coûts, revenus ou dépenses</a:t>
            </a:r>
            <a:endParaRPr lang="en-US" sz="1500" dirty="0"/>
          </a:p>
          <a:p>
            <a:pPr algn="ctr" indent="0" marL="0">
              <a:buNone/>
            </a:pPr>
            <a:r>
              <a:rPr lang="en-US" sz="1100" i="1" dirty="0">
                <a:solidFill>
                  <a:schemeClr val="accent5"/>
                </a:solidFill>
              </a:rPr>
              <a:t>Masquer noms, numéros et données personnelles (ou remplacer par des exemples fictifs).</a:t>
            </a:r>
            <a:endParaRPr lang="en-US" sz="1500" dirty="0"/>
          </a:p>
        </p:txBody>
      </p:sp>
      <p:sp>
        <p:nvSpPr>
          <p:cNvPr id="5" name="Shape 3"/>
          <p:cNvSpPr/>
          <p:nvPr/>
        </p:nvSpPr>
        <p:spPr>
          <a:xfrm>
            <a:off x="7589520" y="1325880"/>
            <a:ext cx="4023360" cy="4846320"/>
          </a:xfrm>
          <a:prstGeom prst="roundRect">
            <a:avLst>
              <a:gd name="adj" fmla="val 1818"/>
            </a:avLst>
          </a:prstGeom>
          <a:solidFill>
            <a:schemeClr val="bg2"/>
          </a:solidFill>
          <a:ln w="12700">
            <a:solidFill>
              <a:schemeClr val="bg2"/>
            </a:solidFill>
            <a:prstDash val="solid"/>
          </a:ln>
        </p:spPr>
      </p:sp>
      <p:sp>
        <p:nvSpPr>
          <p:cNvPr id="6" name="Text 4"/>
          <p:cNvSpPr txBox="1"/>
          <p:nvPr/>
        </p:nvSpPr>
        <p:spPr>
          <a:xfrm>
            <a:off x="7772400" y="1463040"/>
            <a:ext cx="3657600" cy="4572000"/>
          </a:xfrm>
          <a:prstGeom prst="rect">
            <a:avLst/>
          </a:prstGeom>
          <a:noFill/>
          <a:ln/>
        </p:spPr>
        <p:txBody>
          <a:bodyPr wrap="square" rtlCol="0" anchor="t"/>
          <a:lstStyle/>
          <a:p>
            <a:pPr indent="0" marL="0">
              <a:spcAft>
                <a:spcPts val="600"/>
              </a:spcAft>
              <a:buNone/>
            </a:pPr>
            <a:r>
              <a:rPr lang="en-US" sz="1600" b="1" dirty="0">
                <a:solidFill>
                  <a:schemeClr val="tx2"/>
                </a:solidFill>
              </a:rPr>
              <a:t>Ce que l'on présentera</a:t>
            </a:r>
            <a:endParaRPr lang="en-US" sz="1500" dirty="0"/>
          </a:p>
          <a:p>
            <a:pPr indent="0" marL="0">
              <a:buNone/>
            </a:pPr>
            <a:r>
              <a:rPr lang="en-US" sz="1400" dirty="0">
                <a:solidFill>
                  <a:schemeClr val="tx1"/>
                </a:solidFill>
              </a:rPr>
              <a:t>Uniquement les informations visibles à l'écran : transactions, coûts, revenus ou dépenses.</a:t>
            </a:r>
            <a:endParaRPr lang="en-US" sz="1500" dirty="0"/>
          </a:p>
          <a:p>
            <a:pPr indent="0" marL="0">
              <a:buNone/>
            </a:pPr>
            <a:endParaRPr lang="en-US" sz="1500" dirty="0"/>
          </a:p>
          <a:p>
            <a:pPr indent="0" marL="0">
              <a:buNone/>
            </a:pPr>
            <a:r>
              <a:rPr lang="en-US" sz="1400" dirty="0">
                <a:solidFill>
                  <a:schemeClr val="tx1"/>
                </a:solidFill>
              </a:rPr>
              <a:t>Aucune catégorie, aucun calcul et aucune procédure comptable ne sont décrits sans capture.</a:t>
            </a:r>
            <a:endParaRPr lang="en-US" sz="1500" dirty="0"/>
          </a:p>
          <a:p>
            <a:pPr indent="0" marL="0">
              <a:buNone/>
            </a:pPr>
            <a:endParaRPr lang="en-US" sz="1500" dirty="0"/>
          </a:p>
          <a:p>
            <a:pPr indent="0" marL="0">
              <a:buNone/>
            </a:pPr>
            <a:r>
              <a:rPr lang="en-US" sz="1400" dirty="0">
                <a:solidFill>
                  <a:schemeClr val="tx1"/>
                </a:solidFill>
              </a:rPr>
              <a:t>Les transactions apparaissent déjà comme indicateur du tableau de bord.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Entretien, rappels et pièces</a:t>
            </a:r>
            <a:endParaRPr lang="en-US" sz="3000" dirty="0"/>
          </a:p>
        </p:txBody>
      </p:sp>
      <p:sp>
        <p:nvSpPr>
          <p:cNvPr id="3" name="Shape 1"/>
          <p:cNvSpPr/>
          <p:nvPr/>
        </p:nvSpPr>
        <p:spPr>
          <a:xfrm>
            <a:off x="548640" y="1463040"/>
            <a:ext cx="548640" cy="548640"/>
          </a:xfrm>
          <a:prstGeom prst="ellipse">
            <a:avLst/>
          </a:prstGeom>
          <a:solidFill>
            <a:schemeClr val="accent2"/>
          </a:solidFill>
          <a:ln w="12700">
            <a:solidFill>
              <a:schemeClr val="accent2"/>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Shape 3"/>
          <p:cNvSpPr/>
          <p:nvPr/>
        </p:nvSpPr>
        <p:spPr>
          <a:xfrm>
            <a:off x="548640" y="2194560"/>
            <a:ext cx="3474720" cy="1828800"/>
          </a:xfrm>
          <a:prstGeom prst="roundRect">
            <a:avLst>
              <a:gd name="adj" fmla="val 4000"/>
            </a:avLst>
          </a:prstGeom>
          <a:solidFill>
            <a:schemeClr val="bg2"/>
          </a:solidFill>
          <a:ln w="12700">
            <a:solidFill>
              <a:schemeClr val="bg2"/>
            </a:solidFill>
            <a:prstDash val="solid"/>
          </a:ln>
        </p:spPr>
      </p:sp>
      <p:sp>
        <p:nvSpPr>
          <p:cNvPr id="6" name="Text 4"/>
          <p:cNvSpPr txBox="1"/>
          <p:nvPr/>
        </p:nvSpPr>
        <p:spPr>
          <a:xfrm>
            <a:off x="73152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Maintenance</a:t>
            </a:r>
            <a:endParaRPr lang="en-US" sz="1500" dirty="0"/>
          </a:p>
          <a:p>
            <a:pPr indent="0" marL="0">
              <a:buNone/>
            </a:pPr>
            <a:r>
              <a:rPr lang="en-US" sz="1400" dirty="0">
                <a:solidFill>
                  <a:schemeClr val="tx1"/>
                </a:solidFill>
              </a:rPr>
              <a:t>Suivi de l'entretien des véhicules.</a:t>
            </a:r>
            <a:endParaRPr lang="en-US" sz="1500" dirty="0"/>
          </a:p>
        </p:txBody>
      </p:sp>
      <p:sp>
        <p:nvSpPr>
          <p:cNvPr id="7" name="Shape 5"/>
          <p:cNvSpPr/>
          <p:nvPr/>
        </p:nvSpPr>
        <p:spPr>
          <a:xfrm>
            <a:off x="4297680" y="1463040"/>
            <a:ext cx="548640" cy="548640"/>
          </a:xfrm>
          <a:prstGeom prst="ellipse">
            <a:avLst/>
          </a:prstGeom>
          <a:solidFill>
            <a:schemeClr val="accent2"/>
          </a:solidFill>
          <a:ln w="12700">
            <a:solidFill>
              <a:schemeClr val="accent2"/>
            </a:solidFill>
            <a:prstDash val="solid"/>
          </a:ln>
        </p:spPr>
      </p:sp>
      <p:sp>
        <p:nvSpPr>
          <p:cNvPr id="8" name="Text 6"/>
          <p:cNvSpPr txBox="1"/>
          <p:nvPr/>
        </p:nvSpPr>
        <p:spPr>
          <a:xfrm>
            <a:off x="429768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Shape 7"/>
          <p:cNvSpPr/>
          <p:nvPr/>
        </p:nvSpPr>
        <p:spPr>
          <a:xfrm>
            <a:off x="4297680" y="2194560"/>
            <a:ext cx="3474720" cy="1828800"/>
          </a:xfrm>
          <a:prstGeom prst="roundRect">
            <a:avLst>
              <a:gd name="adj" fmla="val 4000"/>
            </a:avLst>
          </a:prstGeom>
          <a:solidFill>
            <a:schemeClr val="bg2"/>
          </a:solidFill>
          <a:ln w="12700">
            <a:solidFill>
              <a:schemeClr val="bg2"/>
            </a:solidFill>
            <a:prstDash val="solid"/>
          </a:ln>
        </p:spPr>
      </p:sp>
      <p:sp>
        <p:nvSpPr>
          <p:cNvPr id="10" name="Text 8"/>
          <p:cNvSpPr txBox="1"/>
          <p:nvPr/>
        </p:nvSpPr>
        <p:spPr>
          <a:xfrm>
            <a:off x="448056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Reminder</a:t>
            </a:r>
            <a:endParaRPr lang="en-US" sz="1500" dirty="0"/>
          </a:p>
          <a:p>
            <a:pPr indent="0" marL="0">
              <a:buNone/>
            </a:pPr>
            <a:r>
              <a:rPr lang="en-US" sz="1400" dirty="0">
                <a:solidFill>
                  <a:schemeClr val="tx1"/>
                </a:solidFill>
              </a:rPr>
              <a:t>Rappels des échéances à ne pas manquer.</a:t>
            </a:r>
            <a:endParaRPr lang="en-US" sz="1500" dirty="0"/>
          </a:p>
        </p:txBody>
      </p:sp>
      <p:sp>
        <p:nvSpPr>
          <p:cNvPr id="11" name="Shape 9"/>
          <p:cNvSpPr/>
          <p:nvPr/>
        </p:nvSpPr>
        <p:spPr>
          <a:xfrm>
            <a:off x="8046720" y="1463040"/>
            <a:ext cx="548640" cy="548640"/>
          </a:xfrm>
          <a:prstGeom prst="ellipse">
            <a:avLst/>
          </a:prstGeom>
          <a:solidFill>
            <a:schemeClr val="accent2"/>
          </a:solidFill>
          <a:ln w="12700">
            <a:solidFill>
              <a:schemeClr val="accent2"/>
            </a:solidFill>
            <a:prstDash val="solid"/>
          </a:ln>
        </p:spPr>
      </p:sp>
      <p:sp>
        <p:nvSpPr>
          <p:cNvPr id="12" name="Text 10"/>
          <p:cNvSpPr txBox="1"/>
          <p:nvPr/>
        </p:nvSpPr>
        <p:spPr>
          <a:xfrm>
            <a:off x="804672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Shape 11"/>
          <p:cNvSpPr/>
          <p:nvPr/>
        </p:nvSpPr>
        <p:spPr>
          <a:xfrm>
            <a:off x="8046720" y="2194560"/>
            <a:ext cx="3474720" cy="1828800"/>
          </a:xfrm>
          <a:prstGeom prst="roundRect">
            <a:avLst>
              <a:gd name="adj" fmla="val 4000"/>
            </a:avLst>
          </a:prstGeom>
          <a:solidFill>
            <a:schemeClr val="bg2"/>
          </a:solidFill>
          <a:ln w="12700">
            <a:solidFill>
              <a:schemeClr val="bg2"/>
            </a:solidFill>
            <a:prstDash val="solid"/>
          </a:ln>
        </p:spPr>
      </p:sp>
      <p:sp>
        <p:nvSpPr>
          <p:cNvPr id="14" name="Text 12"/>
          <p:cNvSpPr txBox="1"/>
          <p:nvPr/>
        </p:nvSpPr>
        <p:spPr>
          <a:xfrm>
            <a:off x="822960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Parts Stock</a:t>
            </a:r>
            <a:endParaRPr lang="en-US" sz="1500" dirty="0"/>
          </a:p>
          <a:p>
            <a:pPr indent="0" marL="0">
              <a:buNone/>
            </a:pPr>
            <a:r>
              <a:rPr lang="en-US" sz="1400" dirty="0">
                <a:solidFill>
                  <a:schemeClr val="tx1"/>
                </a:solidFill>
              </a:rPr>
              <a:t>Suivi du stock de pièces.</a:t>
            </a:r>
            <a:endParaRPr lang="en-US" sz="1500" dirty="0"/>
          </a:p>
        </p:txBody>
      </p:sp>
      <p:sp>
        <p:nvSpPr>
          <p:cNvPr id="15" name="Text 13"/>
          <p:cNvSpPr txBox="1"/>
          <p:nvPr/>
        </p:nvSpPr>
        <p:spPr>
          <a:xfrm>
            <a:off x="548640" y="4480560"/>
            <a:ext cx="11064240" cy="457200"/>
          </a:xfrm>
          <a:prstGeom prst="rect">
            <a:avLst/>
          </a:prstGeom>
          <a:noFill/>
          <a:ln/>
        </p:spPr>
        <p:txBody>
          <a:bodyPr wrap="square" rtlCol="0" anchor="t"/>
          <a:lstStyle/>
          <a:p>
            <a:pPr indent="0" marL="0">
              <a:buNone/>
            </a:pPr>
            <a:r>
              <a:rPr lang="en-US" sz="1500" i="1" dirty="0">
                <a:solidFill>
                  <a:schemeClr val="accent5"/>
                </a:solidFill>
              </a:rPr>
              <a:t>Rôle général uniquement : les procédures détaillées seront vues lors d'une séance dédiée, avec captures.</a:t>
            </a:r>
            <a:endParaRPr lang="en-US" sz="1500" dirty="0"/>
          </a:p>
        </p:txBody>
      </p:sp>
      <p:sp>
        <p:nvSpPr>
          <p:cNvPr id="16" name="Text 14"/>
          <p:cNvSpPr txBox="1"/>
          <p:nvPr/>
        </p:nvSpPr>
        <p:spPr>
          <a:xfrm>
            <a:off x="548640" y="5120640"/>
            <a:ext cx="11064240" cy="457200"/>
          </a:xfrm>
          <a:prstGeom prst="rect">
            <a:avLst/>
          </a:prstGeom>
          <a:noFill/>
          <a:ln/>
        </p:spPr>
        <p:txBody>
          <a:bodyPr wrap="square" rtlCol="0" anchor="t"/>
          <a:lstStyle/>
          <a:p>
            <a:pPr indent="0" marL="0">
              <a:buNone/>
            </a:pPr>
            <a:r>
              <a:rPr lang="en-US" sz="1500" b="1" dirty="0">
                <a:solidFill>
                  <a:schemeClr val="accent4"/>
                </a:solidFill>
              </a:rPr>
              <a:t>Captures à ajouter : Maintenance, Reminder, Parts Stock</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Suivi, zones et alertes</a:t>
            </a:r>
            <a:endParaRPr lang="en-US" sz="3000" dirty="0"/>
          </a:p>
        </p:txBody>
      </p:sp>
      <p:sp>
        <p:nvSpPr>
          <p:cNvPr id="3" name="Shape 1"/>
          <p:cNvSpPr/>
          <p:nvPr/>
        </p:nvSpPr>
        <p:spPr>
          <a:xfrm>
            <a:off x="548640" y="1463040"/>
            <a:ext cx="548640" cy="548640"/>
          </a:xfrm>
          <a:prstGeom prst="ellipse">
            <a:avLst/>
          </a:prstGeom>
          <a:solidFill>
            <a:schemeClr val="accent3"/>
          </a:solidFill>
          <a:ln w="12700">
            <a:solidFill>
              <a:schemeClr val="accent3"/>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Shape 3"/>
          <p:cNvSpPr/>
          <p:nvPr/>
        </p:nvSpPr>
        <p:spPr>
          <a:xfrm>
            <a:off x="548640" y="2194560"/>
            <a:ext cx="3474720" cy="1828800"/>
          </a:xfrm>
          <a:prstGeom prst="roundRect">
            <a:avLst>
              <a:gd name="adj" fmla="val 4000"/>
            </a:avLst>
          </a:prstGeom>
          <a:solidFill>
            <a:schemeClr val="bg2"/>
          </a:solidFill>
          <a:ln w="12700">
            <a:solidFill>
              <a:schemeClr val="bg2"/>
            </a:solidFill>
            <a:prstDash val="solid"/>
          </a:ln>
        </p:spPr>
      </p:sp>
      <p:sp>
        <p:nvSpPr>
          <p:cNvPr id="6" name="Text 4"/>
          <p:cNvSpPr txBox="1"/>
          <p:nvPr/>
        </p:nvSpPr>
        <p:spPr>
          <a:xfrm>
            <a:off x="73152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Tracking</a:t>
            </a:r>
            <a:endParaRPr lang="en-US" sz="1500" dirty="0"/>
          </a:p>
          <a:p>
            <a:pPr indent="0" marL="0">
              <a:buNone/>
            </a:pPr>
            <a:r>
              <a:rPr lang="en-US" sz="1400" dirty="0">
                <a:solidFill>
                  <a:schemeClr val="tx1"/>
                </a:solidFill>
              </a:rPr>
              <a:t>Suivre la position des véhicules.</a:t>
            </a:r>
            <a:endParaRPr lang="en-US" sz="1500" dirty="0"/>
          </a:p>
        </p:txBody>
      </p:sp>
      <p:sp>
        <p:nvSpPr>
          <p:cNvPr id="7" name="Shape 5"/>
          <p:cNvSpPr/>
          <p:nvPr/>
        </p:nvSpPr>
        <p:spPr>
          <a:xfrm>
            <a:off x="4297680" y="1463040"/>
            <a:ext cx="548640" cy="548640"/>
          </a:xfrm>
          <a:prstGeom prst="ellipse">
            <a:avLst/>
          </a:prstGeom>
          <a:solidFill>
            <a:schemeClr val="accent3"/>
          </a:solidFill>
          <a:ln w="12700">
            <a:solidFill>
              <a:schemeClr val="accent3"/>
            </a:solidFill>
            <a:prstDash val="solid"/>
          </a:ln>
        </p:spPr>
      </p:sp>
      <p:sp>
        <p:nvSpPr>
          <p:cNvPr id="8" name="Text 6"/>
          <p:cNvSpPr txBox="1"/>
          <p:nvPr/>
        </p:nvSpPr>
        <p:spPr>
          <a:xfrm>
            <a:off x="429768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Shape 7"/>
          <p:cNvSpPr/>
          <p:nvPr/>
        </p:nvSpPr>
        <p:spPr>
          <a:xfrm>
            <a:off x="4297680" y="2194560"/>
            <a:ext cx="3474720" cy="1828800"/>
          </a:xfrm>
          <a:prstGeom prst="roundRect">
            <a:avLst>
              <a:gd name="adj" fmla="val 4000"/>
            </a:avLst>
          </a:prstGeom>
          <a:solidFill>
            <a:schemeClr val="bg2"/>
          </a:solidFill>
          <a:ln w="12700">
            <a:solidFill>
              <a:schemeClr val="bg2"/>
            </a:solidFill>
            <a:prstDash val="solid"/>
          </a:ln>
        </p:spPr>
      </p:sp>
      <p:sp>
        <p:nvSpPr>
          <p:cNvPr id="10" name="Text 8"/>
          <p:cNvSpPr txBox="1"/>
          <p:nvPr/>
        </p:nvSpPr>
        <p:spPr>
          <a:xfrm>
            <a:off x="448056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Geofence</a:t>
            </a:r>
            <a:endParaRPr lang="en-US" sz="1500" dirty="0"/>
          </a:p>
          <a:p>
            <a:pPr indent="0" marL="0">
              <a:buNone/>
            </a:pPr>
            <a:r>
              <a:rPr lang="en-US" sz="1400" dirty="0">
                <a:solidFill>
                  <a:schemeClr val="tx1"/>
                </a:solidFill>
              </a:rPr>
              <a:t>Définir des zones géographiques de référence.</a:t>
            </a:r>
            <a:endParaRPr lang="en-US" sz="1500" dirty="0"/>
          </a:p>
        </p:txBody>
      </p:sp>
      <p:sp>
        <p:nvSpPr>
          <p:cNvPr id="11" name="Shape 9"/>
          <p:cNvSpPr/>
          <p:nvPr/>
        </p:nvSpPr>
        <p:spPr>
          <a:xfrm>
            <a:off x="8046720" y="1463040"/>
            <a:ext cx="548640" cy="548640"/>
          </a:xfrm>
          <a:prstGeom prst="ellipse">
            <a:avLst/>
          </a:prstGeom>
          <a:solidFill>
            <a:schemeClr val="accent3"/>
          </a:solidFill>
          <a:ln w="12700">
            <a:solidFill>
              <a:schemeClr val="accent3"/>
            </a:solidFill>
            <a:prstDash val="solid"/>
          </a:ln>
        </p:spPr>
      </p:sp>
      <p:sp>
        <p:nvSpPr>
          <p:cNvPr id="12" name="Text 10"/>
          <p:cNvSpPr txBox="1"/>
          <p:nvPr/>
        </p:nvSpPr>
        <p:spPr>
          <a:xfrm>
            <a:off x="8046720" y="14630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Shape 11"/>
          <p:cNvSpPr/>
          <p:nvPr/>
        </p:nvSpPr>
        <p:spPr>
          <a:xfrm>
            <a:off x="8046720" y="2194560"/>
            <a:ext cx="3474720" cy="1828800"/>
          </a:xfrm>
          <a:prstGeom prst="roundRect">
            <a:avLst>
              <a:gd name="adj" fmla="val 4000"/>
            </a:avLst>
          </a:prstGeom>
          <a:solidFill>
            <a:schemeClr val="bg2"/>
          </a:solidFill>
          <a:ln w="12700">
            <a:solidFill>
              <a:schemeClr val="bg2"/>
            </a:solidFill>
            <a:prstDash val="solid"/>
          </a:ln>
        </p:spPr>
      </p:sp>
      <p:sp>
        <p:nvSpPr>
          <p:cNvPr id="14" name="Text 12"/>
          <p:cNvSpPr txBox="1"/>
          <p:nvPr/>
        </p:nvSpPr>
        <p:spPr>
          <a:xfrm>
            <a:off x="8229600" y="2331720"/>
            <a:ext cx="3108960" cy="1554480"/>
          </a:xfrm>
          <a:prstGeom prst="rect">
            <a:avLst/>
          </a:prstGeom>
          <a:noFill/>
          <a:ln/>
        </p:spPr>
        <p:txBody>
          <a:bodyPr wrap="square" rtlCol="0" anchor="t"/>
          <a:lstStyle/>
          <a:p>
            <a:pPr indent="0" marL="0">
              <a:spcAft>
                <a:spcPts val="600"/>
              </a:spcAft>
              <a:buNone/>
            </a:pPr>
            <a:r>
              <a:rPr lang="en-US" sz="1600" b="1" dirty="0">
                <a:solidFill>
                  <a:schemeClr val="tx2"/>
                </a:solidFill>
              </a:rPr>
              <a:t>Alerts</a:t>
            </a:r>
            <a:endParaRPr lang="en-US" sz="1500" dirty="0"/>
          </a:p>
          <a:p>
            <a:pPr indent="0" marL="0">
              <a:buNone/>
            </a:pPr>
            <a:r>
              <a:rPr lang="en-US" sz="1400" dirty="0">
                <a:solidFill>
                  <a:schemeClr val="tx1"/>
                </a:solidFill>
              </a:rPr>
              <a:t>Être averti des événements à surveiller.</a:t>
            </a:r>
            <a:endParaRPr lang="en-US" sz="1500" dirty="0"/>
          </a:p>
        </p:txBody>
      </p:sp>
      <p:sp>
        <p:nvSpPr>
          <p:cNvPr id="15" name="Text 13"/>
          <p:cNvSpPr txBox="1"/>
          <p:nvPr/>
        </p:nvSpPr>
        <p:spPr>
          <a:xfrm>
            <a:off x="548640" y="4480560"/>
            <a:ext cx="11064240" cy="457200"/>
          </a:xfrm>
          <a:prstGeom prst="rect">
            <a:avLst/>
          </a:prstGeom>
          <a:noFill/>
          <a:ln/>
        </p:spPr>
        <p:txBody>
          <a:bodyPr wrap="square" rtlCol="0" anchor="t"/>
          <a:lstStyle/>
          <a:p>
            <a:pPr indent="0" marL="0">
              <a:buNone/>
            </a:pPr>
            <a:r>
              <a:rPr lang="en-US" sz="1500" i="1" dirty="0">
                <a:solidFill>
                  <a:schemeClr val="accent5"/>
                </a:solidFill>
              </a:rPr>
              <a:t>Utilité générale seulement : le fonctionnement précis des écrans sera présenté avec des captures.</a:t>
            </a:r>
            <a:endParaRPr lang="en-US" sz="1500" dirty="0"/>
          </a:p>
        </p:txBody>
      </p:sp>
      <p:sp>
        <p:nvSpPr>
          <p:cNvPr id="16" name="Text 14"/>
          <p:cNvSpPr txBox="1"/>
          <p:nvPr/>
        </p:nvSpPr>
        <p:spPr>
          <a:xfrm>
            <a:off x="548640" y="5120640"/>
            <a:ext cx="11064240" cy="457200"/>
          </a:xfrm>
          <a:prstGeom prst="rect">
            <a:avLst/>
          </a:prstGeom>
          <a:noFill/>
          <a:ln/>
        </p:spPr>
        <p:txBody>
          <a:bodyPr wrap="square" rtlCol="0" anchor="t"/>
          <a:lstStyle/>
          <a:p>
            <a:pPr indent="0" marL="0">
              <a:buNone/>
            </a:pPr>
            <a:r>
              <a:rPr lang="en-US" sz="1500" b="1" dirty="0">
                <a:solidFill>
                  <a:schemeClr val="accent4"/>
                </a:solidFill>
              </a:rPr>
              <a:t>Captures à ajouter : Tracking, Geofence, Alerts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Atelier : qui utilise quoi ?</a:t>
            </a:r>
            <a:endParaRPr lang="en-US" sz="3000" dirty="0"/>
          </a:p>
        </p:txBody>
      </p:sp>
      <p:sp>
        <p:nvSpPr>
          <p:cNvPr id="3" name="Text 1"/>
          <p:cNvSpPr txBox="1"/>
          <p:nvPr/>
        </p:nvSpPr>
        <p:spPr>
          <a:xfrm>
            <a:off x="548640" y="1234440"/>
            <a:ext cx="10972800" cy="365760"/>
          </a:xfrm>
          <a:prstGeom prst="rect">
            <a:avLst/>
          </a:prstGeom>
          <a:noFill/>
          <a:ln/>
        </p:spPr>
        <p:txBody>
          <a:bodyPr wrap="square" rtlCol="0" anchor="t"/>
          <a:lstStyle/>
          <a:p>
            <a:pPr indent="0" marL="0">
              <a:buNone/>
            </a:pPr>
            <a:r>
              <a:rPr lang="en-US" sz="1500" b="1" dirty="0">
                <a:solidFill>
                  <a:schemeClr val="accent2"/>
                </a:solidFill>
              </a:rPr>
              <a:t>En groupes de 3 à 4 — 10 minutes</a:t>
            </a:r>
            <a:endParaRPr lang="en-US" sz="1500" dirty="0"/>
          </a:p>
        </p:txBody>
      </p:sp>
      <p:sp>
        <p:nvSpPr>
          <p:cNvPr id="4" name="Shape 2"/>
          <p:cNvSpPr/>
          <p:nvPr/>
        </p:nvSpPr>
        <p:spPr>
          <a:xfrm>
            <a:off x="548640" y="18745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Text 4"/>
          <p:cNvSpPr txBox="1"/>
          <p:nvPr/>
        </p:nvSpPr>
        <p:spPr>
          <a:xfrm>
            <a:off x="1188720" y="1783080"/>
            <a:ext cx="4114800" cy="640080"/>
          </a:xfrm>
          <a:prstGeom prst="rect">
            <a:avLst/>
          </a:prstGeom>
          <a:noFill/>
          <a:ln/>
        </p:spPr>
        <p:txBody>
          <a:bodyPr wrap="square" rtlCol="0" anchor="ctr"/>
          <a:lstStyle/>
          <a:p>
            <a:pPr indent="0" marL="0">
              <a:buNone/>
            </a:pPr>
            <a:r>
              <a:rPr lang="en-US" sz="1700" dirty="0">
                <a:solidFill>
                  <a:schemeClr val="tx1"/>
                </a:solidFill>
              </a:rPr>
              <a:t>Consulter les camions</a:t>
            </a:r>
            <a:endParaRPr lang="en-US" sz="1700" dirty="0"/>
          </a:p>
        </p:txBody>
      </p:sp>
      <p:sp>
        <p:nvSpPr>
          <p:cNvPr id="7" name="Shape 5"/>
          <p:cNvSpPr/>
          <p:nvPr/>
        </p:nvSpPr>
        <p:spPr>
          <a:xfrm>
            <a:off x="5486400" y="1783080"/>
            <a:ext cx="6126480" cy="640080"/>
          </a:xfrm>
          <a:prstGeom prst="roundRect">
            <a:avLst>
              <a:gd name="adj" fmla="val 8571"/>
            </a:avLst>
          </a:prstGeom>
          <a:solidFill>
            <a:schemeClr val="bg2"/>
          </a:solidFill>
          <a:ln w="12700">
            <a:solidFill>
              <a:schemeClr val="accent6"/>
            </a:solidFill>
            <a:prstDash val="dash"/>
          </a:ln>
        </p:spPr>
      </p:sp>
      <p:sp>
        <p:nvSpPr>
          <p:cNvPr id="8" name="Text 6"/>
          <p:cNvSpPr txBox="1"/>
          <p:nvPr/>
        </p:nvSpPr>
        <p:spPr>
          <a:xfrm>
            <a:off x="5669280" y="1783080"/>
            <a:ext cx="5852160" cy="640080"/>
          </a:xfrm>
          <a:prstGeom prst="rect">
            <a:avLst/>
          </a:prstGeom>
          <a:noFill/>
          <a:ln/>
        </p:spPr>
        <p:txBody>
          <a:bodyPr wrap="square" rtlCol="0" anchor="ctr"/>
          <a:lstStyle/>
          <a:p>
            <a:pPr indent="0" marL="0">
              <a:buNone/>
            </a:pPr>
            <a:r>
              <a:rPr lang="en-US" sz="1300" i="1" dirty="0">
                <a:solidFill>
                  <a:schemeClr val="accent5"/>
                </a:solidFill>
              </a:rPr>
              <a:t>Qui le fait aujourd'hui ? Qui devrait le faire ?</a:t>
            </a:r>
            <a:endParaRPr lang="en-US" sz="1300" dirty="0"/>
          </a:p>
        </p:txBody>
      </p:sp>
      <p:sp>
        <p:nvSpPr>
          <p:cNvPr id="9" name="Shape 7"/>
          <p:cNvSpPr/>
          <p:nvPr/>
        </p:nvSpPr>
        <p:spPr>
          <a:xfrm>
            <a:off x="548640" y="27432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9"/>
          <p:cNvSpPr txBox="1"/>
          <p:nvPr/>
        </p:nvSpPr>
        <p:spPr>
          <a:xfrm>
            <a:off x="1188720" y="2651760"/>
            <a:ext cx="4114800" cy="640080"/>
          </a:xfrm>
          <a:prstGeom prst="rect">
            <a:avLst/>
          </a:prstGeom>
          <a:noFill/>
          <a:ln/>
        </p:spPr>
        <p:txBody>
          <a:bodyPr wrap="square" rtlCol="0" anchor="ctr"/>
          <a:lstStyle/>
          <a:p>
            <a:pPr indent="0" marL="0">
              <a:buNone/>
            </a:pPr>
            <a:r>
              <a:rPr lang="en-US" sz="1700" dirty="0">
                <a:solidFill>
                  <a:schemeClr val="tx1"/>
                </a:solidFill>
              </a:rPr>
              <a:t>Mettre à jour les dossiers</a:t>
            </a:r>
            <a:endParaRPr lang="en-US" sz="1700" dirty="0"/>
          </a:p>
        </p:txBody>
      </p:sp>
      <p:sp>
        <p:nvSpPr>
          <p:cNvPr id="12" name="Shape 10"/>
          <p:cNvSpPr/>
          <p:nvPr/>
        </p:nvSpPr>
        <p:spPr>
          <a:xfrm>
            <a:off x="5486400" y="2651760"/>
            <a:ext cx="6126480" cy="640080"/>
          </a:xfrm>
          <a:prstGeom prst="roundRect">
            <a:avLst>
              <a:gd name="adj" fmla="val 8571"/>
            </a:avLst>
          </a:prstGeom>
          <a:solidFill>
            <a:schemeClr val="bg2"/>
          </a:solidFill>
          <a:ln w="12700">
            <a:solidFill>
              <a:schemeClr val="accent6"/>
            </a:solidFill>
            <a:prstDash val="dash"/>
          </a:ln>
        </p:spPr>
      </p:sp>
      <p:sp>
        <p:nvSpPr>
          <p:cNvPr id="13" name="Text 11"/>
          <p:cNvSpPr txBox="1"/>
          <p:nvPr/>
        </p:nvSpPr>
        <p:spPr>
          <a:xfrm>
            <a:off x="5669280" y="2651760"/>
            <a:ext cx="5852160" cy="640080"/>
          </a:xfrm>
          <a:prstGeom prst="rect">
            <a:avLst/>
          </a:prstGeom>
          <a:noFill/>
          <a:ln/>
        </p:spPr>
        <p:txBody>
          <a:bodyPr wrap="square" rtlCol="0" anchor="ctr"/>
          <a:lstStyle/>
          <a:p>
            <a:pPr indent="0" marL="0">
              <a:buNone/>
            </a:pPr>
            <a:r>
              <a:rPr lang="en-US" sz="1300" i="1" dirty="0">
                <a:solidFill>
                  <a:schemeClr val="accent5"/>
                </a:solidFill>
              </a:rPr>
              <a:t>Qui le fait aujourd'hui ? Qui devrait le faire ?</a:t>
            </a:r>
            <a:endParaRPr lang="en-US" sz="1300" dirty="0"/>
          </a:p>
        </p:txBody>
      </p:sp>
      <p:sp>
        <p:nvSpPr>
          <p:cNvPr id="14" name="Shape 12"/>
          <p:cNvSpPr/>
          <p:nvPr/>
        </p:nvSpPr>
        <p:spPr>
          <a:xfrm>
            <a:off x="548640" y="36118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Text 14"/>
          <p:cNvSpPr txBox="1"/>
          <p:nvPr/>
        </p:nvSpPr>
        <p:spPr>
          <a:xfrm>
            <a:off x="1188720" y="3520440"/>
            <a:ext cx="4114800" cy="640080"/>
          </a:xfrm>
          <a:prstGeom prst="rect">
            <a:avLst/>
          </a:prstGeom>
          <a:noFill/>
          <a:ln/>
        </p:spPr>
        <p:txBody>
          <a:bodyPr wrap="square" rtlCol="0" anchor="ctr"/>
          <a:lstStyle/>
          <a:p>
            <a:pPr indent="0" marL="0">
              <a:buNone/>
            </a:pPr>
            <a:r>
              <a:rPr lang="en-US" sz="1700" dirty="0">
                <a:solidFill>
                  <a:schemeClr val="tx1"/>
                </a:solidFill>
              </a:rPr>
              <a:t>Suivre les chauffeurs</a:t>
            </a:r>
            <a:endParaRPr lang="en-US" sz="1700" dirty="0"/>
          </a:p>
        </p:txBody>
      </p:sp>
      <p:sp>
        <p:nvSpPr>
          <p:cNvPr id="17" name="Shape 15"/>
          <p:cNvSpPr/>
          <p:nvPr/>
        </p:nvSpPr>
        <p:spPr>
          <a:xfrm>
            <a:off x="5486400" y="3520440"/>
            <a:ext cx="6126480" cy="640080"/>
          </a:xfrm>
          <a:prstGeom prst="roundRect">
            <a:avLst>
              <a:gd name="adj" fmla="val 8571"/>
            </a:avLst>
          </a:prstGeom>
          <a:solidFill>
            <a:schemeClr val="bg2"/>
          </a:solidFill>
          <a:ln w="12700">
            <a:solidFill>
              <a:schemeClr val="accent6"/>
            </a:solidFill>
            <a:prstDash val="dash"/>
          </a:ln>
        </p:spPr>
      </p:sp>
      <p:sp>
        <p:nvSpPr>
          <p:cNvPr id="18" name="Text 16"/>
          <p:cNvSpPr txBox="1"/>
          <p:nvPr/>
        </p:nvSpPr>
        <p:spPr>
          <a:xfrm>
            <a:off x="5669280" y="3520440"/>
            <a:ext cx="5852160" cy="640080"/>
          </a:xfrm>
          <a:prstGeom prst="rect">
            <a:avLst/>
          </a:prstGeom>
          <a:noFill/>
          <a:ln/>
        </p:spPr>
        <p:txBody>
          <a:bodyPr wrap="square" rtlCol="0" anchor="ctr"/>
          <a:lstStyle/>
          <a:p>
            <a:pPr indent="0" marL="0">
              <a:buNone/>
            </a:pPr>
            <a:r>
              <a:rPr lang="en-US" sz="1300" i="1" dirty="0">
                <a:solidFill>
                  <a:schemeClr val="accent5"/>
                </a:solidFill>
              </a:rPr>
              <a:t>Qui le fait aujourd'hui ? Qui devrait le faire ?</a:t>
            </a:r>
            <a:endParaRPr lang="en-US" sz="1300" dirty="0"/>
          </a:p>
        </p:txBody>
      </p:sp>
      <p:sp>
        <p:nvSpPr>
          <p:cNvPr id="19" name="Shape 17"/>
          <p:cNvSpPr/>
          <p:nvPr/>
        </p:nvSpPr>
        <p:spPr>
          <a:xfrm>
            <a:off x="548640" y="44805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1" name="Text 19"/>
          <p:cNvSpPr txBox="1"/>
          <p:nvPr/>
        </p:nvSpPr>
        <p:spPr>
          <a:xfrm>
            <a:off x="1188720" y="4389120"/>
            <a:ext cx="4114800" cy="640080"/>
          </a:xfrm>
          <a:prstGeom prst="rect">
            <a:avLst/>
          </a:prstGeom>
          <a:noFill/>
          <a:ln/>
        </p:spPr>
        <p:txBody>
          <a:bodyPr wrap="square" rtlCol="0" anchor="ctr"/>
          <a:lstStyle/>
          <a:p>
            <a:pPr indent="0" marL="0">
              <a:buNone/>
            </a:pPr>
            <a:r>
              <a:rPr lang="en-US" sz="1700" dirty="0">
                <a:solidFill>
                  <a:schemeClr val="tx1"/>
                </a:solidFill>
              </a:rPr>
              <a:t>Consulter les dépenses</a:t>
            </a:r>
            <a:endParaRPr lang="en-US" sz="1700" dirty="0"/>
          </a:p>
        </p:txBody>
      </p:sp>
      <p:sp>
        <p:nvSpPr>
          <p:cNvPr id="22" name="Shape 20"/>
          <p:cNvSpPr/>
          <p:nvPr/>
        </p:nvSpPr>
        <p:spPr>
          <a:xfrm>
            <a:off x="5486400" y="4389120"/>
            <a:ext cx="6126480" cy="640080"/>
          </a:xfrm>
          <a:prstGeom prst="roundRect">
            <a:avLst>
              <a:gd name="adj" fmla="val 8571"/>
            </a:avLst>
          </a:prstGeom>
          <a:solidFill>
            <a:schemeClr val="bg2"/>
          </a:solidFill>
          <a:ln w="12700">
            <a:solidFill>
              <a:schemeClr val="accent6"/>
            </a:solidFill>
            <a:prstDash val="dash"/>
          </a:ln>
        </p:spPr>
      </p:sp>
      <p:sp>
        <p:nvSpPr>
          <p:cNvPr id="23" name="Text 21"/>
          <p:cNvSpPr txBox="1"/>
          <p:nvPr/>
        </p:nvSpPr>
        <p:spPr>
          <a:xfrm>
            <a:off x="5669280" y="4389120"/>
            <a:ext cx="5852160" cy="640080"/>
          </a:xfrm>
          <a:prstGeom prst="rect">
            <a:avLst/>
          </a:prstGeom>
          <a:noFill/>
          <a:ln/>
        </p:spPr>
        <p:txBody>
          <a:bodyPr wrap="square" rtlCol="0" anchor="ctr"/>
          <a:lstStyle/>
          <a:p>
            <a:pPr indent="0" marL="0">
              <a:buNone/>
            </a:pPr>
            <a:r>
              <a:rPr lang="en-US" sz="1300" i="1" dirty="0">
                <a:solidFill>
                  <a:schemeClr val="accent5"/>
                </a:solidFill>
              </a:rPr>
              <a:t>Qui le fait aujourd'hui ? Qui devrait le faire ?</a:t>
            </a:r>
            <a:endParaRPr lang="en-US" sz="1300" dirty="0"/>
          </a:p>
        </p:txBody>
      </p:sp>
      <p:sp>
        <p:nvSpPr>
          <p:cNvPr id="24" name="Shape 22"/>
          <p:cNvSpPr/>
          <p:nvPr/>
        </p:nvSpPr>
        <p:spPr>
          <a:xfrm>
            <a:off x="548640" y="534924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548640" y="534924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6" name="Text 24"/>
          <p:cNvSpPr txBox="1"/>
          <p:nvPr/>
        </p:nvSpPr>
        <p:spPr>
          <a:xfrm>
            <a:off x="1188720" y="5257800"/>
            <a:ext cx="4114800" cy="640080"/>
          </a:xfrm>
          <a:prstGeom prst="rect">
            <a:avLst/>
          </a:prstGeom>
          <a:noFill/>
          <a:ln/>
        </p:spPr>
        <p:txBody>
          <a:bodyPr wrap="square" rtlCol="0" anchor="ctr"/>
          <a:lstStyle/>
          <a:p>
            <a:pPr indent="0" marL="0">
              <a:buNone/>
            </a:pPr>
            <a:r>
              <a:rPr lang="en-US" sz="1700" dirty="0">
                <a:solidFill>
                  <a:schemeClr val="tx1"/>
                </a:solidFill>
              </a:rPr>
              <a:t>Produire des rapports</a:t>
            </a:r>
            <a:endParaRPr lang="en-US" sz="1700" dirty="0"/>
          </a:p>
        </p:txBody>
      </p:sp>
      <p:sp>
        <p:nvSpPr>
          <p:cNvPr id="27" name="Shape 25"/>
          <p:cNvSpPr/>
          <p:nvPr/>
        </p:nvSpPr>
        <p:spPr>
          <a:xfrm>
            <a:off x="5486400" y="5257800"/>
            <a:ext cx="6126480" cy="640080"/>
          </a:xfrm>
          <a:prstGeom prst="roundRect">
            <a:avLst>
              <a:gd name="adj" fmla="val 8571"/>
            </a:avLst>
          </a:prstGeom>
          <a:solidFill>
            <a:schemeClr val="bg2"/>
          </a:solidFill>
          <a:ln w="12700">
            <a:solidFill>
              <a:schemeClr val="accent6"/>
            </a:solidFill>
            <a:prstDash val="dash"/>
          </a:ln>
        </p:spPr>
      </p:sp>
      <p:sp>
        <p:nvSpPr>
          <p:cNvPr id="28" name="Text 26"/>
          <p:cNvSpPr txBox="1"/>
          <p:nvPr/>
        </p:nvSpPr>
        <p:spPr>
          <a:xfrm>
            <a:off x="5669280" y="5257800"/>
            <a:ext cx="5852160" cy="640080"/>
          </a:xfrm>
          <a:prstGeom prst="rect">
            <a:avLst/>
          </a:prstGeom>
          <a:noFill/>
          <a:ln/>
        </p:spPr>
        <p:txBody>
          <a:bodyPr wrap="square" rtlCol="0" anchor="ctr"/>
          <a:lstStyle/>
          <a:p>
            <a:pPr indent="0" marL="0">
              <a:buNone/>
            </a:pPr>
            <a:r>
              <a:rPr lang="en-US" sz="1300" i="1" dirty="0">
                <a:solidFill>
                  <a:schemeClr val="accent5"/>
                </a:solidFill>
              </a:rPr>
              <a:t>Qui le fait aujourd'hui ? Qui devrait le faire ?</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Atelier : matrice des permissions à valider</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498080" cy="914400"/>
        </p:xfrm>
        <a:graphic>
          <a:graphicData uri="http://schemas.openxmlformats.org/drawingml/2006/table">
            <a:tbl>
              <a:tblPr/>
              <a:tblGrid>
                <a:gridCol w="2240280"/>
                <a:gridCol w="1051560"/>
                <a:gridCol w="1051560"/>
                <a:gridCol w="1051560"/>
                <a:gridCol w="1051560"/>
                <a:gridCol w="1051560"/>
              </a:tblGrid>
              <a:tr h="502920">
                <a:tc>
                  <a:txBody>
                    <a:bodyPr/>
                    <a:lstStyle/>
                    <a:p>
                      <a:pPr algn="l" indent="0" marL="0">
                        <a:buNone/>
                      </a:pPr>
                      <a:r>
                        <a:rPr lang="en-US" sz="1300" b="1" dirty="0">
                          <a:solidFill>
                            <a:schemeClr val="bg1"/>
                          </a:solidFill>
                        </a:rPr>
                        <a:t>Rôle indicatif</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Consulter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Ajouter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Modifier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Valider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Administrer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2"/>
                          </a:solidFill>
                        </a:rPr>
                        <a:t>Administrateur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2"/>
                          </a:solidFill>
                        </a:rPr>
                        <a:t>Responsable de flotte</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2"/>
                          </a:solidFill>
                        </a:rPr>
                        <a:t>Agent d'exploitation</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2"/>
                          </a:solidFill>
                        </a:rPr>
                        <a:t>RH</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2"/>
                          </a:solidFill>
                        </a:rPr>
                        <a:t>Finance</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2"/>
                          </a:solidFill>
                        </a:rPr>
                        <a:t>Chauffeur</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91440" marR="91440" marT="45720" marB="45720">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bl>
          </a:graphicData>
        </a:graphic>
      </p:graphicFrame>
      <p:sp>
        <p:nvSpPr>
          <p:cNvPr id="4" name="Shape 1"/>
          <p:cNvSpPr/>
          <p:nvPr/>
        </p:nvSpPr>
        <p:spPr>
          <a:xfrm>
            <a:off x="8412480" y="1325880"/>
            <a:ext cx="3200400" cy="3520440"/>
          </a:xfrm>
          <a:prstGeom prst="roundRect">
            <a:avLst>
              <a:gd name="adj" fmla="val 2286"/>
            </a:avLst>
          </a:prstGeom>
          <a:solidFill>
            <a:schemeClr val="accent1"/>
          </a:solidFill>
          <a:ln w="12700">
            <a:solidFill>
              <a:schemeClr val="accent1"/>
            </a:solidFill>
            <a:prstDash val="solid"/>
          </a:ln>
        </p:spPr>
      </p:sp>
      <p:sp>
        <p:nvSpPr>
          <p:cNvPr id="5" name="Text 2"/>
          <p:cNvSpPr txBox="1"/>
          <p:nvPr/>
        </p:nvSpPr>
        <p:spPr>
          <a:xfrm>
            <a:off x="8595360" y="1463040"/>
            <a:ext cx="2834640" cy="3291840"/>
          </a:xfrm>
          <a:prstGeom prst="rect">
            <a:avLst/>
          </a:prstGeom>
          <a:noFill/>
          <a:ln/>
        </p:spPr>
        <p:txBody>
          <a:bodyPr wrap="square" rtlCol="0" anchor="t"/>
          <a:lstStyle/>
          <a:p>
            <a:pPr indent="0" marL="0">
              <a:spcAft>
                <a:spcPts val="800"/>
              </a:spcAft>
              <a:buNone/>
            </a:pPr>
            <a:r>
              <a:rPr lang="en-US" sz="1700" b="1" dirty="0">
                <a:solidFill>
                  <a:schemeClr val="tx1"/>
                </a:solidFill>
              </a:rPr>
              <a:t>Base de discussion</a:t>
            </a:r>
            <a:endParaRPr lang="en-US" sz="1500" dirty="0"/>
          </a:p>
          <a:p>
            <a:pPr indent="0" marL="0">
              <a:buNone/>
            </a:pPr>
            <a:r>
              <a:rPr lang="en-US" sz="1400" dirty="0">
                <a:solidFill>
                  <a:schemeClr val="tx1"/>
                </a:solidFill>
              </a:rPr>
              <a:t>Ces droits ne sont pas configurés dans l'application. La matrice est à valider par l'organisation, puis à vérifier dans l'application avant toute diffusion.</a:t>
            </a:r>
            <a:endParaRPr lang="en-US" sz="1500" dirty="0"/>
          </a:p>
        </p:txBody>
      </p:sp>
      <p:sp>
        <p:nvSpPr>
          <p:cNvPr id="6" name="Text 3"/>
          <p:cNvSpPr txBox="1"/>
          <p:nvPr/>
        </p:nvSpPr>
        <p:spPr>
          <a:xfrm>
            <a:off x="548640" y="5074920"/>
            <a:ext cx="11064240" cy="457200"/>
          </a:xfrm>
          <a:prstGeom prst="rect">
            <a:avLst/>
          </a:prstGeom>
          <a:noFill/>
          <a:ln/>
        </p:spPr>
        <p:txBody>
          <a:bodyPr wrap="square" rtlCol="0" anchor="t"/>
          <a:lstStyle/>
          <a:p>
            <a:pPr indent="0" marL="0">
              <a:buNone/>
            </a:pPr>
            <a:r>
              <a:rPr lang="en-US" sz="1300" i="1" dirty="0">
                <a:solidFill>
                  <a:schemeClr val="accent5"/>
                </a:solidFill>
              </a:rPr>
              <a:t>Remplir chaque case par domaine si besoin : camions, chauffeurs, personnel, finances.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Exercice pratique en équipe</a:t>
            </a:r>
            <a:endParaRPr lang="en-US" sz="3000" dirty="0"/>
          </a:p>
        </p:txBody>
      </p:sp>
      <p:sp>
        <p:nvSpPr>
          <p:cNvPr id="3" name="Shape 1"/>
          <p:cNvSpPr/>
          <p:nvPr/>
        </p:nvSpPr>
        <p:spPr>
          <a:xfrm>
            <a:off x="548640" y="1371600"/>
            <a:ext cx="3474720" cy="2103120"/>
          </a:xfrm>
          <a:prstGeom prst="roundRect">
            <a:avLst>
              <a:gd name="adj" fmla="val 3478"/>
            </a:avLst>
          </a:prstGeom>
          <a:solidFill>
            <a:schemeClr val="bg2"/>
          </a:solidFill>
          <a:ln w="12700">
            <a:solidFill>
              <a:schemeClr val="bg2"/>
            </a:solidFill>
            <a:prstDash val="solid"/>
          </a:ln>
        </p:spPr>
      </p:sp>
      <p:sp>
        <p:nvSpPr>
          <p:cNvPr id="4" name="Text 2"/>
          <p:cNvSpPr txBox="1"/>
          <p:nvPr/>
        </p:nvSpPr>
        <p:spPr>
          <a:xfrm>
            <a:off x="731520" y="1508760"/>
            <a:ext cx="3108960" cy="1828800"/>
          </a:xfrm>
          <a:prstGeom prst="rect">
            <a:avLst/>
          </a:prstGeom>
          <a:noFill/>
          <a:ln/>
        </p:spPr>
        <p:txBody>
          <a:bodyPr wrap="square" rtlCol="0" anchor="t"/>
          <a:lstStyle/>
          <a:p>
            <a:pPr indent="0" marL="0">
              <a:spcAft>
                <a:spcPts val="600"/>
              </a:spcAft>
              <a:buNone/>
            </a:pPr>
            <a:r>
              <a:rPr lang="en-US" sz="1600" b="1" dirty="0">
                <a:solidFill>
                  <a:schemeClr val="tx2"/>
                </a:solidFill>
              </a:rPr>
              <a:t>Scénario A</a:t>
            </a:r>
            <a:endParaRPr lang="en-US" sz="1500" dirty="0"/>
          </a:p>
          <a:p>
            <a:pPr indent="0" marL="0">
              <a:buNone/>
            </a:pPr>
            <a:r>
              <a:rPr lang="en-US" sz="1400" dirty="0">
                <a:solidFill>
                  <a:schemeClr val="tx1"/>
                </a:solidFill>
              </a:rPr>
              <a:t>Retrouver un camion à partir de son immatriculation et noter son statut.</a:t>
            </a:r>
            <a:endParaRPr lang="en-US" sz="1500" dirty="0"/>
          </a:p>
        </p:txBody>
      </p:sp>
      <p:sp>
        <p:nvSpPr>
          <p:cNvPr id="5" name="Shape 3"/>
          <p:cNvSpPr/>
          <p:nvPr/>
        </p:nvSpPr>
        <p:spPr>
          <a:xfrm>
            <a:off x="4297680" y="1371600"/>
            <a:ext cx="3474720" cy="2103120"/>
          </a:xfrm>
          <a:prstGeom prst="roundRect">
            <a:avLst>
              <a:gd name="adj" fmla="val 3478"/>
            </a:avLst>
          </a:prstGeom>
          <a:solidFill>
            <a:schemeClr val="bg2"/>
          </a:solidFill>
          <a:ln w="12700">
            <a:solidFill>
              <a:schemeClr val="bg2"/>
            </a:solidFill>
            <a:prstDash val="solid"/>
          </a:ln>
        </p:spPr>
      </p:sp>
      <p:sp>
        <p:nvSpPr>
          <p:cNvPr id="6" name="Text 4"/>
          <p:cNvSpPr txBox="1"/>
          <p:nvPr/>
        </p:nvSpPr>
        <p:spPr>
          <a:xfrm>
            <a:off x="4480560" y="1508760"/>
            <a:ext cx="3108960" cy="1828800"/>
          </a:xfrm>
          <a:prstGeom prst="rect">
            <a:avLst/>
          </a:prstGeom>
          <a:noFill/>
          <a:ln/>
        </p:spPr>
        <p:txBody>
          <a:bodyPr wrap="square" rtlCol="0" anchor="t"/>
          <a:lstStyle/>
          <a:p>
            <a:pPr indent="0" marL="0">
              <a:spcAft>
                <a:spcPts val="600"/>
              </a:spcAft>
              <a:buNone/>
            </a:pPr>
            <a:r>
              <a:rPr lang="en-US" sz="1600" b="1" dirty="0">
                <a:solidFill>
                  <a:schemeClr val="tx2"/>
                </a:solidFill>
              </a:rPr>
              <a:t>Scénario B</a:t>
            </a:r>
            <a:endParaRPr lang="en-US" sz="1500" dirty="0"/>
          </a:p>
          <a:p>
            <a:pPr indent="0" marL="0">
              <a:buNone/>
            </a:pPr>
            <a:r>
              <a:rPr lang="en-US" sz="1400" dirty="0">
                <a:solidFill>
                  <a:schemeClr val="tx1"/>
                </a:solidFill>
              </a:rPr>
              <a:t>Vérifier le chauffeur associé à un camion et la validité de son permis.</a:t>
            </a:r>
            <a:endParaRPr lang="en-US" sz="1500" dirty="0"/>
          </a:p>
        </p:txBody>
      </p:sp>
      <p:sp>
        <p:nvSpPr>
          <p:cNvPr id="7" name="Shape 5"/>
          <p:cNvSpPr/>
          <p:nvPr/>
        </p:nvSpPr>
        <p:spPr>
          <a:xfrm>
            <a:off x="8046720" y="1371600"/>
            <a:ext cx="3474720" cy="2103120"/>
          </a:xfrm>
          <a:prstGeom prst="roundRect">
            <a:avLst>
              <a:gd name="adj" fmla="val 3478"/>
            </a:avLst>
          </a:prstGeom>
          <a:solidFill>
            <a:schemeClr val="bg2"/>
          </a:solidFill>
          <a:ln w="12700">
            <a:solidFill>
              <a:schemeClr val="bg2"/>
            </a:solidFill>
            <a:prstDash val="solid"/>
          </a:ln>
        </p:spPr>
      </p:sp>
      <p:sp>
        <p:nvSpPr>
          <p:cNvPr id="8" name="Text 6"/>
          <p:cNvSpPr txBox="1"/>
          <p:nvPr/>
        </p:nvSpPr>
        <p:spPr>
          <a:xfrm>
            <a:off x="8229600" y="1508760"/>
            <a:ext cx="3108960" cy="1828800"/>
          </a:xfrm>
          <a:prstGeom prst="rect">
            <a:avLst/>
          </a:prstGeom>
          <a:noFill/>
          <a:ln/>
        </p:spPr>
        <p:txBody>
          <a:bodyPr wrap="square" rtlCol="0" anchor="t"/>
          <a:lstStyle/>
          <a:p>
            <a:pPr indent="0" marL="0">
              <a:spcAft>
                <a:spcPts val="600"/>
              </a:spcAft>
              <a:buNone/>
            </a:pPr>
            <a:r>
              <a:rPr lang="en-US" sz="1600" b="1" dirty="0">
                <a:solidFill>
                  <a:schemeClr val="tx2"/>
                </a:solidFill>
              </a:rPr>
              <a:t>Scénario C</a:t>
            </a:r>
            <a:endParaRPr lang="en-US" sz="1500" dirty="0"/>
          </a:p>
          <a:p>
            <a:pPr indent="0" marL="0">
              <a:buNone/>
            </a:pPr>
            <a:r>
              <a:rPr lang="en-US" sz="1400" dirty="0">
                <a:solidFill>
                  <a:schemeClr val="tx1"/>
                </a:solidFill>
              </a:rPr>
              <a:t>Consulter un trajet en cours : véhicule, itinéraire, dates, chauffeur.</a:t>
            </a:r>
            <a:endParaRPr lang="en-US" sz="1500" dirty="0"/>
          </a:p>
        </p:txBody>
      </p:sp>
      <p:sp>
        <p:nvSpPr>
          <p:cNvPr id="9" name="Shape 7"/>
          <p:cNvSpPr/>
          <p:nvPr/>
        </p:nvSpPr>
        <p:spPr>
          <a:xfrm>
            <a:off x="548640" y="3749040"/>
            <a:ext cx="3474720" cy="2103120"/>
          </a:xfrm>
          <a:prstGeom prst="roundRect">
            <a:avLst>
              <a:gd name="adj" fmla="val 3478"/>
            </a:avLst>
          </a:prstGeom>
          <a:solidFill>
            <a:schemeClr val="bg2"/>
          </a:solidFill>
          <a:ln w="12700">
            <a:solidFill>
              <a:schemeClr val="bg2"/>
            </a:solidFill>
            <a:prstDash val="solid"/>
          </a:ln>
        </p:spPr>
      </p:sp>
      <p:sp>
        <p:nvSpPr>
          <p:cNvPr id="10" name="Text 8"/>
          <p:cNvSpPr txBox="1"/>
          <p:nvPr/>
        </p:nvSpPr>
        <p:spPr>
          <a:xfrm>
            <a:off x="731520" y="3886200"/>
            <a:ext cx="3108960" cy="1828800"/>
          </a:xfrm>
          <a:prstGeom prst="rect">
            <a:avLst/>
          </a:prstGeom>
          <a:noFill/>
          <a:ln/>
        </p:spPr>
        <p:txBody>
          <a:bodyPr wrap="square" rtlCol="0" anchor="t"/>
          <a:lstStyle/>
          <a:p>
            <a:pPr indent="0" marL="0">
              <a:spcAft>
                <a:spcPts val="600"/>
              </a:spcAft>
              <a:buNone/>
            </a:pPr>
            <a:r>
              <a:rPr lang="en-US" sz="1600" b="1" dirty="0">
                <a:solidFill>
                  <a:schemeClr val="tx2"/>
                </a:solidFill>
              </a:rPr>
              <a:t>Scénario D</a:t>
            </a:r>
            <a:endParaRPr lang="en-US" sz="1500" dirty="0"/>
          </a:p>
          <a:p>
            <a:pPr indent="0" marL="0">
              <a:buNone/>
            </a:pPr>
            <a:r>
              <a:rPr lang="en-US" sz="1400" dirty="0">
                <a:solidFill>
                  <a:schemeClr val="tx1"/>
                </a:solidFill>
              </a:rPr>
              <a:t>Repérer une information de carburant : date, quantité, coût, reçu.</a:t>
            </a:r>
            <a:endParaRPr lang="en-US" sz="1500" dirty="0"/>
          </a:p>
        </p:txBody>
      </p:sp>
      <p:sp>
        <p:nvSpPr>
          <p:cNvPr id="11" name="Shape 9"/>
          <p:cNvSpPr/>
          <p:nvPr/>
        </p:nvSpPr>
        <p:spPr>
          <a:xfrm>
            <a:off x="4297680" y="3749040"/>
            <a:ext cx="3474720" cy="2103120"/>
          </a:xfrm>
          <a:prstGeom prst="roundRect">
            <a:avLst>
              <a:gd name="adj" fmla="val 3478"/>
            </a:avLst>
          </a:prstGeom>
          <a:solidFill>
            <a:schemeClr val="bg2"/>
          </a:solidFill>
          <a:ln w="12700">
            <a:solidFill>
              <a:schemeClr val="bg2"/>
            </a:solidFill>
            <a:prstDash val="solid"/>
          </a:ln>
        </p:spPr>
      </p:sp>
      <p:sp>
        <p:nvSpPr>
          <p:cNvPr id="12" name="Text 10"/>
          <p:cNvSpPr txBox="1"/>
          <p:nvPr/>
        </p:nvSpPr>
        <p:spPr>
          <a:xfrm>
            <a:off x="4480560" y="3886200"/>
            <a:ext cx="3108960" cy="1828800"/>
          </a:xfrm>
          <a:prstGeom prst="rect">
            <a:avLst/>
          </a:prstGeom>
          <a:noFill/>
          <a:ln/>
        </p:spPr>
        <p:txBody>
          <a:bodyPr wrap="square" rtlCol="0" anchor="t"/>
          <a:lstStyle/>
          <a:p>
            <a:pPr indent="0" marL="0">
              <a:spcAft>
                <a:spcPts val="600"/>
              </a:spcAft>
              <a:buNone/>
            </a:pPr>
            <a:r>
              <a:rPr lang="en-US" sz="1600" b="1" dirty="0">
                <a:solidFill>
                  <a:schemeClr val="tx2"/>
                </a:solidFill>
              </a:rPr>
              <a:t>Scénario E</a:t>
            </a:r>
            <a:endParaRPr lang="en-US" sz="1500" dirty="0"/>
          </a:p>
          <a:p>
            <a:pPr indent="0" marL="0">
              <a:buNone/>
            </a:pPr>
            <a:r>
              <a:rPr lang="en-US" sz="1400" dirty="0">
                <a:solidFill>
                  <a:schemeClr val="tx1"/>
                </a:solidFill>
              </a:rPr>
              <a:t>Dire qui devrait traiter une opération financière ou RH donnée.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Coûts de fonctionnement</a:t>
            </a:r>
            <a:endParaRPr lang="en-US" sz="3000" dirty="0"/>
          </a:p>
        </p:txBody>
      </p:sp>
      <p:sp>
        <p:nvSpPr>
          <p:cNvPr id="3" name="Shape 1"/>
          <p:cNvSpPr/>
          <p:nvPr/>
        </p:nvSpPr>
        <p:spPr>
          <a:xfrm>
            <a:off x="548640" y="1371600"/>
            <a:ext cx="3566160" cy="219456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731520" y="1508760"/>
            <a:ext cx="3200400" cy="1920240"/>
          </a:xfrm>
          <a:prstGeom prst="rect">
            <a:avLst/>
          </a:prstGeom>
          <a:noFill/>
          <a:ln/>
        </p:spPr>
        <p:txBody>
          <a:bodyPr wrap="square" rtlCol="0" anchor="t"/>
          <a:lstStyle/>
          <a:p>
            <a:pPr indent="0" marL="0">
              <a:spcAft>
                <a:spcPts val="600"/>
              </a:spcAft>
              <a:buNone/>
            </a:pPr>
            <a:r>
              <a:rPr lang="en-US" sz="1600" b="1" dirty="0">
                <a:solidFill>
                  <a:schemeClr val="tx2"/>
                </a:solidFill>
              </a:rPr>
              <a:t>Hébergement du serveur</a:t>
            </a:r>
            <a:endParaRPr lang="en-US" sz="1500" dirty="0"/>
          </a:p>
          <a:p>
            <a:pPr indent="0" marL="0">
              <a:buNone/>
            </a:pPr>
            <a:endParaRPr lang="en-US" sz="1500" dirty="0"/>
          </a:p>
        </p:txBody>
      </p:sp>
      <p:sp>
        <p:nvSpPr>
          <p:cNvPr id="5" name="Text 3"/>
          <p:cNvSpPr txBox="1"/>
          <p:nvPr/>
        </p:nvSpPr>
        <p:spPr>
          <a:xfrm>
            <a:off x="731520" y="2103120"/>
            <a:ext cx="3200400" cy="1280160"/>
          </a:xfrm>
          <a:prstGeom prst="rect">
            <a:avLst/>
          </a:prstGeom>
          <a:noFill/>
          <a:ln/>
        </p:spPr>
        <p:txBody>
          <a:bodyPr wrap="square" rtlCol="0" anchor="t"/>
          <a:lstStyle/>
          <a:p>
            <a:pPr indent="0" marL="0">
              <a:buNone/>
            </a:pPr>
            <a:r>
              <a:rPr lang="en-US" sz="3000" b="1" dirty="0">
                <a:solidFill>
                  <a:schemeClr val="accent2"/>
                </a:solidFill>
              </a:rPr>
              <a:t>100 000 FCFA</a:t>
            </a:r>
            <a:endParaRPr lang="en-US" sz="1500" dirty="0"/>
          </a:p>
          <a:p>
            <a:pPr indent="0" marL="0">
              <a:buNone/>
            </a:pPr>
            <a:r>
              <a:rPr lang="en-US" sz="1500" dirty="0">
                <a:solidFill>
                  <a:schemeClr val="tx1"/>
                </a:solidFill>
              </a:rPr>
              <a:t>par an</a:t>
            </a:r>
            <a:endParaRPr lang="en-US" sz="1500" dirty="0"/>
          </a:p>
        </p:txBody>
      </p:sp>
      <p:sp>
        <p:nvSpPr>
          <p:cNvPr id="6" name="Shape 4"/>
          <p:cNvSpPr/>
          <p:nvPr/>
        </p:nvSpPr>
        <p:spPr>
          <a:xfrm>
            <a:off x="548640" y="3840480"/>
            <a:ext cx="3566160" cy="2194560"/>
          </a:xfrm>
          <a:prstGeom prst="roundRect">
            <a:avLst>
              <a:gd name="adj" fmla="val 3333"/>
            </a:avLst>
          </a:prstGeom>
          <a:solidFill>
            <a:schemeClr val="bg2"/>
          </a:solidFill>
          <a:ln w="12700">
            <a:solidFill>
              <a:schemeClr val="bg2"/>
            </a:solidFill>
            <a:prstDash val="solid"/>
          </a:ln>
        </p:spPr>
      </p:sp>
      <p:sp>
        <p:nvSpPr>
          <p:cNvPr id="7" name="Text 5"/>
          <p:cNvSpPr txBox="1"/>
          <p:nvPr/>
        </p:nvSpPr>
        <p:spPr>
          <a:xfrm>
            <a:off x="731520" y="3977640"/>
            <a:ext cx="3200400" cy="1920240"/>
          </a:xfrm>
          <a:prstGeom prst="rect">
            <a:avLst/>
          </a:prstGeom>
          <a:noFill/>
          <a:ln/>
        </p:spPr>
        <p:txBody>
          <a:bodyPr wrap="square" rtlCol="0" anchor="t"/>
          <a:lstStyle/>
          <a:p>
            <a:pPr indent="0" marL="0">
              <a:spcAft>
                <a:spcPts val="600"/>
              </a:spcAft>
              <a:buNone/>
            </a:pPr>
            <a:r>
              <a:rPr lang="en-US" sz="1600" b="1" dirty="0">
                <a:solidFill>
                  <a:schemeClr val="tx2"/>
                </a:solidFill>
              </a:rPr>
              <a:t>Maintenance</a:t>
            </a:r>
            <a:endParaRPr lang="en-US" sz="1500" dirty="0"/>
          </a:p>
          <a:p>
            <a:pPr indent="0" marL="0">
              <a:buNone/>
            </a:pPr>
            <a:endParaRPr lang="en-US" sz="1500" dirty="0"/>
          </a:p>
        </p:txBody>
      </p:sp>
      <p:sp>
        <p:nvSpPr>
          <p:cNvPr id="8" name="Text 6"/>
          <p:cNvSpPr txBox="1"/>
          <p:nvPr/>
        </p:nvSpPr>
        <p:spPr>
          <a:xfrm>
            <a:off x="731520" y="4572000"/>
            <a:ext cx="3200400" cy="1280160"/>
          </a:xfrm>
          <a:prstGeom prst="rect">
            <a:avLst/>
          </a:prstGeom>
          <a:noFill/>
          <a:ln/>
        </p:spPr>
        <p:txBody>
          <a:bodyPr wrap="square" rtlCol="0" anchor="t"/>
          <a:lstStyle/>
          <a:p>
            <a:pPr indent="0" marL="0">
              <a:buNone/>
            </a:pPr>
            <a:r>
              <a:rPr lang="en-US" sz="3000" b="1" dirty="0">
                <a:solidFill>
                  <a:schemeClr val="accent2"/>
                </a:solidFill>
              </a:rPr>
              <a:t>100 000 FCFA</a:t>
            </a:r>
            <a:endParaRPr lang="en-US" sz="1500" dirty="0"/>
          </a:p>
          <a:p>
            <a:pPr indent="0" marL="0">
              <a:buNone/>
            </a:pPr>
            <a:r>
              <a:rPr lang="en-US" sz="1400" dirty="0">
                <a:solidFill>
                  <a:schemeClr val="tx1"/>
                </a:solidFill>
              </a:rPr>
              <a:t>par mois, formation des agents comprise</a:t>
            </a:r>
            <a:endParaRPr lang="en-US" sz="1500" dirty="0"/>
          </a:p>
        </p:txBody>
      </p:sp>
      <p:sp>
        <p:nvSpPr>
          <p:cNvPr id="9" name="Text 7"/>
          <p:cNvSpPr txBox="1"/>
          <p:nvPr/>
        </p:nvSpPr>
        <p:spPr>
          <a:xfrm>
            <a:off x="4572000" y="1371600"/>
            <a:ext cx="7040880" cy="365760"/>
          </a:xfrm>
          <a:prstGeom prst="rect">
            <a:avLst/>
          </a:prstGeom>
          <a:noFill/>
          <a:ln/>
        </p:spPr>
        <p:txBody>
          <a:bodyPr wrap="square" rtlCol="0" anchor="t"/>
          <a:lstStyle/>
          <a:p>
            <a:pPr indent="0" marL="0">
              <a:buNone/>
            </a:pPr>
            <a:r>
              <a:rPr lang="en-US" sz="1500" b="1" dirty="0">
                <a:solidFill>
                  <a:schemeClr val="tx2"/>
                </a:solidFill>
              </a:rPr>
              <a:t>Calendrier de paiement de la maintenance</a:t>
            </a:r>
            <a:endParaRPr lang="en-US" sz="1500" dirty="0"/>
          </a:p>
        </p:txBody>
      </p:sp>
      <p:sp>
        <p:nvSpPr>
          <p:cNvPr id="10" name="Shape 8"/>
          <p:cNvSpPr/>
          <p:nvPr/>
        </p:nvSpPr>
        <p:spPr>
          <a:xfrm>
            <a:off x="4572000" y="1920240"/>
            <a:ext cx="4206240" cy="2103120"/>
          </a:xfrm>
          <a:prstGeom prst="roundRect">
            <a:avLst>
              <a:gd name="adj" fmla="val 3478"/>
            </a:avLst>
          </a:prstGeom>
          <a:solidFill>
            <a:schemeClr val="accent1"/>
          </a:solidFill>
          <a:ln w="12700">
            <a:solidFill>
              <a:schemeClr val="accent1"/>
            </a:solidFill>
            <a:prstDash val="solid"/>
          </a:ln>
        </p:spPr>
      </p:sp>
      <p:sp>
        <p:nvSpPr>
          <p:cNvPr id="11" name="Text 9"/>
          <p:cNvSpPr txBox="1"/>
          <p:nvPr/>
        </p:nvSpPr>
        <p:spPr>
          <a:xfrm>
            <a:off x="4754880" y="2011680"/>
            <a:ext cx="3840480" cy="1920240"/>
          </a:xfrm>
          <a:prstGeom prst="rect">
            <a:avLst/>
          </a:prstGeom>
          <a:noFill/>
          <a:ln/>
        </p:spPr>
        <p:txBody>
          <a:bodyPr wrap="square" rtlCol="0" anchor="ctr"/>
          <a:lstStyle/>
          <a:p>
            <a:pPr indent="0" marL="0">
              <a:buNone/>
            </a:pPr>
            <a:r>
              <a:rPr lang="en-US" sz="1500" b="1" dirty="0">
                <a:solidFill>
                  <a:schemeClr val="tx1"/>
                </a:solidFill>
              </a:rPr>
              <a:t>Premier paiement</a:t>
            </a:r>
            <a:endParaRPr lang="en-US" sz="1500" dirty="0"/>
          </a:p>
          <a:p>
            <a:pPr indent="0" marL="0">
              <a:buNone/>
            </a:pPr>
            <a:r>
              <a:rPr lang="en-US" sz="2800" b="1" dirty="0">
                <a:solidFill>
                  <a:schemeClr val="tx1"/>
                </a:solidFill>
              </a:rPr>
              <a:t>300 000 FCFA</a:t>
            </a:r>
            <a:endParaRPr lang="en-US" sz="1500" dirty="0"/>
          </a:p>
          <a:p>
            <a:pPr indent="0" marL="0">
              <a:buNone/>
            </a:pPr>
            <a:r>
              <a:rPr lang="en-US" sz="1400" dirty="0">
                <a:solidFill>
                  <a:schemeClr val="tx1"/>
                </a:solidFill>
              </a:rPr>
              <a:t>Mois 1 + mois 2 et 3 payés d'avance</a:t>
            </a:r>
            <a:endParaRPr lang="en-US" sz="1500" dirty="0"/>
          </a:p>
        </p:txBody>
      </p:sp>
      <p:sp>
        <p:nvSpPr>
          <p:cNvPr id="12" name="Shape 10"/>
          <p:cNvSpPr/>
          <p:nvPr/>
        </p:nvSpPr>
        <p:spPr>
          <a:xfrm>
            <a:off x="8869680" y="2743200"/>
            <a:ext cx="457200" cy="457200"/>
          </a:xfrm>
          <a:prstGeom prst="rightArrow">
            <a:avLst/>
          </a:prstGeom>
          <a:solidFill>
            <a:schemeClr val="accent5"/>
          </a:solidFill>
          <a:ln w="12700">
            <a:solidFill>
              <a:schemeClr val="accent5"/>
            </a:solidFill>
            <a:prstDash val="solid"/>
          </a:ln>
        </p:spPr>
      </p:sp>
      <p:sp>
        <p:nvSpPr>
          <p:cNvPr id="13" name="Shape 11"/>
          <p:cNvSpPr/>
          <p:nvPr/>
        </p:nvSpPr>
        <p:spPr>
          <a:xfrm>
            <a:off x="9418320" y="1920240"/>
            <a:ext cx="2194560" cy="2103120"/>
          </a:xfrm>
          <a:prstGeom prst="roundRect">
            <a:avLst>
              <a:gd name="adj" fmla="val 3478"/>
            </a:avLst>
          </a:prstGeom>
          <a:solidFill>
            <a:schemeClr val="bg2"/>
          </a:solidFill>
          <a:ln w="12700">
            <a:solidFill>
              <a:schemeClr val="bg2"/>
            </a:solidFill>
            <a:prstDash val="solid"/>
          </a:ln>
        </p:spPr>
      </p:sp>
      <p:sp>
        <p:nvSpPr>
          <p:cNvPr id="14" name="Text 12"/>
          <p:cNvSpPr txBox="1"/>
          <p:nvPr/>
        </p:nvSpPr>
        <p:spPr>
          <a:xfrm>
            <a:off x="9509760" y="2011680"/>
            <a:ext cx="2011680" cy="1920240"/>
          </a:xfrm>
          <a:prstGeom prst="rect">
            <a:avLst/>
          </a:prstGeom>
          <a:noFill/>
          <a:ln/>
        </p:spPr>
        <p:txBody>
          <a:bodyPr wrap="square" rtlCol="0" anchor="ctr"/>
          <a:lstStyle/>
          <a:p>
            <a:pPr indent="0" marL="0">
              <a:buNone/>
            </a:pPr>
            <a:r>
              <a:rPr lang="en-US" sz="1400" b="1" dirty="0">
                <a:solidFill>
                  <a:schemeClr val="tx1"/>
                </a:solidFill>
              </a:rPr>
              <a:t>À partir du 4ᵉ mois</a:t>
            </a:r>
            <a:endParaRPr lang="en-US" sz="1500" dirty="0"/>
          </a:p>
          <a:p>
            <a:pPr indent="0" marL="0">
              <a:buNone/>
            </a:pPr>
            <a:r>
              <a:rPr lang="en-US" sz="2000" b="1" dirty="0">
                <a:solidFill>
                  <a:schemeClr val="accent2"/>
                </a:solidFill>
              </a:rPr>
              <a:t>100 000 FCFA</a:t>
            </a:r>
            <a:endParaRPr lang="en-US" sz="1500" dirty="0"/>
          </a:p>
          <a:p>
            <a:pPr indent="0" marL="0">
              <a:buNone/>
            </a:pPr>
            <a:r>
              <a:rPr lang="en-US" sz="1400" dirty="0">
                <a:solidFill>
                  <a:schemeClr val="tx1"/>
                </a:solidFill>
              </a:rPr>
              <a:t>chaque mois</a:t>
            </a:r>
            <a:endParaRPr lang="en-US" sz="1500" dirty="0"/>
          </a:p>
        </p:txBody>
      </p:sp>
      <p:sp>
        <p:nvSpPr>
          <p:cNvPr id="15" name="Text 13"/>
          <p:cNvSpPr txBox="1"/>
          <p:nvPr/>
        </p:nvSpPr>
        <p:spPr>
          <a:xfrm>
            <a:off x="4572000" y="4389120"/>
            <a:ext cx="7040880" cy="457200"/>
          </a:xfrm>
          <a:prstGeom prst="rect">
            <a:avLst/>
          </a:prstGeom>
          <a:noFill/>
          <a:ln/>
        </p:spPr>
        <p:txBody>
          <a:bodyPr wrap="square" rtlCol="0" anchor="t"/>
          <a:lstStyle/>
          <a:p>
            <a:pPr indent="0" marL="0">
              <a:buNone/>
            </a:pPr>
            <a:r>
              <a:rPr lang="en-US" sz="1300" i="1" dirty="0">
                <a:solidFill>
                  <a:schemeClr val="accent5"/>
                </a:solidFill>
              </a:rPr>
              <a:t>Montants communiqués par l'organisation. Aucun autre frais n'est présenté ici.</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Bonnes pratiques et responsabilités</a:t>
            </a:r>
            <a:endParaRPr lang="en-US" sz="3000" dirty="0"/>
          </a:p>
        </p:txBody>
      </p:sp>
      <p:sp>
        <p:nvSpPr>
          <p:cNvPr id="3" name="Shape 1"/>
          <p:cNvSpPr/>
          <p:nvPr/>
        </p:nvSpPr>
        <p:spPr>
          <a:xfrm>
            <a:off x="548640" y="1600200"/>
            <a:ext cx="640080" cy="640080"/>
          </a:xfrm>
          <a:prstGeom prst="ellipse">
            <a:avLst/>
          </a:prstGeom>
          <a:solidFill>
            <a:schemeClr val="accent3"/>
          </a:solidFill>
          <a:ln w="12700">
            <a:solidFill>
              <a:schemeClr val="accent3"/>
            </a:solidFill>
            <a:prstDash val="solid"/>
          </a:ln>
        </p:spPr>
      </p:sp>
      <p:sp>
        <p:nvSpPr>
          <p:cNvPr id="4" name="Text 2"/>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Text 3"/>
          <p:cNvSpPr txBox="1"/>
          <p:nvPr/>
        </p:nvSpPr>
        <p:spPr>
          <a:xfrm>
            <a:off x="1417320" y="1463040"/>
            <a:ext cx="4480560" cy="1828800"/>
          </a:xfrm>
          <a:prstGeom prst="rect">
            <a:avLst/>
          </a:prstGeom>
          <a:noFill/>
          <a:ln/>
        </p:spPr>
        <p:txBody>
          <a:bodyPr wrap="square" rtlCol="0" anchor="t"/>
          <a:lstStyle/>
          <a:p>
            <a:pPr indent="0" marL="0">
              <a:buNone/>
            </a:pPr>
            <a:r>
              <a:rPr lang="en-US" sz="2000" b="1" dirty="0">
                <a:solidFill>
                  <a:schemeClr val="tx2"/>
                </a:solidFill>
              </a:rPr>
              <a:t>Vérifier</a:t>
            </a:r>
            <a:endParaRPr lang="en-US" sz="1500" dirty="0"/>
          </a:p>
          <a:p>
            <a:pPr indent="0" marL="0">
              <a:buNone/>
            </a:pPr>
            <a:r>
              <a:rPr lang="en-US" sz="1500" dirty="0">
                <a:solidFill>
                  <a:schemeClr val="tx1"/>
                </a:solidFill>
              </a:rPr>
              <a:t>le bon camion ou le bon dossier avant toute action (immatriculation, nom, identifiant).</a:t>
            </a:r>
            <a:endParaRPr lang="en-US" sz="1500" dirty="0"/>
          </a:p>
        </p:txBody>
      </p:sp>
      <p:sp>
        <p:nvSpPr>
          <p:cNvPr id="6" name="Shape 4"/>
          <p:cNvSpPr/>
          <p:nvPr/>
        </p:nvSpPr>
        <p:spPr>
          <a:xfrm>
            <a:off x="6172200" y="1600200"/>
            <a:ext cx="640080" cy="640080"/>
          </a:xfrm>
          <a:prstGeom prst="ellipse">
            <a:avLst/>
          </a:prstGeom>
          <a:solidFill>
            <a:schemeClr val="accent3"/>
          </a:solidFill>
          <a:ln w="12700">
            <a:solidFill>
              <a:schemeClr val="accent3"/>
            </a:solidFill>
            <a:prstDash val="solid"/>
          </a:ln>
        </p:spPr>
      </p:sp>
      <p:sp>
        <p:nvSpPr>
          <p:cNvPr id="7" name="Text 5"/>
          <p:cNvSpPr txBox="1"/>
          <p:nvPr/>
        </p:nvSpPr>
        <p:spPr>
          <a:xfrm>
            <a:off x="6172200" y="16002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8" name="Text 6"/>
          <p:cNvSpPr txBox="1"/>
          <p:nvPr/>
        </p:nvSpPr>
        <p:spPr>
          <a:xfrm>
            <a:off x="7040880" y="1463040"/>
            <a:ext cx="4480560" cy="1828800"/>
          </a:xfrm>
          <a:prstGeom prst="rect">
            <a:avLst/>
          </a:prstGeom>
          <a:noFill/>
          <a:ln/>
        </p:spPr>
        <p:txBody>
          <a:bodyPr wrap="square" rtlCol="0" anchor="t"/>
          <a:lstStyle/>
          <a:p>
            <a:pPr indent="0" marL="0">
              <a:buNone/>
            </a:pPr>
            <a:r>
              <a:rPr lang="en-US" sz="2000" b="1" dirty="0">
                <a:solidFill>
                  <a:schemeClr val="tx2"/>
                </a:solidFill>
              </a:rPr>
              <a:t>Contrôler</a:t>
            </a:r>
            <a:endParaRPr lang="en-US" sz="1500" dirty="0"/>
          </a:p>
          <a:p>
            <a:pPr indent="0" marL="0">
              <a:buNone/>
            </a:pPr>
            <a:r>
              <a:rPr lang="en-US" sz="1500" dirty="0">
                <a:solidFill>
                  <a:schemeClr val="tx1"/>
                </a:solidFill>
              </a:rPr>
              <a:t>les informations avant toute modification.</a:t>
            </a:r>
            <a:endParaRPr lang="en-US" sz="1500" dirty="0"/>
          </a:p>
        </p:txBody>
      </p:sp>
      <p:sp>
        <p:nvSpPr>
          <p:cNvPr id="9" name="Shape 7"/>
          <p:cNvSpPr/>
          <p:nvPr/>
        </p:nvSpPr>
        <p:spPr>
          <a:xfrm>
            <a:off x="548640" y="3886200"/>
            <a:ext cx="640080" cy="640080"/>
          </a:xfrm>
          <a:prstGeom prst="ellipse">
            <a:avLst/>
          </a:prstGeom>
          <a:solidFill>
            <a:schemeClr val="accent3"/>
          </a:solidFill>
          <a:ln w="12700">
            <a:solidFill>
              <a:schemeClr val="accent3"/>
            </a:solidFill>
            <a:prstDash val="solid"/>
          </a:ln>
        </p:spPr>
      </p:sp>
      <p:sp>
        <p:nvSpPr>
          <p:cNvPr id="10" name="Text 8"/>
          <p:cNvSpPr txBox="1"/>
          <p:nvPr/>
        </p:nvSpPr>
        <p:spPr>
          <a:xfrm>
            <a:off x="548640" y="38862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1" name="Text 9"/>
          <p:cNvSpPr txBox="1"/>
          <p:nvPr/>
        </p:nvSpPr>
        <p:spPr>
          <a:xfrm>
            <a:off x="1417320" y="3749040"/>
            <a:ext cx="4480560" cy="1828800"/>
          </a:xfrm>
          <a:prstGeom prst="rect">
            <a:avLst/>
          </a:prstGeom>
          <a:noFill/>
          <a:ln/>
        </p:spPr>
        <p:txBody>
          <a:bodyPr wrap="square" rtlCol="0" anchor="t"/>
          <a:lstStyle/>
          <a:p>
            <a:pPr indent="0" marL="0">
              <a:buNone/>
            </a:pPr>
            <a:r>
              <a:rPr lang="en-US" sz="2000" b="1" dirty="0">
                <a:solidFill>
                  <a:schemeClr val="tx2"/>
                </a:solidFill>
              </a:rPr>
              <a:t>Respecter</a:t>
            </a:r>
            <a:endParaRPr lang="en-US" sz="1500" dirty="0"/>
          </a:p>
          <a:p>
            <a:pPr indent="0" marL="0">
              <a:buNone/>
            </a:pPr>
            <a:r>
              <a:rPr lang="en-US" sz="1500" dirty="0">
                <a:solidFill>
                  <a:schemeClr val="tx1"/>
                </a:solidFill>
              </a:rPr>
              <a:t>les permissions validées par l'organisation.</a:t>
            </a:r>
            <a:endParaRPr lang="en-US" sz="1500" dirty="0"/>
          </a:p>
        </p:txBody>
      </p:sp>
      <p:sp>
        <p:nvSpPr>
          <p:cNvPr id="12" name="Shape 10"/>
          <p:cNvSpPr/>
          <p:nvPr/>
        </p:nvSpPr>
        <p:spPr>
          <a:xfrm>
            <a:off x="6172200" y="3886200"/>
            <a:ext cx="640080" cy="640080"/>
          </a:xfrm>
          <a:prstGeom prst="ellipse">
            <a:avLst/>
          </a:prstGeom>
          <a:solidFill>
            <a:schemeClr val="accent3"/>
          </a:solidFill>
          <a:ln w="12700">
            <a:solidFill>
              <a:schemeClr val="accent3"/>
            </a:solidFill>
            <a:prstDash val="solid"/>
          </a:ln>
        </p:spPr>
      </p:sp>
      <p:sp>
        <p:nvSpPr>
          <p:cNvPr id="13" name="Text 11"/>
          <p:cNvSpPr txBox="1"/>
          <p:nvPr/>
        </p:nvSpPr>
        <p:spPr>
          <a:xfrm>
            <a:off x="6172200" y="388620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4" name="Text 12"/>
          <p:cNvSpPr txBox="1"/>
          <p:nvPr/>
        </p:nvSpPr>
        <p:spPr>
          <a:xfrm>
            <a:off x="7040880" y="3749040"/>
            <a:ext cx="4480560" cy="1828800"/>
          </a:xfrm>
          <a:prstGeom prst="rect">
            <a:avLst/>
          </a:prstGeom>
          <a:noFill/>
          <a:ln/>
        </p:spPr>
        <p:txBody>
          <a:bodyPr wrap="square" rtlCol="0" anchor="t"/>
          <a:lstStyle/>
          <a:p>
            <a:pPr indent="0" marL="0">
              <a:buNone/>
            </a:pPr>
            <a:r>
              <a:rPr lang="en-US" sz="2000" b="1" dirty="0">
                <a:solidFill>
                  <a:schemeClr val="tx2"/>
                </a:solidFill>
              </a:rPr>
              <a:t>Signaler</a:t>
            </a:r>
            <a:endParaRPr lang="en-US" sz="1500" dirty="0"/>
          </a:p>
          <a:p>
            <a:pPr indent="0" marL="0">
              <a:buNone/>
            </a:pPr>
            <a:r>
              <a:rPr lang="en-US" sz="1500" dirty="0">
                <a:solidFill>
                  <a:schemeClr val="tx1"/>
                </a:solidFill>
              </a:rPr>
              <a:t>les erreurs constatées et les besoins de formation.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Vérification des acquis</a:t>
            </a:r>
            <a:endParaRPr lang="en-US" sz="3000" dirty="0"/>
          </a:p>
        </p:txBody>
      </p:sp>
      <p:sp>
        <p:nvSpPr>
          <p:cNvPr id="3" name="Shape 1"/>
          <p:cNvSpPr/>
          <p:nvPr/>
        </p:nvSpPr>
        <p:spPr>
          <a:xfrm>
            <a:off x="548640" y="1371600"/>
            <a:ext cx="5440680" cy="1371600"/>
          </a:xfrm>
          <a:prstGeom prst="roundRect">
            <a:avLst>
              <a:gd name="adj" fmla="val 5333"/>
            </a:avLst>
          </a:prstGeom>
          <a:solidFill>
            <a:schemeClr val="bg2"/>
          </a:solidFill>
          <a:ln w="12700">
            <a:solidFill>
              <a:schemeClr val="bg2"/>
            </a:solidFill>
            <a:prstDash val="solid"/>
          </a:ln>
        </p:spPr>
      </p:sp>
      <p:sp>
        <p:nvSpPr>
          <p:cNvPr id="4" name="Shape 2"/>
          <p:cNvSpPr/>
          <p:nvPr/>
        </p:nvSpPr>
        <p:spPr>
          <a:xfrm>
            <a:off x="731520" y="17830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31520"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463040" y="1371600"/>
            <a:ext cx="4389120" cy="1371600"/>
          </a:xfrm>
          <a:prstGeom prst="rect">
            <a:avLst/>
          </a:prstGeom>
          <a:noFill/>
          <a:ln/>
        </p:spPr>
        <p:txBody>
          <a:bodyPr wrap="square" rtlCol="0" anchor="ctr"/>
          <a:lstStyle/>
          <a:p>
            <a:pPr indent="0" marL="0">
              <a:buNone/>
            </a:pPr>
            <a:r>
              <a:rPr lang="en-US" sz="1500" dirty="0">
                <a:solidFill>
                  <a:schemeClr val="tx1"/>
                </a:solidFill>
              </a:rPr>
              <a:t>Dans quel menu retrouvez-vous un camion à partir de son immatriculation ?</a:t>
            </a:r>
            <a:endParaRPr lang="en-US" sz="1500" dirty="0"/>
          </a:p>
        </p:txBody>
      </p:sp>
      <p:sp>
        <p:nvSpPr>
          <p:cNvPr id="7" name="Shape 5"/>
          <p:cNvSpPr/>
          <p:nvPr/>
        </p:nvSpPr>
        <p:spPr>
          <a:xfrm>
            <a:off x="6172200" y="1371600"/>
            <a:ext cx="5440680" cy="1371600"/>
          </a:xfrm>
          <a:prstGeom prst="roundRect">
            <a:avLst>
              <a:gd name="adj" fmla="val 5333"/>
            </a:avLst>
          </a:prstGeom>
          <a:solidFill>
            <a:schemeClr val="bg2"/>
          </a:solidFill>
          <a:ln w="12700">
            <a:solidFill>
              <a:schemeClr val="bg2"/>
            </a:solidFill>
            <a:prstDash val="solid"/>
          </a:ln>
        </p:spPr>
      </p:sp>
      <p:sp>
        <p:nvSpPr>
          <p:cNvPr id="8" name="Shape 6"/>
          <p:cNvSpPr/>
          <p:nvPr/>
        </p:nvSpPr>
        <p:spPr>
          <a:xfrm>
            <a:off x="6355080" y="178308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6355080"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Text 8"/>
          <p:cNvSpPr txBox="1"/>
          <p:nvPr/>
        </p:nvSpPr>
        <p:spPr>
          <a:xfrm>
            <a:off x="7086600" y="1371600"/>
            <a:ext cx="4389120" cy="1371600"/>
          </a:xfrm>
          <a:prstGeom prst="rect">
            <a:avLst/>
          </a:prstGeom>
          <a:noFill/>
          <a:ln/>
        </p:spPr>
        <p:txBody>
          <a:bodyPr wrap="square" rtlCol="0" anchor="ctr"/>
          <a:lstStyle/>
          <a:p>
            <a:pPr indent="0" marL="0">
              <a:buNone/>
            </a:pPr>
            <a:r>
              <a:rPr lang="en-US" sz="1500" dirty="0">
                <a:solidFill>
                  <a:schemeClr val="tx1"/>
                </a:solidFill>
              </a:rPr>
              <a:t>Où vérifiez-vous la date d'expiration du permis d'un chauffeur ?</a:t>
            </a:r>
            <a:endParaRPr lang="en-US" sz="1500" dirty="0"/>
          </a:p>
        </p:txBody>
      </p:sp>
      <p:sp>
        <p:nvSpPr>
          <p:cNvPr id="11" name="Shape 9"/>
          <p:cNvSpPr/>
          <p:nvPr/>
        </p:nvSpPr>
        <p:spPr>
          <a:xfrm>
            <a:off x="548640" y="2971800"/>
            <a:ext cx="5440680" cy="1371600"/>
          </a:xfrm>
          <a:prstGeom prst="roundRect">
            <a:avLst>
              <a:gd name="adj" fmla="val 5333"/>
            </a:avLst>
          </a:prstGeom>
          <a:solidFill>
            <a:schemeClr val="bg2"/>
          </a:solidFill>
          <a:ln w="12700">
            <a:solidFill>
              <a:schemeClr val="bg2"/>
            </a:solidFill>
            <a:prstDash val="solid"/>
          </a:ln>
        </p:spPr>
      </p:sp>
      <p:sp>
        <p:nvSpPr>
          <p:cNvPr id="12" name="Shape 10"/>
          <p:cNvSpPr/>
          <p:nvPr/>
        </p:nvSpPr>
        <p:spPr>
          <a:xfrm>
            <a:off x="731520" y="338328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731520" y="33832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Text 12"/>
          <p:cNvSpPr txBox="1"/>
          <p:nvPr/>
        </p:nvSpPr>
        <p:spPr>
          <a:xfrm>
            <a:off x="1463040" y="2971800"/>
            <a:ext cx="4389120" cy="1371600"/>
          </a:xfrm>
          <a:prstGeom prst="rect">
            <a:avLst/>
          </a:prstGeom>
          <a:noFill/>
          <a:ln/>
        </p:spPr>
        <p:txBody>
          <a:bodyPr wrap="square" rtlCol="0" anchor="ctr"/>
          <a:lstStyle/>
          <a:p>
            <a:pPr indent="0" marL="0">
              <a:buNone/>
            </a:pPr>
            <a:r>
              <a:rPr lang="en-US" sz="1500" dirty="0">
                <a:solidFill>
                  <a:schemeClr val="tx1"/>
                </a:solidFill>
              </a:rPr>
              <a:t>Quel statut affiche un trajet prévu mais pas encore commencé ?</a:t>
            </a:r>
            <a:endParaRPr lang="en-US" sz="1500" dirty="0"/>
          </a:p>
        </p:txBody>
      </p:sp>
      <p:sp>
        <p:nvSpPr>
          <p:cNvPr id="15" name="Shape 13"/>
          <p:cNvSpPr/>
          <p:nvPr/>
        </p:nvSpPr>
        <p:spPr>
          <a:xfrm>
            <a:off x="6172200" y="2971800"/>
            <a:ext cx="5440680" cy="1371600"/>
          </a:xfrm>
          <a:prstGeom prst="roundRect">
            <a:avLst>
              <a:gd name="adj" fmla="val 5333"/>
            </a:avLst>
          </a:prstGeom>
          <a:solidFill>
            <a:schemeClr val="bg2"/>
          </a:solidFill>
          <a:ln w="12700">
            <a:solidFill>
              <a:schemeClr val="bg2"/>
            </a:solidFill>
            <a:prstDash val="solid"/>
          </a:ln>
        </p:spPr>
      </p:sp>
      <p:sp>
        <p:nvSpPr>
          <p:cNvPr id="16" name="Shape 14"/>
          <p:cNvSpPr/>
          <p:nvPr/>
        </p:nvSpPr>
        <p:spPr>
          <a:xfrm>
            <a:off x="6355080" y="338328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6355080" y="33832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Text 16"/>
          <p:cNvSpPr txBox="1"/>
          <p:nvPr/>
        </p:nvSpPr>
        <p:spPr>
          <a:xfrm>
            <a:off x="7086600" y="2971800"/>
            <a:ext cx="4389120" cy="1371600"/>
          </a:xfrm>
          <a:prstGeom prst="rect">
            <a:avLst/>
          </a:prstGeom>
          <a:noFill/>
          <a:ln/>
        </p:spPr>
        <p:txBody>
          <a:bodyPr wrap="square" rtlCol="0" anchor="ctr"/>
          <a:lstStyle/>
          <a:p>
            <a:pPr indent="0" marL="0">
              <a:buNone/>
            </a:pPr>
            <a:r>
              <a:rPr lang="en-US" sz="1500" dirty="0">
                <a:solidFill>
                  <a:schemeClr val="tx1"/>
                </a:solidFill>
              </a:rPr>
              <a:t>Quelles informations figurent sur une ligne de carburant ?</a:t>
            </a:r>
            <a:endParaRPr lang="en-US" sz="1500" dirty="0"/>
          </a:p>
        </p:txBody>
      </p:sp>
      <p:sp>
        <p:nvSpPr>
          <p:cNvPr id="19" name="Shape 17"/>
          <p:cNvSpPr/>
          <p:nvPr/>
        </p:nvSpPr>
        <p:spPr>
          <a:xfrm>
            <a:off x="548640" y="4572000"/>
            <a:ext cx="5440680" cy="1371600"/>
          </a:xfrm>
          <a:prstGeom prst="roundRect">
            <a:avLst>
              <a:gd name="adj" fmla="val 5333"/>
            </a:avLst>
          </a:prstGeom>
          <a:solidFill>
            <a:schemeClr val="bg2"/>
          </a:solidFill>
          <a:ln w="12700">
            <a:solidFill>
              <a:schemeClr val="bg2"/>
            </a:solidFill>
            <a:prstDash val="solid"/>
          </a:ln>
        </p:spPr>
      </p:sp>
      <p:sp>
        <p:nvSpPr>
          <p:cNvPr id="20" name="Shape 18"/>
          <p:cNvSpPr/>
          <p:nvPr/>
        </p:nvSpPr>
        <p:spPr>
          <a:xfrm>
            <a:off x="731520" y="4983480"/>
            <a:ext cx="548640" cy="548640"/>
          </a:xfrm>
          <a:prstGeom prst="ellipse">
            <a:avLst/>
          </a:prstGeom>
          <a:solidFill>
            <a:schemeClr val="accent1"/>
          </a:solidFill>
          <a:ln w="12700">
            <a:solidFill>
              <a:schemeClr val="accent1"/>
            </a:solidFill>
            <a:prstDash val="solid"/>
          </a:ln>
        </p:spPr>
      </p:sp>
      <p:sp>
        <p:nvSpPr>
          <p:cNvPr id="21" name="Text 19"/>
          <p:cNvSpPr txBox="1"/>
          <p:nvPr/>
        </p:nvSpPr>
        <p:spPr>
          <a:xfrm>
            <a:off x="731520" y="4983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2" name="Text 20"/>
          <p:cNvSpPr txBox="1"/>
          <p:nvPr/>
        </p:nvSpPr>
        <p:spPr>
          <a:xfrm>
            <a:off x="1463040" y="4572000"/>
            <a:ext cx="4389120" cy="1371600"/>
          </a:xfrm>
          <a:prstGeom prst="rect">
            <a:avLst/>
          </a:prstGeom>
          <a:noFill/>
          <a:ln/>
        </p:spPr>
        <p:txBody>
          <a:bodyPr wrap="square" rtlCol="0" anchor="ctr"/>
          <a:lstStyle/>
          <a:p>
            <a:pPr indent="0" marL="0">
              <a:buNone/>
            </a:pPr>
            <a:r>
              <a:rPr lang="en-US" sz="1500" dirty="0">
                <a:solidFill>
                  <a:schemeClr val="tx1"/>
                </a:solidFill>
              </a:rPr>
              <a:t>Où trouvez-vous les rubriques liées au personnel ?</a:t>
            </a:r>
            <a:endParaRPr lang="en-US" sz="1500" dirty="0"/>
          </a:p>
        </p:txBody>
      </p:sp>
      <p:sp>
        <p:nvSpPr>
          <p:cNvPr id="23" name="Shape 21"/>
          <p:cNvSpPr/>
          <p:nvPr/>
        </p:nvSpPr>
        <p:spPr>
          <a:xfrm>
            <a:off x="6172200" y="4572000"/>
            <a:ext cx="5440680" cy="1371600"/>
          </a:xfrm>
          <a:prstGeom prst="roundRect">
            <a:avLst>
              <a:gd name="adj" fmla="val 5333"/>
            </a:avLst>
          </a:prstGeom>
          <a:solidFill>
            <a:schemeClr val="bg2"/>
          </a:solidFill>
          <a:ln w="12700">
            <a:solidFill>
              <a:schemeClr val="bg2"/>
            </a:solidFill>
            <a:prstDash val="solid"/>
          </a:ln>
        </p:spPr>
      </p:sp>
      <p:sp>
        <p:nvSpPr>
          <p:cNvPr id="24" name="Shape 22"/>
          <p:cNvSpPr/>
          <p:nvPr/>
        </p:nvSpPr>
        <p:spPr>
          <a:xfrm>
            <a:off x="6355080" y="498348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6355080" y="4983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26" name="Text 24"/>
          <p:cNvSpPr txBox="1"/>
          <p:nvPr/>
        </p:nvSpPr>
        <p:spPr>
          <a:xfrm>
            <a:off x="7086600" y="4572000"/>
            <a:ext cx="4389120" cy="1371600"/>
          </a:xfrm>
          <a:prstGeom prst="rect">
            <a:avLst/>
          </a:prstGeom>
          <a:noFill/>
          <a:ln/>
        </p:spPr>
        <p:txBody>
          <a:bodyPr wrap="square" rtlCol="0" anchor="ctr"/>
          <a:lstStyle/>
          <a:p>
            <a:pPr indent="0" marL="0">
              <a:buNone/>
            </a:pPr>
            <a:r>
              <a:rPr lang="en-US" sz="1500" dirty="0">
                <a:solidFill>
                  <a:schemeClr val="tx1"/>
                </a:solidFill>
              </a:rPr>
              <a:t>Les permissions présentées sont-elles déjà configurées ?</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nchor="b"/>
          <a:lstStyle/>
          <a:p>
            <a:pPr indent="0" marL="0">
              <a:buNone/>
            </a:pPr>
            <a:r>
              <a:rPr lang="en-US" sz="3800" b="1" dirty="0">
                <a:solidFill>
                  <a:schemeClr val="bg1"/>
                </a:solidFill>
              </a:rPr>
              <a:t>Récapitulatif et questions</a:t>
            </a:r>
            <a:endParaRPr lang="en-US" sz="3800" dirty="0"/>
          </a:p>
        </p:txBody>
      </p:sp>
      <p:sp>
        <p:nvSpPr>
          <p:cNvPr id="3" name="Text 1"/>
          <p:cNvSpPr txBox="1"/>
          <p:nvPr/>
        </p:nvSpPr>
        <p:spPr>
          <a:xfrm>
            <a:off x="731520" y="3931920"/>
            <a:ext cx="6583680" cy="2377440"/>
          </a:xfrm>
          <a:prstGeom prst="rect">
            <a:avLst/>
          </a:prstGeom>
          <a:noFill/>
          <a:ln/>
        </p:spPr>
        <p:txBody>
          <a:bodyPr wrap="square" rtlCol="0" anchor="t"/>
          <a:lstStyle/>
          <a:p>
            <a:pPr marL="342900" indent="-342900">
              <a:spcAft>
                <a:spcPts val="400"/>
              </a:spcAft>
              <a:buSzPct val="100000"/>
              <a:buChar char="•"/>
            </a:pPr>
            <a:r>
              <a:rPr lang="en-US" sz="1600" dirty="0">
                <a:solidFill>
                  <a:schemeClr val="bg1"/>
                </a:solidFill>
              </a:rPr>
              <a:t>Se repérer dans l'interface et lire le tableau de bord</a:t>
            </a:r>
            <a:endParaRPr lang="en-US" sz="1600" dirty="0"/>
          </a:p>
          <a:p>
            <a:pPr marL="342900" indent="-342900">
              <a:spcAft>
                <a:spcPts val="400"/>
              </a:spcAft>
              <a:buSzPct val="100000"/>
              <a:buChar char="•"/>
            </a:pPr>
            <a:r>
              <a:rPr lang="en-US" sz="1600" dirty="0">
                <a:solidFill>
                  <a:schemeClr val="bg1"/>
                </a:solidFill>
              </a:rPr>
              <a:t>Retrouver camions, chauffeurs, trajets et pleins de carburant</a:t>
            </a:r>
            <a:endParaRPr lang="en-US" sz="1600" dirty="0"/>
          </a:p>
          <a:p>
            <a:pPr marL="342900" indent="-342900">
              <a:spcAft>
                <a:spcPts val="400"/>
              </a:spcAft>
              <a:buSzPct val="100000"/>
              <a:buChar char="•"/>
            </a:pPr>
            <a:r>
              <a:rPr lang="en-US" sz="1600" dirty="0">
                <a:solidFill>
                  <a:schemeClr val="bg1"/>
                </a:solidFill>
              </a:rPr>
              <a:t>Situer le personnel, les finances, l'entretien et le suivi</a:t>
            </a:r>
            <a:endParaRPr lang="en-US" sz="1600" dirty="0"/>
          </a:p>
          <a:p>
            <a:pPr marL="342900" indent="-342900">
              <a:spcAft>
                <a:spcPts val="400"/>
              </a:spcAft>
              <a:buSzPct val="100000"/>
              <a:buChar char="•"/>
            </a:pPr>
            <a:r>
              <a:rPr lang="en-US" sz="1600" dirty="0">
                <a:solidFill>
                  <a:schemeClr val="bg1"/>
                </a:solidFill>
              </a:rPr>
              <a:t>Rôles et permissions : une matrice à valider</a:t>
            </a:r>
            <a:endParaRPr lang="en-US" sz="1600" dirty="0"/>
          </a:p>
          <a:p>
            <a:pPr marL="342900" indent="-342900">
              <a:spcAft>
                <a:spcPts val="400"/>
              </a:spcAft>
              <a:buSzPct val="100000"/>
              <a:buChar char="•"/>
            </a:pPr>
            <a:r>
              <a:rPr lang="en-US" sz="1600" dirty="0">
                <a:solidFill>
                  <a:schemeClr val="bg1"/>
                </a:solidFill>
              </a:rPr>
              <a:t>Coûts : hébergement 100 000 FCFA/an, maintenance 100 000 FCFA/mois</a:t>
            </a:r>
            <a:endParaRPr lang="en-US" sz="1600" dirty="0"/>
          </a:p>
        </p:txBody>
      </p:sp>
      <p:sp>
        <p:nvSpPr>
          <p:cNvPr id="4" name="Shape 2"/>
          <p:cNvSpPr/>
          <p:nvPr/>
        </p:nvSpPr>
        <p:spPr>
          <a:xfrm>
            <a:off x="7772400" y="3931920"/>
            <a:ext cx="3657600" cy="2377440"/>
          </a:xfrm>
          <a:prstGeom prst="roundRect">
            <a:avLst>
              <a:gd name="adj" fmla="val 3077"/>
            </a:avLst>
          </a:prstGeom>
          <a:solidFill>
            <a:schemeClr val="accent1"/>
          </a:solidFill>
          <a:ln w="12700">
            <a:solidFill>
              <a:schemeClr val="accent1"/>
            </a:solidFill>
            <a:prstDash val="solid"/>
          </a:ln>
        </p:spPr>
      </p:sp>
      <p:sp>
        <p:nvSpPr>
          <p:cNvPr id="5" name="Text 3"/>
          <p:cNvSpPr txBox="1"/>
          <p:nvPr/>
        </p:nvSpPr>
        <p:spPr>
          <a:xfrm>
            <a:off x="7955280" y="4023360"/>
            <a:ext cx="3291840" cy="2194560"/>
          </a:xfrm>
          <a:prstGeom prst="rect">
            <a:avLst/>
          </a:prstGeom>
          <a:noFill/>
          <a:ln/>
        </p:spPr>
        <p:txBody>
          <a:bodyPr wrap="square" rtlCol="0" anchor="t"/>
          <a:lstStyle/>
          <a:p>
            <a:pPr indent="0" marL="0">
              <a:spcAft>
                <a:spcPts val="600"/>
              </a:spcAft>
              <a:buNone/>
            </a:pPr>
            <a:r>
              <a:rPr lang="en-US" sz="1600" b="1" dirty="0">
                <a:solidFill>
                  <a:schemeClr val="tx1"/>
                </a:solidFill>
              </a:rPr>
              <a:t>Questions à suivre</a:t>
            </a:r>
            <a:endParaRPr lang="en-US" sz="1500" dirty="0"/>
          </a:p>
          <a:p>
            <a:pPr indent="0" marL="0">
              <a:spcAft>
                <a:spcPts val="600"/>
              </a:spcAft>
              <a:buNone/>
            </a:pPr>
            <a:r>
              <a:rPr lang="en-US" sz="1500" dirty="0">
                <a:solidFill>
                  <a:schemeClr val="tx1"/>
                </a:solidFill>
              </a:rPr>
              <a:t>1. </a:t>
            </a:r>
            <a:endParaRPr lang="en-US" sz="1500" dirty="0"/>
          </a:p>
          <a:p>
            <a:pPr indent="0" marL="0">
              <a:spcAft>
                <a:spcPts val="600"/>
              </a:spcAft>
              <a:buNone/>
            </a:pPr>
            <a:r>
              <a:rPr lang="en-US" sz="1500" dirty="0">
                <a:solidFill>
                  <a:schemeClr val="tx1"/>
                </a:solidFill>
              </a:rPr>
              <a:t>2. </a:t>
            </a:r>
            <a:endParaRPr lang="en-US" sz="1500" dirty="0"/>
          </a:p>
          <a:p>
            <a:pPr indent="0" marL="0">
              <a:spcAft>
                <a:spcPts val="600"/>
              </a:spcAft>
              <a:buNone/>
            </a:pPr>
            <a:r>
              <a:rPr lang="en-US" sz="1500" dirty="0">
                <a:solidFill>
                  <a:schemeClr val="tx1"/>
                </a:solidFill>
              </a:rPr>
              <a:t>3. </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rtlCol="0" anchor="ctr"/>
          <a:lstStyle/>
          <a:p>
            <a:pPr indent="0" marL="0">
              <a:buNone/>
            </a:pPr>
            <a:r>
              <a:rPr lang="en-US" sz="3000" b="1" dirty="0">
                <a:solidFill>
                  <a:schemeClr val="tx2"/>
                </a:solidFill>
              </a:rPr>
              <a:t>Feuille de route : séances complémentaires</a:t>
            </a:r>
            <a:endParaRPr lang="en-US" sz="3000" dirty="0"/>
          </a:p>
        </p:txBody>
      </p:sp>
      <p:sp>
        <p:nvSpPr>
          <p:cNvPr id="3" name="Text 1"/>
          <p:cNvSpPr txBox="1"/>
          <p:nvPr/>
        </p:nvSpPr>
        <p:spPr>
          <a:xfrm>
            <a:off x="548640" y="1188720"/>
            <a:ext cx="11064240" cy="365760"/>
          </a:xfrm>
          <a:prstGeom prst="rect">
            <a:avLst/>
          </a:prstGeom>
          <a:noFill/>
          <a:ln/>
        </p:spPr>
        <p:txBody>
          <a:bodyPr wrap="square" rtlCol="0" anchor="t"/>
          <a:lstStyle/>
          <a:p>
            <a:pPr indent="0" marL="0">
              <a:buNone/>
            </a:pPr>
            <a:r>
              <a:rPr lang="en-US" sz="1400" i="1" dirty="0">
                <a:solidFill>
                  <a:schemeClr val="accent5"/>
                </a:solidFill>
              </a:rPr>
              <a:t>Approfondissements futurs, distincts de la formation initiale — chacun avec des captures d'écran supplémentaires</a:t>
            </a:r>
            <a:endParaRPr lang="en-US" sz="1400" dirty="0"/>
          </a:p>
        </p:txBody>
      </p:sp>
      <p:sp>
        <p:nvSpPr>
          <p:cNvPr id="4" name="Shape 2"/>
          <p:cNvSpPr/>
          <p:nvPr/>
        </p:nvSpPr>
        <p:spPr>
          <a:xfrm>
            <a:off x="548640" y="1783080"/>
            <a:ext cx="5440680" cy="9144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31520" y="1783080"/>
            <a:ext cx="1188720" cy="914400"/>
          </a:xfrm>
          <a:prstGeom prst="rect">
            <a:avLst/>
          </a:prstGeom>
          <a:noFill/>
          <a:ln/>
        </p:spPr>
        <p:txBody>
          <a:bodyPr wrap="square" rtlCol="0" anchor="ctr"/>
          <a:lstStyle/>
          <a:p>
            <a:pPr indent="0" marL="0">
              <a:buNone/>
            </a:pPr>
            <a:r>
              <a:rPr lang="en-US" sz="1500" b="1" dirty="0">
                <a:solidFill>
                  <a:schemeClr val="accent2"/>
                </a:solidFill>
              </a:rPr>
              <a:t>Séance 1</a:t>
            </a:r>
            <a:endParaRPr lang="en-US" sz="1500" dirty="0"/>
          </a:p>
        </p:txBody>
      </p:sp>
      <p:sp>
        <p:nvSpPr>
          <p:cNvPr id="6" name="Text 4"/>
          <p:cNvSpPr txBox="1"/>
          <p:nvPr/>
        </p:nvSpPr>
        <p:spPr>
          <a:xfrm>
            <a:off x="1920240" y="1783080"/>
            <a:ext cx="3931920" cy="914400"/>
          </a:xfrm>
          <a:prstGeom prst="rect">
            <a:avLst/>
          </a:prstGeom>
          <a:noFill/>
          <a:ln/>
        </p:spPr>
        <p:txBody>
          <a:bodyPr wrap="square" rtlCol="0" anchor="ctr"/>
          <a:lstStyle/>
          <a:p>
            <a:pPr indent="0" marL="0">
              <a:buNone/>
            </a:pPr>
            <a:r>
              <a:rPr lang="en-US" sz="1500" dirty="0">
                <a:solidFill>
                  <a:schemeClr val="tx1"/>
                </a:solidFill>
              </a:rPr>
              <a:t>Gestion avancée des camions, groupes et itinéraires</a:t>
            </a:r>
            <a:endParaRPr lang="en-US" sz="1500" dirty="0"/>
          </a:p>
        </p:txBody>
      </p:sp>
      <p:sp>
        <p:nvSpPr>
          <p:cNvPr id="7" name="Shape 5"/>
          <p:cNvSpPr/>
          <p:nvPr/>
        </p:nvSpPr>
        <p:spPr>
          <a:xfrm>
            <a:off x="548640" y="2880360"/>
            <a:ext cx="5440680" cy="9144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731520" y="2880360"/>
            <a:ext cx="1188720" cy="914400"/>
          </a:xfrm>
          <a:prstGeom prst="rect">
            <a:avLst/>
          </a:prstGeom>
          <a:noFill/>
          <a:ln/>
        </p:spPr>
        <p:txBody>
          <a:bodyPr wrap="square" rtlCol="0" anchor="ctr"/>
          <a:lstStyle/>
          <a:p>
            <a:pPr indent="0" marL="0">
              <a:buNone/>
            </a:pPr>
            <a:r>
              <a:rPr lang="en-US" sz="1500" b="1" dirty="0">
                <a:solidFill>
                  <a:schemeClr val="accent2"/>
                </a:solidFill>
              </a:rPr>
              <a:t>Séance 2</a:t>
            </a:r>
            <a:endParaRPr lang="en-US" sz="1500" dirty="0"/>
          </a:p>
        </p:txBody>
      </p:sp>
      <p:sp>
        <p:nvSpPr>
          <p:cNvPr id="9" name="Text 7"/>
          <p:cNvSpPr txBox="1"/>
          <p:nvPr/>
        </p:nvSpPr>
        <p:spPr>
          <a:xfrm>
            <a:off x="1920240" y="2880360"/>
            <a:ext cx="3931920" cy="914400"/>
          </a:xfrm>
          <a:prstGeom prst="rect">
            <a:avLst/>
          </a:prstGeom>
          <a:noFill/>
          <a:ln/>
        </p:spPr>
        <p:txBody>
          <a:bodyPr wrap="square" rtlCol="0" anchor="ctr"/>
          <a:lstStyle/>
          <a:p>
            <a:pPr indent="0" marL="0">
              <a:buNone/>
            </a:pPr>
            <a:r>
              <a:rPr lang="en-US" sz="1500" dirty="0">
                <a:solidFill>
                  <a:schemeClr val="tx1"/>
                </a:solidFill>
              </a:rPr>
              <a:t>Performance des chauffeurs et suivi détaillé des trajets</a:t>
            </a:r>
            <a:endParaRPr lang="en-US" sz="1500" dirty="0"/>
          </a:p>
        </p:txBody>
      </p:sp>
      <p:sp>
        <p:nvSpPr>
          <p:cNvPr id="10" name="Shape 8"/>
          <p:cNvSpPr/>
          <p:nvPr/>
        </p:nvSpPr>
        <p:spPr>
          <a:xfrm>
            <a:off x="548640" y="3977640"/>
            <a:ext cx="5440680" cy="9144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731520" y="3977640"/>
            <a:ext cx="1188720" cy="914400"/>
          </a:xfrm>
          <a:prstGeom prst="rect">
            <a:avLst/>
          </a:prstGeom>
          <a:noFill/>
          <a:ln/>
        </p:spPr>
        <p:txBody>
          <a:bodyPr wrap="square" rtlCol="0" anchor="ctr"/>
          <a:lstStyle/>
          <a:p>
            <a:pPr indent="0" marL="0">
              <a:buNone/>
            </a:pPr>
            <a:r>
              <a:rPr lang="en-US" sz="1500" b="1" dirty="0">
                <a:solidFill>
                  <a:schemeClr val="accent2"/>
                </a:solidFill>
              </a:rPr>
              <a:t>Séance 3</a:t>
            </a:r>
            <a:endParaRPr lang="en-US" sz="1500" dirty="0"/>
          </a:p>
        </p:txBody>
      </p:sp>
      <p:sp>
        <p:nvSpPr>
          <p:cNvPr id="12" name="Text 10"/>
          <p:cNvSpPr txBox="1"/>
          <p:nvPr/>
        </p:nvSpPr>
        <p:spPr>
          <a:xfrm>
            <a:off x="1920240" y="3977640"/>
            <a:ext cx="3931920" cy="914400"/>
          </a:xfrm>
          <a:prstGeom prst="rect">
            <a:avLst/>
          </a:prstGeom>
          <a:noFill/>
          <a:ln/>
        </p:spPr>
        <p:txBody>
          <a:bodyPr wrap="square" rtlCol="0" anchor="ctr"/>
          <a:lstStyle/>
          <a:p>
            <a:pPr indent="0" marL="0">
              <a:buNone/>
            </a:pPr>
            <a:r>
              <a:rPr lang="en-US" sz="1500" dirty="0">
                <a:solidFill>
                  <a:schemeClr val="tx1"/>
                </a:solidFill>
              </a:rPr>
              <a:t>Gestion du personnel, présence et paie</a:t>
            </a:r>
            <a:endParaRPr lang="en-US" sz="1500" dirty="0"/>
          </a:p>
        </p:txBody>
      </p:sp>
      <p:sp>
        <p:nvSpPr>
          <p:cNvPr id="13" name="Shape 11"/>
          <p:cNvSpPr/>
          <p:nvPr/>
        </p:nvSpPr>
        <p:spPr>
          <a:xfrm>
            <a:off x="548640" y="5074920"/>
            <a:ext cx="5440680" cy="914400"/>
          </a:xfrm>
          <a:prstGeom prst="roundRect">
            <a:avLst>
              <a:gd name="adj" fmla="val 8000"/>
            </a:avLst>
          </a:prstGeom>
          <a:solidFill>
            <a:schemeClr val="bg2"/>
          </a:solidFill>
          <a:ln w="12700">
            <a:solidFill>
              <a:schemeClr val="bg2"/>
            </a:solidFill>
            <a:prstDash val="solid"/>
          </a:ln>
        </p:spPr>
      </p:sp>
      <p:sp>
        <p:nvSpPr>
          <p:cNvPr id="14" name="Text 12"/>
          <p:cNvSpPr txBox="1"/>
          <p:nvPr/>
        </p:nvSpPr>
        <p:spPr>
          <a:xfrm>
            <a:off x="731520" y="5074920"/>
            <a:ext cx="1188720" cy="914400"/>
          </a:xfrm>
          <a:prstGeom prst="rect">
            <a:avLst/>
          </a:prstGeom>
          <a:noFill/>
          <a:ln/>
        </p:spPr>
        <p:txBody>
          <a:bodyPr wrap="square" rtlCol="0" anchor="ctr"/>
          <a:lstStyle/>
          <a:p>
            <a:pPr indent="0" marL="0">
              <a:buNone/>
            </a:pPr>
            <a:r>
              <a:rPr lang="en-US" sz="1500" b="1" dirty="0">
                <a:solidFill>
                  <a:schemeClr val="accent2"/>
                </a:solidFill>
              </a:rPr>
              <a:t>Séance 4</a:t>
            </a:r>
            <a:endParaRPr lang="en-US" sz="1500" dirty="0"/>
          </a:p>
        </p:txBody>
      </p:sp>
      <p:sp>
        <p:nvSpPr>
          <p:cNvPr id="15" name="Text 13"/>
          <p:cNvSpPr txBox="1"/>
          <p:nvPr/>
        </p:nvSpPr>
        <p:spPr>
          <a:xfrm>
            <a:off x="1920240" y="5074920"/>
            <a:ext cx="3931920" cy="914400"/>
          </a:xfrm>
          <a:prstGeom prst="rect">
            <a:avLst/>
          </a:prstGeom>
          <a:noFill/>
          <a:ln/>
        </p:spPr>
        <p:txBody>
          <a:bodyPr wrap="square" rtlCol="0" anchor="ctr"/>
          <a:lstStyle/>
          <a:p>
            <a:pPr indent="0" marL="0">
              <a:buNone/>
            </a:pPr>
            <a:r>
              <a:rPr lang="en-US" sz="1500" dirty="0">
                <a:solidFill>
                  <a:schemeClr val="tx1"/>
                </a:solidFill>
              </a:rPr>
              <a:t>Finances, transactions et rapports</a:t>
            </a:r>
            <a:endParaRPr lang="en-US" sz="1500" dirty="0"/>
          </a:p>
        </p:txBody>
      </p:sp>
      <p:sp>
        <p:nvSpPr>
          <p:cNvPr id="16" name="Shape 14"/>
          <p:cNvSpPr/>
          <p:nvPr/>
        </p:nvSpPr>
        <p:spPr>
          <a:xfrm>
            <a:off x="6172200" y="1783080"/>
            <a:ext cx="5440680" cy="914400"/>
          </a:xfrm>
          <a:prstGeom prst="roundRect">
            <a:avLst>
              <a:gd name="adj" fmla="val 8000"/>
            </a:avLst>
          </a:prstGeom>
          <a:solidFill>
            <a:schemeClr val="bg2"/>
          </a:solidFill>
          <a:ln w="12700">
            <a:solidFill>
              <a:schemeClr val="bg2"/>
            </a:solidFill>
            <a:prstDash val="solid"/>
          </a:ln>
        </p:spPr>
      </p:sp>
      <p:sp>
        <p:nvSpPr>
          <p:cNvPr id="17" name="Text 15"/>
          <p:cNvSpPr txBox="1"/>
          <p:nvPr/>
        </p:nvSpPr>
        <p:spPr>
          <a:xfrm>
            <a:off x="6355080" y="1783080"/>
            <a:ext cx="1188720" cy="914400"/>
          </a:xfrm>
          <a:prstGeom prst="rect">
            <a:avLst/>
          </a:prstGeom>
          <a:noFill/>
          <a:ln/>
        </p:spPr>
        <p:txBody>
          <a:bodyPr wrap="square" rtlCol="0" anchor="ctr"/>
          <a:lstStyle/>
          <a:p>
            <a:pPr indent="0" marL="0">
              <a:buNone/>
            </a:pPr>
            <a:r>
              <a:rPr lang="en-US" sz="1500" b="1" dirty="0">
                <a:solidFill>
                  <a:schemeClr val="accent2"/>
                </a:solidFill>
              </a:rPr>
              <a:t>Séance 5</a:t>
            </a:r>
            <a:endParaRPr lang="en-US" sz="1500" dirty="0"/>
          </a:p>
        </p:txBody>
      </p:sp>
      <p:sp>
        <p:nvSpPr>
          <p:cNvPr id="18" name="Text 16"/>
          <p:cNvSpPr txBox="1"/>
          <p:nvPr/>
        </p:nvSpPr>
        <p:spPr>
          <a:xfrm>
            <a:off x="7543800" y="1783080"/>
            <a:ext cx="3931920" cy="914400"/>
          </a:xfrm>
          <a:prstGeom prst="rect">
            <a:avLst/>
          </a:prstGeom>
          <a:noFill/>
          <a:ln/>
        </p:spPr>
        <p:txBody>
          <a:bodyPr wrap="square" rtlCol="0" anchor="ctr"/>
          <a:lstStyle/>
          <a:p>
            <a:pPr indent="0" marL="0">
              <a:buNone/>
            </a:pPr>
            <a:r>
              <a:rPr lang="en-US" sz="1500" dirty="0">
                <a:solidFill>
                  <a:schemeClr val="tx1"/>
                </a:solidFill>
              </a:rPr>
              <a:t>Entretien, rappels, carburant et stock de pièces</a:t>
            </a:r>
            <a:endParaRPr lang="en-US" sz="1500" dirty="0"/>
          </a:p>
        </p:txBody>
      </p:sp>
      <p:sp>
        <p:nvSpPr>
          <p:cNvPr id="19" name="Shape 17"/>
          <p:cNvSpPr/>
          <p:nvPr/>
        </p:nvSpPr>
        <p:spPr>
          <a:xfrm>
            <a:off x="6172200" y="2880360"/>
            <a:ext cx="5440680" cy="914400"/>
          </a:xfrm>
          <a:prstGeom prst="roundRect">
            <a:avLst>
              <a:gd name="adj" fmla="val 8000"/>
            </a:avLst>
          </a:prstGeom>
          <a:solidFill>
            <a:schemeClr val="bg2"/>
          </a:solidFill>
          <a:ln w="12700">
            <a:solidFill>
              <a:schemeClr val="bg2"/>
            </a:solidFill>
            <a:prstDash val="solid"/>
          </a:ln>
        </p:spPr>
      </p:sp>
      <p:sp>
        <p:nvSpPr>
          <p:cNvPr id="20" name="Text 18"/>
          <p:cNvSpPr txBox="1"/>
          <p:nvPr/>
        </p:nvSpPr>
        <p:spPr>
          <a:xfrm>
            <a:off x="6355080" y="2880360"/>
            <a:ext cx="1188720" cy="914400"/>
          </a:xfrm>
          <a:prstGeom prst="rect">
            <a:avLst/>
          </a:prstGeom>
          <a:noFill/>
          <a:ln/>
        </p:spPr>
        <p:txBody>
          <a:bodyPr wrap="square" rtlCol="0" anchor="ctr"/>
          <a:lstStyle/>
          <a:p>
            <a:pPr indent="0" marL="0">
              <a:buNone/>
            </a:pPr>
            <a:r>
              <a:rPr lang="en-US" sz="1500" b="1" dirty="0">
                <a:solidFill>
                  <a:schemeClr val="accent2"/>
                </a:solidFill>
              </a:rPr>
              <a:t>Séance 6</a:t>
            </a:r>
            <a:endParaRPr lang="en-US" sz="1500" dirty="0"/>
          </a:p>
        </p:txBody>
      </p:sp>
      <p:sp>
        <p:nvSpPr>
          <p:cNvPr id="21" name="Text 19"/>
          <p:cNvSpPr txBox="1"/>
          <p:nvPr/>
        </p:nvSpPr>
        <p:spPr>
          <a:xfrm>
            <a:off x="7543800" y="2880360"/>
            <a:ext cx="3931920" cy="914400"/>
          </a:xfrm>
          <a:prstGeom prst="rect">
            <a:avLst/>
          </a:prstGeom>
          <a:noFill/>
          <a:ln/>
        </p:spPr>
        <p:txBody>
          <a:bodyPr wrap="square" rtlCol="0" anchor="ctr"/>
          <a:lstStyle/>
          <a:p>
            <a:pPr indent="0" marL="0">
              <a:buNone/>
            </a:pPr>
            <a:r>
              <a:rPr lang="en-US" sz="1500" dirty="0">
                <a:solidFill>
                  <a:schemeClr val="tx1"/>
                </a:solidFill>
              </a:rPr>
              <a:t>Suivi GPS, geofences et alertes</a:t>
            </a:r>
            <a:endParaRPr lang="en-US" sz="1500" dirty="0"/>
          </a:p>
        </p:txBody>
      </p:sp>
      <p:sp>
        <p:nvSpPr>
          <p:cNvPr id="22" name="Shape 20"/>
          <p:cNvSpPr/>
          <p:nvPr/>
        </p:nvSpPr>
        <p:spPr>
          <a:xfrm>
            <a:off x="6172200" y="3977640"/>
            <a:ext cx="5440680" cy="914400"/>
          </a:xfrm>
          <a:prstGeom prst="roundRect">
            <a:avLst>
              <a:gd name="adj" fmla="val 8000"/>
            </a:avLst>
          </a:prstGeom>
          <a:solidFill>
            <a:schemeClr val="bg2"/>
          </a:solidFill>
          <a:ln w="12700">
            <a:solidFill>
              <a:schemeClr val="bg2"/>
            </a:solidFill>
            <a:prstDash val="solid"/>
          </a:ln>
        </p:spPr>
      </p:sp>
      <p:sp>
        <p:nvSpPr>
          <p:cNvPr id="23" name="Text 21"/>
          <p:cNvSpPr txBox="1"/>
          <p:nvPr/>
        </p:nvSpPr>
        <p:spPr>
          <a:xfrm>
            <a:off x="6355080" y="3977640"/>
            <a:ext cx="1188720" cy="914400"/>
          </a:xfrm>
          <a:prstGeom prst="rect">
            <a:avLst/>
          </a:prstGeom>
          <a:noFill/>
          <a:ln/>
        </p:spPr>
        <p:txBody>
          <a:bodyPr wrap="square" rtlCol="0" anchor="ctr"/>
          <a:lstStyle/>
          <a:p>
            <a:pPr indent="0" marL="0">
              <a:buNone/>
            </a:pPr>
            <a:r>
              <a:rPr lang="en-US" sz="1500" b="1" dirty="0">
                <a:solidFill>
                  <a:schemeClr val="accent2"/>
                </a:solidFill>
              </a:rPr>
              <a:t>Séance 7</a:t>
            </a:r>
            <a:endParaRPr lang="en-US" sz="1500" dirty="0"/>
          </a:p>
        </p:txBody>
      </p:sp>
      <p:sp>
        <p:nvSpPr>
          <p:cNvPr id="24" name="Text 22"/>
          <p:cNvSpPr txBox="1"/>
          <p:nvPr/>
        </p:nvSpPr>
        <p:spPr>
          <a:xfrm>
            <a:off x="7543800" y="3977640"/>
            <a:ext cx="3931920" cy="914400"/>
          </a:xfrm>
          <a:prstGeom prst="rect">
            <a:avLst/>
          </a:prstGeom>
          <a:noFill/>
          <a:ln/>
        </p:spPr>
        <p:txBody>
          <a:bodyPr wrap="square" rtlCol="0" anchor="ctr"/>
          <a:lstStyle/>
          <a:p>
            <a:pPr indent="0" marL="0">
              <a:buNone/>
            </a:pPr>
            <a:r>
              <a:rPr lang="en-US" sz="1500" dirty="0">
                <a:solidFill>
                  <a:schemeClr val="tx1"/>
                </a:solidFill>
              </a:rPr>
              <a:t>Permissions et accompagnement des nouveaux agents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DTI Formation">
  <a:themeElements>
    <a:clrScheme name="DTI Formation">
      <a:dk1>
        <a:srgbClr val="1B2430"/>
      </a:dk1>
      <a:lt1>
        <a:srgbClr val="FFFFFF"/>
      </a:lt1>
      <a:dk2>
        <a:srgbClr val="24364A"/>
      </a:dk2>
      <a:lt2>
        <a:srgbClr val="EEF1F4"/>
      </a:lt2>
      <a:accent1>
        <a:srgbClr val="E8A317"/>
      </a:accent1>
      <a:accent2>
        <a:srgbClr val="2E6F8E"/>
      </a:accent2>
      <a:accent3>
        <a:srgbClr val="4E8A5B"/>
      </a:accent3>
      <a:accent4>
        <a:srgbClr val="B5482F"/>
      </a:accent4>
      <a:accent5>
        <a:srgbClr val="7A8796"/>
      </a:accent5>
      <a:accent6>
        <a:srgbClr val="C9D3DD"/>
      </a:accent6>
      <a:hlink>
        <a:srgbClr val="2E6F8E"/>
      </a:hlink>
      <a:folHlink>
        <a:srgbClr val="7A8796"/>
      </a:folHlink>
    </a:clrScheme>
    <a:fontScheme name="DTI Form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à Division Terrestre Internationale</dc:title>
  <dc:subject>PptxGenJS Presentation</dc:subject>
  <dc:creator>PptxGenJS</dc:creator>
  <cp:lastModifiedBy>PptxGenJS</cp:lastModifiedBy>
  <cp:revision>1</cp:revision>
  <dcterms:created xsi:type="dcterms:W3CDTF">2026-10-28T23:41:15Z</dcterms:created>
  <dcterms:modified xsi:type="dcterms:W3CDTF">2026-10-28T23:41:15Z</dcterms:modified>
</cp:coreProperties>
</file>