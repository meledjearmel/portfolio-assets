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201aa38-1751-6044-538e-4ae649c4f65e}">
          <p14:sldIdLst>
            <p14:sldId id="256"/>
            <p14:sldId id="257"/>
            <p14:sldId id="258"/>
            <p14:sldId id="259"/>
          </p14:sldIdLst>
        </p14:section>
        <p14:section name="Pilotage" id="{a00fd506-29f9-5886-3de6-6fc160acddb9}">
          <p14:sldIdLst>
            <p14:sldId id="260"/>
          </p14:sldIdLst>
        </p14:section>
        <p14:section name="Flotte" id="{b7ac636a-5fab-d73e-421d-b032f0a8fc2a}">
          <p14:sldIdLst>
            <p14:sldId id="261"/>
            <p14:sldId id="262"/>
            <p14:sldId id="263"/>
          </p14:sldIdLst>
        </p14:section>
        <p14:section name="Activité commerciale" id="{4c788637-952e-76dc-7866-dddd387815c6}">
          <p14:sldIdLst>
            <p14:sldId id="264"/>
          </p14:sldIdLst>
        </p14:section>
        <p14:section name="Exploitation" id="{e4f8fa35-a459-75d4-fc4b-45cc18c3340b}">
          <p14:sldIdLst>
            <p14:sldId id="265"/>
            <p14:sldId id="266"/>
          </p14:sldIdLst>
        </p14:section>
        <p14:section name="Finances et pilotage" id="{355272b9-0a35-041f-b47e-a79fa62cadf9}">
          <p14:sldIdLst>
            <p14:sldId id="267"/>
            <p14:sldId id="268"/>
          </p14:sldIdLst>
        </p14:section>
        <p14:section name="Administration" id="{02f1f016-95e0-93ee-d842-269b577831e7}">
          <p14:sldIdLst>
            <p14:sldId id="269"/>
            <p14:sldId id="270"/>
          </p14:sldIdLst>
        </p14:section>
        <p14:section name="Conclusion" id="{9f1cb40e-e4ad-7c12-0c8a-098e0f8dcf86}">
          <p14:sldIdLst>
            <p14:sldId id="271"/>
            <p14:sldId id="272"/>
            <p14:sldId id="273"/>
            <p14:sldId id="274"/>
          </p14:sldIdLst>
        </p14:section>
        <p14:section name="Réserve" id="{821c97f8-9abd-406f-6790-0b9ab7ad1e94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Accueillir les participants (agents et direction). Annoncer le déroulé : présentation du logiciel (ce qu'il sait faire, ses modules, comment et pourquoi l'utiliser), puis démonstration en direct d'un petit circuit de travail, puis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Partir du quotidien des participants : demander comment ils savent aujourd'hui quel camion est disponible, quand expire une assurance, ou combien a coûté un véhicule le mois dernier. Le logiciel répond à ces trois besoins : centraliser, alerter, chiffrer.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la carte du logiciel : 18 modules dans le menu latéral, regroupés ici en 6 familles pour faciliter la lecture. Les libellés restent en anglais dans l'application : on les garde tels quels pour que chacun s'y retrouve à l'écran. Chaque famille est détaillée dans les diapositives suivantes.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Raconter le parcours d'un trajet comme une histoire : un client appelle, on réserve un camion disponible avec un chauffeur, le camion roule et on le suit, il fait le plein, il passe à l'entretien, on encaisse, puis on analyse la rentabilité. Annoncer que chaque étape correspond à un module présenté ensuite.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 tableau de bord en direct pendant la démonstration. Insister sur le calendrier Availability : c'est le premier réflexe avant de planifier un trajet.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Points à montrer : la colonne des dates d'expiration en rouge, l'import en masse (Bulk Import), et les boutons d'export présents sur toutes les listes du logiciel.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le lien avec la sécurité et la conformité : un permis expiré est affiché en rouge dans la liste. Les fournisseurs de véhicules (Vehicle Vendor's) concernent les véhicules loués à des partenaires.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Préciser que le suivi GPS nécessite un boîtier GPS relié à chaque véhicule (synchronisation Traccar, visible sur le tableau de bord). Montrer la carte de l'historique si un véhicule est équipé.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la souplesse de facturation (encart en bas). La réservation peut être envoyée au client par e-mail ou SMS. Ce module servira de point de départ à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qu'un entretien consomme des pièces du stock et peut notifier des membres de l'équipe. Les rappels apparaissent aussi sur le tableau de bord.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compteur kilométrique saisi à chaque plein permet de comparer consommation et distance. Le rapport Fuel du module Reports reprend ces données.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liste des transactions filtrée par période, avec le total des débits et des crédits. Les catégories sont personnalisables : à définir avec la direction financière.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la direction : les rapports Top véhicules et Top itinéraires montrent où l'entreprise gagne et perd de l'argent. Pour les agents : les rapports remplacent les synthèses faites à la main.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droits se règlent finement, module par module et action par action. Les profils (exploitation, finance, direction…) seront définis avec l'organisation avant la mise en service.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paramètres sont réservés à l'administrateur. Mentionner aussi la configuration de la carte (MAP API) et du GPS (Traccar Config).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de respiration avant la synthèse : laisser les chiffres apparaître un à un et les commenter brièvement.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Synthèse orientée bénéfices, avant la démonstration. Laisser la direction et les agents réagir : quel bénéfice compte le plus pour eux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DÉROULÉ : 1) créer un client fictif ; 2) créer un trajet pour ce client avec un véhicule et un chauffeur, choisir un mode de facturation ; 3) enregistrer un plein pour ce véhicule ; 4) enregistrer la transaction de revenu du trajet (catégorie Trip Income) ; 5) revenir au tableau de bord et générer un rapport sur la période. Utiliser uniquement des données de test, et les supprimer après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Recueillir les questions et les besoins : modules prioritaires, profils de droits à créer, données à importer (véhicules, chauffeurs), formation des agents.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DIAPOSITIVE MASQUÉE : elle ne s'affiche pas pendant le diaporama. Pour l'afficher si la direction pose la question, taper 20 puis Entrée pendant le diaporama. Ne présenter que ces montants, sans autres frais.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SOMBRE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PACT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CONTENU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PAC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0"/>
            <a:ext cx="201168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Division Terrestre Internationale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slideLayout" Target="../slideLayouts/slideLayout4.xml"/><Relationship Id="rId1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822960"/>
            <a:ext cx="3566160" cy="3566160"/>
          </a:xfrm>
          <a:prstGeom prst="ellipse">
            <a:avLst/>
          </a:prstGeom>
          <a:solidFill>
            <a:schemeClr val="accent1">
              <a:alpha val="45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3" name="anim1-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600200"/>
            <a:ext cx="2011680" cy="20116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417320"/>
            <a:ext cx="109728" cy="10972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3258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PRÉSENTATION DU LOGICIEL</a:t>
            </a:r>
            <a:endParaRPr lang="en-US" sz="1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Division Terrestre Internationale</a:t>
            </a:r>
            <a:endParaRPr lang="en-US" sz="4000" dirty="0"/>
          </a:p>
        </p:txBody>
      </p:sp>
      <p:sp>
        <p:nvSpPr>
          <p:cNvPr id="7" name="anim2-2"/>
          <p:cNvSpPr txBox="1"/>
          <p:nvPr/>
        </p:nvSpPr>
        <p:spPr>
          <a:xfrm>
            <a:off x="731520" y="3703320"/>
            <a:ext cx="6583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Gestion de la flotte, des chauffeurs, des trajets et des finances</a:t>
            </a:r>
            <a:endParaRPr lang="en-US" sz="2000" dirty="0"/>
          </a:p>
        </p:txBody>
      </p:sp>
      <p:sp>
        <p:nvSpPr>
          <p:cNvPr id="8" name="anim3-3"/>
          <p:cNvSpPr/>
          <p:nvPr/>
        </p:nvSpPr>
        <p:spPr>
          <a:xfrm>
            <a:off x="731520" y="4937760"/>
            <a:ext cx="640080" cy="64008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anim3-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941" y="5104181"/>
            <a:ext cx="307238" cy="307238"/>
          </a:xfrm>
          <a:prstGeom prst="rect">
            <a:avLst/>
          </a:prstGeom>
        </p:spPr>
      </p:pic>
      <p:sp>
        <p:nvSpPr>
          <p:cNvPr id="10" name="anim3-5"/>
          <p:cNvSpPr txBox="1"/>
          <p:nvPr/>
        </p:nvSpPr>
        <p:spPr>
          <a:xfrm>
            <a:off x="1554480" y="48463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PRÉSENTÉ PAR</a:t>
            </a:r>
            <a:endParaRPr lang="en-US" sz="15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Armel Meledje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Développeur Senior – Ingénieur de conception</a:t>
            </a:r>
            <a:endParaRPr lang="en-US" sz="1500" dirty="0"/>
          </a:p>
        </p:txBody>
      </p:sp>
      <p:sp>
        <p:nvSpPr>
          <p:cNvPr id="11" name="anim4-6"/>
          <p:cNvSpPr/>
          <p:nvPr/>
        </p:nvSpPr>
        <p:spPr>
          <a:xfrm>
            <a:off x="5623560" y="4937760"/>
            <a:ext cx="0" cy="822960"/>
          </a:xfrm>
          <a:prstGeom prst="line">
            <a:avLst/>
          </a:prstGeom>
          <a:noFill/>
          <a:ln w="12700">
            <a:solidFill>
              <a:srgbClr val="A9BCEB">
                <a:alpha val="50000"/>
              </a:srgbClr>
            </a:solidFill>
            <a:prstDash val="solid"/>
          </a:ln>
        </p:spPr>
      </p:sp>
      <p:sp>
        <p:nvSpPr>
          <p:cNvPr id="12" name="anim4-7"/>
          <p:cNvSpPr/>
          <p:nvPr/>
        </p:nvSpPr>
        <p:spPr>
          <a:xfrm>
            <a:off x="5852160" y="4937760"/>
            <a:ext cx="640080" cy="64008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anim4-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8581" y="5104181"/>
            <a:ext cx="307238" cy="307238"/>
          </a:xfrm>
          <a:prstGeom prst="rect">
            <a:avLst/>
          </a:prstGeom>
        </p:spPr>
      </p:pic>
      <p:sp>
        <p:nvSpPr>
          <p:cNvPr id="14" name="anim4-9"/>
          <p:cNvSpPr txBox="1"/>
          <p:nvPr/>
        </p:nvSpPr>
        <p:spPr>
          <a:xfrm>
            <a:off x="6675120" y="48463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2"/>
                </a:solidFill>
              </a:rPr>
              <a:t>DATE</a:t>
            </a:r>
            <a:endParaRPr lang="en-US" sz="15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Vendredi 30 octobre 2026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0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Pourquoi ce logiciel 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7" name="anim1-10"/>
          <p:cNvSpPr txBox="1"/>
          <p:nvPr/>
        </p:nvSpPr>
        <p:spPr>
          <a:xfrm>
            <a:off x="548640" y="137160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Aujourd'hui</a:t>
            </a:r>
            <a:endParaRPr lang="en-US" sz="1900" dirty="0"/>
          </a:p>
        </p:txBody>
      </p:sp>
      <p:sp>
        <p:nvSpPr>
          <p:cNvPr id="8" name="anim2-11"/>
          <p:cNvSpPr/>
          <p:nvPr/>
        </p:nvSpPr>
        <p:spPr>
          <a:xfrm>
            <a:off x="548640" y="187452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9" name="anim2-12"/>
          <p:cNvSpPr/>
          <p:nvPr/>
        </p:nvSpPr>
        <p:spPr>
          <a:xfrm>
            <a:off x="749808" y="207568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anim2-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218334"/>
            <a:ext cx="263347" cy="263347"/>
          </a:xfrm>
          <a:prstGeom prst="rect">
            <a:avLst/>
          </a:prstGeom>
        </p:spPr>
      </p:pic>
      <p:sp>
        <p:nvSpPr>
          <p:cNvPr id="11" name="anim2-14"/>
          <p:cNvSpPr txBox="1"/>
          <p:nvPr/>
        </p:nvSpPr>
        <p:spPr>
          <a:xfrm>
            <a:off x="1444752" y="2002536"/>
            <a:ext cx="40690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Informations dispersées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Cahiers, tableurs, appels : difficile de savoir où est un camion et qui le conduit.</a:t>
            </a:r>
            <a:endParaRPr lang="en-US" sz="1500" dirty="0"/>
          </a:p>
        </p:txBody>
      </p:sp>
      <p:sp>
        <p:nvSpPr>
          <p:cNvPr id="12" name="anim3-15"/>
          <p:cNvSpPr/>
          <p:nvPr/>
        </p:nvSpPr>
        <p:spPr>
          <a:xfrm>
            <a:off x="548640" y="333756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3" name="anim3-16"/>
          <p:cNvSpPr/>
          <p:nvPr/>
        </p:nvSpPr>
        <p:spPr>
          <a:xfrm>
            <a:off x="749808" y="35387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anim3-1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454" y="3681374"/>
            <a:ext cx="263347" cy="263347"/>
          </a:xfrm>
          <a:prstGeom prst="rect">
            <a:avLst/>
          </a:prstGeom>
        </p:spPr>
      </p:pic>
      <p:sp>
        <p:nvSpPr>
          <p:cNvPr id="15" name="anim3-18"/>
          <p:cNvSpPr txBox="1"/>
          <p:nvPr/>
        </p:nvSpPr>
        <p:spPr>
          <a:xfrm>
            <a:off x="1444752" y="3465576"/>
            <a:ext cx="40690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Échéances oubliées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Assurances, immatriculations et permis expirés découverts trop tard.</a:t>
            </a:r>
            <a:endParaRPr lang="en-US" sz="1500" dirty="0"/>
          </a:p>
        </p:txBody>
      </p:sp>
      <p:sp>
        <p:nvSpPr>
          <p:cNvPr id="16" name="anim4-19"/>
          <p:cNvSpPr/>
          <p:nvPr/>
        </p:nvSpPr>
        <p:spPr>
          <a:xfrm>
            <a:off x="548640" y="4800600"/>
            <a:ext cx="512064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7" name="anim4-20"/>
          <p:cNvSpPr/>
          <p:nvPr/>
        </p:nvSpPr>
        <p:spPr>
          <a:xfrm>
            <a:off x="749808" y="500176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anim4-2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5144414"/>
            <a:ext cx="263347" cy="263347"/>
          </a:xfrm>
          <a:prstGeom prst="rect">
            <a:avLst/>
          </a:prstGeom>
        </p:spPr>
      </p:pic>
      <p:sp>
        <p:nvSpPr>
          <p:cNvPr id="19" name="anim4-22"/>
          <p:cNvSpPr txBox="1"/>
          <p:nvPr/>
        </p:nvSpPr>
        <p:spPr>
          <a:xfrm>
            <a:off x="1444752" y="4928616"/>
            <a:ext cx="406908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Coûts mal suivis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Carburant, entretien et pièces difficiles à rattacher à chaque véhicule.</a:t>
            </a:r>
            <a:endParaRPr lang="en-US" sz="1500" dirty="0"/>
          </a:p>
        </p:txBody>
      </p:sp>
      <p:sp>
        <p:nvSpPr>
          <p:cNvPr id="20" name="anim5-23"/>
          <p:cNvSpPr/>
          <p:nvPr/>
        </p:nvSpPr>
        <p:spPr>
          <a:xfrm>
            <a:off x="5870448" y="3520440"/>
            <a:ext cx="502920" cy="502920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nim6-24"/>
          <p:cNvSpPr txBox="1"/>
          <p:nvPr/>
        </p:nvSpPr>
        <p:spPr>
          <a:xfrm>
            <a:off x="6583680" y="137160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Avec Division Terrestre Internationale</a:t>
            </a:r>
            <a:endParaRPr lang="en-US" sz="1900" dirty="0"/>
          </a:p>
        </p:txBody>
      </p:sp>
      <p:sp>
        <p:nvSpPr>
          <p:cNvPr id="22" name="anim7-25"/>
          <p:cNvSpPr/>
          <p:nvPr/>
        </p:nvSpPr>
        <p:spPr>
          <a:xfrm>
            <a:off x="6583680" y="1874520"/>
            <a:ext cx="507492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3" name="anim7-26"/>
          <p:cNvSpPr/>
          <p:nvPr/>
        </p:nvSpPr>
        <p:spPr>
          <a:xfrm>
            <a:off x="6784848" y="207568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anim7-2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7494" y="2218334"/>
            <a:ext cx="263347" cy="263347"/>
          </a:xfrm>
          <a:prstGeom prst="rect">
            <a:avLst/>
          </a:prstGeom>
        </p:spPr>
      </p:pic>
      <p:sp>
        <p:nvSpPr>
          <p:cNvPr id="25" name="anim7-28"/>
          <p:cNvSpPr txBox="1"/>
          <p:nvPr/>
        </p:nvSpPr>
        <p:spPr>
          <a:xfrm>
            <a:off x="7479792" y="200253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Tout au même endroit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trajets, clients, carburant, entretien et finances.</a:t>
            </a:r>
            <a:endParaRPr lang="en-US" sz="1500" dirty="0"/>
          </a:p>
        </p:txBody>
      </p:sp>
      <p:sp>
        <p:nvSpPr>
          <p:cNvPr id="26" name="anim8-29"/>
          <p:cNvSpPr/>
          <p:nvPr/>
        </p:nvSpPr>
        <p:spPr>
          <a:xfrm>
            <a:off x="6583680" y="3337560"/>
            <a:ext cx="507492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7" name="anim8-30"/>
          <p:cNvSpPr/>
          <p:nvPr/>
        </p:nvSpPr>
        <p:spPr>
          <a:xfrm>
            <a:off x="6784848" y="35387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8" name="anim8-3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7494" y="3681374"/>
            <a:ext cx="263347" cy="263347"/>
          </a:xfrm>
          <a:prstGeom prst="rect">
            <a:avLst/>
          </a:prstGeom>
        </p:spPr>
      </p:pic>
      <p:sp>
        <p:nvSpPr>
          <p:cNvPr id="29" name="anim8-32"/>
          <p:cNvSpPr txBox="1"/>
          <p:nvPr/>
        </p:nvSpPr>
        <p:spPr>
          <a:xfrm>
            <a:off x="7479792" y="346557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Alertes et 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Documents expirés signalés, rappels d'entretien, tableau de bord du jour.</a:t>
            </a:r>
            <a:endParaRPr lang="en-US" sz="1500" dirty="0"/>
          </a:p>
        </p:txBody>
      </p:sp>
      <p:sp>
        <p:nvSpPr>
          <p:cNvPr id="30" name="anim9-33"/>
          <p:cNvSpPr/>
          <p:nvPr/>
        </p:nvSpPr>
        <p:spPr>
          <a:xfrm>
            <a:off x="6583680" y="4800600"/>
            <a:ext cx="5074920" cy="128016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31" name="anim9-34"/>
          <p:cNvSpPr/>
          <p:nvPr/>
        </p:nvSpPr>
        <p:spPr>
          <a:xfrm>
            <a:off x="6784848" y="500176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2" name="anim9-3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27494" y="5144414"/>
            <a:ext cx="263347" cy="263347"/>
          </a:xfrm>
          <a:prstGeom prst="rect">
            <a:avLst/>
          </a:prstGeom>
        </p:spPr>
      </p:pic>
      <p:sp>
        <p:nvSpPr>
          <p:cNvPr id="33" name="anim9-36"/>
          <p:cNvSpPr txBox="1"/>
          <p:nvPr/>
        </p:nvSpPr>
        <p:spPr>
          <a:xfrm>
            <a:off x="7479792" y="492861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Décisions chiffrées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Revenus, dépenses et rapports par véhicule, chauffeur ou itinéraire.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9" grpId="0" animBg="1"/>
      <p:bldP spid="21" grpId="0" animBg="1"/>
      <p:bldP spid="25" grpId="0" animBg="1"/>
      <p:bldP spid="29" grpId="0" animBg="1"/>
      <p:bldP spid="3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18 modules, 6 grandes familles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7" name="anim1-37"/>
          <p:cNvSpPr/>
          <p:nvPr/>
        </p:nvSpPr>
        <p:spPr>
          <a:xfrm>
            <a:off x="411480" y="2057400"/>
            <a:ext cx="2743200" cy="2743200"/>
          </a:xfrm>
          <a:prstGeom prst="ellipse">
            <a:avLst/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anim1-38"/>
          <p:cNvSpPr/>
          <p:nvPr/>
        </p:nvSpPr>
        <p:spPr>
          <a:xfrm>
            <a:off x="685800" y="2331720"/>
            <a:ext cx="2194560" cy="21945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anim1-39"/>
          <p:cNvSpPr txBox="1"/>
          <p:nvPr/>
        </p:nvSpPr>
        <p:spPr>
          <a:xfrm>
            <a:off x="685800" y="2331720"/>
            <a:ext cx="21945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18</a:t>
            </a:r>
            <a:endParaRPr lang="en-US" sz="15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accent2"/>
                </a:solidFill>
              </a:rPr>
              <a:t>modules</a:t>
            </a:r>
            <a:endParaRPr lang="en-US" sz="1500" dirty="0"/>
          </a:p>
        </p:txBody>
      </p:sp>
      <p:sp>
        <p:nvSpPr>
          <p:cNvPr id="10" name="anim2-40"/>
          <p:cNvSpPr/>
          <p:nvPr/>
        </p:nvSpPr>
        <p:spPr>
          <a:xfrm>
            <a:off x="3474720" y="14630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1" name="anim2-41"/>
          <p:cNvSpPr/>
          <p:nvPr/>
        </p:nvSpPr>
        <p:spPr>
          <a:xfrm>
            <a:off x="3675888" y="16642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2" name="anim2-4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534" y="1806854"/>
            <a:ext cx="263347" cy="263347"/>
          </a:xfrm>
          <a:prstGeom prst="rect">
            <a:avLst/>
          </a:prstGeom>
        </p:spPr>
      </p:pic>
      <p:sp>
        <p:nvSpPr>
          <p:cNvPr id="13" name="anim2-43"/>
          <p:cNvSpPr txBox="1"/>
          <p:nvPr/>
        </p:nvSpPr>
        <p:spPr>
          <a:xfrm>
            <a:off x="4370832" y="15910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Pilotage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Dashboard · Availability · Reports</a:t>
            </a:r>
            <a:endParaRPr lang="en-US" sz="1500" dirty="0"/>
          </a:p>
        </p:txBody>
      </p:sp>
      <p:sp>
        <p:nvSpPr>
          <p:cNvPr id="14" name="anim3-44"/>
          <p:cNvSpPr/>
          <p:nvPr/>
        </p:nvSpPr>
        <p:spPr>
          <a:xfrm>
            <a:off x="7589520" y="14630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5" name="anim3-45"/>
          <p:cNvSpPr/>
          <p:nvPr/>
        </p:nvSpPr>
        <p:spPr>
          <a:xfrm>
            <a:off x="7790688" y="16642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anim3-4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3334" y="1806854"/>
            <a:ext cx="263347" cy="263347"/>
          </a:xfrm>
          <a:prstGeom prst="rect">
            <a:avLst/>
          </a:prstGeom>
        </p:spPr>
      </p:pic>
      <p:sp>
        <p:nvSpPr>
          <p:cNvPr id="17" name="anim3-47"/>
          <p:cNvSpPr txBox="1"/>
          <p:nvPr/>
        </p:nvSpPr>
        <p:spPr>
          <a:xfrm>
            <a:off x="8485632" y="15910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Flotte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Vehicle's · Vehicle Vendor's · Tracking · Geofence</a:t>
            </a:r>
            <a:endParaRPr lang="en-US" sz="1500" dirty="0"/>
          </a:p>
        </p:txBody>
      </p:sp>
      <p:sp>
        <p:nvSpPr>
          <p:cNvPr id="18" name="anim4-48"/>
          <p:cNvSpPr/>
          <p:nvPr/>
        </p:nvSpPr>
        <p:spPr>
          <a:xfrm>
            <a:off x="3474720" y="30632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9" name="anim4-49"/>
          <p:cNvSpPr/>
          <p:nvPr/>
        </p:nvSpPr>
        <p:spPr>
          <a:xfrm>
            <a:off x="3675888" y="32644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anim4-5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8534" y="3407054"/>
            <a:ext cx="263347" cy="263347"/>
          </a:xfrm>
          <a:prstGeom prst="rect">
            <a:avLst/>
          </a:prstGeom>
        </p:spPr>
      </p:pic>
      <p:sp>
        <p:nvSpPr>
          <p:cNvPr id="21" name="anim4-51"/>
          <p:cNvSpPr txBox="1"/>
          <p:nvPr/>
        </p:nvSpPr>
        <p:spPr>
          <a:xfrm>
            <a:off x="4370832" y="31912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Personnes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Driver's · Employee</a:t>
            </a:r>
            <a:endParaRPr lang="en-US" sz="1500" dirty="0"/>
          </a:p>
        </p:txBody>
      </p:sp>
      <p:sp>
        <p:nvSpPr>
          <p:cNvPr id="22" name="anim5-52"/>
          <p:cNvSpPr/>
          <p:nvPr/>
        </p:nvSpPr>
        <p:spPr>
          <a:xfrm>
            <a:off x="7589520" y="30632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3" name="anim5-53"/>
          <p:cNvSpPr/>
          <p:nvPr/>
        </p:nvSpPr>
        <p:spPr>
          <a:xfrm>
            <a:off x="7790688" y="32644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anim5-5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3334" y="3407054"/>
            <a:ext cx="263347" cy="263347"/>
          </a:xfrm>
          <a:prstGeom prst="rect">
            <a:avLst/>
          </a:prstGeom>
        </p:spPr>
      </p:pic>
      <p:sp>
        <p:nvSpPr>
          <p:cNvPr id="25" name="anim5-55"/>
          <p:cNvSpPr txBox="1"/>
          <p:nvPr/>
        </p:nvSpPr>
        <p:spPr>
          <a:xfrm>
            <a:off x="8485632" y="31912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Activité commerciale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Trips · Customer · Coupon Management</a:t>
            </a:r>
            <a:endParaRPr lang="en-US" sz="1500" dirty="0"/>
          </a:p>
        </p:txBody>
      </p:sp>
      <p:sp>
        <p:nvSpPr>
          <p:cNvPr id="26" name="anim6-56"/>
          <p:cNvSpPr/>
          <p:nvPr/>
        </p:nvSpPr>
        <p:spPr>
          <a:xfrm>
            <a:off x="3474720" y="46634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7" name="anim6-57"/>
          <p:cNvSpPr/>
          <p:nvPr/>
        </p:nvSpPr>
        <p:spPr>
          <a:xfrm>
            <a:off x="3675888" y="4864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8" name="anim6-5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8534" y="5007254"/>
            <a:ext cx="263347" cy="263347"/>
          </a:xfrm>
          <a:prstGeom prst="rect">
            <a:avLst/>
          </a:prstGeom>
        </p:spPr>
      </p:pic>
      <p:sp>
        <p:nvSpPr>
          <p:cNvPr id="29" name="anim6-59"/>
          <p:cNvSpPr txBox="1"/>
          <p:nvPr/>
        </p:nvSpPr>
        <p:spPr>
          <a:xfrm>
            <a:off x="4370832" y="47914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Exploitation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Maintenance · Parts Stock · Fuel · Reminder</a:t>
            </a:r>
            <a:endParaRPr lang="en-US" sz="1500" dirty="0"/>
          </a:p>
        </p:txBody>
      </p:sp>
      <p:sp>
        <p:nvSpPr>
          <p:cNvPr id="30" name="anim7-60"/>
          <p:cNvSpPr/>
          <p:nvPr/>
        </p:nvSpPr>
        <p:spPr>
          <a:xfrm>
            <a:off x="7589520" y="466344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31" name="anim7-61"/>
          <p:cNvSpPr/>
          <p:nvPr/>
        </p:nvSpPr>
        <p:spPr>
          <a:xfrm>
            <a:off x="7790688" y="4864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2" name="anim7-6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3334" y="5007254"/>
            <a:ext cx="263347" cy="263347"/>
          </a:xfrm>
          <a:prstGeom prst="rect">
            <a:avLst/>
          </a:prstGeom>
        </p:spPr>
      </p:pic>
      <p:sp>
        <p:nvSpPr>
          <p:cNvPr id="33" name="anim7-63"/>
          <p:cNvSpPr txBox="1"/>
          <p:nvPr/>
        </p:nvSpPr>
        <p:spPr>
          <a:xfrm>
            <a:off x="8485632" y="4791456"/>
            <a:ext cx="288036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Finances et système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Accounts · Setting's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7" grpId="0" animBg="1"/>
      <p:bldP spid="21" grpId="0" animBg="1"/>
      <p:bldP spid="25" grpId="0" animBg="1"/>
      <p:bldP spid="29" grpId="0" animBg="1"/>
      <p:bldP spid="3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Un trajet, du premier appel au dernier franc</a:t>
            </a:r>
            <a:endParaRPr lang="en-US" sz="3200" dirty="0"/>
          </a:p>
        </p:txBody>
      </p:sp>
      <p:sp>
        <p:nvSpPr>
          <p:cNvPr id="3" name="anim1-64"/>
          <p:cNvSpPr txBox="1"/>
          <p:nvPr/>
        </p:nvSpPr>
        <p:spPr>
          <a:xfrm>
            <a:off x="731520" y="1508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Chaque étape du parcours d'un camion a sa place dans le logiciel.</a:t>
            </a:r>
            <a:endParaRPr lang="en-US" sz="1800" dirty="0"/>
          </a:p>
        </p:txBody>
      </p:sp>
      <p:sp>
        <p:nvSpPr>
          <p:cNvPr id="4" name="anim1-65"/>
          <p:cNvSpPr/>
          <p:nvPr/>
        </p:nvSpPr>
        <p:spPr>
          <a:xfrm>
            <a:off x="822960" y="3520440"/>
            <a:ext cx="10607040" cy="0"/>
          </a:xfrm>
          <a:prstGeom prst="line">
            <a:avLst/>
          </a:prstGeom>
          <a:noFill/>
          <a:ln w="381000">
            <a:solidFill>
              <a:srgbClr val="3A4A82"/>
            </a:solidFill>
            <a:prstDash val="solid"/>
          </a:ln>
        </p:spPr>
      </p:sp>
      <p:sp>
        <p:nvSpPr>
          <p:cNvPr id="5" name="anim1-66"/>
          <p:cNvSpPr/>
          <p:nvPr/>
        </p:nvSpPr>
        <p:spPr>
          <a:xfrm>
            <a:off x="914400" y="3520440"/>
            <a:ext cx="10424160" cy="0"/>
          </a:xfrm>
          <a:prstGeom prst="line">
            <a:avLst/>
          </a:prstGeom>
          <a:noFill/>
          <a:ln w="25400">
            <a:solidFill>
              <a:srgbClr val="A9BCEB"/>
            </a:solidFill>
            <a:prstDash val="dash"/>
          </a:ln>
        </p:spPr>
      </p:sp>
      <p:sp>
        <p:nvSpPr>
          <p:cNvPr id="6" name="anim2-67"/>
          <p:cNvSpPr/>
          <p:nvPr/>
        </p:nvSpPr>
        <p:spPr>
          <a:xfrm>
            <a:off x="758952" y="2953512"/>
            <a:ext cx="1133856" cy="1133856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7" name="anim2-6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3255264"/>
            <a:ext cx="530352" cy="530352"/>
          </a:xfrm>
          <a:prstGeom prst="rect">
            <a:avLst/>
          </a:prstGeom>
        </p:spPr>
      </p:pic>
      <p:sp>
        <p:nvSpPr>
          <p:cNvPr id="8" name="anim2-69"/>
          <p:cNvSpPr txBox="1"/>
          <p:nvPr/>
        </p:nvSpPr>
        <p:spPr>
          <a:xfrm>
            <a:off x="411480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Réserver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Client, véhicule disponible, chauffeur</a:t>
            </a:r>
            <a:endParaRPr lang="en-US" sz="1500" dirty="0"/>
          </a:p>
        </p:txBody>
      </p:sp>
      <p:sp>
        <p:nvSpPr>
          <p:cNvPr id="9" name="anim3-70"/>
          <p:cNvSpPr/>
          <p:nvPr/>
        </p:nvSpPr>
        <p:spPr>
          <a:xfrm>
            <a:off x="2660904" y="2953512"/>
            <a:ext cx="1133856" cy="1133856"/>
          </a:xfrm>
          <a:prstGeom prst="ellipse">
            <a:avLst/>
          </a:prstGeom>
          <a:solidFill>
            <a:schemeClr val="accent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10" name="anim3-7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2656" y="3255264"/>
            <a:ext cx="530352" cy="530352"/>
          </a:xfrm>
          <a:prstGeom prst="rect">
            <a:avLst/>
          </a:prstGeom>
        </p:spPr>
      </p:pic>
      <p:sp>
        <p:nvSpPr>
          <p:cNvPr id="11" name="anim3-72"/>
          <p:cNvSpPr txBox="1"/>
          <p:nvPr/>
        </p:nvSpPr>
        <p:spPr>
          <a:xfrm>
            <a:off x="2313432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Rouler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Suivi GPS, zones, statut du trajet</a:t>
            </a:r>
            <a:endParaRPr lang="en-US" sz="1500" dirty="0"/>
          </a:p>
        </p:txBody>
      </p:sp>
      <p:sp>
        <p:nvSpPr>
          <p:cNvPr id="12" name="anim4-73"/>
          <p:cNvSpPr/>
          <p:nvPr/>
        </p:nvSpPr>
        <p:spPr>
          <a:xfrm>
            <a:off x="4562856" y="2953512"/>
            <a:ext cx="1133856" cy="1133856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13" name="anim4-7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4608" y="3255264"/>
            <a:ext cx="530352" cy="530352"/>
          </a:xfrm>
          <a:prstGeom prst="rect">
            <a:avLst/>
          </a:prstGeom>
        </p:spPr>
      </p:pic>
      <p:sp>
        <p:nvSpPr>
          <p:cNvPr id="14" name="anim4-75"/>
          <p:cNvSpPr txBox="1"/>
          <p:nvPr/>
        </p:nvSpPr>
        <p:spPr>
          <a:xfrm>
            <a:off x="4215384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Alimenter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Pleins rattachés au véhicule</a:t>
            </a:r>
            <a:endParaRPr lang="en-US" sz="1500" dirty="0"/>
          </a:p>
        </p:txBody>
      </p:sp>
      <p:sp>
        <p:nvSpPr>
          <p:cNvPr id="15" name="anim5-76"/>
          <p:cNvSpPr/>
          <p:nvPr/>
        </p:nvSpPr>
        <p:spPr>
          <a:xfrm>
            <a:off x="6464808" y="2953512"/>
            <a:ext cx="1133856" cy="1133856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16" name="anim5-7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0" y="3255264"/>
            <a:ext cx="530352" cy="530352"/>
          </a:xfrm>
          <a:prstGeom prst="rect">
            <a:avLst/>
          </a:prstGeom>
        </p:spPr>
      </p:pic>
      <p:sp>
        <p:nvSpPr>
          <p:cNvPr id="17" name="anim5-78"/>
          <p:cNvSpPr txBox="1"/>
          <p:nvPr/>
        </p:nvSpPr>
        <p:spPr>
          <a:xfrm>
            <a:off x="6117336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Entretenir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Rappels, mécaniciens, pièces</a:t>
            </a:r>
            <a:endParaRPr lang="en-US" sz="1500" dirty="0"/>
          </a:p>
        </p:txBody>
      </p:sp>
      <p:sp>
        <p:nvSpPr>
          <p:cNvPr id="18" name="anim6-79"/>
          <p:cNvSpPr/>
          <p:nvPr/>
        </p:nvSpPr>
        <p:spPr>
          <a:xfrm>
            <a:off x="8366760" y="2953512"/>
            <a:ext cx="1133856" cy="1133856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19" name="anim6-8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3255264"/>
            <a:ext cx="530352" cy="530352"/>
          </a:xfrm>
          <a:prstGeom prst="rect">
            <a:avLst/>
          </a:prstGeom>
        </p:spPr>
      </p:pic>
      <p:sp>
        <p:nvSpPr>
          <p:cNvPr id="20" name="anim6-81"/>
          <p:cNvSpPr txBox="1"/>
          <p:nvPr/>
        </p:nvSpPr>
        <p:spPr>
          <a:xfrm>
            <a:off x="8019288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Encaisser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Transactions et comptes</a:t>
            </a:r>
            <a:endParaRPr lang="en-US" sz="1500" dirty="0"/>
          </a:p>
        </p:txBody>
      </p:sp>
      <p:sp>
        <p:nvSpPr>
          <p:cNvPr id="21" name="anim7-82"/>
          <p:cNvSpPr/>
          <p:nvPr/>
        </p:nvSpPr>
        <p:spPr>
          <a:xfrm>
            <a:off x="10268712" y="2953512"/>
            <a:ext cx="1133856" cy="1133856"/>
          </a:xfrm>
          <a:prstGeom prst="ellipse">
            <a:avLst/>
          </a:prstGeom>
          <a:solidFill>
            <a:schemeClr val="bg1"/>
          </a:solidFill>
          <a:ln w="50800">
            <a:solidFill>
              <a:srgbClr val="3A4A82"/>
            </a:solidFill>
            <a:prstDash val="solid"/>
          </a:ln>
        </p:spPr>
      </p:sp>
      <p:pic>
        <p:nvPicPr>
          <p:cNvPr id="22" name="anim7-8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0464" y="3255264"/>
            <a:ext cx="530352" cy="530352"/>
          </a:xfrm>
          <a:prstGeom prst="rect">
            <a:avLst/>
          </a:prstGeom>
        </p:spPr>
      </p:pic>
      <p:sp>
        <p:nvSpPr>
          <p:cNvPr id="23" name="anim7-84"/>
          <p:cNvSpPr txBox="1"/>
          <p:nvPr/>
        </p:nvSpPr>
        <p:spPr>
          <a:xfrm>
            <a:off x="9921240" y="4343400"/>
            <a:ext cx="18288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Analyser</a:t>
            </a:r>
            <a:endParaRPr lang="en-US" sz="15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Tableau de bord et rapports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8" grpId="0" animBg="1"/>
      <p:bldP spid="11" grpId="0" animBg="1"/>
      <p:bldP spid="14" grpId="0" animBg="1"/>
      <p:bldP spid="17" grpId="0" animBg="1"/>
      <p:bldP spid="20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 tableau de bord : la journée en un coup d'œil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PILOTAGE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Dashboard · Availability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Dès la connexion, l'essentiel de l'activité est affiché.</a:t>
            </a:r>
            <a:endParaRPr lang="en-US" sz="1700" dirty="0"/>
          </a:p>
        </p:txBody>
      </p:sp>
      <p:sp>
        <p:nvSpPr>
          <p:cNvPr id="9" name="anim1-85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86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8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88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Compteurs et transactions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clients, trajets du jour ; revenus et dépenses.</a:t>
            </a:r>
            <a:endParaRPr lang="en-US" sz="1500" dirty="0"/>
          </a:p>
        </p:txBody>
      </p:sp>
      <p:sp>
        <p:nvSpPr>
          <p:cNvPr id="13" name="anim2-89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90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9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92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Statut de la flotte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 disponibles ou en trajet, et leur position actuelle.</a:t>
            </a:r>
            <a:endParaRPr lang="en-US" sz="1500" dirty="0"/>
          </a:p>
        </p:txBody>
      </p:sp>
      <p:sp>
        <p:nvSpPr>
          <p:cNvPr id="17" name="anim3-93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94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9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96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Rappels et tops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Entretiens à prévoir, principaux revenus et dépenses.</a:t>
            </a:r>
            <a:endParaRPr lang="en-US" sz="1500" dirty="0"/>
          </a:p>
        </p:txBody>
      </p:sp>
      <p:sp>
        <p:nvSpPr>
          <p:cNvPr id="21" name="anim4-97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98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9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100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Calendrier de disponibilité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Occupation des véhicules par mois, semaine ou jour.</a:t>
            </a:r>
            <a:endParaRPr lang="en-US" sz="1500" dirty="0"/>
          </a:p>
        </p:txBody>
      </p:sp>
      <p:sp>
        <p:nvSpPr>
          <p:cNvPr id="25" name="anim5-101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102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10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104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La direction voit l'activité sans demander de rapport</a:t>
            </a:r>
            <a:endParaRPr lang="en-US" sz="1400" dirty="0"/>
          </a:p>
        </p:txBody>
      </p:sp>
      <p:pic>
        <p:nvPicPr>
          <p:cNvPr id="29" name="anim7-10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106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agents savent tout de suite quels véhicules sont libres</a:t>
            </a:r>
            <a:endParaRPr lang="en-US" sz="1400" dirty="0"/>
          </a:p>
        </p:txBody>
      </p:sp>
      <p:pic>
        <p:nvPicPr>
          <p:cNvPr id="31" name="anim8-10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108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urgences sont visibles dès l'ouverture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Gérer les véhicules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FLOTTE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Vehicle's › Vehicle List · Add Vehicle · Vehicle Group · Route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Une fiche complète pour chaque véhicule, de l'immatriculation au GPS.</a:t>
            </a:r>
            <a:endParaRPr lang="en-US" sz="1700" dirty="0"/>
          </a:p>
        </p:txBody>
      </p:sp>
      <p:sp>
        <p:nvSpPr>
          <p:cNvPr id="9" name="anim1-109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110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1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112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Fiche véhicule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Immatriculation, modèle, châssis, moteur, compteur, photo et documents.</a:t>
            </a:r>
            <a:endParaRPr lang="en-US" sz="1500" dirty="0"/>
          </a:p>
        </p:txBody>
      </p:sp>
      <p:sp>
        <p:nvSpPr>
          <p:cNvPr id="13" name="anim2-113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114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1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116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Échéances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Expiration de l'immatriculation et de l'assurance, signalée à l'écran.</a:t>
            </a:r>
            <a:endParaRPr lang="en-US" sz="1500" dirty="0"/>
          </a:p>
        </p:txBody>
      </p:sp>
      <p:sp>
        <p:nvSpPr>
          <p:cNvPr id="17" name="anim3-117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118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11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120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Types et itinéraires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Camion, bus, voiture… et liste des itinéraires.</a:t>
            </a:r>
            <a:endParaRPr lang="en-US" sz="1500" dirty="0"/>
          </a:p>
        </p:txBody>
      </p:sp>
      <p:sp>
        <p:nvSpPr>
          <p:cNvPr id="21" name="anim4-121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122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12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124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Tarif et propriété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Facturation et coût par défaut, véhicule en propre ou loué, liaison GPS.</a:t>
            </a:r>
            <a:endParaRPr lang="en-US" sz="1500" dirty="0"/>
          </a:p>
        </p:txBody>
      </p:sp>
      <p:sp>
        <p:nvSpPr>
          <p:cNvPr id="25" name="anim5-125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126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12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128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Plus d'assurance expirée qui passe inaperçue</a:t>
            </a:r>
            <a:endParaRPr lang="en-US" sz="1400" dirty="0"/>
          </a:p>
        </p:txBody>
      </p:sp>
      <p:pic>
        <p:nvPicPr>
          <p:cNvPr id="29" name="anim7-12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130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Toute la flotte saisie d'un coup par import CSV</a:t>
            </a:r>
            <a:endParaRPr lang="en-US" sz="1400" dirty="0"/>
          </a:p>
        </p:txBody>
      </p:sp>
      <p:pic>
        <p:nvPicPr>
          <p:cNvPr id="31" name="anim8-13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132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Export Excel, CSV ou PDF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Chauffeurs et fournisseurs de véhicules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FLOTTE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Driver's · Vehicle Vendor's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Savoir qui conduit, avec quel permis, et avec quels partenaires on travaille.</a:t>
            </a:r>
            <a:endParaRPr lang="en-US" sz="1700" dirty="0"/>
          </a:p>
        </p:txBody>
      </p:sp>
      <p:sp>
        <p:nvSpPr>
          <p:cNvPr id="9" name="anim1-133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134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13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136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Fiche chauffeur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Contact, âge, adresse, expérience, date d'entrée, photo et document.</a:t>
            </a:r>
            <a:endParaRPr lang="en-US" sz="1500" dirty="0"/>
          </a:p>
        </p:txBody>
      </p:sp>
      <p:sp>
        <p:nvSpPr>
          <p:cNvPr id="13" name="anim2-137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138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13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140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Permis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Numéro et date d'expiration, signalée quand elle est dépassée.</a:t>
            </a:r>
            <a:endParaRPr lang="en-US" sz="1500" dirty="0"/>
          </a:p>
        </p:txBody>
      </p:sp>
      <p:sp>
        <p:nvSpPr>
          <p:cNvPr id="17" name="anim3-141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142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14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144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Fournisseurs de véhicules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Société, contact, téléphone, adresse et statut.</a:t>
            </a:r>
            <a:endParaRPr lang="en-US" sz="1500" dirty="0"/>
          </a:p>
        </p:txBody>
      </p:sp>
      <p:sp>
        <p:nvSpPr>
          <p:cNvPr id="21" name="anim4-145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146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14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148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Contrats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 de contrat et document du contrat joint.</a:t>
            </a:r>
            <a:endParaRPr lang="en-US" sz="1500" dirty="0"/>
          </a:p>
        </p:txBody>
      </p:sp>
      <p:sp>
        <p:nvSpPr>
          <p:cNvPr id="25" name="anim5-149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150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15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152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Un permis expiré est repéré tout de suite</a:t>
            </a:r>
            <a:endParaRPr lang="en-US" sz="1400" dirty="0"/>
          </a:p>
        </p:txBody>
      </p:sp>
      <p:pic>
        <p:nvPicPr>
          <p:cNvPr id="29" name="anim7-15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154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contrats des loueurs sont centralisés</a:t>
            </a:r>
            <a:endParaRPr lang="en-US" sz="1400" dirty="0"/>
          </a:p>
        </p:txBody>
      </p:sp>
      <p:pic>
        <p:nvPicPr>
          <p:cNvPr id="31" name="anim8-15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156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Import des chauffeurs en masse par CSV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Suivi GPS et zones géographiques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FLOTTE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Tracking › History Tracking · Live Location · Geofence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Savoir où sont les véhicules, et être prévenu quand ils entrent ou sortent d'une zone.</a:t>
            </a:r>
            <a:endParaRPr lang="en-US" sz="1700" dirty="0"/>
          </a:p>
        </p:txBody>
      </p:sp>
      <p:sp>
        <p:nvSpPr>
          <p:cNvPr id="9" name="anim1-157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158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15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160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Position en direct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Localisation actuelle des véhicules sur la carte.</a:t>
            </a:r>
            <a:endParaRPr lang="en-US" sz="1500" dirty="0"/>
          </a:p>
        </p:txBody>
      </p:sp>
      <p:sp>
        <p:nvSpPr>
          <p:cNvPr id="13" name="anim2-161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162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16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164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Historique des parcours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Trajet d'un véhicule sur une période choisie.</a:t>
            </a:r>
            <a:endParaRPr lang="en-US" sz="1500" dirty="0"/>
          </a:p>
        </p:txBody>
      </p:sp>
      <p:sp>
        <p:nvSpPr>
          <p:cNvPr id="17" name="anim3-165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166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1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168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Zones (geofences)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Zones dessinées sur la carte : cercle, rectangle, polygone…</a:t>
            </a:r>
            <a:endParaRPr lang="en-US" sz="1500" dirty="0"/>
          </a:p>
        </p:txBody>
      </p:sp>
      <p:sp>
        <p:nvSpPr>
          <p:cNvPr id="21" name="anim4-169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170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17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172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Événements de zone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Entrées et sorties enregistrées, avec notification.</a:t>
            </a:r>
            <a:endParaRPr lang="en-US" sz="1500" dirty="0"/>
          </a:p>
        </p:txBody>
      </p:sp>
      <p:sp>
        <p:nvSpPr>
          <p:cNvPr id="25" name="anim5-173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174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17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176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Contrôler les itinéraires réellement suivis</a:t>
            </a:r>
            <a:endParaRPr lang="en-US" sz="1400" dirty="0"/>
          </a:p>
        </p:txBody>
      </p:sp>
      <p:pic>
        <p:nvPicPr>
          <p:cNvPr id="29" name="anim7-17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178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Réagir vite en cas d'écart</a:t>
            </a:r>
            <a:endParaRPr lang="en-US" sz="1400" dirty="0"/>
          </a:p>
        </p:txBody>
      </p:sp>
      <p:pic>
        <p:nvPicPr>
          <p:cNvPr id="31" name="anim8-17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180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Rassurer les clients sur leurs livraisons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Trajets, clients et coupons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ACTIVITÉ COMMERCIALE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Trips · Customer · Coupon Management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De la réservation à la facturation, chaque trajet est suivi.</a:t>
            </a:r>
            <a:endParaRPr lang="en-US" sz="1700" dirty="0"/>
          </a:p>
        </p:txBody>
      </p:sp>
      <p:sp>
        <p:nvSpPr>
          <p:cNvPr id="9" name="anim1-181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182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18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184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Réservation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Client, dates, véhicule, chauffeur, départ, arrivée, kilométrage, ramassages.</a:t>
            </a:r>
            <a:endParaRPr lang="en-US" sz="1500" dirty="0"/>
          </a:p>
        </p:txBody>
      </p:sp>
      <p:sp>
        <p:nvSpPr>
          <p:cNvPr id="13" name="anim2-185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186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18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188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Suivi du trajet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Statut (réservé, commencé…), distance et numéro de réservation.</a:t>
            </a:r>
            <a:endParaRPr lang="en-US" sz="1500" dirty="0"/>
          </a:p>
        </p:txBody>
      </p:sp>
      <p:sp>
        <p:nvSpPr>
          <p:cNvPr id="17" name="anim3-189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190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19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192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Clients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Coordonnées, solde impayé et statut actif ou inactif.</a:t>
            </a:r>
            <a:endParaRPr lang="en-US" sz="1500" dirty="0"/>
          </a:p>
        </p:txBody>
      </p:sp>
      <p:sp>
        <p:nvSpPr>
          <p:cNvPr id="21" name="anim4-193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194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19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196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Coupons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Codes de réduction : montant, dates, limite d'utilisation.</a:t>
            </a:r>
            <a:endParaRPr lang="en-US" sz="1500" dirty="0"/>
          </a:p>
        </p:txBody>
      </p:sp>
      <p:sp>
        <p:nvSpPr>
          <p:cNvPr id="25" name="anim5-197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198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19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200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Chaque trajet lié à un client, un véhicule, un chauffeur</a:t>
            </a:r>
            <a:endParaRPr lang="en-US" sz="1400" dirty="0"/>
          </a:p>
        </p:txBody>
      </p:sp>
      <p:pic>
        <p:nvPicPr>
          <p:cNvPr id="29" name="anim7-20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202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impayés clients sont visibles</a:t>
            </a:r>
            <a:endParaRPr lang="en-US" sz="1400" dirty="0"/>
          </a:p>
        </p:txBody>
      </p:sp>
      <p:pic>
        <p:nvPicPr>
          <p:cNvPr id="31" name="anim8-20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204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Confirmation par e-mail ou SMS</a:t>
            </a:r>
            <a:endParaRPr lang="en-US" sz="1400" dirty="0"/>
          </a:p>
        </p:txBody>
      </p:sp>
      <p:sp>
        <p:nvSpPr>
          <p:cNvPr id="34" name="anim9-205"/>
          <p:cNvSpPr txBox="1"/>
          <p:nvPr/>
        </p:nvSpPr>
        <p:spPr>
          <a:xfrm>
            <a:off x="548640" y="605332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9 modes de facturation 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fixe · tonne · kg · km · trajet · jour · heure · litre · sac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  <p:bldP spid="3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Entretien, pièces et rappels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EXPLOITATION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Maintenance · Parts Stock · Reminder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Anticiper les entretiens et maîtriser leur coût.</a:t>
            </a:r>
            <a:endParaRPr lang="en-US" sz="1700" dirty="0"/>
          </a:p>
        </p:txBody>
      </p:sp>
      <p:sp>
        <p:nvSpPr>
          <p:cNvPr id="9" name="anim1-206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207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20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209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Entretiens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Véhicule, dates, mécanicien, fournisseur, coût et pièces utilisées.</a:t>
            </a:r>
            <a:endParaRPr lang="en-US" sz="1500" dirty="0"/>
          </a:p>
        </p:txBody>
      </p:sp>
      <p:sp>
        <p:nvSpPr>
          <p:cNvPr id="13" name="anim2-210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211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2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213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Mécaniciens et fournisseurs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Annuaire des intervenants, avec catégorie.</a:t>
            </a:r>
            <a:endParaRPr lang="en-US" sz="1500" dirty="0"/>
          </a:p>
        </p:txBody>
      </p:sp>
      <p:sp>
        <p:nvSpPr>
          <p:cNvPr id="17" name="anim3-214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215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2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217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Stock de pièces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Inventaire, prix et historique des achats avec statut de paiement.</a:t>
            </a:r>
            <a:endParaRPr lang="en-US" sz="1500" dirty="0"/>
          </a:p>
        </p:txBody>
      </p:sp>
      <p:sp>
        <p:nvSpPr>
          <p:cNvPr id="21" name="anim4-218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219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22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221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Échéances par véhicule et service, marquées comme terminées.</a:t>
            </a:r>
            <a:endParaRPr lang="en-US" sz="1500" dirty="0"/>
          </a:p>
        </p:txBody>
      </p:sp>
      <p:sp>
        <p:nvSpPr>
          <p:cNvPr id="25" name="anim5-222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223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22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225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Moins de pannes grâce aux rappels</a:t>
            </a:r>
            <a:endParaRPr lang="en-US" sz="1400" dirty="0"/>
          </a:p>
        </p:txBody>
      </p:sp>
      <p:pic>
        <p:nvPicPr>
          <p:cNvPr id="29" name="anim7-22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227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Coût réel de l'entretien par véhicule</a:t>
            </a:r>
            <a:endParaRPr lang="en-US" sz="1400" dirty="0"/>
          </a:p>
        </p:txBody>
      </p:sp>
      <p:pic>
        <p:nvPicPr>
          <p:cNvPr id="31" name="anim8-22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229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Stock de pièces et achats tracés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Carburant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EXPLOITATION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Fuel › Fuel Management · Add Fuel · Fuel Vendor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Chaque plein est enregistré et rattaché à un véhicule et un chauffeur.</a:t>
            </a:r>
            <a:endParaRPr lang="en-US" sz="1700" dirty="0"/>
          </a:p>
        </p:txBody>
      </p:sp>
      <p:sp>
        <p:nvSpPr>
          <p:cNvPr id="9" name="anim1-230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231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23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233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Pleins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Date, véhicule, chauffeur, quantité, montant, compteur et commentaire.</a:t>
            </a:r>
            <a:endParaRPr lang="en-US" sz="1500" dirty="0"/>
          </a:p>
        </p:txBody>
      </p:sp>
      <p:sp>
        <p:nvSpPr>
          <p:cNvPr id="13" name="anim2-234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235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23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237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Provenance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Cuve interne ou fournisseur extérieur.</a:t>
            </a:r>
            <a:endParaRPr lang="en-US" sz="1500" dirty="0"/>
          </a:p>
        </p:txBody>
      </p:sp>
      <p:sp>
        <p:nvSpPr>
          <p:cNvPr id="17" name="anim3-238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239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24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241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Cuve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Réapprovisionnement et stock disponible en litres.</a:t>
            </a:r>
            <a:endParaRPr lang="en-US" sz="1500" dirty="0"/>
          </a:p>
        </p:txBody>
      </p:sp>
      <p:sp>
        <p:nvSpPr>
          <p:cNvPr id="21" name="anim4-242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243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24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245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Fournisseurs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Liste des stations ou fournisseurs de carburant.</a:t>
            </a:r>
            <a:endParaRPr lang="en-US" sz="1500" dirty="0"/>
          </a:p>
        </p:txBody>
      </p:sp>
      <p:sp>
        <p:nvSpPr>
          <p:cNvPr id="25" name="anim5-246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247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24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249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Repérer une consommation anormale</a:t>
            </a:r>
            <a:endParaRPr lang="en-US" sz="1400" dirty="0"/>
          </a:p>
        </p:txBody>
      </p:sp>
      <p:pic>
        <p:nvPicPr>
          <p:cNvPr id="29" name="anim7-25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251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Contrôler le stock de la cuve</a:t>
            </a:r>
            <a:endParaRPr lang="en-US" sz="1400" dirty="0"/>
          </a:p>
        </p:txBody>
      </p:sp>
      <p:pic>
        <p:nvPicPr>
          <p:cNvPr id="31" name="anim8-25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253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Rapport carburant par période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Finances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FINANCES ET PILOTAGE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Accounts › Accounts · Add Transactions · Transactions · Ac Transfers / Deposit · Category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Revenus et dépenses enregistrés par compte, catégorie et véhicule.</a:t>
            </a:r>
            <a:endParaRPr lang="en-US" sz="1700" dirty="0"/>
          </a:p>
        </p:txBody>
      </p:sp>
      <p:sp>
        <p:nvSpPr>
          <p:cNvPr id="9" name="anim1-254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255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25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257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Comptes financiers avec leur solde.</a:t>
            </a:r>
            <a:endParaRPr lang="en-US" sz="1500" dirty="0"/>
          </a:p>
        </p:txBody>
      </p:sp>
      <p:sp>
        <p:nvSpPr>
          <p:cNvPr id="13" name="anim2-258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259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26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261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Transactions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 ou dépense : compte, catégorie, véhicule, montant, référence.</a:t>
            </a:r>
            <a:endParaRPr lang="en-US" sz="1500" dirty="0"/>
          </a:p>
        </p:txBody>
      </p:sp>
      <p:sp>
        <p:nvSpPr>
          <p:cNvPr id="17" name="anim3-262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263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26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265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Virements et dépôts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Mouvements d'un compte à un autre.</a:t>
            </a:r>
            <a:endParaRPr lang="en-US" sz="1500" dirty="0"/>
          </a:p>
        </p:txBody>
      </p:sp>
      <p:sp>
        <p:nvSpPr>
          <p:cNvPr id="21" name="anim4-266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267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26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269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Catégories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Revenus de trajet, carburant, salaires, transfrontalier…</a:t>
            </a:r>
            <a:endParaRPr lang="en-US" sz="1500" dirty="0"/>
          </a:p>
        </p:txBody>
      </p:sp>
      <p:sp>
        <p:nvSpPr>
          <p:cNvPr id="25" name="anim5-270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271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27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273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Rentabilité visible par véhicule</a:t>
            </a:r>
            <a:endParaRPr lang="en-US" sz="1400" dirty="0"/>
          </a:p>
        </p:txBody>
      </p:sp>
      <p:pic>
        <p:nvPicPr>
          <p:cNvPr id="29" name="anim7-27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275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Historique filtrable avec totaux</a:t>
            </a:r>
            <a:endParaRPr lang="en-US" sz="1400" dirty="0"/>
          </a:p>
        </p:txBody>
      </p:sp>
      <p:pic>
        <p:nvPicPr>
          <p:cNvPr id="31" name="anim8-27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277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Catégories adaptées à l'entreprise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11 rapports prêts à l'emploi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FINANCES ET PILOTAGE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Choisir une période, un filtre, puis « Generate Report ».</a:t>
            </a:r>
            <a:endParaRPr lang="en-US" sz="1700" dirty="0"/>
          </a:p>
        </p:txBody>
      </p:sp>
      <p:sp>
        <p:nvSpPr>
          <p:cNvPr id="8" name="anim1-278"/>
          <p:cNvSpPr/>
          <p:nvPr/>
        </p:nvSpPr>
        <p:spPr>
          <a:xfrm>
            <a:off x="548640" y="20116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9" name="anim1-279"/>
          <p:cNvSpPr/>
          <p:nvPr/>
        </p:nvSpPr>
        <p:spPr>
          <a:xfrm>
            <a:off x="749808" y="22860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0" name="anim1-28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342" y="2440534"/>
            <a:ext cx="285293" cy="285293"/>
          </a:xfrm>
          <a:prstGeom prst="rect">
            <a:avLst/>
          </a:prstGeom>
        </p:spPr>
      </p:pic>
      <p:sp>
        <p:nvSpPr>
          <p:cNvPr id="11" name="anim1-281"/>
          <p:cNvSpPr txBox="1"/>
          <p:nvPr/>
        </p:nvSpPr>
        <p:spPr>
          <a:xfrm>
            <a:off x="1481328" y="20116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Réservations</a:t>
            </a:r>
            <a:endParaRPr lang="en-US" sz="1500" dirty="0"/>
          </a:p>
        </p:txBody>
      </p:sp>
      <p:sp>
        <p:nvSpPr>
          <p:cNvPr id="12" name="anim2-282"/>
          <p:cNvSpPr/>
          <p:nvPr/>
        </p:nvSpPr>
        <p:spPr>
          <a:xfrm>
            <a:off x="3383280" y="20116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3" name="anim2-283"/>
          <p:cNvSpPr/>
          <p:nvPr/>
        </p:nvSpPr>
        <p:spPr>
          <a:xfrm>
            <a:off x="3584448" y="22860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anim2-28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8982" y="2440534"/>
            <a:ext cx="285293" cy="285293"/>
          </a:xfrm>
          <a:prstGeom prst="rect">
            <a:avLst/>
          </a:prstGeom>
        </p:spPr>
      </p:pic>
      <p:sp>
        <p:nvSpPr>
          <p:cNvPr id="15" name="anim2-285"/>
          <p:cNvSpPr txBox="1"/>
          <p:nvPr/>
        </p:nvSpPr>
        <p:spPr>
          <a:xfrm>
            <a:off x="4315968" y="20116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Revenus et dépenses</a:t>
            </a:r>
            <a:endParaRPr lang="en-US" sz="1500" dirty="0"/>
          </a:p>
        </p:txBody>
      </p:sp>
      <p:sp>
        <p:nvSpPr>
          <p:cNvPr id="16" name="anim3-286"/>
          <p:cNvSpPr/>
          <p:nvPr/>
        </p:nvSpPr>
        <p:spPr>
          <a:xfrm>
            <a:off x="6217920" y="20116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7" name="anim3-287"/>
          <p:cNvSpPr/>
          <p:nvPr/>
        </p:nvSpPr>
        <p:spPr>
          <a:xfrm>
            <a:off x="6419088" y="22860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8" name="anim3-28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3622" y="2440534"/>
            <a:ext cx="285293" cy="285293"/>
          </a:xfrm>
          <a:prstGeom prst="rect">
            <a:avLst/>
          </a:prstGeom>
        </p:spPr>
      </p:pic>
      <p:sp>
        <p:nvSpPr>
          <p:cNvPr id="19" name="anim3-289"/>
          <p:cNvSpPr txBox="1"/>
          <p:nvPr/>
        </p:nvSpPr>
        <p:spPr>
          <a:xfrm>
            <a:off x="7150608" y="20116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Carburant</a:t>
            </a:r>
            <a:endParaRPr lang="en-US" sz="1500" dirty="0"/>
          </a:p>
        </p:txBody>
      </p:sp>
      <p:sp>
        <p:nvSpPr>
          <p:cNvPr id="20" name="anim4-290"/>
          <p:cNvSpPr/>
          <p:nvPr/>
        </p:nvSpPr>
        <p:spPr>
          <a:xfrm>
            <a:off x="9052560" y="20116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1" name="anim4-291"/>
          <p:cNvSpPr/>
          <p:nvPr/>
        </p:nvSpPr>
        <p:spPr>
          <a:xfrm>
            <a:off x="9253728" y="22860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2" name="anim4-29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8262" y="2440534"/>
            <a:ext cx="285293" cy="285293"/>
          </a:xfrm>
          <a:prstGeom prst="rect">
            <a:avLst/>
          </a:prstGeom>
        </p:spPr>
      </p:pic>
      <p:sp>
        <p:nvSpPr>
          <p:cNvPr id="23" name="anim4-293"/>
          <p:cNvSpPr txBox="1"/>
          <p:nvPr/>
        </p:nvSpPr>
        <p:spPr>
          <a:xfrm>
            <a:off x="9985248" y="20116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Chauffeurs</a:t>
            </a:r>
            <a:endParaRPr lang="en-US" sz="1500" dirty="0"/>
          </a:p>
        </p:txBody>
      </p:sp>
      <p:sp>
        <p:nvSpPr>
          <p:cNvPr id="24" name="anim5-294"/>
          <p:cNvSpPr/>
          <p:nvPr/>
        </p:nvSpPr>
        <p:spPr>
          <a:xfrm>
            <a:off x="548640" y="33832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5" name="anim5-295"/>
          <p:cNvSpPr/>
          <p:nvPr/>
        </p:nvSpPr>
        <p:spPr>
          <a:xfrm>
            <a:off x="749808" y="36576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6" name="anim5-29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4342" y="3812134"/>
            <a:ext cx="285293" cy="285293"/>
          </a:xfrm>
          <a:prstGeom prst="rect">
            <a:avLst/>
          </a:prstGeom>
        </p:spPr>
      </p:pic>
      <p:sp>
        <p:nvSpPr>
          <p:cNvPr id="27" name="anim5-297"/>
          <p:cNvSpPr txBox="1"/>
          <p:nvPr/>
        </p:nvSpPr>
        <p:spPr>
          <a:xfrm>
            <a:off x="1481328" y="33832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Coupons</a:t>
            </a:r>
            <a:endParaRPr lang="en-US" sz="1500" dirty="0"/>
          </a:p>
        </p:txBody>
      </p:sp>
      <p:sp>
        <p:nvSpPr>
          <p:cNvPr id="28" name="anim6-298"/>
          <p:cNvSpPr/>
          <p:nvPr/>
        </p:nvSpPr>
        <p:spPr>
          <a:xfrm>
            <a:off x="3383280" y="33832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9" name="anim6-299"/>
          <p:cNvSpPr/>
          <p:nvPr/>
        </p:nvSpPr>
        <p:spPr>
          <a:xfrm>
            <a:off x="3584448" y="36576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0" name="anim6-30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982" y="3812134"/>
            <a:ext cx="285293" cy="285293"/>
          </a:xfrm>
          <a:prstGeom prst="rect">
            <a:avLst/>
          </a:prstGeom>
        </p:spPr>
      </p:pic>
      <p:sp>
        <p:nvSpPr>
          <p:cNvPr id="31" name="anim6-301"/>
          <p:cNvSpPr txBox="1"/>
          <p:nvPr/>
        </p:nvSpPr>
        <p:spPr>
          <a:xfrm>
            <a:off x="4315968" y="33832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Rappels</a:t>
            </a:r>
            <a:endParaRPr lang="en-US" sz="1500" dirty="0"/>
          </a:p>
        </p:txBody>
      </p:sp>
      <p:sp>
        <p:nvSpPr>
          <p:cNvPr id="32" name="anim7-302"/>
          <p:cNvSpPr/>
          <p:nvPr/>
        </p:nvSpPr>
        <p:spPr>
          <a:xfrm>
            <a:off x="6217920" y="33832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33" name="anim7-303"/>
          <p:cNvSpPr/>
          <p:nvPr/>
        </p:nvSpPr>
        <p:spPr>
          <a:xfrm>
            <a:off x="6419088" y="36576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4" name="anim7-30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3622" y="3812134"/>
            <a:ext cx="285293" cy="285293"/>
          </a:xfrm>
          <a:prstGeom prst="rect">
            <a:avLst/>
          </a:prstGeom>
        </p:spPr>
      </p:pic>
      <p:sp>
        <p:nvSpPr>
          <p:cNvPr id="35" name="anim7-305"/>
          <p:cNvSpPr txBox="1"/>
          <p:nvPr/>
        </p:nvSpPr>
        <p:spPr>
          <a:xfrm>
            <a:off x="7150608" y="33832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Entretien</a:t>
            </a:r>
            <a:endParaRPr lang="en-US" sz="1500" dirty="0"/>
          </a:p>
        </p:txBody>
      </p:sp>
      <p:sp>
        <p:nvSpPr>
          <p:cNvPr id="36" name="anim8-306"/>
          <p:cNvSpPr/>
          <p:nvPr/>
        </p:nvSpPr>
        <p:spPr>
          <a:xfrm>
            <a:off x="9052560" y="33832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37" name="anim8-307"/>
          <p:cNvSpPr/>
          <p:nvPr/>
        </p:nvSpPr>
        <p:spPr>
          <a:xfrm>
            <a:off x="9253728" y="36576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anim8-30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262" y="3812134"/>
            <a:ext cx="285293" cy="285293"/>
          </a:xfrm>
          <a:prstGeom prst="rect">
            <a:avLst/>
          </a:prstGeom>
        </p:spPr>
      </p:pic>
      <p:sp>
        <p:nvSpPr>
          <p:cNvPr id="39" name="anim8-309"/>
          <p:cNvSpPr txBox="1"/>
          <p:nvPr/>
        </p:nvSpPr>
        <p:spPr>
          <a:xfrm>
            <a:off x="9985248" y="33832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revenus</a:t>
            </a:r>
            <a:endParaRPr lang="en-US" sz="1500" dirty="0"/>
          </a:p>
        </p:txBody>
      </p:sp>
      <p:sp>
        <p:nvSpPr>
          <p:cNvPr id="40" name="anim9-310"/>
          <p:cNvSpPr/>
          <p:nvPr/>
        </p:nvSpPr>
        <p:spPr>
          <a:xfrm>
            <a:off x="548640" y="47548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41" name="anim9-311"/>
          <p:cNvSpPr/>
          <p:nvPr/>
        </p:nvSpPr>
        <p:spPr>
          <a:xfrm>
            <a:off x="749808" y="50292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2" name="anim9-31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4342" y="5183734"/>
            <a:ext cx="285293" cy="285293"/>
          </a:xfrm>
          <a:prstGeom prst="rect">
            <a:avLst/>
          </a:prstGeom>
        </p:spPr>
      </p:pic>
      <p:sp>
        <p:nvSpPr>
          <p:cNvPr id="43" name="anim9-313"/>
          <p:cNvSpPr txBox="1"/>
          <p:nvPr/>
        </p:nvSpPr>
        <p:spPr>
          <a:xfrm>
            <a:off x="1481328" y="47548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dépenses</a:t>
            </a:r>
            <a:endParaRPr lang="en-US" sz="1500" dirty="0"/>
          </a:p>
        </p:txBody>
      </p:sp>
      <p:sp>
        <p:nvSpPr>
          <p:cNvPr id="44" name="anim10-314"/>
          <p:cNvSpPr/>
          <p:nvPr/>
        </p:nvSpPr>
        <p:spPr>
          <a:xfrm>
            <a:off x="3383280" y="47548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45" name="anim10-315"/>
          <p:cNvSpPr/>
          <p:nvPr/>
        </p:nvSpPr>
        <p:spPr>
          <a:xfrm>
            <a:off x="3584448" y="50292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6" name="anim10-316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38982" y="5183734"/>
            <a:ext cx="285293" cy="285293"/>
          </a:xfrm>
          <a:prstGeom prst="rect">
            <a:avLst/>
          </a:prstGeom>
        </p:spPr>
      </p:pic>
      <p:sp>
        <p:nvSpPr>
          <p:cNvPr id="47" name="anim10-317"/>
          <p:cNvSpPr txBox="1"/>
          <p:nvPr/>
        </p:nvSpPr>
        <p:spPr>
          <a:xfrm>
            <a:off x="4315968" y="47548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véhicules</a:t>
            </a:r>
            <a:endParaRPr lang="en-US" sz="1500" dirty="0"/>
          </a:p>
        </p:txBody>
      </p:sp>
      <p:sp>
        <p:nvSpPr>
          <p:cNvPr id="48" name="anim11-318"/>
          <p:cNvSpPr/>
          <p:nvPr/>
        </p:nvSpPr>
        <p:spPr>
          <a:xfrm>
            <a:off x="6217920" y="4754880"/>
            <a:ext cx="265176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49" name="anim11-319"/>
          <p:cNvSpPr/>
          <p:nvPr/>
        </p:nvSpPr>
        <p:spPr>
          <a:xfrm>
            <a:off x="6419088" y="5029200"/>
            <a:ext cx="594360" cy="59436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0" name="anim11-320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3622" y="5183734"/>
            <a:ext cx="285293" cy="285293"/>
          </a:xfrm>
          <a:prstGeom prst="rect">
            <a:avLst/>
          </a:prstGeom>
        </p:spPr>
      </p:pic>
      <p:sp>
        <p:nvSpPr>
          <p:cNvPr id="51" name="anim11-321"/>
          <p:cNvSpPr txBox="1"/>
          <p:nvPr/>
        </p:nvSpPr>
        <p:spPr>
          <a:xfrm>
            <a:off x="7150608" y="4754880"/>
            <a:ext cx="1645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Top itinéraires</a:t>
            </a:r>
            <a:endParaRPr lang="en-US" sz="1500" dirty="0"/>
          </a:p>
        </p:txBody>
      </p:sp>
      <p:sp>
        <p:nvSpPr>
          <p:cNvPr id="52" name="Text 38"/>
          <p:cNvSpPr txBox="1"/>
          <p:nvPr/>
        </p:nvSpPr>
        <p:spPr>
          <a:xfrm>
            <a:off x="9052560" y="4754880"/>
            <a:ext cx="2606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« Top » classent les postes qui rapportent ou coûtent le plus.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5" grpId="0" animBg="1"/>
      <p:bldP spid="19" grpId="0" animBg="1"/>
      <p:bldP spid="23" grpId="0" animBg="1"/>
      <p:bldP spid="27" grpId="0" animBg="1"/>
      <p:bldP spid="31" grpId="0" animBg="1"/>
      <p:bldP spid="35" grpId="0" animBg="1"/>
      <p:bldP spid="39" grpId="0" animBg="1"/>
      <p:bldP spid="43" grpId="0" animBg="1"/>
      <p:bldP spid="47" grpId="0" animBg="1"/>
      <p:bldP spid="5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Employés et droits d'accès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ADMINISTRATION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Employee › Employee Management · Add Employee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Chaque utilisateur a son compte et ne voit que ce qu'il doit voir.</a:t>
            </a:r>
            <a:endParaRPr lang="en-US" sz="1700" dirty="0"/>
          </a:p>
        </p:txBody>
      </p:sp>
      <p:sp>
        <p:nvSpPr>
          <p:cNvPr id="9" name="anim1-322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323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32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325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Comptes utilisateurs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Nom, téléphone, e-mail, identifiant, mot de passe, dernière connexion.</a:t>
            </a:r>
            <a:endParaRPr lang="en-US" sz="1500" dirty="0"/>
          </a:p>
        </p:txBody>
      </p:sp>
      <p:sp>
        <p:nvSpPr>
          <p:cNvPr id="13" name="anim2-326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327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32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329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Permissions par module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Cases à cocher : voir, ajouter, modifier, supprimer…</a:t>
            </a:r>
            <a:endParaRPr lang="en-US" sz="1500" dirty="0"/>
          </a:p>
        </p:txBody>
      </p:sp>
      <p:sp>
        <p:nvSpPr>
          <p:cNvPr id="17" name="anim3-330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331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33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333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Modules concernés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Véhicules, chauffeurs, transactions, clients, carburant, entretien, GPS…</a:t>
            </a:r>
            <a:endParaRPr lang="en-US" sz="1500" dirty="0"/>
          </a:p>
        </p:txBody>
      </p:sp>
      <p:sp>
        <p:nvSpPr>
          <p:cNvPr id="21" name="anim4-334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335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33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337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Statut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Compte actif ou désactivé.</a:t>
            </a:r>
            <a:endParaRPr lang="en-US" sz="1500" dirty="0"/>
          </a:p>
        </p:txBody>
      </p:sp>
      <p:sp>
        <p:nvSpPr>
          <p:cNvPr id="25" name="anim5-338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339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340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341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Chacun travaille dans son périmètre</a:t>
            </a:r>
            <a:endParaRPr lang="en-US" sz="1400" dirty="0"/>
          </a:p>
        </p:txBody>
      </p:sp>
      <p:pic>
        <p:nvPicPr>
          <p:cNvPr id="29" name="anim7-34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343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Les données financières restent protégées</a:t>
            </a:r>
            <a:endParaRPr lang="en-US" sz="1400" dirty="0"/>
          </a:p>
        </p:txBody>
      </p:sp>
      <p:pic>
        <p:nvPicPr>
          <p:cNvPr id="31" name="anim8-34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345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 sait qui a créé chaque transaction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Paramètres et sécurité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ADMINISTRATION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716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Menu 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Setting's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71907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Le logiciel s'adapte à l'entreprise et protège ses données.</a:t>
            </a:r>
            <a:endParaRPr lang="en-US" sz="1700" dirty="0"/>
          </a:p>
        </p:txBody>
      </p:sp>
      <p:sp>
        <p:nvSpPr>
          <p:cNvPr id="9" name="anim1-346"/>
          <p:cNvSpPr/>
          <p:nvPr/>
        </p:nvSpPr>
        <p:spPr>
          <a:xfrm>
            <a:off x="54864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0" name="anim1-347"/>
          <p:cNvSpPr/>
          <p:nvPr/>
        </p:nvSpPr>
        <p:spPr>
          <a:xfrm>
            <a:off x="74980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1" name="anim1-34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54" y="2721254"/>
            <a:ext cx="263347" cy="263347"/>
          </a:xfrm>
          <a:prstGeom prst="rect">
            <a:avLst/>
          </a:prstGeom>
        </p:spPr>
      </p:pic>
      <p:sp>
        <p:nvSpPr>
          <p:cNvPr id="12" name="anim1-349"/>
          <p:cNvSpPr txBox="1"/>
          <p:nvPr/>
        </p:nvSpPr>
        <p:spPr>
          <a:xfrm>
            <a:off x="144475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Identité de l'entreprise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Nom, adresse, contacts, logo, couleurs, fuseau horaire.</a:t>
            </a:r>
            <a:endParaRPr lang="en-US" sz="1500" dirty="0"/>
          </a:p>
        </p:txBody>
      </p:sp>
      <p:sp>
        <p:nvSpPr>
          <p:cNvPr id="13" name="anim2-350"/>
          <p:cNvSpPr/>
          <p:nvPr/>
        </p:nvSpPr>
        <p:spPr>
          <a:xfrm>
            <a:off x="4480560" y="237744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4" name="anim2-351"/>
          <p:cNvSpPr/>
          <p:nvPr/>
        </p:nvSpPr>
        <p:spPr>
          <a:xfrm>
            <a:off x="4681728" y="257860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5" name="anim2-35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4374" y="2721254"/>
            <a:ext cx="263347" cy="263347"/>
          </a:xfrm>
          <a:prstGeom prst="rect">
            <a:avLst/>
          </a:prstGeom>
        </p:spPr>
      </p:pic>
      <p:sp>
        <p:nvSpPr>
          <p:cNvPr id="16" name="anim2-353"/>
          <p:cNvSpPr txBox="1"/>
          <p:nvPr/>
        </p:nvSpPr>
        <p:spPr>
          <a:xfrm>
            <a:off x="5376672" y="250545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Communication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Envoi d'e-mails et de SMS, avec modèles de messages.</a:t>
            </a:r>
            <a:endParaRPr lang="en-US" sz="1500" dirty="0"/>
          </a:p>
        </p:txBody>
      </p:sp>
      <p:sp>
        <p:nvSpPr>
          <p:cNvPr id="17" name="anim3-354"/>
          <p:cNvSpPr/>
          <p:nvPr/>
        </p:nvSpPr>
        <p:spPr>
          <a:xfrm>
            <a:off x="54864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8" name="anim3-355"/>
          <p:cNvSpPr/>
          <p:nvPr/>
        </p:nvSpPr>
        <p:spPr>
          <a:xfrm>
            <a:off x="74980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9" name="anim3-35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454" y="4595774"/>
            <a:ext cx="263347" cy="263347"/>
          </a:xfrm>
          <a:prstGeom prst="rect">
            <a:avLst/>
          </a:prstGeom>
        </p:spPr>
      </p:pic>
      <p:sp>
        <p:nvSpPr>
          <p:cNvPr id="20" name="anim3-357"/>
          <p:cNvSpPr txBox="1"/>
          <p:nvPr/>
        </p:nvSpPr>
        <p:spPr>
          <a:xfrm>
            <a:off x="144475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Réservations et factures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Préfixe des numéros de réservation, réglages des factures.</a:t>
            </a:r>
            <a:endParaRPr lang="en-US" sz="1500" dirty="0"/>
          </a:p>
        </p:txBody>
      </p:sp>
      <p:sp>
        <p:nvSpPr>
          <p:cNvPr id="21" name="anim4-358"/>
          <p:cNvSpPr/>
          <p:nvPr/>
        </p:nvSpPr>
        <p:spPr>
          <a:xfrm>
            <a:off x="4480560" y="4251960"/>
            <a:ext cx="3749040" cy="1691640"/>
          </a:xfrm>
          <a:prstGeom prst="roundRect">
            <a:avLst>
              <a:gd name="adj" fmla="val 6486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359"/>
          <p:cNvSpPr/>
          <p:nvPr/>
        </p:nvSpPr>
        <p:spPr>
          <a:xfrm>
            <a:off x="4681728" y="4453128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anim4-36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4374" y="4595774"/>
            <a:ext cx="263347" cy="263347"/>
          </a:xfrm>
          <a:prstGeom prst="rect">
            <a:avLst/>
          </a:prstGeom>
        </p:spPr>
      </p:pic>
      <p:sp>
        <p:nvSpPr>
          <p:cNvPr id="24" name="anim4-361"/>
          <p:cNvSpPr txBox="1"/>
          <p:nvPr/>
        </p:nvSpPr>
        <p:spPr>
          <a:xfrm>
            <a:off x="5376672" y="4379976"/>
            <a:ext cx="2697480" cy="1435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Sauvegardes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Sauvegarde de la base de données en un clic.</a:t>
            </a:r>
            <a:endParaRPr lang="en-US" sz="1500" dirty="0"/>
          </a:p>
        </p:txBody>
      </p:sp>
      <p:sp>
        <p:nvSpPr>
          <p:cNvPr id="25" name="anim5-362"/>
          <p:cNvSpPr/>
          <p:nvPr/>
        </p:nvSpPr>
        <p:spPr>
          <a:xfrm>
            <a:off x="8549640" y="1371600"/>
            <a:ext cx="3108960" cy="475488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6" name="anim5-363"/>
          <p:cNvSpPr txBox="1"/>
          <p:nvPr/>
        </p:nvSpPr>
        <p:spPr>
          <a:xfrm>
            <a:off x="877824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Ce que ça apporte</a:t>
            </a:r>
            <a:endParaRPr lang="en-US" sz="1800" dirty="0"/>
          </a:p>
        </p:txBody>
      </p:sp>
      <p:pic>
        <p:nvPicPr>
          <p:cNvPr id="27" name="anim6-36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0" y="2276856"/>
            <a:ext cx="292608" cy="292608"/>
          </a:xfrm>
          <a:prstGeom prst="rect">
            <a:avLst/>
          </a:prstGeom>
        </p:spPr>
      </p:pic>
      <p:sp>
        <p:nvSpPr>
          <p:cNvPr id="28" name="anim6-365"/>
          <p:cNvSpPr txBox="1"/>
          <p:nvPr/>
        </p:nvSpPr>
        <p:spPr>
          <a:xfrm>
            <a:off x="9189720" y="224028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Documents aux couleurs de l'entreprise</a:t>
            </a:r>
            <a:endParaRPr lang="en-US" sz="1400" dirty="0"/>
          </a:p>
        </p:txBody>
      </p:sp>
      <p:pic>
        <p:nvPicPr>
          <p:cNvPr id="29" name="anim7-36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0" y="3465576"/>
            <a:ext cx="292608" cy="292608"/>
          </a:xfrm>
          <a:prstGeom prst="rect">
            <a:avLst/>
          </a:prstGeom>
        </p:spPr>
      </p:pic>
      <p:sp>
        <p:nvSpPr>
          <p:cNvPr id="30" name="anim7-367"/>
          <p:cNvSpPr txBox="1"/>
          <p:nvPr/>
        </p:nvSpPr>
        <p:spPr>
          <a:xfrm>
            <a:off x="9189720" y="342900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Clients informés automatiquement</a:t>
            </a:r>
            <a:endParaRPr lang="en-US" sz="1400" dirty="0"/>
          </a:p>
        </p:txBody>
      </p:sp>
      <p:pic>
        <p:nvPicPr>
          <p:cNvPr id="31" name="anim8-368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78240" y="4654296"/>
            <a:ext cx="292608" cy="292608"/>
          </a:xfrm>
          <a:prstGeom prst="rect">
            <a:avLst/>
          </a:prstGeom>
        </p:spPr>
      </p:pic>
      <p:sp>
        <p:nvSpPr>
          <p:cNvPr id="32" name="anim8-369"/>
          <p:cNvSpPr txBox="1"/>
          <p:nvPr/>
        </p:nvSpPr>
        <p:spPr>
          <a:xfrm>
            <a:off x="9189720" y="46177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Données protégées par des sauvegardes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6" grpId="0" animBg="1"/>
      <p:bldP spid="20" grpId="0" animBg="1"/>
      <p:bldP spid="24" grpId="0" animBg="1"/>
      <p:bldP spid="26" grpId="0" animBg="1"/>
      <p:bldP spid="28" grpId="0" animBg="1"/>
      <p:bldP spid="30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En résumé, en quelques chiffres</a:t>
            </a:r>
            <a:endParaRPr lang="en-US" sz="3200" dirty="0"/>
          </a:p>
        </p:txBody>
      </p:sp>
      <p:sp>
        <p:nvSpPr>
          <p:cNvPr id="3" name="anim1-370"/>
          <p:cNvSpPr/>
          <p:nvPr/>
        </p:nvSpPr>
        <p:spPr>
          <a:xfrm>
            <a:off x="731520" y="1920240"/>
            <a:ext cx="2514600" cy="3291840"/>
          </a:xfrm>
          <a:prstGeom prst="roundRect">
            <a:avLst>
              <a:gd name="adj" fmla="val 5455"/>
            </a:avLst>
          </a:prstGeom>
          <a:solidFill>
            <a:srgbClr val="28356B"/>
          </a:solidFill>
          <a:ln w="12700">
            <a:solidFill>
              <a:srgbClr val="4A5C9A"/>
            </a:solidFill>
            <a:prstDash val="solid"/>
          </a:ln>
        </p:spPr>
      </p:sp>
      <p:sp>
        <p:nvSpPr>
          <p:cNvPr id="4" name="anim1-371"/>
          <p:cNvSpPr txBox="1"/>
          <p:nvPr/>
        </p:nvSpPr>
        <p:spPr>
          <a:xfrm>
            <a:off x="731520" y="214884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0" dirty="0"/>
          </a:p>
        </p:txBody>
      </p:sp>
      <p:sp>
        <p:nvSpPr>
          <p:cNvPr id="5" name="anim1-372"/>
          <p:cNvSpPr txBox="1"/>
          <p:nvPr/>
        </p:nvSpPr>
        <p:spPr>
          <a:xfrm>
            <a:off x="868680" y="370332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modules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pour couvrir toute l'activité</a:t>
            </a:r>
            <a:endParaRPr lang="en-US" sz="1500" dirty="0"/>
          </a:p>
        </p:txBody>
      </p:sp>
      <p:sp>
        <p:nvSpPr>
          <p:cNvPr id="6" name="anim2-373"/>
          <p:cNvSpPr/>
          <p:nvPr/>
        </p:nvSpPr>
        <p:spPr>
          <a:xfrm>
            <a:off x="3474720" y="1920240"/>
            <a:ext cx="2514600" cy="3291840"/>
          </a:xfrm>
          <a:prstGeom prst="roundRect">
            <a:avLst>
              <a:gd name="adj" fmla="val 5455"/>
            </a:avLst>
          </a:prstGeom>
          <a:solidFill>
            <a:srgbClr val="28356B"/>
          </a:solidFill>
          <a:ln w="12700">
            <a:solidFill>
              <a:srgbClr val="4A5C9A"/>
            </a:solidFill>
            <a:prstDash val="solid"/>
          </a:ln>
        </p:spPr>
      </p:sp>
      <p:sp>
        <p:nvSpPr>
          <p:cNvPr id="7" name="anim2-374"/>
          <p:cNvSpPr txBox="1"/>
          <p:nvPr/>
        </p:nvSpPr>
        <p:spPr>
          <a:xfrm>
            <a:off x="3474720" y="214884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0" dirty="0"/>
          </a:p>
        </p:txBody>
      </p:sp>
      <p:sp>
        <p:nvSpPr>
          <p:cNvPr id="8" name="anim2-375"/>
          <p:cNvSpPr txBox="1"/>
          <p:nvPr/>
        </p:nvSpPr>
        <p:spPr>
          <a:xfrm>
            <a:off x="3611880" y="370332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rapports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prêts à l'emploi</a:t>
            </a:r>
            <a:endParaRPr lang="en-US" sz="1500" dirty="0"/>
          </a:p>
        </p:txBody>
      </p:sp>
      <p:sp>
        <p:nvSpPr>
          <p:cNvPr id="9" name="anim3-376"/>
          <p:cNvSpPr/>
          <p:nvPr/>
        </p:nvSpPr>
        <p:spPr>
          <a:xfrm>
            <a:off x="6217920" y="1920240"/>
            <a:ext cx="2514600" cy="3291840"/>
          </a:xfrm>
          <a:prstGeom prst="roundRect">
            <a:avLst>
              <a:gd name="adj" fmla="val 5455"/>
            </a:avLst>
          </a:prstGeom>
          <a:solidFill>
            <a:srgbClr val="28356B"/>
          </a:solidFill>
          <a:ln w="12700">
            <a:solidFill>
              <a:srgbClr val="4A5C9A"/>
            </a:solidFill>
            <a:prstDash val="solid"/>
          </a:ln>
        </p:spPr>
      </p:sp>
      <p:sp>
        <p:nvSpPr>
          <p:cNvPr id="10" name="anim3-377"/>
          <p:cNvSpPr txBox="1"/>
          <p:nvPr/>
        </p:nvSpPr>
        <p:spPr>
          <a:xfrm>
            <a:off x="6217920" y="214884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0" dirty="0"/>
          </a:p>
        </p:txBody>
      </p:sp>
      <p:sp>
        <p:nvSpPr>
          <p:cNvPr id="11" name="anim3-378"/>
          <p:cNvSpPr txBox="1"/>
          <p:nvPr/>
        </p:nvSpPr>
        <p:spPr>
          <a:xfrm>
            <a:off x="6355080" y="370332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modes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de facturation des trajets</a:t>
            </a:r>
            <a:endParaRPr lang="en-US" sz="1500" dirty="0"/>
          </a:p>
        </p:txBody>
      </p:sp>
      <p:sp>
        <p:nvSpPr>
          <p:cNvPr id="12" name="anim4-379"/>
          <p:cNvSpPr/>
          <p:nvPr/>
        </p:nvSpPr>
        <p:spPr>
          <a:xfrm>
            <a:off x="8961120" y="1920240"/>
            <a:ext cx="2514600" cy="3291840"/>
          </a:xfrm>
          <a:prstGeom prst="roundRect">
            <a:avLst>
              <a:gd name="adj" fmla="val 5455"/>
            </a:avLst>
          </a:prstGeom>
          <a:solidFill>
            <a:srgbClr val="28356B"/>
          </a:solidFill>
          <a:ln w="12700">
            <a:solidFill>
              <a:srgbClr val="4A5C9A"/>
            </a:solidFill>
            <a:prstDash val="solid"/>
          </a:ln>
        </p:spPr>
      </p:sp>
      <p:sp>
        <p:nvSpPr>
          <p:cNvPr id="13" name="anim4-380"/>
          <p:cNvSpPr txBox="1"/>
          <p:nvPr/>
        </p:nvSpPr>
        <p:spPr>
          <a:xfrm>
            <a:off x="8961120" y="2148840"/>
            <a:ext cx="2514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0" dirty="0"/>
          </a:p>
        </p:txBody>
      </p:sp>
      <p:sp>
        <p:nvSpPr>
          <p:cNvPr id="14" name="anim4-381"/>
          <p:cNvSpPr txBox="1"/>
          <p:nvPr/>
        </p:nvSpPr>
        <p:spPr>
          <a:xfrm>
            <a:off x="9098280" y="3703320"/>
            <a:ext cx="2240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seule application</a:t>
            </a:r>
            <a:endParaRPr lang="en-US" sz="15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</a:rPr>
              <a:t>pour la direction et les agents</a:t>
            </a:r>
            <a:endParaRPr lang="en-US" sz="1500" dirty="0"/>
          </a:p>
        </p:txBody>
      </p:sp>
      <p:sp>
        <p:nvSpPr>
          <p:cNvPr id="15" name="anim5-382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Plus des alertes sur les échéances, le suivi GPS, les exports Excel, CSV, PDF et les sauvegardes.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10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que ça change pour chacun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CONCLUSION</a:t>
            </a:r>
            <a:endParaRPr lang="en-US" sz="1000" dirty="0"/>
          </a:p>
        </p:txBody>
      </p:sp>
      <p:sp>
        <p:nvSpPr>
          <p:cNvPr id="7" name="anim1-383"/>
          <p:cNvSpPr/>
          <p:nvPr/>
        </p:nvSpPr>
        <p:spPr>
          <a:xfrm>
            <a:off x="548640" y="1463040"/>
            <a:ext cx="5394960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8" name="anim1-384"/>
          <p:cNvSpPr/>
          <p:nvPr/>
        </p:nvSpPr>
        <p:spPr>
          <a:xfrm>
            <a:off x="822960" y="1691640"/>
            <a:ext cx="777240" cy="777240"/>
          </a:xfrm>
          <a:prstGeom prst="roundRect">
            <a:avLst>
              <a:gd name="adj" fmla="val 22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9" name="anim1-38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42" y="1893722"/>
            <a:ext cx="373075" cy="373075"/>
          </a:xfrm>
          <a:prstGeom prst="rect">
            <a:avLst/>
          </a:prstGeom>
        </p:spPr>
      </p:pic>
      <p:sp>
        <p:nvSpPr>
          <p:cNvPr id="10" name="anim1-386"/>
          <p:cNvSpPr txBox="1"/>
          <p:nvPr/>
        </p:nvSpPr>
        <p:spPr>
          <a:xfrm>
            <a:off x="1783080" y="169164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la direction</a:t>
            </a:r>
            <a:endParaRPr lang="en-US" sz="2200" dirty="0"/>
          </a:p>
        </p:txBody>
      </p:sp>
      <p:pic>
        <p:nvPicPr>
          <p:cNvPr id="11" name="anim2-38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88920"/>
            <a:ext cx="292608" cy="292608"/>
          </a:xfrm>
          <a:prstGeom prst="rect">
            <a:avLst/>
          </a:prstGeom>
        </p:spPr>
      </p:pic>
      <p:sp>
        <p:nvSpPr>
          <p:cNvPr id="12" name="anim2-388"/>
          <p:cNvSpPr txBox="1"/>
          <p:nvPr/>
        </p:nvSpPr>
        <p:spPr>
          <a:xfrm>
            <a:off x="1325880" y="274320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Vision en temps réel de l'activité</a:t>
            </a:r>
            <a:endParaRPr lang="en-US" sz="1700" dirty="0"/>
          </a:p>
        </p:txBody>
      </p:sp>
      <p:pic>
        <p:nvPicPr>
          <p:cNvPr id="13" name="anim3-389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593592"/>
            <a:ext cx="292608" cy="292608"/>
          </a:xfrm>
          <a:prstGeom prst="rect">
            <a:avLst/>
          </a:prstGeom>
        </p:spPr>
      </p:pic>
      <p:sp>
        <p:nvSpPr>
          <p:cNvPr id="14" name="anim3-390"/>
          <p:cNvSpPr txBox="1"/>
          <p:nvPr/>
        </p:nvSpPr>
        <p:spPr>
          <a:xfrm>
            <a:off x="1325880" y="3547872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Rentabilité par véhicule, chauffeur et itinéraire</a:t>
            </a:r>
            <a:endParaRPr lang="en-US" sz="1700" dirty="0"/>
          </a:p>
        </p:txBody>
      </p:sp>
      <p:pic>
        <p:nvPicPr>
          <p:cNvPr id="15" name="anim4-39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98264"/>
            <a:ext cx="292608" cy="292608"/>
          </a:xfrm>
          <a:prstGeom prst="rect">
            <a:avLst/>
          </a:prstGeom>
        </p:spPr>
      </p:pic>
      <p:sp>
        <p:nvSpPr>
          <p:cNvPr id="16" name="anim4-392"/>
          <p:cNvSpPr txBox="1"/>
          <p:nvPr/>
        </p:nvSpPr>
        <p:spPr>
          <a:xfrm>
            <a:off x="1325880" y="435254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Coûts de carburant et d'entretien maîtrisés</a:t>
            </a:r>
            <a:endParaRPr lang="en-US" sz="1700" dirty="0"/>
          </a:p>
        </p:txBody>
      </p:sp>
      <p:pic>
        <p:nvPicPr>
          <p:cNvPr id="17" name="anim5-39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202936"/>
            <a:ext cx="292608" cy="292608"/>
          </a:xfrm>
          <a:prstGeom prst="rect">
            <a:avLst/>
          </a:prstGeom>
        </p:spPr>
      </p:pic>
      <p:sp>
        <p:nvSpPr>
          <p:cNvPr id="18" name="anim5-394"/>
          <p:cNvSpPr txBox="1"/>
          <p:nvPr/>
        </p:nvSpPr>
        <p:spPr>
          <a:xfrm>
            <a:off x="1325880" y="515721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Décisions appuyées sur des rapports</a:t>
            </a:r>
            <a:endParaRPr lang="en-US" sz="1700" dirty="0"/>
          </a:p>
        </p:txBody>
      </p:sp>
      <p:sp>
        <p:nvSpPr>
          <p:cNvPr id="19" name="anim6-395"/>
          <p:cNvSpPr/>
          <p:nvPr/>
        </p:nvSpPr>
        <p:spPr>
          <a:xfrm>
            <a:off x="6217920" y="1463040"/>
            <a:ext cx="5394960" cy="4663440"/>
          </a:xfrm>
          <a:prstGeom prst="roundRect">
            <a:avLst>
              <a:gd name="adj" fmla="val 2353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0" name="anim6-396"/>
          <p:cNvSpPr/>
          <p:nvPr/>
        </p:nvSpPr>
        <p:spPr>
          <a:xfrm>
            <a:off x="6492240" y="1691640"/>
            <a:ext cx="777240" cy="77724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1" name="anim6-39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94322" y="1893722"/>
            <a:ext cx="373075" cy="373075"/>
          </a:xfrm>
          <a:prstGeom prst="rect">
            <a:avLst/>
          </a:prstGeom>
        </p:spPr>
      </p:pic>
      <p:sp>
        <p:nvSpPr>
          <p:cNvPr id="22" name="anim6-398"/>
          <p:cNvSpPr txBox="1"/>
          <p:nvPr/>
        </p:nvSpPr>
        <p:spPr>
          <a:xfrm>
            <a:off x="7452360" y="1691640"/>
            <a:ext cx="3931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Pour les agents</a:t>
            </a:r>
            <a:endParaRPr lang="en-US" sz="2200" dirty="0"/>
          </a:p>
        </p:txBody>
      </p:sp>
      <p:pic>
        <p:nvPicPr>
          <p:cNvPr id="23" name="anim7-39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7960" y="2788920"/>
            <a:ext cx="292608" cy="292608"/>
          </a:xfrm>
          <a:prstGeom prst="rect">
            <a:avLst/>
          </a:prstGeom>
        </p:spPr>
      </p:pic>
      <p:sp>
        <p:nvSpPr>
          <p:cNvPr id="24" name="anim7-400"/>
          <p:cNvSpPr txBox="1"/>
          <p:nvPr/>
        </p:nvSpPr>
        <p:spPr>
          <a:xfrm>
            <a:off x="6995160" y="2743200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Une seule application au lieu de plusieurs outils</a:t>
            </a:r>
            <a:endParaRPr lang="en-US" sz="1700" dirty="0"/>
          </a:p>
        </p:txBody>
      </p:sp>
      <p:pic>
        <p:nvPicPr>
          <p:cNvPr id="25" name="anim8-401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3593592"/>
            <a:ext cx="292608" cy="292608"/>
          </a:xfrm>
          <a:prstGeom prst="rect">
            <a:avLst/>
          </a:prstGeom>
        </p:spPr>
      </p:pic>
      <p:sp>
        <p:nvSpPr>
          <p:cNvPr id="26" name="anim8-402"/>
          <p:cNvSpPr txBox="1"/>
          <p:nvPr/>
        </p:nvSpPr>
        <p:spPr>
          <a:xfrm>
            <a:off x="6995160" y="3547872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Informations retrouvées en quelques secondes</a:t>
            </a:r>
            <a:endParaRPr lang="en-US" sz="1700" dirty="0"/>
          </a:p>
        </p:txBody>
      </p:sp>
      <p:pic>
        <p:nvPicPr>
          <p:cNvPr id="27" name="anim9-403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60" y="4398264"/>
            <a:ext cx="292608" cy="292608"/>
          </a:xfrm>
          <a:prstGeom prst="rect">
            <a:avLst/>
          </a:prstGeom>
        </p:spPr>
      </p:pic>
      <p:sp>
        <p:nvSpPr>
          <p:cNvPr id="28" name="anim9-404"/>
          <p:cNvSpPr txBox="1"/>
          <p:nvPr/>
        </p:nvSpPr>
        <p:spPr>
          <a:xfrm>
            <a:off x="6995160" y="435254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Rappels automatiques des échéances</a:t>
            </a:r>
            <a:endParaRPr lang="en-US" sz="1700" dirty="0"/>
          </a:p>
        </p:txBody>
      </p:sp>
      <p:pic>
        <p:nvPicPr>
          <p:cNvPr id="29" name="anim10-40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7960" y="5202936"/>
            <a:ext cx="292608" cy="292608"/>
          </a:xfrm>
          <a:prstGeom prst="rect">
            <a:avLst/>
          </a:prstGeom>
        </p:spPr>
      </p:pic>
      <p:sp>
        <p:nvSpPr>
          <p:cNvPr id="30" name="anim10-406"/>
          <p:cNvSpPr txBox="1"/>
          <p:nvPr/>
        </p:nvSpPr>
        <p:spPr>
          <a:xfrm>
            <a:off x="6995160" y="515721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Moins de saisie grâce aux imports et exports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2" grpId="0" animBg="1"/>
      <p:bldP spid="24" grpId="0" animBg="1"/>
      <p:bldP spid="26" grpId="0" animBg="1"/>
      <p:bldP spid="28" grpId="0" animBg="1"/>
      <p:bldP spid="3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Démonstration : un circuit de travail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CONCLUSION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En direct dans l'application, de la commande au rapport.</a:t>
            </a:r>
            <a:endParaRPr lang="en-US" sz="1700" dirty="0"/>
          </a:p>
        </p:txBody>
      </p:sp>
      <p:sp>
        <p:nvSpPr>
          <p:cNvPr id="8" name="anim1-407"/>
          <p:cNvSpPr/>
          <p:nvPr/>
        </p:nvSpPr>
        <p:spPr>
          <a:xfrm>
            <a:off x="548640" y="2788920"/>
            <a:ext cx="11064240" cy="0"/>
          </a:xfrm>
          <a:prstGeom prst="line">
            <a:avLst/>
          </a:prstGeom>
          <a:noFill/>
          <a:ln w="330200">
            <a:solidFill>
              <a:srgbClr val="D5DCEB"/>
            </a:solidFill>
            <a:prstDash val="solid"/>
          </a:ln>
        </p:spPr>
      </p:sp>
      <p:sp>
        <p:nvSpPr>
          <p:cNvPr id="9" name="anim1-408"/>
          <p:cNvSpPr/>
          <p:nvPr/>
        </p:nvSpPr>
        <p:spPr>
          <a:xfrm>
            <a:off x="685800" y="2788920"/>
            <a:ext cx="1078992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pic>
        <p:nvPicPr>
          <p:cNvPr id="10" name="anim1-40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65960"/>
            <a:ext cx="548640" cy="548640"/>
          </a:xfrm>
          <a:prstGeom prst="rect">
            <a:avLst/>
          </a:prstGeom>
        </p:spPr>
      </p:pic>
      <p:sp>
        <p:nvSpPr>
          <p:cNvPr id="11" name="anim2-410"/>
          <p:cNvSpPr/>
          <p:nvPr/>
        </p:nvSpPr>
        <p:spPr>
          <a:xfrm>
            <a:off x="1234440" y="2240280"/>
            <a:ext cx="1097280" cy="109728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pic>
        <p:nvPicPr>
          <p:cNvPr id="12" name="anim2-4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192" y="2542032"/>
            <a:ext cx="493776" cy="493776"/>
          </a:xfrm>
          <a:prstGeom prst="rect">
            <a:avLst/>
          </a:prstGeom>
        </p:spPr>
      </p:pic>
      <p:sp>
        <p:nvSpPr>
          <p:cNvPr id="13" name="anim2-412"/>
          <p:cNvSpPr/>
          <p:nvPr/>
        </p:nvSpPr>
        <p:spPr>
          <a:xfrm>
            <a:off x="2039112" y="2148840"/>
            <a:ext cx="384048" cy="384048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4" name="anim2-413"/>
          <p:cNvSpPr txBox="1"/>
          <p:nvPr/>
        </p:nvSpPr>
        <p:spPr>
          <a:xfrm>
            <a:off x="203911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anim2-414"/>
          <p:cNvSpPr txBox="1"/>
          <p:nvPr/>
        </p:nvSpPr>
        <p:spPr>
          <a:xfrm>
            <a:off x="777240" y="352044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Client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Customer › Add Customer</a:t>
            </a:r>
            <a:endParaRPr lang="en-US" sz="1500" dirty="0"/>
          </a:p>
        </p:txBody>
      </p:sp>
      <p:sp>
        <p:nvSpPr>
          <p:cNvPr id="16" name="anim3-415"/>
          <p:cNvSpPr/>
          <p:nvPr/>
        </p:nvSpPr>
        <p:spPr>
          <a:xfrm>
            <a:off x="3383280" y="2240280"/>
            <a:ext cx="1097280" cy="109728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pic>
        <p:nvPicPr>
          <p:cNvPr id="17" name="anim3-4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85032" y="2542032"/>
            <a:ext cx="493776" cy="493776"/>
          </a:xfrm>
          <a:prstGeom prst="rect">
            <a:avLst/>
          </a:prstGeom>
        </p:spPr>
      </p:pic>
      <p:sp>
        <p:nvSpPr>
          <p:cNvPr id="18" name="anim3-417"/>
          <p:cNvSpPr/>
          <p:nvPr/>
        </p:nvSpPr>
        <p:spPr>
          <a:xfrm>
            <a:off x="4187952" y="2148840"/>
            <a:ext cx="384048" cy="384048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anim3-418"/>
          <p:cNvSpPr txBox="1"/>
          <p:nvPr/>
        </p:nvSpPr>
        <p:spPr>
          <a:xfrm>
            <a:off x="418795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0" name="anim3-419"/>
          <p:cNvSpPr txBox="1"/>
          <p:nvPr/>
        </p:nvSpPr>
        <p:spPr>
          <a:xfrm>
            <a:off x="2926080" y="352044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Trajet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Trips › Add Trips</a:t>
            </a:r>
            <a:endParaRPr lang="en-US" sz="1500" dirty="0"/>
          </a:p>
        </p:txBody>
      </p:sp>
      <p:sp>
        <p:nvSpPr>
          <p:cNvPr id="21" name="anim4-420"/>
          <p:cNvSpPr/>
          <p:nvPr/>
        </p:nvSpPr>
        <p:spPr>
          <a:xfrm>
            <a:off x="5532120" y="2240280"/>
            <a:ext cx="1097280" cy="109728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pic>
        <p:nvPicPr>
          <p:cNvPr id="22" name="anim4-42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872" y="2542032"/>
            <a:ext cx="493776" cy="493776"/>
          </a:xfrm>
          <a:prstGeom prst="rect">
            <a:avLst/>
          </a:prstGeom>
        </p:spPr>
      </p:pic>
      <p:sp>
        <p:nvSpPr>
          <p:cNvPr id="23" name="anim4-422"/>
          <p:cNvSpPr/>
          <p:nvPr/>
        </p:nvSpPr>
        <p:spPr>
          <a:xfrm>
            <a:off x="6336792" y="2148840"/>
            <a:ext cx="384048" cy="384048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4" name="anim4-423"/>
          <p:cNvSpPr txBox="1"/>
          <p:nvPr/>
        </p:nvSpPr>
        <p:spPr>
          <a:xfrm>
            <a:off x="633679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anim4-424"/>
          <p:cNvSpPr txBox="1"/>
          <p:nvPr/>
        </p:nvSpPr>
        <p:spPr>
          <a:xfrm>
            <a:off x="5074920" y="352044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Carburant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Fuel › Add Fuel</a:t>
            </a:r>
            <a:endParaRPr lang="en-US" sz="1500" dirty="0"/>
          </a:p>
        </p:txBody>
      </p:sp>
      <p:sp>
        <p:nvSpPr>
          <p:cNvPr id="26" name="anim5-425"/>
          <p:cNvSpPr/>
          <p:nvPr/>
        </p:nvSpPr>
        <p:spPr>
          <a:xfrm>
            <a:off x="7680960" y="2240280"/>
            <a:ext cx="1097280" cy="109728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pic>
        <p:nvPicPr>
          <p:cNvPr id="27" name="anim5-42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2712" y="2542032"/>
            <a:ext cx="493776" cy="493776"/>
          </a:xfrm>
          <a:prstGeom prst="rect">
            <a:avLst/>
          </a:prstGeom>
        </p:spPr>
      </p:pic>
      <p:sp>
        <p:nvSpPr>
          <p:cNvPr id="28" name="anim5-427"/>
          <p:cNvSpPr/>
          <p:nvPr/>
        </p:nvSpPr>
        <p:spPr>
          <a:xfrm>
            <a:off x="8485632" y="2148840"/>
            <a:ext cx="384048" cy="384048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9" name="anim5-428"/>
          <p:cNvSpPr txBox="1"/>
          <p:nvPr/>
        </p:nvSpPr>
        <p:spPr>
          <a:xfrm>
            <a:off x="848563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0" name="anim5-429"/>
          <p:cNvSpPr txBox="1"/>
          <p:nvPr/>
        </p:nvSpPr>
        <p:spPr>
          <a:xfrm>
            <a:off x="7223760" y="352044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Transaction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Accounts › Add Transactions</a:t>
            </a:r>
            <a:endParaRPr lang="en-US" sz="1500" dirty="0"/>
          </a:p>
        </p:txBody>
      </p:sp>
      <p:sp>
        <p:nvSpPr>
          <p:cNvPr id="31" name="anim6-430"/>
          <p:cNvSpPr/>
          <p:nvPr/>
        </p:nvSpPr>
        <p:spPr>
          <a:xfrm>
            <a:off x="9829800" y="2240280"/>
            <a:ext cx="1097280" cy="109728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pic>
        <p:nvPicPr>
          <p:cNvPr id="32" name="anim6-43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31552" y="2542032"/>
            <a:ext cx="493776" cy="493776"/>
          </a:xfrm>
          <a:prstGeom prst="rect">
            <a:avLst/>
          </a:prstGeom>
        </p:spPr>
      </p:pic>
      <p:sp>
        <p:nvSpPr>
          <p:cNvPr id="33" name="anim6-432"/>
          <p:cNvSpPr/>
          <p:nvPr/>
        </p:nvSpPr>
        <p:spPr>
          <a:xfrm>
            <a:off x="10634472" y="2148840"/>
            <a:ext cx="384048" cy="384048"/>
          </a:xfrm>
          <a:prstGeom prst="ellipse">
            <a:avLst/>
          </a:prstGeom>
          <a:solidFill>
            <a:schemeClr val="accent4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34" name="anim6-433"/>
          <p:cNvSpPr txBox="1"/>
          <p:nvPr/>
        </p:nvSpPr>
        <p:spPr>
          <a:xfrm>
            <a:off x="1063447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5" name="anim6-434"/>
          <p:cNvSpPr txBox="1"/>
          <p:nvPr/>
        </p:nvSpPr>
        <p:spPr>
          <a:xfrm>
            <a:off x="9372600" y="3520440"/>
            <a:ext cx="20116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Tableau de bord et rapport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Dashboard · Reports</a:t>
            </a:r>
            <a:endParaRPr lang="en-US" sz="1500" dirty="0"/>
          </a:p>
        </p:txBody>
      </p:sp>
      <p:sp>
        <p:nvSpPr>
          <p:cNvPr id="36" name="anim7-435"/>
          <p:cNvSpPr/>
          <p:nvPr/>
        </p:nvSpPr>
        <p:spPr>
          <a:xfrm>
            <a:off x="548640" y="484632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37" name="anim7-436"/>
          <p:cNvSpPr/>
          <p:nvPr/>
        </p:nvSpPr>
        <p:spPr>
          <a:xfrm>
            <a:off x="777240" y="5074920"/>
            <a:ext cx="731520" cy="731520"/>
          </a:xfrm>
          <a:prstGeom prst="roundRect">
            <a:avLst>
              <a:gd name="adj" fmla="val 22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8" name="anim7-43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7435" y="5265115"/>
            <a:ext cx="351130" cy="351130"/>
          </a:xfrm>
          <a:prstGeom prst="rect">
            <a:avLst/>
          </a:prstGeom>
        </p:spPr>
      </p:pic>
      <p:sp>
        <p:nvSpPr>
          <p:cNvPr id="39" name="anim7-438"/>
          <p:cNvSpPr txBox="1"/>
          <p:nvPr/>
        </p:nvSpPr>
        <p:spPr>
          <a:xfrm>
            <a:off x="1737360" y="4846320"/>
            <a:ext cx="9692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Objectif  </a:t>
            </a:r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montrer qu'une seule saisie alimente tout le reste : le trajet apparaît dans le calendrier, le carburant et la transaction dans les finances, puis dans le tableau de bord et les rapports.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9" grpId="0" animBg="1"/>
      <p:bldP spid="20" grpId="0" animBg="1"/>
      <p:bldP spid="24" grpId="0" animBg="1"/>
      <p:bldP spid="25" grpId="0" animBg="1"/>
      <p:bldP spid="29" grpId="0" animBg="1"/>
      <p:bldP spid="30" grpId="0" animBg="1"/>
      <p:bldP spid="34" grpId="0" animBg="1"/>
      <p:bldP spid="35" grpId="0" animBg="1"/>
      <p:bldP spid="3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822960"/>
            <a:ext cx="3566160" cy="3566160"/>
          </a:xfrm>
          <a:prstGeom prst="ellipse">
            <a:avLst/>
          </a:prstGeom>
          <a:solidFill>
            <a:schemeClr val="accent1">
              <a:alpha val="45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3" name="anim1-4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600200"/>
            <a:ext cx="2011680" cy="201168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et échanges</a:t>
            </a:r>
            <a:endParaRPr lang="en-US" sz="4000" dirty="0"/>
          </a:p>
        </p:txBody>
      </p:sp>
      <p:sp>
        <p:nvSpPr>
          <p:cNvPr id="5" name="anim2-440"/>
          <p:cNvSpPr txBox="1"/>
          <p:nvPr/>
        </p:nvSpPr>
        <p:spPr>
          <a:xfrm>
            <a:off x="731520" y="3703320"/>
            <a:ext cx="6583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Merci de votre attention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1463040" y="566928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Coûts de fonctionnement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411480"/>
            <a:ext cx="731520" cy="731520"/>
          </a:xfrm>
          <a:prstGeom prst="roundRect">
            <a:avLst>
              <a:gd name="adj" fmla="val 1875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94360"/>
            <a:ext cx="365760" cy="365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481328" y="384048"/>
            <a:ext cx="91440" cy="914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645920" y="27432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5"/>
                </a:solidFill>
              </a:rPr>
              <a:t>RÉSERVE</a:t>
            </a:r>
            <a:endParaRPr lang="en-US" sz="1000" dirty="0"/>
          </a:p>
        </p:txBody>
      </p:sp>
      <p:sp>
        <p:nvSpPr>
          <p:cNvPr id="7" name="anim1-441"/>
          <p:cNvSpPr/>
          <p:nvPr/>
        </p:nvSpPr>
        <p:spPr>
          <a:xfrm>
            <a:off x="548640" y="1463040"/>
            <a:ext cx="512064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8" name="anim1-442"/>
          <p:cNvSpPr/>
          <p:nvPr/>
        </p:nvSpPr>
        <p:spPr>
          <a:xfrm>
            <a:off x="777240" y="1691640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anim1-44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1834286"/>
            <a:ext cx="263347" cy="263347"/>
          </a:xfrm>
          <a:prstGeom prst="rect">
            <a:avLst/>
          </a:prstGeom>
        </p:spPr>
      </p:pic>
      <p:sp>
        <p:nvSpPr>
          <p:cNvPr id="10" name="anim1-444"/>
          <p:cNvSpPr txBox="1"/>
          <p:nvPr/>
        </p:nvSpPr>
        <p:spPr>
          <a:xfrm>
            <a:off x="1463040" y="169164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Hébergement du serveur</a:t>
            </a:r>
            <a:endParaRPr lang="en-US" sz="1600" dirty="0"/>
          </a:p>
        </p:txBody>
      </p:sp>
      <p:sp>
        <p:nvSpPr>
          <p:cNvPr id="11" name="anim1-445"/>
          <p:cNvSpPr txBox="1"/>
          <p:nvPr/>
        </p:nvSpPr>
        <p:spPr>
          <a:xfrm>
            <a:off x="777240" y="23774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100 000 FCFA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par an</a:t>
            </a:r>
            <a:endParaRPr lang="en-US" sz="1500" dirty="0"/>
          </a:p>
        </p:txBody>
      </p:sp>
      <p:sp>
        <p:nvSpPr>
          <p:cNvPr id="12" name="anim2-446"/>
          <p:cNvSpPr/>
          <p:nvPr/>
        </p:nvSpPr>
        <p:spPr>
          <a:xfrm>
            <a:off x="548640" y="3840480"/>
            <a:ext cx="5120640" cy="2103120"/>
          </a:xfrm>
          <a:prstGeom prst="roundRect">
            <a:avLst>
              <a:gd name="adj" fmla="val 5217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3" name="anim2-447"/>
          <p:cNvSpPr/>
          <p:nvPr/>
        </p:nvSpPr>
        <p:spPr>
          <a:xfrm>
            <a:off x="777240" y="4069080"/>
            <a:ext cx="548640" cy="548640"/>
          </a:xfrm>
          <a:prstGeom prst="roundRect">
            <a:avLst>
              <a:gd name="adj" fmla="val 2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4" name="anim2-4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211726"/>
            <a:ext cx="263347" cy="263347"/>
          </a:xfrm>
          <a:prstGeom prst="rect">
            <a:avLst/>
          </a:prstGeom>
        </p:spPr>
      </p:pic>
      <p:sp>
        <p:nvSpPr>
          <p:cNvPr id="15" name="anim2-449"/>
          <p:cNvSpPr txBox="1"/>
          <p:nvPr/>
        </p:nvSpPr>
        <p:spPr>
          <a:xfrm>
            <a:off x="1463040" y="406908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Maintenance</a:t>
            </a:r>
            <a:endParaRPr lang="en-US" sz="1600" dirty="0"/>
          </a:p>
        </p:txBody>
      </p:sp>
      <p:sp>
        <p:nvSpPr>
          <p:cNvPr id="16" name="anim2-450"/>
          <p:cNvSpPr txBox="1"/>
          <p:nvPr/>
        </p:nvSpPr>
        <p:spPr>
          <a:xfrm>
            <a:off x="777240" y="475488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100 000 FCFA</a:t>
            </a:r>
            <a:endParaRPr lang="en-US" sz="15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par mois, formation des agents comprise</a:t>
            </a:r>
            <a:endParaRPr lang="en-US" sz="1500" dirty="0"/>
          </a:p>
        </p:txBody>
      </p:sp>
      <p:sp>
        <p:nvSpPr>
          <p:cNvPr id="17" name="anim3-451"/>
          <p:cNvSpPr txBox="1"/>
          <p:nvPr/>
        </p:nvSpPr>
        <p:spPr>
          <a:xfrm>
            <a:off x="6126480" y="1463040"/>
            <a:ext cx="54864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Calendrier de paiement de la maintenance</a:t>
            </a:r>
            <a:endParaRPr lang="en-US" sz="1700" dirty="0"/>
          </a:p>
        </p:txBody>
      </p:sp>
      <p:sp>
        <p:nvSpPr>
          <p:cNvPr id="18" name="anim3-452"/>
          <p:cNvSpPr/>
          <p:nvPr/>
        </p:nvSpPr>
        <p:spPr>
          <a:xfrm>
            <a:off x="6126480" y="2011680"/>
            <a:ext cx="5532120" cy="1737360"/>
          </a:xfrm>
          <a:prstGeom prst="roundRect">
            <a:avLst>
              <a:gd name="adj" fmla="val 6316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19" name="anim3-453"/>
          <p:cNvSpPr txBox="1"/>
          <p:nvPr/>
        </p:nvSpPr>
        <p:spPr>
          <a:xfrm>
            <a:off x="6355080" y="210312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Premier paiement : 300 000 FCFA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2"/>
                </a:solidFill>
              </a:rPr>
              <a:t>1er mois de maintenance + 2 mois payés d'avance (mois 2 et 3)</a:t>
            </a:r>
            <a:endParaRPr lang="en-US" sz="1500" dirty="0"/>
          </a:p>
        </p:txBody>
      </p:sp>
      <p:sp>
        <p:nvSpPr>
          <p:cNvPr id="20" name="anim4-454"/>
          <p:cNvSpPr/>
          <p:nvPr/>
        </p:nvSpPr>
        <p:spPr>
          <a:xfrm>
            <a:off x="8686800" y="3840480"/>
            <a:ext cx="411480" cy="411480"/>
          </a:xfrm>
          <a:prstGeom prst="downArrow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anim4-455"/>
          <p:cNvSpPr/>
          <p:nvPr/>
        </p:nvSpPr>
        <p:spPr>
          <a:xfrm>
            <a:off x="6126480" y="4343400"/>
            <a:ext cx="5532120" cy="1600200"/>
          </a:xfrm>
          <a:prstGeom prst="roundRect">
            <a:avLst>
              <a:gd name="adj" fmla="val 6857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  <a:effectLst>
            <a:outerShdw sx="100000" sy="100000" kx="0" ky="0" algn="bl" rotWithShape="0" blurRad="127000" dist="38100" dir="5400000">
              <a:srgbClr val="1E2340">
                <a:alpha val="8000"/>
              </a:srgbClr>
            </a:outerShdw>
          </a:effectLst>
        </p:spPr>
      </p:sp>
      <p:sp>
        <p:nvSpPr>
          <p:cNvPr id="22" name="anim4-456"/>
          <p:cNvSpPr txBox="1"/>
          <p:nvPr/>
        </p:nvSpPr>
        <p:spPr>
          <a:xfrm>
            <a:off x="6355080" y="4434840"/>
            <a:ext cx="51206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À partir du 4ᵉ mois : 100 000 FCFA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réglés chaque mois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5" grpId="0" animBg="1"/>
      <p:bldP spid="16" grpId="0" animBg="1"/>
      <p:bldP spid="17" grpId="0" animBg="1"/>
      <p:bldP spid="19" grpId="0" animBg="1"/>
      <p:bldP spid="22" grpId="0" animBg="1"/>
    </p:bldLst>
  </p:timing>
</p:sld>
</file>

<file path=ppt/theme/theme1.xml><?xml version="1.0" encoding="utf-8"?>
<a:theme xmlns:a="http://schemas.openxmlformats.org/drawingml/2006/main" name="DTI">
  <a:themeElements>
    <a:clrScheme name="DTI">
      <a:dk1>
        <a:srgbClr val="1B2430"/>
      </a:dk1>
      <a:lt1>
        <a:srgbClr val="FFFFFF"/>
      </a:lt1>
      <a:dk2>
        <a:srgbClr val="1E2340"/>
      </a:dk2>
      <a:lt2>
        <a:srgbClr val="EEF2FA"/>
      </a:lt2>
      <a:accent1>
        <a:srgbClr val="3B5BA9"/>
      </a:accent1>
      <a:accent2>
        <a:srgbClr val="A9BCEB"/>
      </a:accent2>
      <a:accent3>
        <a:srgbClr val="3F8A6A"/>
      </a:accent3>
      <a:accent4>
        <a:srgbClr val="C60007"/>
      </a:accent4>
      <a:accent5>
        <a:srgbClr val="6B7584"/>
      </a:accent5>
      <a:accent6>
        <a:srgbClr val="E1E6F0"/>
      </a:accent6>
      <a:hlink>
        <a:srgbClr val="3B5BA9"/>
      </a:hlink>
      <a:folHlink>
        <a:srgbClr val="6B7584"/>
      </a:folHlink>
    </a:clrScheme>
    <a:fontScheme name="DTI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Division Terrestre Internationale</dc:title>
  <dc:subject>PptxGenJS Presentation</dc:subject>
  <dc:creator>PptxGenJS</dc:creator>
  <cp:lastModifiedBy>PptxGenJS</cp:lastModifiedBy>
  <cp:revision>1</cp:revision>
  <dcterms:created xsi:type="dcterms:W3CDTF">2026-10-30T02:44:21Z</dcterms:created>
  <dcterms:modified xsi:type="dcterms:W3CDTF">2026-10-30T02:44:21Z</dcterms:modified>
</cp:coreProperties>
</file>