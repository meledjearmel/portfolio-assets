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7f7d216-2a48-6b6f-fc65-55bd75ec3f6e}">
          <p14:sldIdLst>
            <p14:sldId id="256"/>
            <p14:sldId id="257"/>
            <p14:sldId id="258"/>
          </p14:sldIdLst>
        </p14:section>
        <p14:section name="Pilotage" id="{5d5bbacf-2fa5-e3be-ca33-79c7c16f4837}">
          <p14:sldIdLst>
            <p14:sldId id="259"/>
          </p14:sldIdLst>
        </p14:section>
        <p14:section name="Flotte" id="{56115653-f612-1e5d-16c1-b8c55089a858}">
          <p14:sldIdLst>
            <p14:sldId id="260"/>
            <p14:sldId id="261"/>
            <p14:sldId id="262"/>
          </p14:sldIdLst>
        </p14:section>
        <p14:section name="Activité commerciale" id="{bf5aa824-1951-f25e-5931-4b029f7e493b}">
          <p14:sldIdLst>
            <p14:sldId id="263"/>
          </p14:sldIdLst>
        </p14:section>
        <p14:section name="Exploitation" id="{4fb43cca-222b-ddea-6361-be1ba8450460}">
          <p14:sldIdLst>
            <p14:sldId id="264"/>
            <p14:sldId id="265"/>
          </p14:sldIdLst>
        </p14:section>
        <p14:section name="Finances et pilotage" id="{bec73b29-20e5-61bf-57d2-95204b54e994}">
          <p14:sldIdLst>
            <p14:sldId id="266"/>
            <p14:sldId id="267"/>
          </p14:sldIdLst>
        </p14:section>
        <p14:section name="Administration" id="{04d31f6f-195b-f9f1-85d9-a610cc40c5f7}">
          <p14:sldIdLst>
            <p14:sldId id="268"/>
            <p14:sldId id="269"/>
          </p14:sldIdLst>
        </p14:section>
        <p14:section name="Conclusion" id="{6ee108fe-4518-bdec-14ad-ef62d6d91cdd}">
          <p14:sldIdLst>
            <p14:sldId id="270"/>
            <p14:sldId id="271"/>
            <p14:sldId id="272"/>
          </p14:sldIdLst>
        </p14:section>
        <p14:section name="Réserve" id="{a9bac32a-e506-f338-4662-37ff6c232f7a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Accueillir les participants (agents et direction). Annoncer le déroulé : présentation du logiciel (ce qu'il sait faire, ses modules, comment et pourquoi l'utiliser), puis démonstration en direct d'un petit circuit de travail, puis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Partir du quotidien des participants : demander comment ils savent aujourd'hui quel camion est disponible, quand expire une assurance, ou combien a coûté un véhicule le mois dernier. Le logiciel répond à ces trois besoins : centraliser, alerter, chiffrer.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la carte du logiciel : 18 modules dans le menu latéral, regroupés ici en 6 familles pour faciliter la lecture. Les libellés restent en anglais dans l'application : on les garde tels quels pour que chacun s'y retrouve à l'écran. Chaque famille est détaillée dans les diapositives suivantes.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le tableau de bord en direct pendant la démonstration. Insister sur le calendrier Availability : c'est le premier réflexe avant de planifier un trajet.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Points à montrer : la colonne des dates d'expiration en rouge, l'import en masse (Bulk Import), et les boutons d'export présents sur toutes les listes du logiciel.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Faire le lien avec la sécurité et la conformité : un permis expiré est affiché en rouge dans la liste. Les fournisseurs de véhicules (Vehicle Vendor's) concernent les véhicules loués à des partenaires.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Préciser que le suivi GPS nécessite un boîtier GPS relié à chaque véhicule (synchronisation Traccar, visible sur le tableau de bord). Montrer la carte de l'historique si un véhicule est équipé.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sur la souplesse de facturation (diapositive suivante en encart). La réservation peut être envoyée au client par e-mail ou SMS. Ce module servira de point de départ à la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qu'un entretien consomme des pièces du stock et peut notifier des membres de l'équipe. Les rappels apparaissent aussi sur le tableau de bord.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compteur kilométrique saisi à chaque plein permet de comparer consommation et distance. Le rapport Fuel du module Reports reprend ces données.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la liste des transactions filtrée par période, avec le total des débits et des crédits. Les catégories sont personnalisables : à définir avec la direction financière.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la direction : les rapports Top véhicules et Top itinéraires montrent où l'entreprise gagne et perd de l'argent. Pour les agents : les rapports remplacent les synthèses faites à la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droits se règlent finement, module par module et action par action. Les profils (exploitation, finance, direction…) seront définis avec l'organisation avant la mise en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paramètres sont réservés à l'administrateur. Mentionner aussi la configuration de la carte (MAP API) et du GPS (Traccar Config).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Synthèse orientée bénéfices, avant la démonstration. Laisser la direction et les agents réagir : quel bénéfice compte le plus pour eux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DÉROULÉ : 1) créer un client fictif ; 2) créer un trajet pour ce client avec un véhicule et un chauffeur, choisir un mode de facturation ; 3) enregistrer un plein pour ce véhicule ; 4) enregistrer la transaction de revenu du trajet (catégorie Trip Income) ; 5) revenir au tableau de bord et générer un rapport sur la période. Utiliser uniquement des données de test, et les supprimer après la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Recueillir les questions et les besoins : modules prioritaires, profils de droits à créer, données à importer (véhicules, chauffeurs), formation des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DIAPOSITIVE MASQUÉE : elle ne s'affiche pas pendant le diaporama. À montrer uniquement si la direction pose la question (clic droit &gt; Afficher la diapositive, ou la sélectionner depuis le mode présentateur). Ne présenter que ces montants, sans autres frais.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1E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Division Terrestre Internationale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Division Terrestre Internationale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74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Le logiciel de gestion de la flotte, des chauffeurs, des trajets et des finances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5488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Présentation : [à compléter]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Date : [à compléter]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Pourquoi ce logiciel 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Aujourd'hui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1206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38528"/>
            <a:ext cx="475488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Informations dispersées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Cahiers, tableurs, appels : difficile de savoir où est un camion et qui le conduit.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51206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355848"/>
            <a:ext cx="475488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Échéances oubliées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Assurances, immatriculations et permis expirés découverts trop tard.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663440"/>
            <a:ext cx="51206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773168"/>
            <a:ext cx="475488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Coûts mal suivis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Carburant, entretien et pièces difficiles à rattacher à chaque véhicule.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852160" y="3383280"/>
            <a:ext cx="548640" cy="54864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12801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Avec Division Terrestre Internationale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583680" y="1828800"/>
            <a:ext cx="50749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1938528"/>
            <a:ext cx="470916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Tout au même endroit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Véhicules, chauffeurs, trajets, clients, carburant, entretien et finances.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0" y="3246120"/>
            <a:ext cx="50749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66560" y="3355848"/>
            <a:ext cx="470916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Alertes et rappels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Documents expirés signalés, rappels d'entretien, tableau de bord du jour.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583680" y="4663440"/>
            <a:ext cx="50749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4773168"/>
            <a:ext cx="470916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Décisions chiffrées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Revenus, dépenses et rapports par véhicule, chauffeur ou itinéraire.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18 modules, 6 grandes familles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194560"/>
            <a:ext cx="2377440" cy="23774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194560"/>
            <a:ext cx="2377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18</a:t>
            </a:r>
            <a:endParaRPr lang="en-US" sz="15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modules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383280" y="132588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66160" y="1435608"/>
            <a:ext cx="361188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Pilotage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Dashboard · Availability · Reports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543800" y="132588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26680" y="1435608"/>
            <a:ext cx="361188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Flotte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Vehicle's · Vehicle Vendor's · Tracking · Geofence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83280" y="297180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3081528"/>
            <a:ext cx="361188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Personnes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Driver's · Employee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543800" y="297180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26680" y="3081528"/>
            <a:ext cx="361188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Activité commerciale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Trips · Customer · Coupon Management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383280" y="461772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4727448"/>
            <a:ext cx="361188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Exploitation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Maintenance · Parts Stock · Fuel · Reminder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543800" y="461772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727448"/>
            <a:ext cx="361188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Finances et système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Accounts · Setting's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tableau de bord : la journée en un coup d'œil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Menu 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Dashboard · Availability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Dès la connexion, l'essentiel de l'activité est affiché.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749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338328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Compteurs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Véhicules, chauffeurs, clients et trajets du jour.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749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350008"/>
            <a:ext cx="338328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Transactions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Courbe des revenus et des dépenses, et totaux du jour.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3749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767328"/>
            <a:ext cx="338328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Statut de la flotte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Véhicules disponibles ou en trajet, position actuelle.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3657600"/>
            <a:ext cx="3749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3767328"/>
            <a:ext cx="338328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Rappels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Entretiens à prévoir, avec ajout rapide d'un rappel.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5074920"/>
            <a:ext cx="3749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5184648"/>
            <a:ext cx="338328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Top revenus et dépenses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Graphiques des principaux postes.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480560" y="5074920"/>
            <a:ext cx="3749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63440" y="5184648"/>
            <a:ext cx="338328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Calendrier de disponibilité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Occupation des véhicules par mois, semaine ou jour.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54964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32520" y="1371600"/>
            <a:ext cx="27432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Ce que ça apporte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La direction voit l'activité sans demander de rapport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Les agents savent tout de suite quels véhicules sont libres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Les urgences (rappels) sont visibles dès l'ouverture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Gérer les véhicules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Menu 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Vehicle's › Vehicle List · Add Vehicle · Vehicle Group · Route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Une fiche complète pour chaque véhicule, de l'immatriculation au GPS.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Fiche véhicule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Immatriculation, nom, modèle, châssis, moteur, constructeur, compteur, photo et documents.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Échéances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Dates d'expiration de l'immatriculation et de l'assurance, signalées quand elles sont dépassées.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Types et itinéraires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Types de véhicules (camion, bus, voiture…) et liste des itinéraires.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Tarif et propriété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Type de facturation et coût par défaut, véhicule en propre ou loué, liaison GPS.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54964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32520" y="1371600"/>
            <a:ext cx="27432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Ce que ça apporte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Plus d'assurance expirée qui passe inaperçue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Saisie rapide de toute la flotte par import CSV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Export de la liste en Excel, CSV ou PDF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Chauffeurs et fournisseurs de véhicules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Menu 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Driver's · Vehicle Vendor's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Savoir qui conduit, avec quel permis, et avec quels partenaires on travaille.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Fiche chauffeur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Contact, âge, adresse, expérience, date d'entrée, photo et document.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Permis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Numéro et date d'expiration, signalée quand elle est dépassée.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Fournisseurs de véhicules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Société, contact, téléphone, adresse et statut.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Contrats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Date de contrat et document du contrat joint.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54964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32520" y="1371600"/>
            <a:ext cx="27432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Ce que ça apporte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 chauffeur au permis expiré est repéré tout de suite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Les contrats des loueurs sont centralisés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Import des chauffeurs en masse par CSV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Suivi GPS et zones géographiques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Menu 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Tracking › History Tracking · Live Location · Geofence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Savoir où sont les véhicules, et être prévenu quand ils entrent ou sortent d'une zone.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Position en direct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Localisation actuelle des véhicules sur la carte.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Historique des parcours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Trajet d'un véhicule sur une période choisie.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Zones (geofences)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Zones dessinées sur la carte : cercle, rectangle, polygone…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Événements de zone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Entrées et sorties enregistrées, avec notification des personnes choisies.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54964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32520" y="1371600"/>
            <a:ext cx="27432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Ce que ça apporte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Contrôler les itinéraires réellement suivis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Réagir vite en cas d'écart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Rassurer les clients sur leurs livraisons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Trajets, clients et coupons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Menu 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Trips · Customer · Coupon Management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De la réservation à la facturation, chaque trajet est suivi.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Réservation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Client, dates, véhicule, chauffeur, départ, arrivée, kilométrage, points de ramassage.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Suivi du trajet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Statut (réservé, commencé…), distance et numéro de réservation.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Clients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Coordonnées, solde impayé et statut actif ou inactif.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Coupons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Codes de réduction : montant, dates, limite d'utilisation.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54964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32520" y="1371600"/>
            <a:ext cx="27432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Ce que ça apporte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Chaque trajet est rattaché à un client, un véhicule et un chauffeur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Les impayés clients sont visibles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Confirmation de réservation par e-mail ou SMS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989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9 modes de facturation 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fixe · par tonne · kg · km · trajet · jour · heure · litre · sac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Entretien, pièces et rappels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Menu 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Maintenance · Parts Stock · Reminder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Anticiper les entretiens et maîtriser leur coût.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Entretiens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Véhicule, dates, mécanicien, fournisseur, compteur, coût, détail et pièces utilisées.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Mécaniciens et fournisseurs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Annuaire des intervenants, avec catégorie.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Stock de pièces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Inventaire, prix, stock de départ et historique des achats avec statut de paiement.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Rappels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Échéances par véhicule et service, marquées comme terminées une fois faites.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54964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32520" y="1371600"/>
            <a:ext cx="27432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Ce que ça apporte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Moins de pannes grâce aux rappels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Coût réel de l'entretien par véhicule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Stock de pièces suivi, achats tracés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Carburant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Menu 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Fuel › Fuel Management · Add Fuel · Fuel Vendor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Chaque plein est enregistré et rattaché à un véhicule et un chauffeur.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Pleins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Date, véhicule, chauffeur, quantité, montant, compteur et commentaire.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Provenance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Cuve interne (avec son stock en litres) ou fournisseur.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Cuve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Réapprovisionnement de la cuve et suivi du stock disponible.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Fournisseurs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Liste des stations ou fournisseurs de carburant.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54964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32520" y="1371600"/>
            <a:ext cx="27432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Ce que ça apporte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Repérer une consommation anormale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Contrôler le stock de la cuve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Rapport carburant par période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Finances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Menu 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Accounts › Accounts · Add Transactions · Transactions · Ac Transfers / Deposit · Transactions Category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Revenus et dépenses enregistrés par compte, catégorie et véhicule.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Comptes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Comptes financiers avec leur solde.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Transactions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Revenu ou dépense : compte, catégorie, véhicule, montant, référence, note.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Virements et dépôts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Mouvements d'un compte à un autre.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Catégories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Ex. revenus de trajet, carburant, salaires, téléphone, transfrontalier…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54964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32520" y="1371600"/>
            <a:ext cx="27432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Ce que ça apporte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Rentabilité visible par véhicule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Historique filtrable par période, avec totaux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Catégories adaptées à l'entreprise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11 rapports prêts à l'emploi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Choisir une période, un filtre, puis « Generate Report ».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305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130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8288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Réservations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66160" y="21305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2130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18288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Revenus et dépenses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21305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2130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86600" y="18288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Carburant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052560" y="18288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35440" y="21305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5440" y="2130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921240" y="18288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Chauffeurs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2004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35021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35021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32004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Coupons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3383280" y="32004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66160" y="35021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66160" y="35021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251960" y="32004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Rappels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217920" y="32004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0" y="35021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0" y="35021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086600" y="32004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Entretien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052560" y="32004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235440" y="3502152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235440" y="35021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921240" y="32004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Top revenus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548640" y="45720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1520" y="4873752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873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417320" y="45720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Top dépenses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3383280" y="45720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66160" y="4873752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566160" y="4873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10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4251960" y="45720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Top véhicules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6217920" y="45720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00800" y="4873752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00800" y="4873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11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7086600" y="45720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Top itinéraires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Les « Top » classent les postes qui rapportent ou coûtent le plus.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Employés et droits d'accès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Menu 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Employee › Employee Management · Add Employee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Chaque utilisateur a son compte et ne voit que ce qu'il doit voir.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Comptes utilisateurs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Nom, téléphone, e-mail, identifiant, mot de passe, dernière connexion.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Permissions par module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Cases à cocher : voir la liste, ajouter, modifier, supprimer…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Exemples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Véhicules, chauffeurs, transactions, clients, carburant, rappels, entretien, pièces, suivi GPS…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Statut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Compte actif ou désactivé.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54964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32520" y="1371600"/>
            <a:ext cx="27432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Ce que ça apporte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Chacun travaille dans son périmètre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Les données sensibles (finances) restent protégées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On sait qui a créé chaque transaction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Paramètres et sécurité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Menu 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Setting's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Le logiciel s'adapte à l'entreprise et protège ses données.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Identité de l'entreprise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Nom, adresse, téléphone, e-mail, logo, couleurs, fuseau horaire.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Communication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Configuration de l'envoi d'e-mails et de SMS, avec modèles de messages.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Réservations et factures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Préfixe des numéros de réservation, réglages des factures.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Sauvegardes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Sauvegarde de la base de données en un clic (DB Backup).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54964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32520" y="1371600"/>
            <a:ext cx="27432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Ce que ça apporte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Documents aux couleurs de l'entreprise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Clients informés automatiquement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Données protégées par des sauvegardes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Ce que ça change pour chacun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60020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Pour la direction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Vision en temps réel de l'activité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Rentabilité par véhicule, chauffeur et itinéraire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Coûts de carburant et d'entretien maîtrisés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Décisions appuyées sur des rapports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1371600"/>
            <a:ext cx="539496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92240" y="160020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406640" y="160020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Pour les agents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65176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Une seule application au lieu de plusieurs outils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Informations retrouvées en quelques secondes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Rappels automatiques des échéances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Moins de saisie grâce aux imports et exports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Démonstration : un circuit de travail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En direct dans l'application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51560" y="201168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011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331720" y="2377440"/>
            <a:ext cx="411480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29184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Client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Customer › Add Customer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37560" y="201168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37560" y="2011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617720" y="2377440"/>
            <a:ext cx="411480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34640" y="329184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Trajet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Trips › Add Trips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23560" y="201168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23560" y="2011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6903720" y="2377440"/>
            <a:ext cx="411480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0" y="329184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Carburant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Fuel › Add Fuel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909560" y="201168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09560" y="2011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4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9189720" y="2377440"/>
            <a:ext cx="411480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06640" y="329184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Transaction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Accounts › Add Transactions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0195560" y="201168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95560" y="2011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5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329184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Tableau de bord et rapport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Dashboard · Reports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4754880"/>
            <a:ext cx="110642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4864608"/>
            <a:ext cx="1069848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Objectif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Montrer qu'une seule saisie alimente tout le reste : le trajet apparaît dans le calendrier, le carburant et la transaction dans les finances, puis dans le tableau de bord et les rapports.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Questions et échanges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74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Merci de votre attention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Coûts de fonctionnement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120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81328"/>
            <a:ext cx="4754880" cy="1883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Hébergement du serveur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5740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100 000 FCFA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par an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5120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858768"/>
            <a:ext cx="4754880" cy="1883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Maintenance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43484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100 000 FCFA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par mois, formation des agents comprise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13716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Calendrier de paiement de la maintenance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126480" y="1965960"/>
            <a:ext cx="5532120" cy="17373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2057400"/>
            <a:ext cx="5212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Premier paiement : 300 000 FCFA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1er mois de maintenance + 2 mois payés d'avance (mois 2 et 3)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686800" y="3794760"/>
            <a:ext cx="411480" cy="41148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4297680"/>
            <a:ext cx="553212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09360" y="4389120"/>
            <a:ext cx="5212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À partir du 4ᵉ mois : 100 000 FCFA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réglés chaque mois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TI">
  <a:themeElements>
    <a:clrScheme name="DTI">
      <a:dk1>
        <a:srgbClr val="1B2430"/>
      </a:dk1>
      <a:lt1>
        <a:srgbClr val="FFFFFF"/>
      </a:lt1>
      <a:dk2>
        <a:srgbClr val="1E2340"/>
      </a:dk2>
      <a:lt2>
        <a:srgbClr val="EEF1F5"/>
      </a:lt2>
      <a:accent1>
        <a:srgbClr val="C60007"/>
      </a:accent1>
      <a:accent2>
        <a:srgbClr val="2E6F8E"/>
      </a:accent2>
      <a:accent3>
        <a:srgbClr val="4E8A5B"/>
      </a:accent3>
      <a:accent4>
        <a:srgbClr val="E8A317"/>
      </a:accent4>
      <a:accent5>
        <a:srgbClr val="6B7584"/>
      </a:accent5>
      <a:accent6>
        <a:srgbClr val="C9D3DD"/>
      </a:accent6>
      <a:hlink>
        <a:srgbClr val="2E6F8E"/>
      </a:hlink>
      <a:folHlink>
        <a:srgbClr val="6B7584"/>
      </a:folHlink>
    </a:clrScheme>
    <a:fontScheme name="DT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Division Terrestre Internationale</dc:title>
  <dc:subject>PptxGenJS Presentation</dc:subject>
  <dc:creator>PptxGenJS</dc:creator>
  <cp:lastModifiedBy>PptxGenJS</cp:lastModifiedBy>
  <cp:revision>1</cp:revision>
  <dcterms:created xsi:type="dcterms:W3CDTF">2026-10-30T02:03:49Z</dcterms:created>
  <dcterms:modified xsi:type="dcterms:W3CDTF">2026-10-30T02:03:49Z</dcterms:modified>
</cp:coreProperties>
</file>