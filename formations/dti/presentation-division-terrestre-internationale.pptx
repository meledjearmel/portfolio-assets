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00b8487-4176-66f4-5aec-0a7587cfc157}">
          <p14:sldIdLst>
            <p14:sldId id="256"/>
            <p14:sldId id="257"/>
            <p14:sldId id="258"/>
            <p14:sldId id="259"/>
          </p14:sldIdLst>
        </p14:section>
        <p14:section name="Pilotage" id="{5ddd3c9c-f36f-1bcb-7efc-baadb13f113f}">
          <p14:sldIdLst>
            <p14:sldId id="260"/>
          </p14:sldIdLst>
        </p14:section>
        <p14:section name="Flotte" id="{a9d2946b-520c-491d-6cc0-2d4b57c98892}">
          <p14:sldIdLst>
            <p14:sldId id="261"/>
            <p14:sldId id="262"/>
            <p14:sldId id="263"/>
          </p14:sldIdLst>
        </p14:section>
        <p14:section name="Activité commerciale" id="{70703e6b-b13e-cda7-3d03-bc6dc8c88cf1}">
          <p14:sldIdLst>
            <p14:sldId id="264"/>
          </p14:sldIdLst>
        </p14:section>
        <p14:section name="Exploitation" id="{be5bcd52-3bd7-50c7-fd37-ef275a444bca}">
          <p14:sldIdLst>
            <p14:sldId id="265"/>
            <p14:sldId id="266"/>
          </p14:sldIdLst>
        </p14:section>
        <p14:section name="Finances et pilotage" id="{dc233500-1708-cb92-5c87-21f5daf34026}">
          <p14:sldIdLst>
            <p14:sldId id="267"/>
            <p14:sldId id="268"/>
          </p14:sldIdLst>
        </p14:section>
        <p14:section name="Administration" id="{33ab960b-aabb-9f3c-1556-4093597cad55}">
          <p14:sldIdLst>
            <p14:sldId id="269"/>
            <p14:sldId id="270"/>
          </p14:sldIdLst>
        </p14:section>
        <p14:section name="Conclusion" id="{e0288255-ecec-634c-9af5-968aae0c41e2}">
          <p14:sldIdLst>
            <p14:sldId id="271"/>
            <p14:sldId id="272"/>
            <p14:sldId id="273"/>
            <p14:sldId id="274"/>
          </p14:sldIdLst>
        </p14:section>
        <p14:section name="Réserve" id="{a5d33e2c-f84a-67f0-a3db-22cd5b5c4c13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Accueillir les participants (agents et direction). Annoncer le déroulé : présentation du logiciel (ce qu'il sait faire, ses modules, comment et pourquoi l'utiliser), puis démonstration en direct d'un petit circuit de travail, puis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Partir du quotidien des participants : demander comment ils savent aujourd'hui quel camion est disponible, quand expire une assurance, ou combien a coûté un véhicule le mois dernier. Le logiciel répond à ces trois besoins : centraliser, alerter, chiffrer.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carte du logiciel : 18 modules dans le menu latéral, regroupés ici en 6 familles pour faciliter la lecture. Les libellés restent en anglais dans l'application : on les garde tels quels pour que chacun s'y retrouve à l'écran. Chaque famille est détaillée dans les diapositives suivantes.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Raconter le parcours d'un trajet comme une histoire : un client appelle, on réserve un camion disponible avec un chauffeur, le camion roule et on le suit, il fait le plein, il passe à l'entretien, on encaisse, puis on analyse la rentabilité. Annoncer que chaque étape correspond à un module présenté ensuite.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 tableau de bord en direct pendant la démonstration. Insister sur le calendrier Availability : c'est le premier réflexe avant de planifier un trajet.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à montrer : la colonne des dates d'expiration en rouge, l'import en masse (Bulk Import), et les boutons d'export présents sur toutes les listes du logiciel.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le lien avec la sécurité et la conformité : un permis expiré est affiché en rouge dans la liste. Les fournisseurs de véhicules (Vehicle Vendor's) concernent les véhicules loués à des partenaires.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Préciser que le suivi GPS nécessite un boîtier GPS relié à chaque véhicule (synchronisation Traccar, visible sur le tableau de bord). Montrer la carte de l'historique si un véhicule est équipé.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souplesse de facturation (encart en bas). La réservation peut être envoyée au client par e-mail ou SMS. Ce module servira de point de départ à la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qu'un entretien consomme des pièces du stock et peut notifier des membres de l'équipe. Les rappels apparaissent aussi sur le tableau de bord.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compteur kilométrique saisi à chaque plein permet de comparer consommation et distance. Le rapport Fuel du module Reports reprend ces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liste des transactions filtrée par période, avec le total des débits et des crédits. Les catégories sont personnalisables : à définir avec la direction financière.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la direction : les rapports Top véhicules et Top itinéraires montrent où l'entreprise gagne et perd de l'argent. Pour les agents : les rapports remplacent les synthèses faites à la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droits se règlent finement, module par module et action par action. Les profils (exploitation, finance, direction…) seront définis avec l'organisation avant la mise en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paramètres sont réservés à l'administrateur. Mentionner aussi la configuration de la carte (MAP API) et du GPS (Traccar Config).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respiration avant la synthèse : laisser les chiffres apparaître un à un et les commenter brièvement.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orientée bénéfices, avant la démonstration. Laisser la direction et les agents réagir : quel bénéfice compte le plus pour eux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DÉROULÉ : 1) créer un client fictif ; 2) créer un trajet pour ce client avec un véhicule et un chauffeur, choisir un mode de facturation ; 3) enregistrer un plein pour ce véhicule ; 4) enregistrer la transaction de revenu du trajet (catégorie Trip Income) ; 5) revenir au tableau de bord et générer un rapport sur la période. Utiliser uniquement des données de test, et les supprimer après la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Recueillir les questions et les besoins : modules prioritaires, profils de droits à créer, données à importer (véhicules, chauffeurs), formation des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MASQUÉE : elle ne s'affiche pas pendant le diaporama. Pour l'afficher si la direction pose la question, taper 20 puis Entrée pendant le diaporama. Ne présenter que ces montants, sans autres frais.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SOMBR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PAC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ONTENU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5836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AC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46520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Division Terrestre Internationale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822960"/>
            <a:ext cx="3566160" cy="356616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3" name="anim1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600200"/>
            <a:ext cx="2011680" cy="2011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417320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PRÉSENTATION DU LOGICIEL</a:t>
            </a:r>
            <a:endParaRPr lang="en-US" sz="1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182880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Division Terrestre Internationale</a:t>
            </a:r>
            <a:endParaRPr lang="en-US" sz="4000" dirty="0"/>
          </a:p>
        </p:txBody>
      </p:sp>
      <p:sp>
        <p:nvSpPr>
          <p:cNvPr id="7" name="anim2-2"/>
          <p:cNvSpPr txBox="1"/>
          <p:nvPr/>
        </p:nvSpPr>
        <p:spPr>
          <a:xfrm>
            <a:off x="731520" y="37033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Gestion de la flotte, des chauffeurs, des trajets et des finances</a:t>
            </a:r>
            <a:endParaRPr lang="en-US" sz="2000" dirty="0"/>
          </a:p>
        </p:txBody>
      </p:sp>
      <p:sp>
        <p:nvSpPr>
          <p:cNvPr id="8" name="anim3-3"/>
          <p:cNvSpPr txBox="1"/>
          <p:nvPr/>
        </p:nvSpPr>
        <p:spPr>
          <a:xfrm>
            <a:off x="731520" y="5120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Présentation : [à compléter]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Date : [à compléter]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Pourquoi ce logiciel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7" name="anim1-4"/>
          <p:cNvSpPr txBox="1"/>
          <p:nvPr/>
        </p:nvSpPr>
        <p:spPr>
          <a:xfrm>
            <a:off x="548640" y="13716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Aujourd'hui</a:t>
            </a:r>
            <a:endParaRPr lang="en-US" sz="1900" dirty="0"/>
          </a:p>
        </p:txBody>
      </p:sp>
      <p:sp>
        <p:nvSpPr>
          <p:cNvPr id="8" name="anim2-5"/>
          <p:cNvSpPr/>
          <p:nvPr/>
        </p:nvSpPr>
        <p:spPr>
          <a:xfrm>
            <a:off x="548640" y="187452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9" name="anim2-6"/>
          <p:cNvSpPr/>
          <p:nvPr/>
        </p:nvSpPr>
        <p:spPr>
          <a:xfrm>
            <a:off x="749808" y="207568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0" name="anim2-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218334"/>
            <a:ext cx="263347" cy="263347"/>
          </a:xfrm>
          <a:prstGeom prst="rect">
            <a:avLst/>
          </a:prstGeom>
        </p:spPr>
      </p:pic>
      <p:sp>
        <p:nvSpPr>
          <p:cNvPr id="11" name="anim2-8"/>
          <p:cNvSpPr txBox="1"/>
          <p:nvPr/>
        </p:nvSpPr>
        <p:spPr>
          <a:xfrm>
            <a:off x="1444752" y="2002536"/>
            <a:ext cx="406908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Informations dispersées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Cahiers, tableurs, appels : difficile de savoir où est un camion et qui le conduit.</a:t>
            </a:r>
            <a:endParaRPr lang="en-US" sz="1500" dirty="0"/>
          </a:p>
        </p:txBody>
      </p:sp>
      <p:sp>
        <p:nvSpPr>
          <p:cNvPr id="12" name="anim3-9"/>
          <p:cNvSpPr/>
          <p:nvPr/>
        </p:nvSpPr>
        <p:spPr>
          <a:xfrm>
            <a:off x="548640" y="333756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3" name="anim3-10"/>
          <p:cNvSpPr/>
          <p:nvPr/>
        </p:nvSpPr>
        <p:spPr>
          <a:xfrm>
            <a:off x="749808" y="35387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anim3-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3681374"/>
            <a:ext cx="263347" cy="263347"/>
          </a:xfrm>
          <a:prstGeom prst="rect">
            <a:avLst/>
          </a:prstGeom>
        </p:spPr>
      </p:pic>
      <p:sp>
        <p:nvSpPr>
          <p:cNvPr id="15" name="anim3-12"/>
          <p:cNvSpPr txBox="1"/>
          <p:nvPr/>
        </p:nvSpPr>
        <p:spPr>
          <a:xfrm>
            <a:off x="1444752" y="3465576"/>
            <a:ext cx="406908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Échéances oubliées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Assurances, immatriculations et permis expirés découverts trop tard.</a:t>
            </a:r>
            <a:endParaRPr lang="en-US" sz="1500" dirty="0"/>
          </a:p>
        </p:txBody>
      </p:sp>
      <p:sp>
        <p:nvSpPr>
          <p:cNvPr id="16" name="anim4-13"/>
          <p:cNvSpPr/>
          <p:nvPr/>
        </p:nvSpPr>
        <p:spPr>
          <a:xfrm>
            <a:off x="548640" y="480060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7" name="anim4-14"/>
          <p:cNvSpPr/>
          <p:nvPr/>
        </p:nvSpPr>
        <p:spPr>
          <a:xfrm>
            <a:off x="749808" y="500176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anim4-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5144414"/>
            <a:ext cx="263347" cy="263347"/>
          </a:xfrm>
          <a:prstGeom prst="rect">
            <a:avLst/>
          </a:prstGeom>
        </p:spPr>
      </p:pic>
      <p:sp>
        <p:nvSpPr>
          <p:cNvPr id="19" name="anim4-16"/>
          <p:cNvSpPr txBox="1"/>
          <p:nvPr/>
        </p:nvSpPr>
        <p:spPr>
          <a:xfrm>
            <a:off x="1444752" y="4928616"/>
            <a:ext cx="406908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Coûts mal suivis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Carburant, entretien et pièces difficiles à rattacher à chaque véhicule.</a:t>
            </a:r>
            <a:endParaRPr lang="en-US" sz="1500" dirty="0"/>
          </a:p>
        </p:txBody>
      </p:sp>
      <p:sp>
        <p:nvSpPr>
          <p:cNvPr id="20" name="anim5-17"/>
          <p:cNvSpPr/>
          <p:nvPr/>
        </p:nvSpPr>
        <p:spPr>
          <a:xfrm>
            <a:off x="5870448" y="3520440"/>
            <a:ext cx="502920" cy="5029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anim6-18"/>
          <p:cNvSpPr txBox="1"/>
          <p:nvPr/>
        </p:nvSpPr>
        <p:spPr>
          <a:xfrm>
            <a:off x="6583680" y="13716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Avec Division Terrestre Internationale</a:t>
            </a:r>
            <a:endParaRPr lang="en-US" sz="1900" dirty="0"/>
          </a:p>
        </p:txBody>
      </p:sp>
      <p:sp>
        <p:nvSpPr>
          <p:cNvPr id="22" name="anim7-19"/>
          <p:cNvSpPr/>
          <p:nvPr/>
        </p:nvSpPr>
        <p:spPr>
          <a:xfrm>
            <a:off x="6583680" y="1874520"/>
            <a:ext cx="50749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3" name="anim7-20"/>
          <p:cNvSpPr/>
          <p:nvPr/>
        </p:nvSpPr>
        <p:spPr>
          <a:xfrm>
            <a:off x="6784848" y="207568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anim7-2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494" y="2218334"/>
            <a:ext cx="263347" cy="263347"/>
          </a:xfrm>
          <a:prstGeom prst="rect">
            <a:avLst/>
          </a:prstGeom>
        </p:spPr>
      </p:pic>
      <p:sp>
        <p:nvSpPr>
          <p:cNvPr id="25" name="anim7-22"/>
          <p:cNvSpPr txBox="1"/>
          <p:nvPr/>
        </p:nvSpPr>
        <p:spPr>
          <a:xfrm>
            <a:off x="7479792" y="2002536"/>
            <a:ext cx="40233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Tout au même endroit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Véhicules, chauffeurs, trajets, clients, carburant, entretien et finances.</a:t>
            </a:r>
            <a:endParaRPr lang="en-US" sz="1500" dirty="0"/>
          </a:p>
        </p:txBody>
      </p:sp>
      <p:sp>
        <p:nvSpPr>
          <p:cNvPr id="26" name="anim8-23"/>
          <p:cNvSpPr/>
          <p:nvPr/>
        </p:nvSpPr>
        <p:spPr>
          <a:xfrm>
            <a:off x="6583680" y="3337560"/>
            <a:ext cx="50749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7" name="anim8-24"/>
          <p:cNvSpPr/>
          <p:nvPr/>
        </p:nvSpPr>
        <p:spPr>
          <a:xfrm>
            <a:off x="6784848" y="35387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8" name="anim8-2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7494" y="3681374"/>
            <a:ext cx="263347" cy="263347"/>
          </a:xfrm>
          <a:prstGeom prst="rect">
            <a:avLst/>
          </a:prstGeom>
        </p:spPr>
      </p:pic>
      <p:sp>
        <p:nvSpPr>
          <p:cNvPr id="29" name="anim8-26"/>
          <p:cNvSpPr txBox="1"/>
          <p:nvPr/>
        </p:nvSpPr>
        <p:spPr>
          <a:xfrm>
            <a:off x="7479792" y="3465576"/>
            <a:ext cx="40233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Alertes et rappels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Documents expirés signalés, rappels d'entretien, tableau de bord du jour.</a:t>
            </a:r>
            <a:endParaRPr lang="en-US" sz="1500" dirty="0"/>
          </a:p>
        </p:txBody>
      </p:sp>
      <p:sp>
        <p:nvSpPr>
          <p:cNvPr id="30" name="anim9-27"/>
          <p:cNvSpPr/>
          <p:nvPr/>
        </p:nvSpPr>
        <p:spPr>
          <a:xfrm>
            <a:off x="6583680" y="4800600"/>
            <a:ext cx="50749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31" name="anim9-28"/>
          <p:cNvSpPr/>
          <p:nvPr/>
        </p:nvSpPr>
        <p:spPr>
          <a:xfrm>
            <a:off x="6784848" y="500176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2" name="anim9-2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7494" y="5144414"/>
            <a:ext cx="263347" cy="263347"/>
          </a:xfrm>
          <a:prstGeom prst="rect">
            <a:avLst/>
          </a:prstGeom>
        </p:spPr>
      </p:pic>
      <p:sp>
        <p:nvSpPr>
          <p:cNvPr id="33" name="anim9-30"/>
          <p:cNvSpPr txBox="1"/>
          <p:nvPr/>
        </p:nvSpPr>
        <p:spPr>
          <a:xfrm>
            <a:off x="7479792" y="4928616"/>
            <a:ext cx="40233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Décisions chiffrées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Revenus, dépenses et rapports par véhicule, chauffeur ou itinéraire.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5" grpId="0" animBg="1"/>
      <p:bldP spid="19" grpId="0" animBg="1"/>
      <p:bldP spid="21" grpId="0" animBg="1"/>
      <p:bldP spid="25" grpId="0" animBg="1"/>
      <p:bldP spid="29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18 modules, 6 grandes familles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7" name="anim1-31"/>
          <p:cNvSpPr/>
          <p:nvPr/>
        </p:nvSpPr>
        <p:spPr>
          <a:xfrm>
            <a:off x="411480" y="2057400"/>
            <a:ext cx="2743200" cy="2743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anim1-32"/>
          <p:cNvSpPr/>
          <p:nvPr/>
        </p:nvSpPr>
        <p:spPr>
          <a:xfrm>
            <a:off x="685800" y="2331720"/>
            <a:ext cx="2194560" cy="21945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anim1-33"/>
          <p:cNvSpPr txBox="1"/>
          <p:nvPr/>
        </p:nvSpPr>
        <p:spPr>
          <a:xfrm>
            <a:off x="685800" y="23317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18</a:t>
            </a:r>
            <a:endParaRPr lang="en-US" sz="15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accent2"/>
                </a:solidFill>
              </a:rPr>
              <a:t>modules</a:t>
            </a:r>
            <a:endParaRPr lang="en-US" sz="1500" dirty="0"/>
          </a:p>
        </p:txBody>
      </p:sp>
      <p:sp>
        <p:nvSpPr>
          <p:cNvPr id="10" name="anim2-34"/>
          <p:cNvSpPr/>
          <p:nvPr/>
        </p:nvSpPr>
        <p:spPr>
          <a:xfrm>
            <a:off x="3474720" y="146304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1" name="anim2-35"/>
          <p:cNvSpPr/>
          <p:nvPr/>
        </p:nvSpPr>
        <p:spPr>
          <a:xfrm>
            <a:off x="3675888" y="16642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anim2-3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534" y="1806854"/>
            <a:ext cx="263347" cy="263347"/>
          </a:xfrm>
          <a:prstGeom prst="rect">
            <a:avLst/>
          </a:prstGeom>
        </p:spPr>
      </p:pic>
      <p:sp>
        <p:nvSpPr>
          <p:cNvPr id="13" name="anim2-37"/>
          <p:cNvSpPr txBox="1"/>
          <p:nvPr/>
        </p:nvSpPr>
        <p:spPr>
          <a:xfrm>
            <a:off x="4370832" y="1591056"/>
            <a:ext cx="288036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Pilotage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 · Availability · Reports</a:t>
            </a:r>
            <a:endParaRPr lang="en-US" sz="1500" dirty="0"/>
          </a:p>
        </p:txBody>
      </p:sp>
      <p:sp>
        <p:nvSpPr>
          <p:cNvPr id="14" name="anim3-38"/>
          <p:cNvSpPr/>
          <p:nvPr/>
        </p:nvSpPr>
        <p:spPr>
          <a:xfrm>
            <a:off x="7589520" y="146304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5" name="anim3-39"/>
          <p:cNvSpPr/>
          <p:nvPr/>
        </p:nvSpPr>
        <p:spPr>
          <a:xfrm>
            <a:off x="7790688" y="16642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anim3-4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334" y="1806854"/>
            <a:ext cx="263347" cy="263347"/>
          </a:xfrm>
          <a:prstGeom prst="rect">
            <a:avLst/>
          </a:prstGeom>
        </p:spPr>
      </p:pic>
      <p:sp>
        <p:nvSpPr>
          <p:cNvPr id="17" name="anim3-41"/>
          <p:cNvSpPr txBox="1"/>
          <p:nvPr/>
        </p:nvSpPr>
        <p:spPr>
          <a:xfrm>
            <a:off x="8485632" y="1591056"/>
            <a:ext cx="288036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Flotte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Vehicle's · Vehicle Vendor's · Tracking · Geofence</a:t>
            </a:r>
            <a:endParaRPr lang="en-US" sz="1500" dirty="0"/>
          </a:p>
        </p:txBody>
      </p:sp>
      <p:sp>
        <p:nvSpPr>
          <p:cNvPr id="18" name="anim4-42"/>
          <p:cNvSpPr/>
          <p:nvPr/>
        </p:nvSpPr>
        <p:spPr>
          <a:xfrm>
            <a:off x="3474720" y="306324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9" name="anim4-43"/>
          <p:cNvSpPr/>
          <p:nvPr/>
        </p:nvSpPr>
        <p:spPr>
          <a:xfrm>
            <a:off x="3675888" y="32644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anim4-4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534" y="3407054"/>
            <a:ext cx="263347" cy="263347"/>
          </a:xfrm>
          <a:prstGeom prst="rect">
            <a:avLst/>
          </a:prstGeom>
        </p:spPr>
      </p:pic>
      <p:sp>
        <p:nvSpPr>
          <p:cNvPr id="21" name="anim4-45"/>
          <p:cNvSpPr txBox="1"/>
          <p:nvPr/>
        </p:nvSpPr>
        <p:spPr>
          <a:xfrm>
            <a:off x="4370832" y="3191256"/>
            <a:ext cx="288036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Personnes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Driver's · Employee</a:t>
            </a:r>
            <a:endParaRPr lang="en-US" sz="1500" dirty="0"/>
          </a:p>
        </p:txBody>
      </p:sp>
      <p:sp>
        <p:nvSpPr>
          <p:cNvPr id="22" name="anim5-46"/>
          <p:cNvSpPr/>
          <p:nvPr/>
        </p:nvSpPr>
        <p:spPr>
          <a:xfrm>
            <a:off x="7589520" y="306324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3" name="anim5-47"/>
          <p:cNvSpPr/>
          <p:nvPr/>
        </p:nvSpPr>
        <p:spPr>
          <a:xfrm>
            <a:off x="7790688" y="32644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anim5-4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3334" y="3407054"/>
            <a:ext cx="263347" cy="263347"/>
          </a:xfrm>
          <a:prstGeom prst="rect">
            <a:avLst/>
          </a:prstGeom>
        </p:spPr>
      </p:pic>
      <p:sp>
        <p:nvSpPr>
          <p:cNvPr id="25" name="anim5-49"/>
          <p:cNvSpPr txBox="1"/>
          <p:nvPr/>
        </p:nvSpPr>
        <p:spPr>
          <a:xfrm>
            <a:off x="8485632" y="3191256"/>
            <a:ext cx="288036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Activité commerciale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Trips · Customer · Coupon Management</a:t>
            </a:r>
            <a:endParaRPr lang="en-US" sz="1500" dirty="0"/>
          </a:p>
        </p:txBody>
      </p:sp>
      <p:sp>
        <p:nvSpPr>
          <p:cNvPr id="26" name="anim6-50"/>
          <p:cNvSpPr/>
          <p:nvPr/>
        </p:nvSpPr>
        <p:spPr>
          <a:xfrm>
            <a:off x="3474720" y="466344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7" name="anim6-51"/>
          <p:cNvSpPr/>
          <p:nvPr/>
        </p:nvSpPr>
        <p:spPr>
          <a:xfrm>
            <a:off x="3675888" y="4864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8" name="anim6-5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8534" y="5007254"/>
            <a:ext cx="263347" cy="263347"/>
          </a:xfrm>
          <a:prstGeom prst="rect">
            <a:avLst/>
          </a:prstGeom>
        </p:spPr>
      </p:pic>
      <p:sp>
        <p:nvSpPr>
          <p:cNvPr id="29" name="anim6-53"/>
          <p:cNvSpPr txBox="1"/>
          <p:nvPr/>
        </p:nvSpPr>
        <p:spPr>
          <a:xfrm>
            <a:off x="4370832" y="4791456"/>
            <a:ext cx="288036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Exploitation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Maintenance · Parts Stock · Fuel · Reminder</a:t>
            </a:r>
            <a:endParaRPr lang="en-US" sz="1500" dirty="0"/>
          </a:p>
        </p:txBody>
      </p:sp>
      <p:sp>
        <p:nvSpPr>
          <p:cNvPr id="30" name="anim7-54"/>
          <p:cNvSpPr/>
          <p:nvPr/>
        </p:nvSpPr>
        <p:spPr>
          <a:xfrm>
            <a:off x="7589520" y="466344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31" name="anim7-55"/>
          <p:cNvSpPr/>
          <p:nvPr/>
        </p:nvSpPr>
        <p:spPr>
          <a:xfrm>
            <a:off x="7790688" y="4864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2" name="anim7-5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3334" y="5007254"/>
            <a:ext cx="263347" cy="263347"/>
          </a:xfrm>
          <a:prstGeom prst="rect">
            <a:avLst/>
          </a:prstGeom>
        </p:spPr>
      </p:pic>
      <p:sp>
        <p:nvSpPr>
          <p:cNvPr id="33" name="anim7-57"/>
          <p:cNvSpPr txBox="1"/>
          <p:nvPr/>
        </p:nvSpPr>
        <p:spPr>
          <a:xfrm>
            <a:off x="8485632" y="4791456"/>
            <a:ext cx="288036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Finances et système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Accounts · Setting's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7" grpId="0" animBg="1"/>
      <p:bldP spid="21" grpId="0" animBg="1"/>
      <p:bldP spid="25" grpId="0" animBg="1"/>
      <p:bldP spid="29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Un trajet, du premier appel au dernier franc</a:t>
            </a:r>
            <a:endParaRPr lang="en-US" sz="3200" dirty="0"/>
          </a:p>
        </p:txBody>
      </p:sp>
      <p:sp>
        <p:nvSpPr>
          <p:cNvPr id="3" name="anim1-58"/>
          <p:cNvSpPr txBox="1"/>
          <p:nvPr/>
        </p:nvSpPr>
        <p:spPr>
          <a:xfrm>
            <a:off x="73152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Chaque étape du parcours d'un camion a sa place dans le logiciel.</a:t>
            </a:r>
            <a:endParaRPr lang="en-US" sz="1800" dirty="0"/>
          </a:p>
        </p:txBody>
      </p:sp>
      <p:sp>
        <p:nvSpPr>
          <p:cNvPr id="4" name="anim1-59"/>
          <p:cNvSpPr/>
          <p:nvPr/>
        </p:nvSpPr>
        <p:spPr>
          <a:xfrm>
            <a:off x="822960" y="3520440"/>
            <a:ext cx="10607040" cy="0"/>
          </a:xfrm>
          <a:prstGeom prst="line">
            <a:avLst/>
          </a:prstGeom>
          <a:noFill/>
          <a:ln w="381000">
            <a:solidFill>
              <a:srgbClr val="3A4A82"/>
            </a:solidFill>
            <a:prstDash val="solid"/>
          </a:ln>
        </p:spPr>
      </p:sp>
      <p:sp>
        <p:nvSpPr>
          <p:cNvPr id="5" name="anim1-60"/>
          <p:cNvSpPr/>
          <p:nvPr/>
        </p:nvSpPr>
        <p:spPr>
          <a:xfrm>
            <a:off x="914400" y="3520440"/>
            <a:ext cx="10424160" cy="0"/>
          </a:xfrm>
          <a:prstGeom prst="line">
            <a:avLst/>
          </a:prstGeom>
          <a:noFill/>
          <a:ln w="25400">
            <a:solidFill>
              <a:srgbClr val="A9BCEB"/>
            </a:solidFill>
            <a:prstDash val="dash"/>
          </a:ln>
        </p:spPr>
      </p:sp>
      <p:sp>
        <p:nvSpPr>
          <p:cNvPr id="6" name="anim2-61"/>
          <p:cNvSpPr/>
          <p:nvPr/>
        </p:nvSpPr>
        <p:spPr>
          <a:xfrm>
            <a:off x="758952" y="2953512"/>
            <a:ext cx="1133856" cy="1133856"/>
          </a:xfrm>
          <a:prstGeom prst="ellipse">
            <a:avLst/>
          </a:prstGeom>
          <a:solidFill>
            <a:schemeClr val="bg1"/>
          </a:solidFill>
          <a:ln w="50800">
            <a:solidFill>
              <a:srgbClr val="3A4A82"/>
            </a:solidFill>
            <a:prstDash val="solid"/>
          </a:ln>
        </p:spPr>
      </p:sp>
      <p:pic>
        <p:nvPicPr>
          <p:cNvPr id="7" name="anim2-6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3255264"/>
            <a:ext cx="530352" cy="530352"/>
          </a:xfrm>
          <a:prstGeom prst="rect">
            <a:avLst/>
          </a:prstGeom>
        </p:spPr>
      </p:pic>
      <p:sp>
        <p:nvSpPr>
          <p:cNvPr id="8" name="anim2-63"/>
          <p:cNvSpPr txBox="1"/>
          <p:nvPr/>
        </p:nvSpPr>
        <p:spPr>
          <a:xfrm>
            <a:off x="411480" y="43434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Réserver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Client, véhicule disponible, chauffeur</a:t>
            </a:r>
            <a:endParaRPr lang="en-US" sz="1500" dirty="0"/>
          </a:p>
        </p:txBody>
      </p:sp>
      <p:sp>
        <p:nvSpPr>
          <p:cNvPr id="9" name="anim3-64"/>
          <p:cNvSpPr/>
          <p:nvPr/>
        </p:nvSpPr>
        <p:spPr>
          <a:xfrm>
            <a:off x="2660904" y="2953512"/>
            <a:ext cx="1133856" cy="1133856"/>
          </a:xfrm>
          <a:prstGeom prst="ellipse">
            <a:avLst/>
          </a:prstGeom>
          <a:solidFill>
            <a:schemeClr val="accent1"/>
          </a:solidFill>
          <a:ln w="50800">
            <a:solidFill>
              <a:srgbClr val="3A4A82"/>
            </a:solidFill>
            <a:prstDash val="solid"/>
          </a:ln>
        </p:spPr>
      </p:sp>
      <p:pic>
        <p:nvPicPr>
          <p:cNvPr id="10" name="anim3-6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3255264"/>
            <a:ext cx="530352" cy="530352"/>
          </a:xfrm>
          <a:prstGeom prst="rect">
            <a:avLst/>
          </a:prstGeom>
        </p:spPr>
      </p:pic>
      <p:sp>
        <p:nvSpPr>
          <p:cNvPr id="11" name="anim3-66"/>
          <p:cNvSpPr txBox="1"/>
          <p:nvPr/>
        </p:nvSpPr>
        <p:spPr>
          <a:xfrm>
            <a:off x="2313432" y="43434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Rouler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Suivi GPS, zones, statut du trajet</a:t>
            </a:r>
            <a:endParaRPr lang="en-US" sz="1500" dirty="0"/>
          </a:p>
        </p:txBody>
      </p:sp>
      <p:sp>
        <p:nvSpPr>
          <p:cNvPr id="12" name="anim4-67"/>
          <p:cNvSpPr/>
          <p:nvPr/>
        </p:nvSpPr>
        <p:spPr>
          <a:xfrm>
            <a:off x="4562856" y="2953512"/>
            <a:ext cx="1133856" cy="1133856"/>
          </a:xfrm>
          <a:prstGeom prst="ellipse">
            <a:avLst/>
          </a:prstGeom>
          <a:solidFill>
            <a:schemeClr val="bg1"/>
          </a:solidFill>
          <a:ln w="50800">
            <a:solidFill>
              <a:srgbClr val="3A4A82"/>
            </a:solidFill>
            <a:prstDash val="solid"/>
          </a:ln>
        </p:spPr>
      </p:sp>
      <p:pic>
        <p:nvPicPr>
          <p:cNvPr id="13" name="anim4-6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255264"/>
            <a:ext cx="530352" cy="530352"/>
          </a:xfrm>
          <a:prstGeom prst="rect">
            <a:avLst/>
          </a:prstGeom>
        </p:spPr>
      </p:pic>
      <p:sp>
        <p:nvSpPr>
          <p:cNvPr id="14" name="anim4-69"/>
          <p:cNvSpPr txBox="1"/>
          <p:nvPr/>
        </p:nvSpPr>
        <p:spPr>
          <a:xfrm>
            <a:off x="4215384" y="43434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Alimenter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Pleins rattachés au véhicule</a:t>
            </a:r>
            <a:endParaRPr lang="en-US" sz="1500" dirty="0"/>
          </a:p>
        </p:txBody>
      </p:sp>
      <p:sp>
        <p:nvSpPr>
          <p:cNvPr id="15" name="anim5-70"/>
          <p:cNvSpPr/>
          <p:nvPr/>
        </p:nvSpPr>
        <p:spPr>
          <a:xfrm>
            <a:off x="6464808" y="2953512"/>
            <a:ext cx="1133856" cy="1133856"/>
          </a:xfrm>
          <a:prstGeom prst="ellipse">
            <a:avLst/>
          </a:prstGeom>
          <a:solidFill>
            <a:schemeClr val="bg1"/>
          </a:solidFill>
          <a:ln w="50800">
            <a:solidFill>
              <a:srgbClr val="3A4A82"/>
            </a:solidFill>
            <a:prstDash val="solid"/>
          </a:ln>
        </p:spPr>
      </p:sp>
      <p:pic>
        <p:nvPicPr>
          <p:cNvPr id="16" name="anim5-7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255264"/>
            <a:ext cx="530352" cy="530352"/>
          </a:xfrm>
          <a:prstGeom prst="rect">
            <a:avLst/>
          </a:prstGeom>
        </p:spPr>
      </p:pic>
      <p:sp>
        <p:nvSpPr>
          <p:cNvPr id="17" name="anim5-72"/>
          <p:cNvSpPr txBox="1"/>
          <p:nvPr/>
        </p:nvSpPr>
        <p:spPr>
          <a:xfrm>
            <a:off x="6117336" y="43434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Entretenir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Rappels, mécaniciens, pièces</a:t>
            </a:r>
            <a:endParaRPr lang="en-US" sz="1500" dirty="0"/>
          </a:p>
        </p:txBody>
      </p:sp>
      <p:sp>
        <p:nvSpPr>
          <p:cNvPr id="18" name="anim6-73"/>
          <p:cNvSpPr/>
          <p:nvPr/>
        </p:nvSpPr>
        <p:spPr>
          <a:xfrm>
            <a:off x="8366760" y="2953512"/>
            <a:ext cx="1133856" cy="1133856"/>
          </a:xfrm>
          <a:prstGeom prst="ellipse">
            <a:avLst/>
          </a:prstGeom>
          <a:solidFill>
            <a:schemeClr val="bg1"/>
          </a:solidFill>
          <a:ln w="50800">
            <a:solidFill>
              <a:srgbClr val="3A4A82"/>
            </a:solidFill>
            <a:prstDash val="solid"/>
          </a:ln>
        </p:spPr>
      </p:sp>
      <p:pic>
        <p:nvPicPr>
          <p:cNvPr id="19" name="anim6-7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3255264"/>
            <a:ext cx="530352" cy="530352"/>
          </a:xfrm>
          <a:prstGeom prst="rect">
            <a:avLst/>
          </a:prstGeom>
        </p:spPr>
      </p:pic>
      <p:sp>
        <p:nvSpPr>
          <p:cNvPr id="20" name="anim6-75"/>
          <p:cNvSpPr txBox="1"/>
          <p:nvPr/>
        </p:nvSpPr>
        <p:spPr>
          <a:xfrm>
            <a:off x="8019288" y="43434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Encaisser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Transactions et comptes</a:t>
            </a:r>
            <a:endParaRPr lang="en-US" sz="1500" dirty="0"/>
          </a:p>
        </p:txBody>
      </p:sp>
      <p:sp>
        <p:nvSpPr>
          <p:cNvPr id="21" name="anim7-76"/>
          <p:cNvSpPr/>
          <p:nvPr/>
        </p:nvSpPr>
        <p:spPr>
          <a:xfrm>
            <a:off x="10268712" y="2953512"/>
            <a:ext cx="1133856" cy="1133856"/>
          </a:xfrm>
          <a:prstGeom prst="ellipse">
            <a:avLst/>
          </a:prstGeom>
          <a:solidFill>
            <a:schemeClr val="bg1"/>
          </a:solidFill>
          <a:ln w="50800">
            <a:solidFill>
              <a:srgbClr val="3A4A82"/>
            </a:solidFill>
            <a:prstDash val="solid"/>
          </a:ln>
        </p:spPr>
      </p:sp>
      <p:pic>
        <p:nvPicPr>
          <p:cNvPr id="22" name="anim7-7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464" y="3255264"/>
            <a:ext cx="530352" cy="530352"/>
          </a:xfrm>
          <a:prstGeom prst="rect">
            <a:avLst/>
          </a:prstGeom>
        </p:spPr>
      </p:pic>
      <p:sp>
        <p:nvSpPr>
          <p:cNvPr id="23" name="anim7-78"/>
          <p:cNvSpPr txBox="1"/>
          <p:nvPr/>
        </p:nvSpPr>
        <p:spPr>
          <a:xfrm>
            <a:off x="9921240" y="43434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Analyser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Tableau de bord et rapports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 animBg="1"/>
      <p:bldP spid="14" grpId="0" animBg="1"/>
      <p:bldP spid="17" grpId="0" animBg="1"/>
      <p:bldP spid="20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 tableau de bord : la journée en un coup d'œil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PILOTAGE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Menu  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Dashboard · Availability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Dès la connexion, l'essentiel de l'activité est affiché.</a:t>
            </a:r>
            <a:endParaRPr lang="en-US" sz="1700" dirty="0"/>
          </a:p>
        </p:txBody>
      </p:sp>
      <p:sp>
        <p:nvSpPr>
          <p:cNvPr id="9" name="anim1-79"/>
          <p:cNvSpPr/>
          <p:nvPr/>
        </p:nvSpPr>
        <p:spPr>
          <a:xfrm>
            <a:off x="54864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0" name="anim1-80"/>
          <p:cNvSpPr/>
          <p:nvPr/>
        </p:nvSpPr>
        <p:spPr>
          <a:xfrm>
            <a:off x="74980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anim1-8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721254"/>
            <a:ext cx="263347" cy="263347"/>
          </a:xfrm>
          <a:prstGeom prst="rect">
            <a:avLst/>
          </a:prstGeom>
        </p:spPr>
      </p:pic>
      <p:sp>
        <p:nvSpPr>
          <p:cNvPr id="12" name="anim1-82"/>
          <p:cNvSpPr txBox="1"/>
          <p:nvPr/>
        </p:nvSpPr>
        <p:spPr>
          <a:xfrm>
            <a:off x="144475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Compteurs et transactions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Véhicules, chauffeurs, clients, trajets du jour ; revenus et dépenses.</a:t>
            </a:r>
            <a:endParaRPr lang="en-US" sz="1500" dirty="0"/>
          </a:p>
        </p:txBody>
      </p:sp>
      <p:sp>
        <p:nvSpPr>
          <p:cNvPr id="13" name="anim2-83"/>
          <p:cNvSpPr/>
          <p:nvPr/>
        </p:nvSpPr>
        <p:spPr>
          <a:xfrm>
            <a:off x="448056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4" name="anim2-84"/>
          <p:cNvSpPr/>
          <p:nvPr/>
        </p:nvSpPr>
        <p:spPr>
          <a:xfrm>
            <a:off x="468172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anim2-8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374" y="2721254"/>
            <a:ext cx="263347" cy="263347"/>
          </a:xfrm>
          <a:prstGeom prst="rect">
            <a:avLst/>
          </a:prstGeom>
        </p:spPr>
      </p:pic>
      <p:sp>
        <p:nvSpPr>
          <p:cNvPr id="16" name="anim2-86"/>
          <p:cNvSpPr txBox="1"/>
          <p:nvPr/>
        </p:nvSpPr>
        <p:spPr>
          <a:xfrm>
            <a:off x="537667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Statut de la flotte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Véhicules disponibles ou en trajet, et leur position actuelle.</a:t>
            </a:r>
            <a:endParaRPr lang="en-US" sz="1500" dirty="0"/>
          </a:p>
        </p:txBody>
      </p:sp>
      <p:sp>
        <p:nvSpPr>
          <p:cNvPr id="17" name="anim3-87"/>
          <p:cNvSpPr/>
          <p:nvPr/>
        </p:nvSpPr>
        <p:spPr>
          <a:xfrm>
            <a:off x="54864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8" name="anim3-88"/>
          <p:cNvSpPr/>
          <p:nvPr/>
        </p:nvSpPr>
        <p:spPr>
          <a:xfrm>
            <a:off x="74980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anim3-8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4595774"/>
            <a:ext cx="263347" cy="263347"/>
          </a:xfrm>
          <a:prstGeom prst="rect">
            <a:avLst/>
          </a:prstGeom>
        </p:spPr>
      </p:pic>
      <p:sp>
        <p:nvSpPr>
          <p:cNvPr id="20" name="anim3-90"/>
          <p:cNvSpPr txBox="1"/>
          <p:nvPr/>
        </p:nvSpPr>
        <p:spPr>
          <a:xfrm>
            <a:off x="144475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Rappels et tops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Entretiens à prévoir, principaux revenus et dépenses.</a:t>
            </a:r>
            <a:endParaRPr lang="en-US" sz="1500" dirty="0"/>
          </a:p>
        </p:txBody>
      </p:sp>
      <p:sp>
        <p:nvSpPr>
          <p:cNvPr id="21" name="anim4-91"/>
          <p:cNvSpPr/>
          <p:nvPr/>
        </p:nvSpPr>
        <p:spPr>
          <a:xfrm>
            <a:off x="448056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2" name="anim4-92"/>
          <p:cNvSpPr/>
          <p:nvPr/>
        </p:nvSpPr>
        <p:spPr>
          <a:xfrm>
            <a:off x="468172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anim4-9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374" y="4595774"/>
            <a:ext cx="263347" cy="263347"/>
          </a:xfrm>
          <a:prstGeom prst="rect">
            <a:avLst/>
          </a:prstGeom>
        </p:spPr>
      </p:pic>
      <p:sp>
        <p:nvSpPr>
          <p:cNvPr id="24" name="anim4-94"/>
          <p:cNvSpPr txBox="1"/>
          <p:nvPr/>
        </p:nvSpPr>
        <p:spPr>
          <a:xfrm>
            <a:off x="537667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Calendrier de disponibilité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Occupation des véhicules par mois, semaine ou jour.</a:t>
            </a:r>
            <a:endParaRPr lang="en-US" sz="1500" dirty="0"/>
          </a:p>
        </p:txBody>
      </p:sp>
      <p:sp>
        <p:nvSpPr>
          <p:cNvPr id="25" name="anim5-95"/>
          <p:cNvSpPr/>
          <p:nvPr/>
        </p:nvSpPr>
        <p:spPr>
          <a:xfrm>
            <a:off x="8549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6" name="anim5-96"/>
          <p:cNvSpPr txBox="1"/>
          <p:nvPr/>
        </p:nvSpPr>
        <p:spPr>
          <a:xfrm>
            <a:off x="877824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Ce que ça apporte</a:t>
            </a:r>
            <a:endParaRPr lang="en-US" sz="1800" dirty="0"/>
          </a:p>
        </p:txBody>
      </p:sp>
      <p:pic>
        <p:nvPicPr>
          <p:cNvPr id="27" name="anim6-9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276856"/>
            <a:ext cx="292608" cy="292608"/>
          </a:xfrm>
          <a:prstGeom prst="rect">
            <a:avLst/>
          </a:prstGeom>
        </p:spPr>
      </p:pic>
      <p:sp>
        <p:nvSpPr>
          <p:cNvPr id="28" name="anim6-98"/>
          <p:cNvSpPr txBox="1"/>
          <p:nvPr/>
        </p:nvSpPr>
        <p:spPr>
          <a:xfrm>
            <a:off x="9189720" y="2240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 direction voit l'activité sans demander de rapport</a:t>
            </a:r>
            <a:endParaRPr lang="en-US" sz="1400" dirty="0"/>
          </a:p>
        </p:txBody>
      </p:sp>
      <p:pic>
        <p:nvPicPr>
          <p:cNvPr id="29" name="anim7-9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465576"/>
            <a:ext cx="292608" cy="292608"/>
          </a:xfrm>
          <a:prstGeom prst="rect">
            <a:avLst/>
          </a:prstGeom>
        </p:spPr>
      </p:pic>
      <p:sp>
        <p:nvSpPr>
          <p:cNvPr id="30" name="anim7-100"/>
          <p:cNvSpPr txBox="1"/>
          <p:nvPr/>
        </p:nvSpPr>
        <p:spPr>
          <a:xfrm>
            <a:off x="9189720" y="34290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Les agents savent tout de suite quels véhicules sont libres</a:t>
            </a:r>
            <a:endParaRPr lang="en-US" sz="1400" dirty="0"/>
          </a:p>
        </p:txBody>
      </p:sp>
      <p:pic>
        <p:nvPicPr>
          <p:cNvPr id="31" name="anim8-10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654296"/>
            <a:ext cx="292608" cy="292608"/>
          </a:xfrm>
          <a:prstGeom prst="rect">
            <a:avLst/>
          </a:prstGeom>
        </p:spPr>
      </p:pic>
      <p:sp>
        <p:nvSpPr>
          <p:cNvPr id="32" name="anim8-102"/>
          <p:cNvSpPr txBox="1"/>
          <p:nvPr/>
        </p:nvSpPr>
        <p:spPr>
          <a:xfrm>
            <a:off x="9189720" y="4617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Les urgences sont visibles dès l'ouverture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Gérer les véhicules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FLOTTE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Menu  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Vehicle's › Vehicle List · Add Vehicle · Vehicle Group · Route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Une fiche complète pour chaque véhicule, de l'immatriculation au GPS.</a:t>
            </a:r>
            <a:endParaRPr lang="en-US" sz="1700" dirty="0"/>
          </a:p>
        </p:txBody>
      </p:sp>
      <p:sp>
        <p:nvSpPr>
          <p:cNvPr id="9" name="anim1-103"/>
          <p:cNvSpPr/>
          <p:nvPr/>
        </p:nvSpPr>
        <p:spPr>
          <a:xfrm>
            <a:off x="54864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0" name="anim1-104"/>
          <p:cNvSpPr/>
          <p:nvPr/>
        </p:nvSpPr>
        <p:spPr>
          <a:xfrm>
            <a:off x="74980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anim1-10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721254"/>
            <a:ext cx="263347" cy="263347"/>
          </a:xfrm>
          <a:prstGeom prst="rect">
            <a:avLst/>
          </a:prstGeom>
        </p:spPr>
      </p:pic>
      <p:sp>
        <p:nvSpPr>
          <p:cNvPr id="12" name="anim1-106"/>
          <p:cNvSpPr txBox="1"/>
          <p:nvPr/>
        </p:nvSpPr>
        <p:spPr>
          <a:xfrm>
            <a:off x="144475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Fiche véhicule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Immatriculation, modèle, châssis, moteur, compteur, photo et documents.</a:t>
            </a:r>
            <a:endParaRPr lang="en-US" sz="1500" dirty="0"/>
          </a:p>
        </p:txBody>
      </p:sp>
      <p:sp>
        <p:nvSpPr>
          <p:cNvPr id="13" name="anim2-107"/>
          <p:cNvSpPr/>
          <p:nvPr/>
        </p:nvSpPr>
        <p:spPr>
          <a:xfrm>
            <a:off x="448056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4" name="anim2-108"/>
          <p:cNvSpPr/>
          <p:nvPr/>
        </p:nvSpPr>
        <p:spPr>
          <a:xfrm>
            <a:off x="468172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anim2-10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374" y="2721254"/>
            <a:ext cx="263347" cy="263347"/>
          </a:xfrm>
          <a:prstGeom prst="rect">
            <a:avLst/>
          </a:prstGeom>
        </p:spPr>
      </p:pic>
      <p:sp>
        <p:nvSpPr>
          <p:cNvPr id="16" name="anim2-110"/>
          <p:cNvSpPr txBox="1"/>
          <p:nvPr/>
        </p:nvSpPr>
        <p:spPr>
          <a:xfrm>
            <a:off x="537667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Échéances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Expiration de l'immatriculation et de l'assurance, signalée à l'écran.</a:t>
            </a:r>
            <a:endParaRPr lang="en-US" sz="1500" dirty="0"/>
          </a:p>
        </p:txBody>
      </p:sp>
      <p:sp>
        <p:nvSpPr>
          <p:cNvPr id="17" name="anim3-111"/>
          <p:cNvSpPr/>
          <p:nvPr/>
        </p:nvSpPr>
        <p:spPr>
          <a:xfrm>
            <a:off x="54864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8" name="anim3-112"/>
          <p:cNvSpPr/>
          <p:nvPr/>
        </p:nvSpPr>
        <p:spPr>
          <a:xfrm>
            <a:off x="74980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anim3-1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4595774"/>
            <a:ext cx="263347" cy="263347"/>
          </a:xfrm>
          <a:prstGeom prst="rect">
            <a:avLst/>
          </a:prstGeom>
        </p:spPr>
      </p:pic>
      <p:sp>
        <p:nvSpPr>
          <p:cNvPr id="20" name="anim3-114"/>
          <p:cNvSpPr txBox="1"/>
          <p:nvPr/>
        </p:nvSpPr>
        <p:spPr>
          <a:xfrm>
            <a:off x="144475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Types et itinéraires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Camion, bus, voiture… et liste des itinéraires.</a:t>
            </a:r>
            <a:endParaRPr lang="en-US" sz="1500" dirty="0"/>
          </a:p>
        </p:txBody>
      </p:sp>
      <p:sp>
        <p:nvSpPr>
          <p:cNvPr id="21" name="anim4-115"/>
          <p:cNvSpPr/>
          <p:nvPr/>
        </p:nvSpPr>
        <p:spPr>
          <a:xfrm>
            <a:off x="448056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2" name="anim4-116"/>
          <p:cNvSpPr/>
          <p:nvPr/>
        </p:nvSpPr>
        <p:spPr>
          <a:xfrm>
            <a:off x="468172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anim4-1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374" y="4595774"/>
            <a:ext cx="263347" cy="263347"/>
          </a:xfrm>
          <a:prstGeom prst="rect">
            <a:avLst/>
          </a:prstGeom>
        </p:spPr>
      </p:pic>
      <p:sp>
        <p:nvSpPr>
          <p:cNvPr id="24" name="anim4-118"/>
          <p:cNvSpPr txBox="1"/>
          <p:nvPr/>
        </p:nvSpPr>
        <p:spPr>
          <a:xfrm>
            <a:off x="537667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Tarif et propriété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Facturation et coût par défaut, véhicule en propre ou loué, liaison GPS.</a:t>
            </a:r>
            <a:endParaRPr lang="en-US" sz="1500" dirty="0"/>
          </a:p>
        </p:txBody>
      </p:sp>
      <p:sp>
        <p:nvSpPr>
          <p:cNvPr id="25" name="anim5-119"/>
          <p:cNvSpPr/>
          <p:nvPr/>
        </p:nvSpPr>
        <p:spPr>
          <a:xfrm>
            <a:off x="8549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6" name="anim5-120"/>
          <p:cNvSpPr txBox="1"/>
          <p:nvPr/>
        </p:nvSpPr>
        <p:spPr>
          <a:xfrm>
            <a:off x="877824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Ce que ça apporte</a:t>
            </a:r>
            <a:endParaRPr lang="en-US" sz="1800" dirty="0"/>
          </a:p>
        </p:txBody>
      </p:sp>
      <p:pic>
        <p:nvPicPr>
          <p:cNvPr id="27" name="anim6-12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276856"/>
            <a:ext cx="292608" cy="292608"/>
          </a:xfrm>
          <a:prstGeom prst="rect">
            <a:avLst/>
          </a:prstGeom>
        </p:spPr>
      </p:pic>
      <p:sp>
        <p:nvSpPr>
          <p:cNvPr id="28" name="anim6-122"/>
          <p:cNvSpPr txBox="1"/>
          <p:nvPr/>
        </p:nvSpPr>
        <p:spPr>
          <a:xfrm>
            <a:off x="9189720" y="2240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Plus d'assurance expirée qui passe inaperçue</a:t>
            </a:r>
            <a:endParaRPr lang="en-US" sz="1400" dirty="0"/>
          </a:p>
        </p:txBody>
      </p:sp>
      <p:pic>
        <p:nvPicPr>
          <p:cNvPr id="29" name="anim7-12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465576"/>
            <a:ext cx="292608" cy="292608"/>
          </a:xfrm>
          <a:prstGeom prst="rect">
            <a:avLst/>
          </a:prstGeom>
        </p:spPr>
      </p:pic>
      <p:sp>
        <p:nvSpPr>
          <p:cNvPr id="30" name="anim7-124"/>
          <p:cNvSpPr txBox="1"/>
          <p:nvPr/>
        </p:nvSpPr>
        <p:spPr>
          <a:xfrm>
            <a:off x="9189720" y="34290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Toute la flotte saisie d'un coup par import CSV</a:t>
            </a:r>
            <a:endParaRPr lang="en-US" sz="1400" dirty="0"/>
          </a:p>
        </p:txBody>
      </p:sp>
      <p:pic>
        <p:nvPicPr>
          <p:cNvPr id="31" name="anim8-12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654296"/>
            <a:ext cx="292608" cy="292608"/>
          </a:xfrm>
          <a:prstGeom prst="rect">
            <a:avLst/>
          </a:prstGeom>
        </p:spPr>
      </p:pic>
      <p:sp>
        <p:nvSpPr>
          <p:cNvPr id="32" name="anim8-126"/>
          <p:cNvSpPr txBox="1"/>
          <p:nvPr/>
        </p:nvSpPr>
        <p:spPr>
          <a:xfrm>
            <a:off x="9189720" y="4617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Export Excel, CSV ou PDF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Chauffeurs et fournisseurs de véhicules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FLOTTE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Menu  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Driver's · Vehicle Vendor's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Savoir qui conduit, avec quel permis, et avec quels partenaires on travaille.</a:t>
            </a:r>
            <a:endParaRPr lang="en-US" sz="1700" dirty="0"/>
          </a:p>
        </p:txBody>
      </p:sp>
      <p:sp>
        <p:nvSpPr>
          <p:cNvPr id="9" name="anim1-127"/>
          <p:cNvSpPr/>
          <p:nvPr/>
        </p:nvSpPr>
        <p:spPr>
          <a:xfrm>
            <a:off x="54864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0" name="anim1-128"/>
          <p:cNvSpPr/>
          <p:nvPr/>
        </p:nvSpPr>
        <p:spPr>
          <a:xfrm>
            <a:off x="74980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anim1-12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721254"/>
            <a:ext cx="263347" cy="263347"/>
          </a:xfrm>
          <a:prstGeom prst="rect">
            <a:avLst/>
          </a:prstGeom>
        </p:spPr>
      </p:pic>
      <p:sp>
        <p:nvSpPr>
          <p:cNvPr id="12" name="anim1-130"/>
          <p:cNvSpPr txBox="1"/>
          <p:nvPr/>
        </p:nvSpPr>
        <p:spPr>
          <a:xfrm>
            <a:off x="144475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Fiche chauffeur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Contact, âge, adresse, expérience, date d'entrée, photo et document.</a:t>
            </a:r>
            <a:endParaRPr lang="en-US" sz="1500" dirty="0"/>
          </a:p>
        </p:txBody>
      </p:sp>
      <p:sp>
        <p:nvSpPr>
          <p:cNvPr id="13" name="anim2-131"/>
          <p:cNvSpPr/>
          <p:nvPr/>
        </p:nvSpPr>
        <p:spPr>
          <a:xfrm>
            <a:off x="448056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4" name="anim2-132"/>
          <p:cNvSpPr/>
          <p:nvPr/>
        </p:nvSpPr>
        <p:spPr>
          <a:xfrm>
            <a:off x="468172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anim2-13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374" y="2721254"/>
            <a:ext cx="263347" cy="263347"/>
          </a:xfrm>
          <a:prstGeom prst="rect">
            <a:avLst/>
          </a:prstGeom>
        </p:spPr>
      </p:pic>
      <p:sp>
        <p:nvSpPr>
          <p:cNvPr id="16" name="anim2-134"/>
          <p:cNvSpPr txBox="1"/>
          <p:nvPr/>
        </p:nvSpPr>
        <p:spPr>
          <a:xfrm>
            <a:off x="537667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Permis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Numéro et date d'expiration, signalée quand elle est dépassée.</a:t>
            </a:r>
            <a:endParaRPr lang="en-US" sz="1500" dirty="0"/>
          </a:p>
        </p:txBody>
      </p:sp>
      <p:sp>
        <p:nvSpPr>
          <p:cNvPr id="17" name="anim3-135"/>
          <p:cNvSpPr/>
          <p:nvPr/>
        </p:nvSpPr>
        <p:spPr>
          <a:xfrm>
            <a:off x="54864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8" name="anim3-136"/>
          <p:cNvSpPr/>
          <p:nvPr/>
        </p:nvSpPr>
        <p:spPr>
          <a:xfrm>
            <a:off x="74980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anim3-13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4595774"/>
            <a:ext cx="263347" cy="263347"/>
          </a:xfrm>
          <a:prstGeom prst="rect">
            <a:avLst/>
          </a:prstGeom>
        </p:spPr>
      </p:pic>
      <p:sp>
        <p:nvSpPr>
          <p:cNvPr id="20" name="anim3-138"/>
          <p:cNvSpPr txBox="1"/>
          <p:nvPr/>
        </p:nvSpPr>
        <p:spPr>
          <a:xfrm>
            <a:off x="144475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Fournisseurs de véhicules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Société, contact, téléphone, adresse et statut.</a:t>
            </a:r>
            <a:endParaRPr lang="en-US" sz="1500" dirty="0"/>
          </a:p>
        </p:txBody>
      </p:sp>
      <p:sp>
        <p:nvSpPr>
          <p:cNvPr id="21" name="anim4-139"/>
          <p:cNvSpPr/>
          <p:nvPr/>
        </p:nvSpPr>
        <p:spPr>
          <a:xfrm>
            <a:off x="448056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2" name="anim4-140"/>
          <p:cNvSpPr/>
          <p:nvPr/>
        </p:nvSpPr>
        <p:spPr>
          <a:xfrm>
            <a:off x="468172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anim4-14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374" y="4595774"/>
            <a:ext cx="263347" cy="263347"/>
          </a:xfrm>
          <a:prstGeom prst="rect">
            <a:avLst/>
          </a:prstGeom>
        </p:spPr>
      </p:pic>
      <p:sp>
        <p:nvSpPr>
          <p:cNvPr id="24" name="anim4-142"/>
          <p:cNvSpPr txBox="1"/>
          <p:nvPr/>
        </p:nvSpPr>
        <p:spPr>
          <a:xfrm>
            <a:off x="537667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Contrats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Date de contrat et document du contrat joint.</a:t>
            </a:r>
            <a:endParaRPr lang="en-US" sz="1500" dirty="0"/>
          </a:p>
        </p:txBody>
      </p:sp>
      <p:sp>
        <p:nvSpPr>
          <p:cNvPr id="25" name="anim5-143"/>
          <p:cNvSpPr/>
          <p:nvPr/>
        </p:nvSpPr>
        <p:spPr>
          <a:xfrm>
            <a:off x="8549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6" name="anim5-144"/>
          <p:cNvSpPr txBox="1"/>
          <p:nvPr/>
        </p:nvSpPr>
        <p:spPr>
          <a:xfrm>
            <a:off x="877824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Ce que ça apporte</a:t>
            </a:r>
            <a:endParaRPr lang="en-US" sz="1800" dirty="0"/>
          </a:p>
        </p:txBody>
      </p:sp>
      <p:pic>
        <p:nvPicPr>
          <p:cNvPr id="27" name="anim6-14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276856"/>
            <a:ext cx="292608" cy="292608"/>
          </a:xfrm>
          <a:prstGeom prst="rect">
            <a:avLst/>
          </a:prstGeom>
        </p:spPr>
      </p:pic>
      <p:sp>
        <p:nvSpPr>
          <p:cNvPr id="28" name="anim6-146"/>
          <p:cNvSpPr txBox="1"/>
          <p:nvPr/>
        </p:nvSpPr>
        <p:spPr>
          <a:xfrm>
            <a:off x="9189720" y="2240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 permis expiré est repéré tout de suite</a:t>
            </a:r>
            <a:endParaRPr lang="en-US" sz="1400" dirty="0"/>
          </a:p>
        </p:txBody>
      </p:sp>
      <p:pic>
        <p:nvPicPr>
          <p:cNvPr id="29" name="anim7-14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465576"/>
            <a:ext cx="292608" cy="292608"/>
          </a:xfrm>
          <a:prstGeom prst="rect">
            <a:avLst/>
          </a:prstGeom>
        </p:spPr>
      </p:pic>
      <p:sp>
        <p:nvSpPr>
          <p:cNvPr id="30" name="anim7-148"/>
          <p:cNvSpPr txBox="1"/>
          <p:nvPr/>
        </p:nvSpPr>
        <p:spPr>
          <a:xfrm>
            <a:off x="9189720" y="34290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Les contrats des loueurs sont centralisés</a:t>
            </a:r>
            <a:endParaRPr lang="en-US" sz="1400" dirty="0"/>
          </a:p>
        </p:txBody>
      </p:sp>
      <p:pic>
        <p:nvPicPr>
          <p:cNvPr id="31" name="anim8-149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654296"/>
            <a:ext cx="292608" cy="292608"/>
          </a:xfrm>
          <a:prstGeom prst="rect">
            <a:avLst/>
          </a:prstGeom>
        </p:spPr>
      </p:pic>
      <p:sp>
        <p:nvSpPr>
          <p:cNvPr id="32" name="anim8-150"/>
          <p:cNvSpPr txBox="1"/>
          <p:nvPr/>
        </p:nvSpPr>
        <p:spPr>
          <a:xfrm>
            <a:off x="9189720" y="4617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Import des chauffeurs en masse par CSV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Suivi GPS et zones géographiques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FLOTTE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Menu  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Tracking › History Tracking · Live Location · Geofence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Savoir où sont les véhicules, et être prévenu quand ils entrent ou sortent d'une zone.</a:t>
            </a:r>
            <a:endParaRPr lang="en-US" sz="1700" dirty="0"/>
          </a:p>
        </p:txBody>
      </p:sp>
      <p:sp>
        <p:nvSpPr>
          <p:cNvPr id="9" name="anim1-151"/>
          <p:cNvSpPr/>
          <p:nvPr/>
        </p:nvSpPr>
        <p:spPr>
          <a:xfrm>
            <a:off x="54864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0" name="anim1-152"/>
          <p:cNvSpPr/>
          <p:nvPr/>
        </p:nvSpPr>
        <p:spPr>
          <a:xfrm>
            <a:off x="74980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anim1-15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721254"/>
            <a:ext cx="263347" cy="263347"/>
          </a:xfrm>
          <a:prstGeom prst="rect">
            <a:avLst/>
          </a:prstGeom>
        </p:spPr>
      </p:pic>
      <p:sp>
        <p:nvSpPr>
          <p:cNvPr id="12" name="anim1-154"/>
          <p:cNvSpPr txBox="1"/>
          <p:nvPr/>
        </p:nvSpPr>
        <p:spPr>
          <a:xfrm>
            <a:off x="144475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Position en direct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Localisation actuelle des véhicules sur la carte.</a:t>
            </a:r>
            <a:endParaRPr lang="en-US" sz="1500" dirty="0"/>
          </a:p>
        </p:txBody>
      </p:sp>
      <p:sp>
        <p:nvSpPr>
          <p:cNvPr id="13" name="anim2-155"/>
          <p:cNvSpPr/>
          <p:nvPr/>
        </p:nvSpPr>
        <p:spPr>
          <a:xfrm>
            <a:off x="448056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4" name="anim2-156"/>
          <p:cNvSpPr/>
          <p:nvPr/>
        </p:nvSpPr>
        <p:spPr>
          <a:xfrm>
            <a:off x="468172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anim2-15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374" y="2721254"/>
            <a:ext cx="263347" cy="263347"/>
          </a:xfrm>
          <a:prstGeom prst="rect">
            <a:avLst/>
          </a:prstGeom>
        </p:spPr>
      </p:pic>
      <p:sp>
        <p:nvSpPr>
          <p:cNvPr id="16" name="anim2-158"/>
          <p:cNvSpPr txBox="1"/>
          <p:nvPr/>
        </p:nvSpPr>
        <p:spPr>
          <a:xfrm>
            <a:off x="537667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Historique des parcours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Trajet d'un véhicule sur une période choisie.</a:t>
            </a:r>
            <a:endParaRPr lang="en-US" sz="1500" dirty="0"/>
          </a:p>
        </p:txBody>
      </p:sp>
      <p:sp>
        <p:nvSpPr>
          <p:cNvPr id="17" name="anim3-159"/>
          <p:cNvSpPr/>
          <p:nvPr/>
        </p:nvSpPr>
        <p:spPr>
          <a:xfrm>
            <a:off x="54864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8" name="anim3-160"/>
          <p:cNvSpPr/>
          <p:nvPr/>
        </p:nvSpPr>
        <p:spPr>
          <a:xfrm>
            <a:off x="74980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anim3-16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4595774"/>
            <a:ext cx="263347" cy="263347"/>
          </a:xfrm>
          <a:prstGeom prst="rect">
            <a:avLst/>
          </a:prstGeom>
        </p:spPr>
      </p:pic>
      <p:sp>
        <p:nvSpPr>
          <p:cNvPr id="20" name="anim3-162"/>
          <p:cNvSpPr txBox="1"/>
          <p:nvPr/>
        </p:nvSpPr>
        <p:spPr>
          <a:xfrm>
            <a:off x="144475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Zones (geofences)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Zones dessinées sur la carte : cercle, rectangle, polygone…</a:t>
            </a:r>
            <a:endParaRPr lang="en-US" sz="1500" dirty="0"/>
          </a:p>
        </p:txBody>
      </p:sp>
      <p:sp>
        <p:nvSpPr>
          <p:cNvPr id="21" name="anim4-163"/>
          <p:cNvSpPr/>
          <p:nvPr/>
        </p:nvSpPr>
        <p:spPr>
          <a:xfrm>
            <a:off x="448056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2" name="anim4-164"/>
          <p:cNvSpPr/>
          <p:nvPr/>
        </p:nvSpPr>
        <p:spPr>
          <a:xfrm>
            <a:off x="468172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anim4-16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374" y="4595774"/>
            <a:ext cx="263347" cy="263347"/>
          </a:xfrm>
          <a:prstGeom prst="rect">
            <a:avLst/>
          </a:prstGeom>
        </p:spPr>
      </p:pic>
      <p:sp>
        <p:nvSpPr>
          <p:cNvPr id="24" name="anim4-166"/>
          <p:cNvSpPr txBox="1"/>
          <p:nvPr/>
        </p:nvSpPr>
        <p:spPr>
          <a:xfrm>
            <a:off x="537667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Événements de zone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Entrées et sorties enregistrées, avec notification.</a:t>
            </a:r>
            <a:endParaRPr lang="en-US" sz="1500" dirty="0"/>
          </a:p>
        </p:txBody>
      </p:sp>
      <p:sp>
        <p:nvSpPr>
          <p:cNvPr id="25" name="anim5-167"/>
          <p:cNvSpPr/>
          <p:nvPr/>
        </p:nvSpPr>
        <p:spPr>
          <a:xfrm>
            <a:off x="8549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6" name="anim5-168"/>
          <p:cNvSpPr txBox="1"/>
          <p:nvPr/>
        </p:nvSpPr>
        <p:spPr>
          <a:xfrm>
            <a:off x="877824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Ce que ça apporte</a:t>
            </a:r>
            <a:endParaRPr lang="en-US" sz="1800" dirty="0"/>
          </a:p>
        </p:txBody>
      </p:sp>
      <p:pic>
        <p:nvPicPr>
          <p:cNvPr id="27" name="anim6-16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276856"/>
            <a:ext cx="292608" cy="292608"/>
          </a:xfrm>
          <a:prstGeom prst="rect">
            <a:avLst/>
          </a:prstGeom>
        </p:spPr>
      </p:pic>
      <p:sp>
        <p:nvSpPr>
          <p:cNvPr id="28" name="anim6-170"/>
          <p:cNvSpPr txBox="1"/>
          <p:nvPr/>
        </p:nvSpPr>
        <p:spPr>
          <a:xfrm>
            <a:off x="9189720" y="2240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Contrôler les itinéraires réellement suivis</a:t>
            </a:r>
            <a:endParaRPr lang="en-US" sz="1400" dirty="0"/>
          </a:p>
        </p:txBody>
      </p:sp>
      <p:pic>
        <p:nvPicPr>
          <p:cNvPr id="29" name="anim7-17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465576"/>
            <a:ext cx="292608" cy="292608"/>
          </a:xfrm>
          <a:prstGeom prst="rect">
            <a:avLst/>
          </a:prstGeom>
        </p:spPr>
      </p:pic>
      <p:sp>
        <p:nvSpPr>
          <p:cNvPr id="30" name="anim7-172"/>
          <p:cNvSpPr txBox="1"/>
          <p:nvPr/>
        </p:nvSpPr>
        <p:spPr>
          <a:xfrm>
            <a:off x="9189720" y="34290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Réagir vite en cas d'écart</a:t>
            </a:r>
            <a:endParaRPr lang="en-US" sz="1400" dirty="0"/>
          </a:p>
        </p:txBody>
      </p:sp>
      <p:pic>
        <p:nvPicPr>
          <p:cNvPr id="31" name="anim8-17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654296"/>
            <a:ext cx="292608" cy="292608"/>
          </a:xfrm>
          <a:prstGeom prst="rect">
            <a:avLst/>
          </a:prstGeom>
        </p:spPr>
      </p:pic>
      <p:sp>
        <p:nvSpPr>
          <p:cNvPr id="32" name="anim8-174"/>
          <p:cNvSpPr txBox="1"/>
          <p:nvPr/>
        </p:nvSpPr>
        <p:spPr>
          <a:xfrm>
            <a:off x="9189720" y="4617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Rassurer les clients sur leurs livraisons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Trajets, clients et coupons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ACTIVITÉ COMMERCIALE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Menu  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Trips · Customer · Coupon Management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De la réservation à la facturation, chaque trajet est suivi.</a:t>
            </a:r>
            <a:endParaRPr lang="en-US" sz="1700" dirty="0"/>
          </a:p>
        </p:txBody>
      </p:sp>
      <p:sp>
        <p:nvSpPr>
          <p:cNvPr id="9" name="anim1-175"/>
          <p:cNvSpPr/>
          <p:nvPr/>
        </p:nvSpPr>
        <p:spPr>
          <a:xfrm>
            <a:off x="54864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0" name="anim1-176"/>
          <p:cNvSpPr/>
          <p:nvPr/>
        </p:nvSpPr>
        <p:spPr>
          <a:xfrm>
            <a:off x="74980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anim1-17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721254"/>
            <a:ext cx="263347" cy="263347"/>
          </a:xfrm>
          <a:prstGeom prst="rect">
            <a:avLst/>
          </a:prstGeom>
        </p:spPr>
      </p:pic>
      <p:sp>
        <p:nvSpPr>
          <p:cNvPr id="12" name="anim1-178"/>
          <p:cNvSpPr txBox="1"/>
          <p:nvPr/>
        </p:nvSpPr>
        <p:spPr>
          <a:xfrm>
            <a:off x="144475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Réservation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Client, dates, véhicule, chauffeur, départ, arrivée, kilométrage, ramassages.</a:t>
            </a:r>
            <a:endParaRPr lang="en-US" sz="1500" dirty="0"/>
          </a:p>
        </p:txBody>
      </p:sp>
      <p:sp>
        <p:nvSpPr>
          <p:cNvPr id="13" name="anim2-179"/>
          <p:cNvSpPr/>
          <p:nvPr/>
        </p:nvSpPr>
        <p:spPr>
          <a:xfrm>
            <a:off x="448056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4" name="anim2-180"/>
          <p:cNvSpPr/>
          <p:nvPr/>
        </p:nvSpPr>
        <p:spPr>
          <a:xfrm>
            <a:off x="468172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anim2-18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374" y="2721254"/>
            <a:ext cx="263347" cy="263347"/>
          </a:xfrm>
          <a:prstGeom prst="rect">
            <a:avLst/>
          </a:prstGeom>
        </p:spPr>
      </p:pic>
      <p:sp>
        <p:nvSpPr>
          <p:cNvPr id="16" name="anim2-182"/>
          <p:cNvSpPr txBox="1"/>
          <p:nvPr/>
        </p:nvSpPr>
        <p:spPr>
          <a:xfrm>
            <a:off x="537667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Suivi du trajet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Statut (réservé, commencé…), distance et numéro de réservation.</a:t>
            </a:r>
            <a:endParaRPr lang="en-US" sz="1500" dirty="0"/>
          </a:p>
        </p:txBody>
      </p:sp>
      <p:sp>
        <p:nvSpPr>
          <p:cNvPr id="17" name="anim3-183"/>
          <p:cNvSpPr/>
          <p:nvPr/>
        </p:nvSpPr>
        <p:spPr>
          <a:xfrm>
            <a:off x="54864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8" name="anim3-184"/>
          <p:cNvSpPr/>
          <p:nvPr/>
        </p:nvSpPr>
        <p:spPr>
          <a:xfrm>
            <a:off x="74980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anim3-18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4595774"/>
            <a:ext cx="263347" cy="263347"/>
          </a:xfrm>
          <a:prstGeom prst="rect">
            <a:avLst/>
          </a:prstGeom>
        </p:spPr>
      </p:pic>
      <p:sp>
        <p:nvSpPr>
          <p:cNvPr id="20" name="anim3-186"/>
          <p:cNvSpPr txBox="1"/>
          <p:nvPr/>
        </p:nvSpPr>
        <p:spPr>
          <a:xfrm>
            <a:off x="144475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Clients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Coordonnées, solde impayé et statut actif ou inactif.</a:t>
            </a:r>
            <a:endParaRPr lang="en-US" sz="1500" dirty="0"/>
          </a:p>
        </p:txBody>
      </p:sp>
      <p:sp>
        <p:nvSpPr>
          <p:cNvPr id="21" name="anim4-187"/>
          <p:cNvSpPr/>
          <p:nvPr/>
        </p:nvSpPr>
        <p:spPr>
          <a:xfrm>
            <a:off x="448056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2" name="anim4-188"/>
          <p:cNvSpPr/>
          <p:nvPr/>
        </p:nvSpPr>
        <p:spPr>
          <a:xfrm>
            <a:off x="468172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anim4-18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374" y="4595774"/>
            <a:ext cx="263347" cy="263347"/>
          </a:xfrm>
          <a:prstGeom prst="rect">
            <a:avLst/>
          </a:prstGeom>
        </p:spPr>
      </p:pic>
      <p:sp>
        <p:nvSpPr>
          <p:cNvPr id="24" name="anim4-190"/>
          <p:cNvSpPr txBox="1"/>
          <p:nvPr/>
        </p:nvSpPr>
        <p:spPr>
          <a:xfrm>
            <a:off x="537667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Coupons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Codes de réduction : montant, dates, limite d'utilisation.</a:t>
            </a:r>
            <a:endParaRPr lang="en-US" sz="1500" dirty="0"/>
          </a:p>
        </p:txBody>
      </p:sp>
      <p:sp>
        <p:nvSpPr>
          <p:cNvPr id="25" name="anim5-191"/>
          <p:cNvSpPr/>
          <p:nvPr/>
        </p:nvSpPr>
        <p:spPr>
          <a:xfrm>
            <a:off x="8549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6" name="anim5-192"/>
          <p:cNvSpPr txBox="1"/>
          <p:nvPr/>
        </p:nvSpPr>
        <p:spPr>
          <a:xfrm>
            <a:off x="877824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Ce que ça apporte</a:t>
            </a:r>
            <a:endParaRPr lang="en-US" sz="1800" dirty="0"/>
          </a:p>
        </p:txBody>
      </p:sp>
      <p:pic>
        <p:nvPicPr>
          <p:cNvPr id="27" name="anim6-19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276856"/>
            <a:ext cx="292608" cy="292608"/>
          </a:xfrm>
          <a:prstGeom prst="rect">
            <a:avLst/>
          </a:prstGeom>
        </p:spPr>
      </p:pic>
      <p:sp>
        <p:nvSpPr>
          <p:cNvPr id="28" name="anim6-194"/>
          <p:cNvSpPr txBox="1"/>
          <p:nvPr/>
        </p:nvSpPr>
        <p:spPr>
          <a:xfrm>
            <a:off x="9189720" y="2240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Chaque trajet lié à un client, un véhicule, un chauffeur</a:t>
            </a:r>
            <a:endParaRPr lang="en-US" sz="1400" dirty="0"/>
          </a:p>
        </p:txBody>
      </p:sp>
      <p:pic>
        <p:nvPicPr>
          <p:cNvPr id="29" name="anim7-19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465576"/>
            <a:ext cx="292608" cy="292608"/>
          </a:xfrm>
          <a:prstGeom prst="rect">
            <a:avLst/>
          </a:prstGeom>
        </p:spPr>
      </p:pic>
      <p:sp>
        <p:nvSpPr>
          <p:cNvPr id="30" name="anim7-196"/>
          <p:cNvSpPr txBox="1"/>
          <p:nvPr/>
        </p:nvSpPr>
        <p:spPr>
          <a:xfrm>
            <a:off x="9189720" y="34290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Les impayés clients sont visibles</a:t>
            </a:r>
            <a:endParaRPr lang="en-US" sz="1400" dirty="0"/>
          </a:p>
        </p:txBody>
      </p:sp>
      <p:pic>
        <p:nvPicPr>
          <p:cNvPr id="31" name="anim8-19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654296"/>
            <a:ext cx="292608" cy="292608"/>
          </a:xfrm>
          <a:prstGeom prst="rect">
            <a:avLst/>
          </a:prstGeom>
        </p:spPr>
      </p:pic>
      <p:sp>
        <p:nvSpPr>
          <p:cNvPr id="32" name="anim8-198"/>
          <p:cNvSpPr txBox="1"/>
          <p:nvPr/>
        </p:nvSpPr>
        <p:spPr>
          <a:xfrm>
            <a:off x="9189720" y="4617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Confirmation par e-mail ou SMS</a:t>
            </a:r>
            <a:endParaRPr lang="en-US" sz="1400" dirty="0"/>
          </a:p>
        </p:txBody>
      </p:sp>
      <p:sp>
        <p:nvSpPr>
          <p:cNvPr id="34" name="anim9-199"/>
          <p:cNvSpPr txBox="1"/>
          <p:nvPr/>
        </p:nvSpPr>
        <p:spPr>
          <a:xfrm>
            <a:off x="548640" y="60533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9 modes de facturation 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fixe · tonne · kg · km · trajet · jour · heure · litre · sac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Entretien, pièces et rappels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EXPLOITATION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Menu  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Maintenance · Parts Stock · Reminder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Anticiper les entretiens et maîtriser leur coût.</a:t>
            </a:r>
            <a:endParaRPr lang="en-US" sz="1700" dirty="0"/>
          </a:p>
        </p:txBody>
      </p:sp>
      <p:sp>
        <p:nvSpPr>
          <p:cNvPr id="9" name="anim1-200"/>
          <p:cNvSpPr/>
          <p:nvPr/>
        </p:nvSpPr>
        <p:spPr>
          <a:xfrm>
            <a:off x="54864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0" name="anim1-201"/>
          <p:cNvSpPr/>
          <p:nvPr/>
        </p:nvSpPr>
        <p:spPr>
          <a:xfrm>
            <a:off x="74980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anim1-20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721254"/>
            <a:ext cx="263347" cy="263347"/>
          </a:xfrm>
          <a:prstGeom prst="rect">
            <a:avLst/>
          </a:prstGeom>
        </p:spPr>
      </p:pic>
      <p:sp>
        <p:nvSpPr>
          <p:cNvPr id="12" name="anim1-203"/>
          <p:cNvSpPr txBox="1"/>
          <p:nvPr/>
        </p:nvSpPr>
        <p:spPr>
          <a:xfrm>
            <a:off x="144475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Entretiens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Véhicule, dates, mécanicien, fournisseur, coût et pièces utilisées.</a:t>
            </a:r>
            <a:endParaRPr lang="en-US" sz="1500" dirty="0"/>
          </a:p>
        </p:txBody>
      </p:sp>
      <p:sp>
        <p:nvSpPr>
          <p:cNvPr id="13" name="anim2-204"/>
          <p:cNvSpPr/>
          <p:nvPr/>
        </p:nvSpPr>
        <p:spPr>
          <a:xfrm>
            <a:off x="448056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4" name="anim2-205"/>
          <p:cNvSpPr/>
          <p:nvPr/>
        </p:nvSpPr>
        <p:spPr>
          <a:xfrm>
            <a:off x="468172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anim2-20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374" y="2721254"/>
            <a:ext cx="263347" cy="263347"/>
          </a:xfrm>
          <a:prstGeom prst="rect">
            <a:avLst/>
          </a:prstGeom>
        </p:spPr>
      </p:pic>
      <p:sp>
        <p:nvSpPr>
          <p:cNvPr id="16" name="anim2-207"/>
          <p:cNvSpPr txBox="1"/>
          <p:nvPr/>
        </p:nvSpPr>
        <p:spPr>
          <a:xfrm>
            <a:off x="537667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Mécaniciens et fournisseurs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Annuaire des intervenants, avec catégorie.</a:t>
            </a:r>
            <a:endParaRPr lang="en-US" sz="1500" dirty="0"/>
          </a:p>
        </p:txBody>
      </p:sp>
      <p:sp>
        <p:nvSpPr>
          <p:cNvPr id="17" name="anim3-208"/>
          <p:cNvSpPr/>
          <p:nvPr/>
        </p:nvSpPr>
        <p:spPr>
          <a:xfrm>
            <a:off x="54864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8" name="anim3-209"/>
          <p:cNvSpPr/>
          <p:nvPr/>
        </p:nvSpPr>
        <p:spPr>
          <a:xfrm>
            <a:off x="74980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anim3-21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4595774"/>
            <a:ext cx="263347" cy="263347"/>
          </a:xfrm>
          <a:prstGeom prst="rect">
            <a:avLst/>
          </a:prstGeom>
        </p:spPr>
      </p:pic>
      <p:sp>
        <p:nvSpPr>
          <p:cNvPr id="20" name="anim3-211"/>
          <p:cNvSpPr txBox="1"/>
          <p:nvPr/>
        </p:nvSpPr>
        <p:spPr>
          <a:xfrm>
            <a:off x="144475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Stock de pièces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Inventaire, prix et historique des achats avec statut de paiement.</a:t>
            </a:r>
            <a:endParaRPr lang="en-US" sz="1500" dirty="0"/>
          </a:p>
        </p:txBody>
      </p:sp>
      <p:sp>
        <p:nvSpPr>
          <p:cNvPr id="21" name="anim4-212"/>
          <p:cNvSpPr/>
          <p:nvPr/>
        </p:nvSpPr>
        <p:spPr>
          <a:xfrm>
            <a:off x="448056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2" name="anim4-213"/>
          <p:cNvSpPr/>
          <p:nvPr/>
        </p:nvSpPr>
        <p:spPr>
          <a:xfrm>
            <a:off x="468172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anim4-2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374" y="4595774"/>
            <a:ext cx="263347" cy="263347"/>
          </a:xfrm>
          <a:prstGeom prst="rect">
            <a:avLst/>
          </a:prstGeom>
        </p:spPr>
      </p:pic>
      <p:sp>
        <p:nvSpPr>
          <p:cNvPr id="24" name="anim4-215"/>
          <p:cNvSpPr txBox="1"/>
          <p:nvPr/>
        </p:nvSpPr>
        <p:spPr>
          <a:xfrm>
            <a:off x="537667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Rappels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Échéances par véhicule et service, marquées comme terminées.</a:t>
            </a:r>
            <a:endParaRPr lang="en-US" sz="1500" dirty="0"/>
          </a:p>
        </p:txBody>
      </p:sp>
      <p:sp>
        <p:nvSpPr>
          <p:cNvPr id="25" name="anim5-216"/>
          <p:cNvSpPr/>
          <p:nvPr/>
        </p:nvSpPr>
        <p:spPr>
          <a:xfrm>
            <a:off x="8549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6" name="anim5-217"/>
          <p:cNvSpPr txBox="1"/>
          <p:nvPr/>
        </p:nvSpPr>
        <p:spPr>
          <a:xfrm>
            <a:off x="877824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Ce que ça apporte</a:t>
            </a:r>
            <a:endParaRPr lang="en-US" sz="1800" dirty="0"/>
          </a:p>
        </p:txBody>
      </p:sp>
      <p:pic>
        <p:nvPicPr>
          <p:cNvPr id="27" name="anim6-21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276856"/>
            <a:ext cx="292608" cy="292608"/>
          </a:xfrm>
          <a:prstGeom prst="rect">
            <a:avLst/>
          </a:prstGeom>
        </p:spPr>
      </p:pic>
      <p:sp>
        <p:nvSpPr>
          <p:cNvPr id="28" name="anim6-219"/>
          <p:cNvSpPr txBox="1"/>
          <p:nvPr/>
        </p:nvSpPr>
        <p:spPr>
          <a:xfrm>
            <a:off x="9189720" y="2240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Moins de pannes grâce aux rappels</a:t>
            </a:r>
            <a:endParaRPr lang="en-US" sz="1400" dirty="0"/>
          </a:p>
        </p:txBody>
      </p:sp>
      <p:pic>
        <p:nvPicPr>
          <p:cNvPr id="29" name="anim7-22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465576"/>
            <a:ext cx="292608" cy="292608"/>
          </a:xfrm>
          <a:prstGeom prst="rect">
            <a:avLst/>
          </a:prstGeom>
        </p:spPr>
      </p:pic>
      <p:sp>
        <p:nvSpPr>
          <p:cNvPr id="30" name="anim7-221"/>
          <p:cNvSpPr txBox="1"/>
          <p:nvPr/>
        </p:nvSpPr>
        <p:spPr>
          <a:xfrm>
            <a:off x="9189720" y="34290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Coût réel de l'entretien par véhicule</a:t>
            </a:r>
            <a:endParaRPr lang="en-US" sz="1400" dirty="0"/>
          </a:p>
        </p:txBody>
      </p:sp>
      <p:pic>
        <p:nvPicPr>
          <p:cNvPr id="31" name="anim8-22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654296"/>
            <a:ext cx="292608" cy="292608"/>
          </a:xfrm>
          <a:prstGeom prst="rect">
            <a:avLst/>
          </a:prstGeom>
        </p:spPr>
      </p:pic>
      <p:sp>
        <p:nvSpPr>
          <p:cNvPr id="32" name="anim8-223"/>
          <p:cNvSpPr txBox="1"/>
          <p:nvPr/>
        </p:nvSpPr>
        <p:spPr>
          <a:xfrm>
            <a:off x="9189720" y="4617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Stock de pièces et achats tracés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Carburant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EXPLOITATION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Menu  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Fuel › Fuel Management · Add Fuel · Fuel Vendor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Chaque plein est enregistré et rattaché à un véhicule et un chauffeur.</a:t>
            </a:r>
            <a:endParaRPr lang="en-US" sz="1700" dirty="0"/>
          </a:p>
        </p:txBody>
      </p:sp>
      <p:sp>
        <p:nvSpPr>
          <p:cNvPr id="9" name="anim1-224"/>
          <p:cNvSpPr/>
          <p:nvPr/>
        </p:nvSpPr>
        <p:spPr>
          <a:xfrm>
            <a:off x="54864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0" name="anim1-225"/>
          <p:cNvSpPr/>
          <p:nvPr/>
        </p:nvSpPr>
        <p:spPr>
          <a:xfrm>
            <a:off x="74980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anim1-22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721254"/>
            <a:ext cx="263347" cy="263347"/>
          </a:xfrm>
          <a:prstGeom prst="rect">
            <a:avLst/>
          </a:prstGeom>
        </p:spPr>
      </p:pic>
      <p:sp>
        <p:nvSpPr>
          <p:cNvPr id="12" name="anim1-227"/>
          <p:cNvSpPr txBox="1"/>
          <p:nvPr/>
        </p:nvSpPr>
        <p:spPr>
          <a:xfrm>
            <a:off x="144475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Pleins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Date, véhicule, chauffeur, quantité, montant, compteur et commentaire.</a:t>
            </a:r>
            <a:endParaRPr lang="en-US" sz="1500" dirty="0"/>
          </a:p>
        </p:txBody>
      </p:sp>
      <p:sp>
        <p:nvSpPr>
          <p:cNvPr id="13" name="anim2-228"/>
          <p:cNvSpPr/>
          <p:nvPr/>
        </p:nvSpPr>
        <p:spPr>
          <a:xfrm>
            <a:off x="448056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4" name="anim2-229"/>
          <p:cNvSpPr/>
          <p:nvPr/>
        </p:nvSpPr>
        <p:spPr>
          <a:xfrm>
            <a:off x="468172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anim2-23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374" y="2721254"/>
            <a:ext cx="263347" cy="263347"/>
          </a:xfrm>
          <a:prstGeom prst="rect">
            <a:avLst/>
          </a:prstGeom>
        </p:spPr>
      </p:pic>
      <p:sp>
        <p:nvSpPr>
          <p:cNvPr id="16" name="anim2-231"/>
          <p:cNvSpPr txBox="1"/>
          <p:nvPr/>
        </p:nvSpPr>
        <p:spPr>
          <a:xfrm>
            <a:off x="537667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Provenance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Cuve interne ou fournisseur extérieur.</a:t>
            </a:r>
            <a:endParaRPr lang="en-US" sz="1500" dirty="0"/>
          </a:p>
        </p:txBody>
      </p:sp>
      <p:sp>
        <p:nvSpPr>
          <p:cNvPr id="17" name="anim3-232"/>
          <p:cNvSpPr/>
          <p:nvPr/>
        </p:nvSpPr>
        <p:spPr>
          <a:xfrm>
            <a:off x="54864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8" name="anim3-233"/>
          <p:cNvSpPr/>
          <p:nvPr/>
        </p:nvSpPr>
        <p:spPr>
          <a:xfrm>
            <a:off x="74980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anim3-23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4595774"/>
            <a:ext cx="263347" cy="263347"/>
          </a:xfrm>
          <a:prstGeom prst="rect">
            <a:avLst/>
          </a:prstGeom>
        </p:spPr>
      </p:pic>
      <p:sp>
        <p:nvSpPr>
          <p:cNvPr id="20" name="anim3-235"/>
          <p:cNvSpPr txBox="1"/>
          <p:nvPr/>
        </p:nvSpPr>
        <p:spPr>
          <a:xfrm>
            <a:off x="144475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Cuve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Réapprovisionnement et stock disponible en litres.</a:t>
            </a:r>
            <a:endParaRPr lang="en-US" sz="1500" dirty="0"/>
          </a:p>
        </p:txBody>
      </p:sp>
      <p:sp>
        <p:nvSpPr>
          <p:cNvPr id="21" name="anim4-236"/>
          <p:cNvSpPr/>
          <p:nvPr/>
        </p:nvSpPr>
        <p:spPr>
          <a:xfrm>
            <a:off x="448056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2" name="anim4-237"/>
          <p:cNvSpPr/>
          <p:nvPr/>
        </p:nvSpPr>
        <p:spPr>
          <a:xfrm>
            <a:off x="468172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anim4-23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374" y="4595774"/>
            <a:ext cx="263347" cy="263347"/>
          </a:xfrm>
          <a:prstGeom prst="rect">
            <a:avLst/>
          </a:prstGeom>
        </p:spPr>
      </p:pic>
      <p:sp>
        <p:nvSpPr>
          <p:cNvPr id="24" name="anim4-239"/>
          <p:cNvSpPr txBox="1"/>
          <p:nvPr/>
        </p:nvSpPr>
        <p:spPr>
          <a:xfrm>
            <a:off x="537667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Fournisseurs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Liste des stations ou fournisseurs de carburant.</a:t>
            </a:r>
            <a:endParaRPr lang="en-US" sz="1500" dirty="0"/>
          </a:p>
        </p:txBody>
      </p:sp>
      <p:sp>
        <p:nvSpPr>
          <p:cNvPr id="25" name="anim5-240"/>
          <p:cNvSpPr/>
          <p:nvPr/>
        </p:nvSpPr>
        <p:spPr>
          <a:xfrm>
            <a:off x="8549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6" name="anim5-241"/>
          <p:cNvSpPr txBox="1"/>
          <p:nvPr/>
        </p:nvSpPr>
        <p:spPr>
          <a:xfrm>
            <a:off x="877824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Ce que ça apporte</a:t>
            </a:r>
            <a:endParaRPr lang="en-US" sz="1800" dirty="0"/>
          </a:p>
        </p:txBody>
      </p:sp>
      <p:pic>
        <p:nvPicPr>
          <p:cNvPr id="27" name="anim6-24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276856"/>
            <a:ext cx="292608" cy="292608"/>
          </a:xfrm>
          <a:prstGeom prst="rect">
            <a:avLst/>
          </a:prstGeom>
        </p:spPr>
      </p:pic>
      <p:sp>
        <p:nvSpPr>
          <p:cNvPr id="28" name="anim6-243"/>
          <p:cNvSpPr txBox="1"/>
          <p:nvPr/>
        </p:nvSpPr>
        <p:spPr>
          <a:xfrm>
            <a:off x="9189720" y="2240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Repérer une consommation anormale</a:t>
            </a:r>
            <a:endParaRPr lang="en-US" sz="1400" dirty="0"/>
          </a:p>
        </p:txBody>
      </p:sp>
      <p:pic>
        <p:nvPicPr>
          <p:cNvPr id="29" name="anim7-24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465576"/>
            <a:ext cx="292608" cy="292608"/>
          </a:xfrm>
          <a:prstGeom prst="rect">
            <a:avLst/>
          </a:prstGeom>
        </p:spPr>
      </p:pic>
      <p:sp>
        <p:nvSpPr>
          <p:cNvPr id="30" name="anim7-245"/>
          <p:cNvSpPr txBox="1"/>
          <p:nvPr/>
        </p:nvSpPr>
        <p:spPr>
          <a:xfrm>
            <a:off x="9189720" y="34290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Contrôler le stock de la cuve</a:t>
            </a:r>
            <a:endParaRPr lang="en-US" sz="1400" dirty="0"/>
          </a:p>
        </p:txBody>
      </p:sp>
      <p:pic>
        <p:nvPicPr>
          <p:cNvPr id="31" name="anim8-24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654296"/>
            <a:ext cx="292608" cy="292608"/>
          </a:xfrm>
          <a:prstGeom prst="rect">
            <a:avLst/>
          </a:prstGeom>
        </p:spPr>
      </p:pic>
      <p:sp>
        <p:nvSpPr>
          <p:cNvPr id="32" name="anim8-247"/>
          <p:cNvSpPr txBox="1"/>
          <p:nvPr/>
        </p:nvSpPr>
        <p:spPr>
          <a:xfrm>
            <a:off x="9189720" y="4617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Rapport carburant par période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Finances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FINANCES ET PILOTAGE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Menu  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Accounts › Accounts · Add Transactions · Transactions · Ac Transfers / Deposit · Category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Revenus et dépenses enregistrés par compte, catégorie et véhicule.</a:t>
            </a:r>
            <a:endParaRPr lang="en-US" sz="1700" dirty="0"/>
          </a:p>
        </p:txBody>
      </p:sp>
      <p:sp>
        <p:nvSpPr>
          <p:cNvPr id="9" name="anim1-248"/>
          <p:cNvSpPr/>
          <p:nvPr/>
        </p:nvSpPr>
        <p:spPr>
          <a:xfrm>
            <a:off x="54864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0" name="anim1-249"/>
          <p:cNvSpPr/>
          <p:nvPr/>
        </p:nvSpPr>
        <p:spPr>
          <a:xfrm>
            <a:off x="74980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anim1-25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721254"/>
            <a:ext cx="263347" cy="263347"/>
          </a:xfrm>
          <a:prstGeom prst="rect">
            <a:avLst/>
          </a:prstGeom>
        </p:spPr>
      </p:pic>
      <p:sp>
        <p:nvSpPr>
          <p:cNvPr id="12" name="anim1-251"/>
          <p:cNvSpPr txBox="1"/>
          <p:nvPr/>
        </p:nvSpPr>
        <p:spPr>
          <a:xfrm>
            <a:off x="144475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Comptes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Comptes financiers avec leur solde.</a:t>
            </a:r>
            <a:endParaRPr lang="en-US" sz="1500" dirty="0"/>
          </a:p>
        </p:txBody>
      </p:sp>
      <p:sp>
        <p:nvSpPr>
          <p:cNvPr id="13" name="anim2-252"/>
          <p:cNvSpPr/>
          <p:nvPr/>
        </p:nvSpPr>
        <p:spPr>
          <a:xfrm>
            <a:off x="448056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4" name="anim2-253"/>
          <p:cNvSpPr/>
          <p:nvPr/>
        </p:nvSpPr>
        <p:spPr>
          <a:xfrm>
            <a:off x="468172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anim2-25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374" y="2721254"/>
            <a:ext cx="263347" cy="263347"/>
          </a:xfrm>
          <a:prstGeom prst="rect">
            <a:avLst/>
          </a:prstGeom>
        </p:spPr>
      </p:pic>
      <p:sp>
        <p:nvSpPr>
          <p:cNvPr id="16" name="anim2-255"/>
          <p:cNvSpPr txBox="1"/>
          <p:nvPr/>
        </p:nvSpPr>
        <p:spPr>
          <a:xfrm>
            <a:off x="537667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Transactions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 ou dépense : compte, catégorie, véhicule, montant, référence.</a:t>
            </a:r>
            <a:endParaRPr lang="en-US" sz="1500" dirty="0"/>
          </a:p>
        </p:txBody>
      </p:sp>
      <p:sp>
        <p:nvSpPr>
          <p:cNvPr id="17" name="anim3-256"/>
          <p:cNvSpPr/>
          <p:nvPr/>
        </p:nvSpPr>
        <p:spPr>
          <a:xfrm>
            <a:off x="54864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8" name="anim3-257"/>
          <p:cNvSpPr/>
          <p:nvPr/>
        </p:nvSpPr>
        <p:spPr>
          <a:xfrm>
            <a:off x="74980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anim3-25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4595774"/>
            <a:ext cx="263347" cy="263347"/>
          </a:xfrm>
          <a:prstGeom prst="rect">
            <a:avLst/>
          </a:prstGeom>
        </p:spPr>
      </p:pic>
      <p:sp>
        <p:nvSpPr>
          <p:cNvPr id="20" name="anim3-259"/>
          <p:cNvSpPr txBox="1"/>
          <p:nvPr/>
        </p:nvSpPr>
        <p:spPr>
          <a:xfrm>
            <a:off x="144475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Virements et dépôts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Mouvements d'un compte à un autre.</a:t>
            </a:r>
            <a:endParaRPr lang="en-US" sz="1500" dirty="0"/>
          </a:p>
        </p:txBody>
      </p:sp>
      <p:sp>
        <p:nvSpPr>
          <p:cNvPr id="21" name="anim4-260"/>
          <p:cNvSpPr/>
          <p:nvPr/>
        </p:nvSpPr>
        <p:spPr>
          <a:xfrm>
            <a:off x="448056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2" name="anim4-261"/>
          <p:cNvSpPr/>
          <p:nvPr/>
        </p:nvSpPr>
        <p:spPr>
          <a:xfrm>
            <a:off x="468172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anim4-26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374" y="4595774"/>
            <a:ext cx="263347" cy="263347"/>
          </a:xfrm>
          <a:prstGeom prst="rect">
            <a:avLst/>
          </a:prstGeom>
        </p:spPr>
      </p:pic>
      <p:sp>
        <p:nvSpPr>
          <p:cNvPr id="24" name="anim4-263"/>
          <p:cNvSpPr txBox="1"/>
          <p:nvPr/>
        </p:nvSpPr>
        <p:spPr>
          <a:xfrm>
            <a:off x="537667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Catégories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Revenus de trajet, carburant, salaires, transfrontalier…</a:t>
            </a:r>
            <a:endParaRPr lang="en-US" sz="1500" dirty="0"/>
          </a:p>
        </p:txBody>
      </p:sp>
      <p:sp>
        <p:nvSpPr>
          <p:cNvPr id="25" name="anim5-264"/>
          <p:cNvSpPr/>
          <p:nvPr/>
        </p:nvSpPr>
        <p:spPr>
          <a:xfrm>
            <a:off x="8549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6" name="anim5-265"/>
          <p:cNvSpPr txBox="1"/>
          <p:nvPr/>
        </p:nvSpPr>
        <p:spPr>
          <a:xfrm>
            <a:off x="877824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Ce que ça apporte</a:t>
            </a:r>
            <a:endParaRPr lang="en-US" sz="1800" dirty="0"/>
          </a:p>
        </p:txBody>
      </p:sp>
      <p:pic>
        <p:nvPicPr>
          <p:cNvPr id="27" name="anim6-26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276856"/>
            <a:ext cx="292608" cy="292608"/>
          </a:xfrm>
          <a:prstGeom prst="rect">
            <a:avLst/>
          </a:prstGeom>
        </p:spPr>
      </p:pic>
      <p:sp>
        <p:nvSpPr>
          <p:cNvPr id="28" name="anim6-267"/>
          <p:cNvSpPr txBox="1"/>
          <p:nvPr/>
        </p:nvSpPr>
        <p:spPr>
          <a:xfrm>
            <a:off x="9189720" y="2240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Rentabilité visible par véhicule</a:t>
            </a:r>
            <a:endParaRPr lang="en-US" sz="1400" dirty="0"/>
          </a:p>
        </p:txBody>
      </p:sp>
      <p:pic>
        <p:nvPicPr>
          <p:cNvPr id="29" name="anim7-268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465576"/>
            <a:ext cx="292608" cy="292608"/>
          </a:xfrm>
          <a:prstGeom prst="rect">
            <a:avLst/>
          </a:prstGeom>
        </p:spPr>
      </p:pic>
      <p:sp>
        <p:nvSpPr>
          <p:cNvPr id="30" name="anim7-269"/>
          <p:cNvSpPr txBox="1"/>
          <p:nvPr/>
        </p:nvSpPr>
        <p:spPr>
          <a:xfrm>
            <a:off x="9189720" y="34290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Historique filtrable avec totaux</a:t>
            </a:r>
            <a:endParaRPr lang="en-US" sz="1400" dirty="0"/>
          </a:p>
        </p:txBody>
      </p:sp>
      <p:pic>
        <p:nvPicPr>
          <p:cNvPr id="31" name="anim8-27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654296"/>
            <a:ext cx="292608" cy="292608"/>
          </a:xfrm>
          <a:prstGeom prst="rect">
            <a:avLst/>
          </a:prstGeom>
        </p:spPr>
      </p:pic>
      <p:sp>
        <p:nvSpPr>
          <p:cNvPr id="32" name="anim8-271"/>
          <p:cNvSpPr txBox="1"/>
          <p:nvPr/>
        </p:nvSpPr>
        <p:spPr>
          <a:xfrm>
            <a:off x="9189720" y="4617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Catégories adaptées à l'entreprise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11 rapports prêts à l'emploi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FINANCES ET PILOTAGE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Choisir une période, un filtre, puis « Generate Report ».</a:t>
            </a:r>
            <a:endParaRPr lang="en-US" sz="1700" dirty="0"/>
          </a:p>
        </p:txBody>
      </p:sp>
      <p:sp>
        <p:nvSpPr>
          <p:cNvPr id="8" name="anim1-272"/>
          <p:cNvSpPr/>
          <p:nvPr/>
        </p:nvSpPr>
        <p:spPr>
          <a:xfrm>
            <a:off x="548640" y="201168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9" name="anim1-273"/>
          <p:cNvSpPr/>
          <p:nvPr/>
        </p:nvSpPr>
        <p:spPr>
          <a:xfrm>
            <a:off x="749808" y="2286000"/>
            <a:ext cx="594360" cy="59436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0" name="anim1-27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42" y="2440534"/>
            <a:ext cx="285293" cy="285293"/>
          </a:xfrm>
          <a:prstGeom prst="rect">
            <a:avLst/>
          </a:prstGeom>
        </p:spPr>
      </p:pic>
      <p:sp>
        <p:nvSpPr>
          <p:cNvPr id="11" name="anim1-275"/>
          <p:cNvSpPr txBox="1"/>
          <p:nvPr/>
        </p:nvSpPr>
        <p:spPr>
          <a:xfrm>
            <a:off x="1481328" y="201168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Réservations</a:t>
            </a:r>
            <a:endParaRPr lang="en-US" sz="1500" dirty="0"/>
          </a:p>
        </p:txBody>
      </p:sp>
      <p:sp>
        <p:nvSpPr>
          <p:cNvPr id="12" name="anim2-276"/>
          <p:cNvSpPr/>
          <p:nvPr/>
        </p:nvSpPr>
        <p:spPr>
          <a:xfrm>
            <a:off x="3383280" y="201168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3" name="anim2-277"/>
          <p:cNvSpPr/>
          <p:nvPr/>
        </p:nvSpPr>
        <p:spPr>
          <a:xfrm>
            <a:off x="3584448" y="2286000"/>
            <a:ext cx="594360" cy="59436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anim2-27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982" y="2440534"/>
            <a:ext cx="285293" cy="285293"/>
          </a:xfrm>
          <a:prstGeom prst="rect">
            <a:avLst/>
          </a:prstGeom>
        </p:spPr>
      </p:pic>
      <p:sp>
        <p:nvSpPr>
          <p:cNvPr id="15" name="anim2-279"/>
          <p:cNvSpPr txBox="1"/>
          <p:nvPr/>
        </p:nvSpPr>
        <p:spPr>
          <a:xfrm>
            <a:off x="4315968" y="201168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Revenus et dépenses</a:t>
            </a:r>
            <a:endParaRPr lang="en-US" sz="1500" dirty="0"/>
          </a:p>
        </p:txBody>
      </p:sp>
      <p:sp>
        <p:nvSpPr>
          <p:cNvPr id="16" name="anim3-280"/>
          <p:cNvSpPr/>
          <p:nvPr/>
        </p:nvSpPr>
        <p:spPr>
          <a:xfrm>
            <a:off x="6217920" y="201168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7" name="anim3-281"/>
          <p:cNvSpPr/>
          <p:nvPr/>
        </p:nvSpPr>
        <p:spPr>
          <a:xfrm>
            <a:off x="6419088" y="2286000"/>
            <a:ext cx="594360" cy="59436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anim3-28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622" y="2440534"/>
            <a:ext cx="285293" cy="285293"/>
          </a:xfrm>
          <a:prstGeom prst="rect">
            <a:avLst/>
          </a:prstGeom>
        </p:spPr>
      </p:pic>
      <p:sp>
        <p:nvSpPr>
          <p:cNvPr id="19" name="anim3-283"/>
          <p:cNvSpPr txBox="1"/>
          <p:nvPr/>
        </p:nvSpPr>
        <p:spPr>
          <a:xfrm>
            <a:off x="7150608" y="201168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Carburant</a:t>
            </a:r>
            <a:endParaRPr lang="en-US" sz="1500" dirty="0"/>
          </a:p>
        </p:txBody>
      </p:sp>
      <p:sp>
        <p:nvSpPr>
          <p:cNvPr id="20" name="anim4-284"/>
          <p:cNvSpPr/>
          <p:nvPr/>
        </p:nvSpPr>
        <p:spPr>
          <a:xfrm>
            <a:off x="9052560" y="201168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1" name="anim4-285"/>
          <p:cNvSpPr/>
          <p:nvPr/>
        </p:nvSpPr>
        <p:spPr>
          <a:xfrm>
            <a:off x="9253728" y="2286000"/>
            <a:ext cx="594360" cy="59436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anim4-28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8262" y="2440534"/>
            <a:ext cx="285293" cy="285293"/>
          </a:xfrm>
          <a:prstGeom prst="rect">
            <a:avLst/>
          </a:prstGeom>
        </p:spPr>
      </p:pic>
      <p:sp>
        <p:nvSpPr>
          <p:cNvPr id="23" name="anim4-287"/>
          <p:cNvSpPr txBox="1"/>
          <p:nvPr/>
        </p:nvSpPr>
        <p:spPr>
          <a:xfrm>
            <a:off x="9985248" y="201168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Chauffeurs</a:t>
            </a:r>
            <a:endParaRPr lang="en-US" sz="1500" dirty="0"/>
          </a:p>
        </p:txBody>
      </p:sp>
      <p:sp>
        <p:nvSpPr>
          <p:cNvPr id="24" name="anim5-288"/>
          <p:cNvSpPr/>
          <p:nvPr/>
        </p:nvSpPr>
        <p:spPr>
          <a:xfrm>
            <a:off x="548640" y="338328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5" name="anim5-289"/>
          <p:cNvSpPr/>
          <p:nvPr/>
        </p:nvSpPr>
        <p:spPr>
          <a:xfrm>
            <a:off x="749808" y="3657600"/>
            <a:ext cx="594360" cy="59436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6" name="anim5-29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42" y="3812134"/>
            <a:ext cx="285293" cy="285293"/>
          </a:xfrm>
          <a:prstGeom prst="rect">
            <a:avLst/>
          </a:prstGeom>
        </p:spPr>
      </p:pic>
      <p:sp>
        <p:nvSpPr>
          <p:cNvPr id="27" name="anim5-291"/>
          <p:cNvSpPr txBox="1"/>
          <p:nvPr/>
        </p:nvSpPr>
        <p:spPr>
          <a:xfrm>
            <a:off x="1481328" y="338328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Coupons</a:t>
            </a:r>
            <a:endParaRPr lang="en-US" sz="1500" dirty="0"/>
          </a:p>
        </p:txBody>
      </p:sp>
      <p:sp>
        <p:nvSpPr>
          <p:cNvPr id="28" name="anim6-292"/>
          <p:cNvSpPr/>
          <p:nvPr/>
        </p:nvSpPr>
        <p:spPr>
          <a:xfrm>
            <a:off x="3383280" y="338328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9" name="anim6-293"/>
          <p:cNvSpPr/>
          <p:nvPr/>
        </p:nvSpPr>
        <p:spPr>
          <a:xfrm>
            <a:off x="3584448" y="3657600"/>
            <a:ext cx="594360" cy="59436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0" name="anim6-29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8982" y="3812134"/>
            <a:ext cx="285293" cy="285293"/>
          </a:xfrm>
          <a:prstGeom prst="rect">
            <a:avLst/>
          </a:prstGeom>
        </p:spPr>
      </p:pic>
      <p:sp>
        <p:nvSpPr>
          <p:cNvPr id="31" name="anim6-295"/>
          <p:cNvSpPr txBox="1"/>
          <p:nvPr/>
        </p:nvSpPr>
        <p:spPr>
          <a:xfrm>
            <a:off x="4315968" y="338328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Rappels</a:t>
            </a:r>
            <a:endParaRPr lang="en-US" sz="1500" dirty="0"/>
          </a:p>
        </p:txBody>
      </p:sp>
      <p:sp>
        <p:nvSpPr>
          <p:cNvPr id="32" name="anim7-296"/>
          <p:cNvSpPr/>
          <p:nvPr/>
        </p:nvSpPr>
        <p:spPr>
          <a:xfrm>
            <a:off x="6217920" y="338328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33" name="anim7-297"/>
          <p:cNvSpPr/>
          <p:nvPr/>
        </p:nvSpPr>
        <p:spPr>
          <a:xfrm>
            <a:off x="6419088" y="3657600"/>
            <a:ext cx="594360" cy="59436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4" name="anim7-29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3622" y="3812134"/>
            <a:ext cx="285293" cy="285293"/>
          </a:xfrm>
          <a:prstGeom prst="rect">
            <a:avLst/>
          </a:prstGeom>
        </p:spPr>
      </p:pic>
      <p:sp>
        <p:nvSpPr>
          <p:cNvPr id="35" name="anim7-299"/>
          <p:cNvSpPr txBox="1"/>
          <p:nvPr/>
        </p:nvSpPr>
        <p:spPr>
          <a:xfrm>
            <a:off x="7150608" y="338328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Entretien</a:t>
            </a:r>
            <a:endParaRPr lang="en-US" sz="1500" dirty="0"/>
          </a:p>
        </p:txBody>
      </p:sp>
      <p:sp>
        <p:nvSpPr>
          <p:cNvPr id="36" name="anim8-300"/>
          <p:cNvSpPr/>
          <p:nvPr/>
        </p:nvSpPr>
        <p:spPr>
          <a:xfrm>
            <a:off x="9052560" y="338328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37" name="anim8-301"/>
          <p:cNvSpPr/>
          <p:nvPr/>
        </p:nvSpPr>
        <p:spPr>
          <a:xfrm>
            <a:off x="9253728" y="3657600"/>
            <a:ext cx="594360" cy="59436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anim8-30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8262" y="3812134"/>
            <a:ext cx="285293" cy="285293"/>
          </a:xfrm>
          <a:prstGeom prst="rect">
            <a:avLst/>
          </a:prstGeom>
        </p:spPr>
      </p:pic>
      <p:sp>
        <p:nvSpPr>
          <p:cNvPr id="39" name="anim8-303"/>
          <p:cNvSpPr txBox="1"/>
          <p:nvPr/>
        </p:nvSpPr>
        <p:spPr>
          <a:xfrm>
            <a:off x="9985248" y="338328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Top revenus</a:t>
            </a:r>
            <a:endParaRPr lang="en-US" sz="1500" dirty="0"/>
          </a:p>
        </p:txBody>
      </p:sp>
      <p:sp>
        <p:nvSpPr>
          <p:cNvPr id="40" name="anim9-304"/>
          <p:cNvSpPr/>
          <p:nvPr/>
        </p:nvSpPr>
        <p:spPr>
          <a:xfrm>
            <a:off x="548640" y="475488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41" name="anim9-305"/>
          <p:cNvSpPr/>
          <p:nvPr/>
        </p:nvSpPr>
        <p:spPr>
          <a:xfrm>
            <a:off x="749808" y="5029200"/>
            <a:ext cx="594360" cy="59436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anim9-30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2" y="5183734"/>
            <a:ext cx="285293" cy="285293"/>
          </a:xfrm>
          <a:prstGeom prst="rect">
            <a:avLst/>
          </a:prstGeom>
        </p:spPr>
      </p:pic>
      <p:sp>
        <p:nvSpPr>
          <p:cNvPr id="43" name="anim9-307"/>
          <p:cNvSpPr txBox="1"/>
          <p:nvPr/>
        </p:nvSpPr>
        <p:spPr>
          <a:xfrm>
            <a:off x="1481328" y="475488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Top dépenses</a:t>
            </a:r>
            <a:endParaRPr lang="en-US" sz="1500" dirty="0"/>
          </a:p>
        </p:txBody>
      </p:sp>
      <p:sp>
        <p:nvSpPr>
          <p:cNvPr id="44" name="anim10-308"/>
          <p:cNvSpPr/>
          <p:nvPr/>
        </p:nvSpPr>
        <p:spPr>
          <a:xfrm>
            <a:off x="3383280" y="475488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45" name="anim10-309"/>
          <p:cNvSpPr/>
          <p:nvPr/>
        </p:nvSpPr>
        <p:spPr>
          <a:xfrm>
            <a:off x="3584448" y="5029200"/>
            <a:ext cx="594360" cy="59436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6" name="anim10-3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38982" y="5183734"/>
            <a:ext cx="285293" cy="285293"/>
          </a:xfrm>
          <a:prstGeom prst="rect">
            <a:avLst/>
          </a:prstGeom>
        </p:spPr>
      </p:pic>
      <p:sp>
        <p:nvSpPr>
          <p:cNvPr id="47" name="anim10-311"/>
          <p:cNvSpPr txBox="1"/>
          <p:nvPr/>
        </p:nvSpPr>
        <p:spPr>
          <a:xfrm>
            <a:off x="4315968" y="475488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Top véhicules</a:t>
            </a:r>
            <a:endParaRPr lang="en-US" sz="1500" dirty="0"/>
          </a:p>
        </p:txBody>
      </p:sp>
      <p:sp>
        <p:nvSpPr>
          <p:cNvPr id="48" name="anim11-312"/>
          <p:cNvSpPr/>
          <p:nvPr/>
        </p:nvSpPr>
        <p:spPr>
          <a:xfrm>
            <a:off x="6217920" y="475488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49" name="anim11-313"/>
          <p:cNvSpPr/>
          <p:nvPr/>
        </p:nvSpPr>
        <p:spPr>
          <a:xfrm>
            <a:off x="6419088" y="5029200"/>
            <a:ext cx="594360" cy="59436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0" name="anim11-314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3622" y="5183734"/>
            <a:ext cx="285293" cy="285293"/>
          </a:xfrm>
          <a:prstGeom prst="rect">
            <a:avLst/>
          </a:prstGeom>
        </p:spPr>
      </p:pic>
      <p:sp>
        <p:nvSpPr>
          <p:cNvPr id="51" name="anim11-315"/>
          <p:cNvSpPr txBox="1"/>
          <p:nvPr/>
        </p:nvSpPr>
        <p:spPr>
          <a:xfrm>
            <a:off x="7150608" y="475488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Top itinéraires</a:t>
            </a:r>
            <a:endParaRPr lang="en-US" sz="1500" dirty="0"/>
          </a:p>
        </p:txBody>
      </p:sp>
      <p:sp>
        <p:nvSpPr>
          <p:cNvPr id="52" name="Text 38"/>
          <p:cNvSpPr txBox="1"/>
          <p:nvPr/>
        </p:nvSpPr>
        <p:spPr>
          <a:xfrm>
            <a:off x="9052560" y="4754880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Les « Top » classent les postes qui rapportent ou coûtent le plus.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9" grpId="0" animBg="1"/>
      <p:bldP spid="23" grpId="0" animBg="1"/>
      <p:bldP spid="27" grpId="0" animBg="1"/>
      <p:bldP spid="31" grpId="0" animBg="1"/>
      <p:bldP spid="35" grpId="0" animBg="1"/>
      <p:bldP spid="39" grpId="0" animBg="1"/>
      <p:bldP spid="43" grpId="0" animBg="1"/>
      <p:bldP spid="47" grpId="0" animBg="1"/>
      <p:bldP spid="5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Employés et droits d'accès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ADMINISTRATION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Menu  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Employee › Employee Management · Add Employee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Chaque utilisateur a son compte et ne voit que ce qu'il doit voir.</a:t>
            </a:r>
            <a:endParaRPr lang="en-US" sz="1700" dirty="0"/>
          </a:p>
        </p:txBody>
      </p:sp>
      <p:sp>
        <p:nvSpPr>
          <p:cNvPr id="9" name="anim1-316"/>
          <p:cNvSpPr/>
          <p:nvPr/>
        </p:nvSpPr>
        <p:spPr>
          <a:xfrm>
            <a:off x="54864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0" name="anim1-317"/>
          <p:cNvSpPr/>
          <p:nvPr/>
        </p:nvSpPr>
        <p:spPr>
          <a:xfrm>
            <a:off x="74980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anim1-31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721254"/>
            <a:ext cx="263347" cy="263347"/>
          </a:xfrm>
          <a:prstGeom prst="rect">
            <a:avLst/>
          </a:prstGeom>
        </p:spPr>
      </p:pic>
      <p:sp>
        <p:nvSpPr>
          <p:cNvPr id="12" name="anim1-319"/>
          <p:cNvSpPr txBox="1"/>
          <p:nvPr/>
        </p:nvSpPr>
        <p:spPr>
          <a:xfrm>
            <a:off x="144475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Comptes utilisateurs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Nom, téléphone, e-mail, identifiant, mot de passe, dernière connexion.</a:t>
            </a:r>
            <a:endParaRPr lang="en-US" sz="1500" dirty="0"/>
          </a:p>
        </p:txBody>
      </p:sp>
      <p:sp>
        <p:nvSpPr>
          <p:cNvPr id="13" name="anim2-320"/>
          <p:cNvSpPr/>
          <p:nvPr/>
        </p:nvSpPr>
        <p:spPr>
          <a:xfrm>
            <a:off x="448056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4" name="anim2-321"/>
          <p:cNvSpPr/>
          <p:nvPr/>
        </p:nvSpPr>
        <p:spPr>
          <a:xfrm>
            <a:off x="468172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anim2-3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374" y="2721254"/>
            <a:ext cx="263347" cy="263347"/>
          </a:xfrm>
          <a:prstGeom prst="rect">
            <a:avLst/>
          </a:prstGeom>
        </p:spPr>
      </p:pic>
      <p:sp>
        <p:nvSpPr>
          <p:cNvPr id="16" name="anim2-323"/>
          <p:cNvSpPr txBox="1"/>
          <p:nvPr/>
        </p:nvSpPr>
        <p:spPr>
          <a:xfrm>
            <a:off x="537667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Permissions par module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Cases à cocher : voir, ajouter, modifier, supprimer…</a:t>
            </a:r>
            <a:endParaRPr lang="en-US" sz="1500" dirty="0"/>
          </a:p>
        </p:txBody>
      </p:sp>
      <p:sp>
        <p:nvSpPr>
          <p:cNvPr id="17" name="anim3-324"/>
          <p:cNvSpPr/>
          <p:nvPr/>
        </p:nvSpPr>
        <p:spPr>
          <a:xfrm>
            <a:off x="54864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8" name="anim3-325"/>
          <p:cNvSpPr/>
          <p:nvPr/>
        </p:nvSpPr>
        <p:spPr>
          <a:xfrm>
            <a:off x="74980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anim3-32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4595774"/>
            <a:ext cx="263347" cy="263347"/>
          </a:xfrm>
          <a:prstGeom prst="rect">
            <a:avLst/>
          </a:prstGeom>
        </p:spPr>
      </p:pic>
      <p:sp>
        <p:nvSpPr>
          <p:cNvPr id="20" name="anim3-327"/>
          <p:cNvSpPr txBox="1"/>
          <p:nvPr/>
        </p:nvSpPr>
        <p:spPr>
          <a:xfrm>
            <a:off x="144475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Modules concernés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Véhicules, chauffeurs, transactions, clients, carburant, entretien, GPS…</a:t>
            </a:r>
            <a:endParaRPr lang="en-US" sz="1500" dirty="0"/>
          </a:p>
        </p:txBody>
      </p:sp>
      <p:sp>
        <p:nvSpPr>
          <p:cNvPr id="21" name="anim4-328"/>
          <p:cNvSpPr/>
          <p:nvPr/>
        </p:nvSpPr>
        <p:spPr>
          <a:xfrm>
            <a:off x="448056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2" name="anim4-329"/>
          <p:cNvSpPr/>
          <p:nvPr/>
        </p:nvSpPr>
        <p:spPr>
          <a:xfrm>
            <a:off x="468172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anim4-33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374" y="4595774"/>
            <a:ext cx="263347" cy="263347"/>
          </a:xfrm>
          <a:prstGeom prst="rect">
            <a:avLst/>
          </a:prstGeom>
        </p:spPr>
      </p:pic>
      <p:sp>
        <p:nvSpPr>
          <p:cNvPr id="24" name="anim4-331"/>
          <p:cNvSpPr txBox="1"/>
          <p:nvPr/>
        </p:nvSpPr>
        <p:spPr>
          <a:xfrm>
            <a:off x="537667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Statut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Compte actif ou désactivé.</a:t>
            </a:r>
            <a:endParaRPr lang="en-US" sz="1500" dirty="0"/>
          </a:p>
        </p:txBody>
      </p:sp>
      <p:sp>
        <p:nvSpPr>
          <p:cNvPr id="25" name="anim5-332"/>
          <p:cNvSpPr/>
          <p:nvPr/>
        </p:nvSpPr>
        <p:spPr>
          <a:xfrm>
            <a:off x="8549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6" name="anim5-333"/>
          <p:cNvSpPr txBox="1"/>
          <p:nvPr/>
        </p:nvSpPr>
        <p:spPr>
          <a:xfrm>
            <a:off x="877824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Ce que ça apporte</a:t>
            </a:r>
            <a:endParaRPr lang="en-US" sz="1800" dirty="0"/>
          </a:p>
        </p:txBody>
      </p:sp>
      <p:pic>
        <p:nvPicPr>
          <p:cNvPr id="27" name="anim6-33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276856"/>
            <a:ext cx="292608" cy="292608"/>
          </a:xfrm>
          <a:prstGeom prst="rect">
            <a:avLst/>
          </a:prstGeom>
        </p:spPr>
      </p:pic>
      <p:sp>
        <p:nvSpPr>
          <p:cNvPr id="28" name="anim6-335"/>
          <p:cNvSpPr txBox="1"/>
          <p:nvPr/>
        </p:nvSpPr>
        <p:spPr>
          <a:xfrm>
            <a:off x="9189720" y="2240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Chacun travaille dans son périmètre</a:t>
            </a:r>
            <a:endParaRPr lang="en-US" sz="1400" dirty="0"/>
          </a:p>
        </p:txBody>
      </p:sp>
      <p:pic>
        <p:nvPicPr>
          <p:cNvPr id="29" name="anim7-33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465576"/>
            <a:ext cx="292608" cy="292608"/>
          </a:xfrm>
          <a:prstGeom prst="rect">
            <a:avLst/>
          </a:prstGeom>
        </p:spPr>
      </p:pic>
      <p:sp>
        <p:nvSpPr>
          <p:cNvPr id="30" name="anim7-337"/>
          <p:cNvSpPr txBox="1"/>
          <p:nvPr/>
        </p:nvSpPr>
        <p:spPr>
          <a:xfrm>
            <a:off x="9189720" y="34290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Les données financières restent protégées</a:t>
            </a:r>
            <a:endParaRPr lang="en-US" sz="1400" dirty="0"/>
          </a:p>
        </p:txBody>
      </p:sp>
      <p:pic>
        <p:nvPicPr>
          <p:cNvPr id="31" name="anim8-33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654296"/>
            <a:ext cx="292608" cy="292608"/>
          </a:xfrm>
          <a:prstGeom prst="rect">
            <a:avLst/>
          </a:prstGeom>
        </p:spPr>
      </p:pic>
      <p:sp>
        <p:nvSpPr>
          <p:cNvPr id="32" name="anim8-339"/>
          <p:cNvSpPr txBox="1"/>
          <p:nvPr/>
        </p:nvSpPr>
        <p:spPr>
          <a:xfrm>
            <a:off x="9189720" y="4617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 sait qui a créé chaque transaction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Paramètres et sécurité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ADMINISTRATION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Menu  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Setting's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Le logiciel s'adapte à l'entreprise et protège ses données.</a:t>
            </a:r>
            <a:endParaRPr lang="en-US" sz="1700" dirty="0"/>
          </a:p>
        </p:txBody>
      </p:sp>
      <p:sp>
        <p:nvSpPr>
          <p:cNvPr id="9" name="anim1-340"/>
          <p:cNvSpPr/>
          <p:nvPr/>
        </p:nvSpPr>
        <p:spPr>
          <a:xfrm>
            <a:off x="54864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0" name="anim1-341"/>
          <p:cNvSpPr/>
          <p:nvPr/>
        </p:nvSpPr>
        <p:spPr>
          <a:xfrm>
            <a:off x="74980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anim1-34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721254"/>
            <a:ext cx="263347" cy="263347"/>
          </a:xfrm>
          <a:prstGeom prst="rect">
            <a:avLst/>
          </a:prstGeom>
        </p:spPr>
      </p:pic>
      <p:sp>
        <p:nvSpPr>
          <p:cNvPr id="12" name="anim1-343"/>
          <p:cNvSpPr txBox="1"/>
          <p:nvPr/>
        </p:nvSpPr>
        <p:spPr>
          <a:xfrm>
            <a:off x="144475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Identité de l'entreprise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Nom, adresse, contacts, logo, couleurs, fuseau horaire.</a:t>
            </a:r>
            <a:endParaRPr lang="en-US" sz="1500" dirty="0"/>
          </a:p>
        </p:txBody>
      </p:sp>
      <p:sp>
        <p:nvSpPr>
          <p:cNvPr id="13" name="anim2-344"/>
          <p:cNvSpPr/>
          <p:nvPr/>
        </p:nvSpPr>
        <p:spPr>
          <a:xfrm>
            <a:off x="4480560" y="237744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4" name="anim2-345"/>
          <p:cNvSpPr/>
          <p:nvPr/>
        </p:nvSpPr>
        <p:spPr>
          <a:xfrm>
            <a:off x="4681728" y="257860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anim2-34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374" y="2721254"/>
            <a:ext cx="263347" cy="263347"/>
          </a:xfrm>
          <a:prstGeom prst="rect">
            <a:avLst/>
          </a:prstGeom>
        </p:spPr>
      </p:pic>
      <p:sp>
        <p:nvSpPr>
          <p:cNvPr id="16" name="anim2-347"/>
          <p:cNvSpPr txBox="1"/>
          <p:nvPr/>
        </p:nvSpPr>
        <p:spPr>
          <a:xfrm>
            <a:off x="5376672" y="250545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Communication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Envoi d'e-mails et de SMS, avec modèles de messages.</a:t>
            </a:r>
            <a:endParaRPr lang="en-US" sz="1500" dirty="0"/>
          </a:p>
        </p:txBody>
      </p:sp>
      <p:sp>
        <p:nvSpPr>
          <p:cNvPr id="17" name="anim3-348"/>
          <p:cNvSpPr/>
          <p:nvPr/>
        </p:nvSpPr>
        <p:spPr>
          <a:xfrm>
            <a:off x="54864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8" name="anim3-349"/>
          <p:cNvSpPr/>
          <p:nvPr/>
        </p:nvSpPr>
        <p:spPr>
          <a:xfrm>
            <a:off x="74980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anim3-35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4595774"/>
            <a:ext cx="263347" cy="263347"/>
          </a:xfrm>
          <a:prstGeom prst="rect">
            <a:avLst/>
          </a:prstGeom>
        </p:spPr>
      </p:pic>
      <p:sp>
        <p:nvSpPr>
          <p:cNvPr id="20" name="anim3-351"/>
          <p:cNvSpPr txBox="1"/>
          <p:nvPr/>
        </p:nvSpPr>
        <p:spPr>
          <a:xfrm>
            <a:off x="144475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Réservations et factures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Préfixe des numéros de réservation, réglages des factures.</a:t>
            </a:r>
            <a:endParaRPr lang="en-US" sz="1500" dirty="0"/>
          </a:p>
        </p:txBody>
      </p:sp>
      <p:sp>
        <p:nvSpPr>
          <p:cNvPr id="21" name="anim4-352"/>
          <p:cNvSpPr/>
          <p:nvPr/>
        </p:nvSpPr>
        <p:spPr>
          <a:xfrm>
            <a:off x="4480560" y="4251960"/>
            <a:ext cx="37490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2" name="anim4-353"/>
          <p:cNvSpPr/>
          <p:nvPr/>
        </p:nvSpPr>
        <p:spPr>
          <a:xfrm>
            <a:off x="4681728" y="4453128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anim4-35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374" y="4595774"/>
            <a:ext cx="263347" cy="263347"/>
          </a:xfrm>
          <a:prstGeom prst="rect">
            <a:avLst/>
          </a:prstGeom>
        </p:spPr>
      </p:pic>
      <p:sp>
        <p:nvSpPr>
          <p:cNvPr id="24" name="anim4-355"/>
          <p:cNvSpPr txBox="1"/>
          <p:nvPr/>
        </p:nvSpPr>
        <p:spPr>
          <a:xfrm>
            <a:off x="5376672" y="4379976"/>
            <a:ext cx="26974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Sauvegardes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Sauvegarde de la base de données en un clic.</a:t>
            </a:r>
            <a:endParaRPr lang="en-US" sz="1500" dirty="0"/>
          </a:p>
        </p:txBody>
      </p:sp>
      <p:sp>
        <p:nvSpPr>
          <p:cNvPr id="25" name="anim5-356"/>
          <p:cNvSpPr/>
          <p:nvPr/>
        </p:nvSpPr>
        <p:spPr>
          <a:xfrm>
            <a:off x="8549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6" name="anim5-357"/>
          <p:cNvSpPr txBox="1"/>
          <p:nvPr/>
        </p:nvSpPr>
        <p:spPr>
          <a:xfrm>
            <a:off x="877824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Ce que ça apporte</a:t>
            </a:r>
            <a:endParaRPr lang="en-US" sz="1800" dirty="0"/>
          </a:p>
        </p:txBody>
      </p:sp>
      <p:pic>
        <p:nvPicPr>
          <p:cNvPr id="27" name="anim6-35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276856"/>
            <a:ext cx="292608" cy="292608"/>
          </a:xfrm>
          <a:prstGeom prst="rect">
            <a:avLst/>
          </a:prstGeom>
        </p:spPr>
      </p:pic>
      <p:sp>
        <p:nvSpPr>
          <p:cNvPr id="28" name="anim6-359"/>
          <p:cNvSpPr txBox="1"/>
          <p:nvPr/>
        </p:nvSpPr>
        <p:spPr>
          <a:xfrm>
            <a:off x="9189720" y="22402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Documents aux couleurs de l'entreprise</a:t>
            </a:r>
            <a:endParaRPr lang="en-US" sz="1400" dirty="0"/>
          </a:p>
        </p:txBody>
      </p:sp>
      <p:pic>
        <p:nvPicPr>
          <p:cNvPr id="29" name="anim7-36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465576"/>
            <a:ext cx="292608" cy="292608"/>
          </a:xfrm>
          <a:prstGeom prst="rect">
            <a:avLst/>
          </a:prstGeom>
        </p:spPr>
      </p:pic>
      <p:sp>
        <p:nvSpPr>
          <p:cNvPr id="30" name="anim7-361"/>
          <p:cNvSpPr txBox="1"/>
          <p:nvPr/>
        </p:nvSpPr>
        <p:spPr>
          <a:xfrm>
            <a:off x="9189720" y="34290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Clients informés automatiquement</a:t>
            </a:r>
            <a:endParaRPr lang="en-US" sz="1400" dirty="0"/>
          </a:p>
        </p:txBody>
      </p:sp>
      <p:pic>
        <p:nvPicPr>
          <p:cNvPr id="31" name="anim8-36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654296"/>
            <a:ext cx="292608" cy="292608"/>
          </a:xfrm>
          <a:prstGeom prst="rect">
            <a:avLst/>
          </a:prstGeom>
        </p:spPr>
      </p:pic>
      <p:sp>
        <p:nvSpPr>
          <p:cNvPr id="32" name="anim8-363"/>
          <p:cNvSpPr txBox="1"/>
          <p:nvPr/>
        </p:nvSpPr>
        <p:spPr>
          <a:xfrm>
            <a:off x="9189720" y="46177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Données protégées par des sauvegardes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En résumé, en quelques chiffres</a:t>
            </a:r>
            <a:endParaRPr lang="en-US" sz="3200" dirty="0"/>
          </a:p>
        </p:txBody>
      </p:sp>
      <p:sp>
        <p:nvSpPr>
          <p:cNvPr id="3" name="anim1-364"/>
          <p:cNvSpPr/>
          <p:nvPr/>
        </p:nvSpPr>
        <p:spPr>
          <a:xfrm>
            <a:off x="731520" y="1920240"/>
            <a:ext cx="2514600" cy="3291840"/>
          </a:xfrm>
          <a:prstGeom prst="roundRect">
            <a:avLst>
              <a:gd name="adj" fmla="val 5455"/>
            </a:avLst>
          </a:prstGeom>
          <a:solidFill>
            <a:srgbClr val="28356B"/>
          </a:solidFill>
          <a:ln w="12700">
            <a:solidFill>
              <a:srgbClr val="4A5C9A"/>
            </a:solidFill>
            <a:prstDash val="solid"/>
          </a:ln>
        </p:spPr>
      </p:sp>
      <p:sp>
        <p:nvSpPr>
          <p:cNvPr id="4" name="anim1-365"/>
          <p:cNvSpPr txBox="1"/>
          <p:nvPr/>
        </p:nvSpPr>
        <p:spPr>
          <a:xfrm>
            <a:off x="731520" y="214884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0" dirty="0"/>
          </a:p>
        </p:txBody>
      </p:sp>
      <p:sp>
        <p:nvSpPr>
          <p:cNvPr id="5" name="anim1-366"/>
          <p:cNvSpPr txBox="1"/>
          <p:nvPr/>
        </p:nvSpPr>
        <p:spPr>
          <a:xfrm>
            <a:off x="868680" y="37033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modules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pour couvrir toute l'activité</a:t>
            </a:r>
            <a:endParaRPr lang="en-US" sz="1500" dirty="0"/>
          </a:p>
        </p:txBody>
      </p:sp>
      <p:sp>
        <p:nvSpPr>
          <p:cNvPr id="6" name="anim2-367"/>
          <p:cNvSpPr/>
          <p:nvPr/>
        </p:nvSpPr>
        <p:spPr>
          <a:xfrm>
            <a:off x="3474720" y="1920240"/>
            <a:ext cx="2514600" cy="3291840"/>
          </a:xfrm>
          <a:prstGeom prst="roundRect">
            <a:avLst>
              <a:gd name="adj" fmla="val 5455"/>
            </a:avLst>
          </a:prstGeom>
          <a:solidFill>
            <a:srgbClr val="28356B"/>
          </a:solidFill>
          <a:ln w="12700">
            <a:solidFill>
              <a:srgbClr val="4A5C9A"/>
            </a:solidFill>
            <a:prstDash val="solid"/>
          </a:ln>
        </p:spPr>
      </p:sp>
      <p:sp>
        <p:nvSpPr>
          <p:cNvPr id="7" name="anim2-368"/>
          <p:cNvSpPr txBox="1"/>
          <p:nvPr/>
        </p:nvSpPr>
        <p:spPr>
          <a:xfrm>
            <a:off x="3474720" y="214884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0" dirty="0"/>
          </a:p>
        </p:txBody>
      </p:sp>
      <p:sp>
        <p:nvSpPr>
          <p:cNvPr id="8" name="anim2-369"/>
          <p:cNvSpPr txBox="1"/>
          <p:nvPr/>
        </p:nvSpPr>
        <p:spPr>
          <a:xfrm>
            <a:off x="3611880" y="37033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rapports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prêts à l'emploi</a:t>
            </a:r>
            <a:endParaRPr lang="en-US" sz="1500" dirty="0"/>
          </a:p>
        </p:txBody>
      </p:sp>
      <p:sp>
        <p:nvSpPr>
          <p:cNvPr id="9" name="anim3-370"/>
          <p:cNvSpPr/>
          <p:nvPr/>
        </p:nvSpPr>
        <p:spPr>
          <a:xfrm>
            <a:off x="6217920" y="1920240"/>
            <a:ext cx="2514600" cy="3291840"/>
          </a:xfrm>
          <a:prstGeom prst="roundRect">
            <a:avLst>
              <a:gd name="adj" fmla="val 5455"/>
            </a:avLst>
          </a:prstGeom>
          <a:solidFill>
            <a:srgbClr val="28356B"/>
          </a:solidFill>
          <a:ln w="12700">
            <a:solidFill>
              <a:srgbClr val="4A5C9A"/>
            </a:solidFill>
            <a:prstDash val="solid"/>
          </a:ln>
        </p:spPr>
      </p:sp>
      <p:sp>
        <p:nvSpPr>
          <p:cNvPr id="10" name="anim3-371"/>
          <p:cNvSpPr txBox="1"/>
          <p:nvPr/>
        </p:nvSpPr>
        <p:spPr>
          <a:xfrm>
            <a:off x="6217920" y="214884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0" dirty="0"/>
          </a:p>
        </p:txBody>
      </p:sp>
      <p:sp>
        <p:nvSpPr>
          <p:cNvPr id="11" name="anim3-372"/>
          <p:cNvSpPr txBox="1"/>
          <p:nvPr/>
        </p:nvSpPr>
        <p:spPr>
          <a:xfrm>
            <a:off x="6355080" y="37033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modes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de facturation des trajets</a:t>
            </a:r>
            <a:endParaRPr lang="en-US" sz="1500" dirty="0"/>
          </a:p>
        </p:txBody>
      </p:sp>
      <p:sp>
        <p:nvSpPr>
          <p:cNvPr id="12" name="anim4-373"/>
          <p:cNvSpPr/>
          <p:nvPr/>
        </p:nvSpPr>
        <p:spPr>
          <a:xfrm>
            <a:off x="8961120" y="1920240"/>
            <a:ext cx="2514600" cy="3291840"/>
          </a:xfrm>
          <a:prstGeom prst="roundRect">
            <a:avLst>
              <a:gd name="adj" fmla="val 5455"/>
            </a:avLst>
          </a:prstGeom>
          <a:solidFill>
            <a:srgbClr val="28356B"/>
          </a:solidFill>
          <a:ln w="12700">
            <a:solidFill>
              <a:srgbClr val="4A5C9A"/>
            </a:solidFill>
            <a:prstDash val="solid"/>
          </a:ln>
        </p:spPr>
      </p:sp>
      <p:sp>
        <p:nvSpPr>
          <p:cNvPr id="13" name="anim4-374"/>
          <p:cNvSpPr txBox="1"/>
          <p:nvPr/>
        </p:nvSpPr>
        <p:spPr>
          <a:xfrm>
            <a:off x="8961120" y="214884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0" dirty="0"/>
          </a:p>
        </p:txBody>
      </p:sp>
      <p:sp>
        <p:nvSpPr>
          <p:cNvPr id="14" name="anim4-375"/>
          <p:cNvSpPr txBox="1"/>
          <p:nvPr/>
        </p:nvSpPr>
        <p:spPr>
          <a:xfrm>
            <a:off x="9098280" y="37033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seule application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pour la direction et les agents</a:t>
            </a:r>
            <a:endParaRPr lang="en-US" sz="1500" dirty="0"/>
          </a:p>
        </p:txBody>
      </p:sp>
      <p:sp>
        <p:nvSpPr>
          <p:cNvPr id="15" name="anim5-376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Plus des alertes sur les échéances, le suivi GPS, les exports Excel, CSV, PDF et les sauvegardes.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Ce que ça change pour chacun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7" name="anim1-377"/>
          <p:cNvSpPr/>
          <p:nvPr/>
        </p:nvSpPr>
        <p:spPr>
          <a:xfrm>
            <a:off x="548640" y="146304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8" name="anim1-378"/>
          <p:cNvSpPr/>
          <p:nvPr/>
        </p:nvSpPr>
        <p:spPr>
          <a:xfrm>
            <a:off x="822960" y="1691640"/>
            <a:ext cx="777240" cy="777240"/>
          </a:xfrm>
          <a:prstGeom prst="roundRect">
            <a:avLst>
              <a:gd name="adj" fmla="val 2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9" name="anim1-37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2" y="1893722"/>
            <a:ext cx="373075" cy="373075"/>
          </a:xfrm>
          <a:prstGeom prst="rect">
            <a:avLst/>
          </a:prstGeom>
        </p:spPr>
      </p:pic>
      <p:sp>
        <p:nvSpPr>
          <p:cNvPr id="10" name="anim1-380"/>
          <p:cNvSpPr txBox="1"/>
          <p:nvPr/>
        </p:nvSpPr>
        <p:spPr>
          <a:xfrm>
            <a:off x="1783080" y="16916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Pour la direction</a:t>
            </a:r>
            <a:endParaRPr lang="en-US" sz="2200" dirty="0"/>
          </a:p>
        </p:txBody>
      </p:sp>
      <p:pic>
        <p:nvPicPr>
          <p:cNvPr id="11" name="anim2-38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88920"/>
            <a:ext cx="292608" cy="292608"/>
          </a:xfrm>
          <a:prstGeom prst="rect">
            <a:avLst/>
          </a:prstGeom>
        </p:spPr>
      </p:pic>
      <p:sp>
        <p:nvSpPr>
          <p:cNvPr id="12" name="anim2-382"/>
          <p:cNvSpPr txBox="1"/>
          <p:nvPr/>
        </p:nvSpPr>
        <p:spPr>
          <a:xfrm>
            <a:off x="1325880" y="27432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Vision en temps réel de l'activité</a:t>
            </a:r>
            <a:endParaRPr lang="en-US" sz="1700" dirty="0"/>
          </a:p>
        </p:txBody>
      </p:sp>
      <p:pic>
        <p:nvPicPr>
          <p:cNvPr id="13" name="anim3-38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593592"/>
            <a:ext cx="292608" cy="292608"/>
          </a:xfrm>
          <a:prstGeom prst="rect">
            <a:avLst/>
          </a:prstGeom>
        </p:spPr>
      </p:pic>
      <p:sp>
        <p:nvSpPr>
          <p:cNvPr id="14" name="anim3-384"/>
          <p:cNvSpPr txBox="1"/>
          <p:nvPr/>
        </p:nvSpPr>
        <p:spPr>
          <a:xfrm>
            <a:off x="1325880" y="354787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Rentabilité par véhicule, chauffeur et itinéraire</a:t>
            </a:r>
            <a:endParaRPr lang="en-US" sz="1700" dirty="0"/>
          </a:p>
        </p:txBody>
      </p:sp>
      <p:pic>
        <p:nvPicPr>
          <p:cNvPr id="15" name="anim4-38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98264"/>
            <a:ext cx="292608" cy="292608"/>
          </a:xfrm>
          <a:prstGeom prst="rect">
            <a:avLst/>
          </a:prstGeom>
        </p:spPr>
      </p:pic>
      <p:sp>
        <p:nvSpPr>
          <p:cNvPr id="16" name="anim4-386"/>
          <p:cNvSpPr txBox="1"/>
          <p:nvPr/>
        </p:nvSpPr>
        <p:spPr>
          <a:xfrm>
            <a:off x="1325880" y="435254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Coûts de carburant et d'entretien maîtrisés</a:t>
            </a:r>
            <a:endParaRPr lang="en-US" sz="1700" dirty="0"/>
          </a:p>
        </p:txBody>
      </p:sp>
      <p:pic>
        <p:nvPicPr>
          <p:cNvPr id="17" name="anim5-38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202936"/>
            <a:ext cx="292608" cy="292608"/>
          </a:xfrm>
          <a:prstGeom prst="rect">
            <a:avLst/>
          </a:prstGeom>
        </p:spPr>
      </p:pic>
      <p:sp>
        <p:nvSpPr>
          <p:cNvPr id="18" name="anim5-388"/>
          <p:cNvSpPr txBox="1"/>
          <p:nvPr/>
        </p:nvSpPr>
        <p:spPr>
          <a:xfrm>
            <a:off x="1325880" y="515721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Décisions appuyées sur des rapports</a:t>
            </a:r>
            <a:endParaRPr lang="en-US" sz="1700" dirty="0"/>
          </a:p>
        </p:txBody>
      </p:sp>
      <p:sp>
        <p:nvSpPr>
          <p:cNvPr id="19" name="anim6-389"/>
          <p:cNvSpPr/>
          <p:nvPr/>
        </p:nvSpPr>
        <p:spPr>
          <a:xfrm>
            <a:off x="6217920" y="146304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0" name="anim6-390"/>
          <p:cNvSpPr/>
          <p:nvPr/>
        </p:nvSpPr>
        <p:spPr>
          <a:xfrm>
            <a:off x="6492240" y="1691640"/>
            <a:ext cx="777240" cy="77724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anim6-39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4322" y="1893722"/>
            <a:ext cx="373075" cy="373075"/>
          </a:xfrm>
          <a:prstGeom prst="rect">
            <a:avLst/>
          </a:prstGeom>
        </p:spPr>
      </p:pic>
      <p:sp>
        <p:nvSpPr>
          <p:cNvPr id="22" name="anim6-392"/>
          <p:cNvSpPr txBox="1"/>
          <p:nvPr/>
        </p:nvSpPr>
        <p:spPr>
          <a:xfrm>
            <a:off x="7452360" y="16916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Pour les agents</a:t>
            </a:r>
            <a:endParaRPr lang="en-US" sz="2200" dirty="0"/>
          </a:p>
        </p:txBody>
      </p:sp>
      <p:pic>
        <p:nvPicPr>
          <p:cNvPr id="23" name="anim7-39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2788920"/>
            <a:ext cx="292608" cy="292608"/>
          </a:xfrm>
          <a:prstGeom prst="rect">
            <a:avLst/>
          </a:prstGeom>
        </p:spPr>
      </p:pic>
      <p:sp>
        <p:nvSpPr>
          <p:cNvPr id="24" name="anim7-394"/>
          <p:cNvSpPr txBox="1"/>
          <p:nvPr/>
        </p:nvSpPr>
        <p:spPr>
          <a:xfrm>
            <a:off x="6995160" y="27432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Une seule application au lieu de plusieurs outils</a:t>
            </a:r>
            <a:endParaRPr lang="en-US" sz="1700" dirty="0"/>
          </a:p>
        </p:txBody>
      </p:sp>
      <p:pic>
        <p:nvPicPr>
          <p:cNvPr id="25" name="anim8-39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3593592"/>
            <a:ext cx="292608" cy="292608"/>
          </a:xfrm>
          <a:prstGeom prst="rect">
            <a:avLst/>
          </a:prstGeom>
        </p:spPr>
      </p:pic>
      <p:sp>
        <p:nvSpPr>
          <p:cNvPr id="26" name="anim8-396"/>
          <p:cNvSpPr txBox="1"/>
          <p:nvPr/>
        </p:nvSpPr>
        <p:spPr>
          <a:xfrm>
            <a:off x="6995160" y="354787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Informations retrouvées en quelques secondes</a:t>
            </a:r>
            <a:endParaRPr lang="en-US" sz="1700" dirty="0"/>
          </a:p>
        </p:txBody>
      </p:sp>
      <p:pic>
        <p:nvPicPr>
          <p:cNvPr id="27" name="anim9-39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4398264"/>
            <a:ext cx="292608" cy="292608"/>
          </a:xfrm>
          <a:prstGeom prst="rect">
            <a:avLst/>
          </a:prstGeom>
        </p:spPr>
      </p:pic>
      <p:sp>
        <p:nvSpPr>
          <p:cNvPr id="28" name="anim9-398"/>
          <p:cNvSpPr txBox="1"/>
          <p:nvPr/>
        </p:nvSpPr>
        <p:spPr>
          <a:xfrm>
            <a:off x="6995160" y="435254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Rappels automatiques des échéances</a:t>
            </a:r>
            <a:endParaRPr lang="en-US" sz="1700" dirty="0"/>
          </a:p>
        </p:txBody>
      </p:sp>
      <p:pic>
        <p:nvPicPr>
          <p:cNvPr id="29" name="anim10-39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5202936"/>
            <a:ext cx="292608" cy="292608"/>
          </a:xfrm>
          <a:prstGeom prst="rect">
            <a:avLst/>
          </a:prstGeom>
        </p:spPr>
      </p:pic>
      <p:sp>
        <p:nvSpPr>
          <p:cNvPr id="30" name="anim10-400"/>
          <p:cNvSpPr txBox="1"/>
          <p:nvPr/>
        </p:nvSpPr>
        <p:spPr>
          <a:xfrm>
            <a:off x="6995160" y="515721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Moins de saisie grâce aux imports et exports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6" grpId="0" animBg="1"/>
      <p:bldP spid="18" grpId="0" animBg="1"/>
      <p:bldP spid="22" grpId="0" animBg="1"/>
      <p:bldP spid="24" grpId="0" animBg="1"/>
      <p:bldP spid="26" grpId="0" animBg="1"/>
      <p:bldP spid="28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Démonstration : un circuit de travail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En direct dans l'application, de la commande au rapport.</a:t>
            </a:r>
            <a:endParaRPr lang="en-US" sz="1700" dirty="0"/>
          </a:p>
        </p:txBody>
      </p:sp>
      <p:sp>
        <p:nvSpPr>
          <p:cNvPr id="8" name="anim1-401"/>
          <p:cNvSpPr/>
          <p:nvPr/>
        </p:nvSpPr>
        <p:spPr>
          <a:xfrm>
            <a:off x="548640" y="2788920"/>
            <a:ext cx="11064240" cy="0"/>
          </a:xfrm>
          <a:prstGeom prst="line">
            <a:avLst/>
          </a:prstGeom>
          <a:noFill/>
          <a:ln w="330200">
            <a:solidFill>
              <a:srgbClr val="D5DCEB"/>
            </a:solidFill>
            <a:prstDash val="solid"/>
          </a:ln>
        </p:spPr>
      </p:sp>
      <p:sp>
        <p:nvSpPr>
          <p:cNvPr id="9" name="anim1-402"/>
          <p:cNvSpPr/>
          <p:nvPr/>
        </p:nvSpPr>
        <p:spPr>
          <a:xfrm>
            <a:off x="685800" y="2788920"/>
            <a:ext cx="107899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dash"/>
          </a:ln>
        </p:spPr>
      </p:sp>
      <p:pic>
        <p:nvPicPr>
          <p:cNvPr id="10" name="anim1-40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548640" cy="548640"/>
          </a:xfrm>
          <a:prstGeom prst="rect">
            <a:avLst/>
          </a:prstGeom>
        </p:spPr>
      </p:pic>
      <p:sp>
        <p:nvSpPr>
          <p:cNvPr id="11" name="anim2-404"/>
          <p:cNvSpPr/>
          <p:nvPr/>
        </p:nvSpPr>
        <p:spPr>
          <a:xfrm>
            <a:off x="1234440" y="2240280"/>
            <a:ext cx="1097280" cy="10972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pic>
        <p:nvPicPr>
          <p:cNvPr id="12" name="anim2-40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2542032"/>
            <a:ext cx="493776" cy="493776"/>
          </a:xfrm>
          <a:prstGeom prst="rect">
            <a:avLst/>
          </a:prstGeom>
        </p:spPr>
      </p:pic>
      <p:sp>
        <p:nvSpPr>
          <p:cNvPr id="13" name="anim2-406"/>
          <p:cNvSpPr/>
          <p:nvPr/>
        </p:nvSpPr>
        <p:spPr>
          <a:xfrm>
            <a:off x="2039112" y="2148840"/>
            <a:ext cx="384048" cy="384048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anim2-407"/>
          <p:cNvSpPr txBox="1"/>
          <p:nvPr/>
        </p:nvSpPr>
        <p:spPr>
          <a:xfrm>
            <a:off x="203911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anim2-408"/>
          <p:cNvSpPr txBox="1"/>
          <p:nvPr/>
        </p:nvSpPr>
        <p:spPr>
          <a:xfrm>
            <a:off x="777240" y="3520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Client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Customer › Add Customer</a:t>
            </a:r>
            <a:endParaRPr lang="en-US" sz="1500" dirty="0"/>
          </a:p>
        </p:txBody>
      </p:sp>
      <p:sp>
        <p:nvSpPr>
          <p:cNvPr id="16" name="anim3-409"/>
          <p:cNvSpPr/>
          <p:nvPr/>
        </p:nvSpPr>
        <p:spPr>
          <a:xfrm>
            <a:off x="3383280" y="2240280"/>
            <a:ext cx="1097280" cy="10972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pic>
        <p:nvPicPr>
          <p:cNvPr id="17" name="anim3-41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542032"/>
            <a:ext cx="493776" cy="493776"/>
          </a:xfrm>
          <a:prstGeom prst="rect">
            <a:avLst/>
          </a:prstGeom>
        </p:spPr>
      </p:pic>
      <p:sp>
        <p:nvSpPr>
          <p:cNvPr id="18" name="anim3-411"/>
          <p:cNvSpPr/>
          <p:nvPr/>
        </p:nvSpPr>
        <p:spPr>
          <a:xfrm>
            <a:off x="4187952" y="2148840"/>
            <a:ext cx="384048" cy="384048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anim3-412"/>
          <p:cNvSpPr txBox="1"/>
          <p:nvPr/>
        </p:nvSpPr>
        <p:spPr>
          <a:xfrm>
            <a:off x="418795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anim3-413"/>
          <p:cNvSpPr txBox="1"/>
          <p:nvPr/>
        </p:nvSpPr>
        <p:spPr>
          <a:xfrm>
            <a:off x="2926080" y="3520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Trajet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Trips › Add Trips</a:t>
            </a:r>
            <a:endParaRPr lang="en-US" sz="1500" dirty="0"/>
          </a:p>
        </p:txBody>
      </p:sp>
      <p:sp>
        <p:nvSpPr>
          <p:cNvPr id="21" name="anim4-414"/>
          <p:cNvSpPr/>
          <p:nvPr/>
        </p:nvSpPr>
        <p:spPr>
          <a:xfrm>
            <a:off x="5532120" y="2240280"/>
            <a:ext cx="1097280" cy="10972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pic>
        <p:nvPicPr>
          <p:cNvPr id="22" name="anim4-41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2542032"/>
            <a:ext cx="493776" cy="493776"/>
          </a:xfrm>
          <a:prstGeom prst="rect">
            <a:avLst/>
          </a:prstGeom>
        </p:spPr>
      </p:pic>
      <p:sp>
        <p:nvSpPr>
          <p:cNvPr id="23" name="anim4-416"/>
          <p:cNvSpPr/>
          <p:nvPr/>
        </p:nvSpPr>
        <p:spPr>
          <a:xfrm>
            <a:off x="6336792" y="2148840"/>
            <a:ext cx="384048" cy="384048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4" name="anim4-417"/>
          <p:cNvSpPr txBox="1"/>
          <p:nvPr/>
        </p:nvSpPr>
        <p:spPr>
          <a:xfrm>
            <a:off x="633679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anim4-418"/>
          <p:cNvSpPr txBox="1"/>
          <p:nvPr/>
        </p:nvSpPr>
        <p:spPr>
          <a:xfrm>
            <a:off x="5074920" y="3520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Carburant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Fuel › Add Fuel</a:t>
            </a:r>
            <a:endParaRPr lang="en-US" sz="1500" dirty="0"/>
          </a:p>
        </p:txBody>
      </p:sp>
      <p:sp>
        <p:nvSpPr>
          <p:cNvPr id="26" name="anim5-419"/>
          <p:cNvSpPr/>
          <p:nvPr/>
        </p:nvSpPr>
        <p:spPr>
          <a:xfrm>
            <a:off x="7680960" y="2240280"/>
            <a:ext cx="1097280" cy="10972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pic>
        <p:nvPicPr>
          <p:cNvPr id="27" name="anim5-42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712" y="2542032"/>
            <a:ext cx="493776" cy="493776"/>
          </a:xfrm>
          <a:prstGeom prst="rect">
            <a:avLst/>
          </a:prstGeom>
        </p:spPr>
      </p:pic>
      <p:sp>
        <p:nvSpPr>
          <p:cNvPr id="28" name="anim5-421"/>
          <p:cNvSpPr/>
          <p:nvPr/>
        </p:nvSpPr>
        <p:spPr>
          <a:xfrm>
            <a:off x="8485632" y="2148840"/>
            <a:ext cx="384048" cy="384048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9" name="anim5-422"/>
          <p:cNvSpPr txBox="1"/>
          <p:nvPr/>
        </p:nvSpPr>
        <p:spPr>
          <a:xfrm>
            <a:off x="84856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anim5-423"/>
          <p:cNvSpPr txBox="1"/>
          <p:nvPr/>
        </p:nvSpPr>
        <p:spPr>
          <a:xfrm>
            <a:off x="7223760" y="3520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Transaction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Accounts › Add Transactions</a:t>
            </a:r>
            <a:endParaRPr lang="en-US" sz="1500" dirty="0"/>
          </a:p>
        </p:txBody>
      </p:sp>
      <p:sp>
        <p:nvSpPr>
          <p:cNvPr id="31" name="anim6-424"/>
          <p:cNvSpPr/>
          <p:nvPr/>
        </p:nvSpPr>
        <p:spPr>
          <a:xfrm>
            <a:off x="9829800" y="2240280"/>
            <a:ext cx="1097280" cy="10972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pic>
        <p:nvPicPr>
          <p:cNvPr id="32" name="anim6-42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1552" y="2542032"/>
            <a:ext cx="493776" cy="493776"/>
          </a:xfrm>
          <a:prstGeom prst="rect">
            <a:avLst/>
          </a:prstGeom>
        </p:spPr>
      </p:pic>
      <p:sp>
        <p:nvSpPr>
          <p:cNvPr id="33" name="anim6-426"/>
          <p:cNvSpPr/>
          <p:nvPr/>
        </p:nvSpPr>
        <p:spPr>
          <a:xfrm>
            <a:off x="10634472" y="2148840"/>
            <a:ext cx="384048" cy="384048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4" name="anim6-427"/>
          <p:cNvSpPr txBox="1"/>
          <p:nvPr/>
        </p:nvSpPr>
        <p:spPr>
          <a:xfrm>
            <a:off x="1063447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anim6-428"/>
          <p:cNvSpPr txBox="1"/>
          <p:nvPr/>
        </p:nvSpPr>
        <p:spPr>
          <a:xfrm>
            <a:off x="9372600" y="3520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Tableau de bord et rapport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Dashboard · Reports</a:t>
            </a:r>
            <a:endParaRPr lang="en-US" sz="1500" dirty="0"/>
          </a:p>
        </p:txBody>
      </p:sp>
      <p:sp>
        <p:nvSpPr>
          <p:cNvPr id="36" name="anim7-429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37" name="anim7-430"/>
          <p:cNvSpPr/>
          <p:nvPr/>
        </p:nvSpPr>
        <p:spPr>
          <a:xfrm>
            <a:off x="777240" y="5074920"/>
            <a:ext cx="731520" cy="73152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anim7-43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435" y="5265115"/>
            <a:ext cx="351130" cy="351130"/>
          </a:xfrm>
          <a:prstGeom prst="rect">
            <a:avLst/>
          </a:prstGeom>
        </p:spPr>
      </p:pic>
      <p:sp>
        <p:nvSpPr>
          <p:cNvPr id="39" name="anim7-432"/>
          <p:cNvSpPr txBox="1"/>
          <p:nvPr/>
        </p:nvSpPr>
        <p:spPr>
          <a:xfrm>
            <a:off x="1737360" y="4846320"/>
            <a:ext cx="9692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Objectif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montrer qu'une seule saisie alimente tout le reste : le trajet apparaît dans le calendrier, le carburant et la transaction dans les finances, puis dans le tableau de bord et les rapports.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9" grpId="0" animBg="1"/>
      <p:bldP spid="20" grpId="0" animBg="1"/>
      <p:bldP spid="24" grpId="0" animBg="1"/>
      <p:bldP spid="25" grpId="0" animBg="1"/>
      <p:bldP spid="29" grpId="0" animBg="1"/>
      <p:bldP spid="30" grpId="0" animBg="1"/>
      <p:bldP spid="34" grpId="0" animBg="1"/>
      <p:bldP spid="35" grpId="0" animBg="1"/>
      <p:bldP spid="3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822960"/>
            <a:ext cx="3566160" cy="356616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3" name="anim1-43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60020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82880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Questions et échanges</a:t>
            </a:r>
            <a:endParaRPr lang="en-US" sz="4000" dirty="0"/>
          </a:p>
        </p:txBody>
      </p:sp>
      <p:sp>
        <p:nvSpPr>
          <p:cNvPr id="5" name="anim2-434"/>
          <p:cNvSpPr txBox="1"/>
          <p:nvPr/>
        </p:nvSpPr>
        <p:spPr>
          <a:xfrm>
            <a:off x="731520" y="370332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Merci de votre attention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463040" y="5669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Coûts de fonctionnement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731520" cy="731520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1328" y="384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645920" y="274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RÉSERVE</a:t>
            </a:r>
            <a:endParaRPr lang="en-US" sz="1000" dirty="0"/>
          </a:p>
        </p:txBody>
      </p:sp>
      <p:sp>
        <p:nvSpPr>
          <p:cNvPr id="7" name="anim1-435"/>
          <p:cNvSpPr/>
          <p:nvPr/>
        </p:nvSpPr>
        <p:spPr>
          <a:xfrm>
            <a:off x="548640" y="1463040"/>
            <a:ext cx="51206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8" name="anim1-436"/>
          <p:cNvSpPr/>
          <p:nvPr/>
        </p:nvSpPr>
        <p:spPr>
          <a:xfrm>
            <a:off x="777240" y="169164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anim1-43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834286"/>
            <a:ext cx="263347" cy="263347"/>
          </a:xfrm>
          <a:prstGeom prst="rect">
            <a:avLst/>
          </a:prstGeom>
        </p:spPr>
      </p:pic>
      <p:sp>
        <p:nvSpPr>
          <p:cNvPr id="10" name="anim1-438"/>
          <p:cNvSpPr txBox="1"/>
          <p:nvPr/>
        </p:nvSpPr>
        <p:spPr>
          <a:xfrm>
            <a:off x="1463040" y="16916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Hébergement du serveur</a:t>
            </a:r>
            <a:endParaRPr lang="en-US" sz="1600" dirty="0"/>
          </a:p>
        </p:txBody>
      </p:sp>
      <p:sp>
        <p:nvSpPr>
          <p:cNvPr id="11" name="anim1-439"/>
          <p:cNvSpPr txBox="1"/>
          <p:nvPr/>
        </p:nvSpPr>
        <p:spPr>
          <a:xfrm>
            <a:off x="777240" y="23774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100 000 FCFA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par an</a:t>
            </a:r>
            <a:endParaRPr lang="en-US" sz="1500" dirty="0"/>
          </a:p>
        </p:txBody>
      </p:sp>
      <p:sp>
        <p:nvSpPr>
          <p:cNvPr id="12" name="anim2-440"/>
          <p:cNvSpPr/>
          <p:nvPr/>
        </p:nvSpPr>
        <p:spPr>
          <a:xfrm>
            <a:off x="548640" y="3840480"/>
            <a:ext cx="51206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3" name="anim2-441"/>
          <p:cNvSpPr/>
          <p:nvPr/>
        </p:nvSpPr>
        <p:spPr>
          <a:xfrm>
            <a:off x="777240" y="406908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anim2-44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211726"/>
            <a:ext cx="263347" cy="263347"/>
          </a:xfrm>
          <a:prstGeom prst="rect">
            <a:avLst/>
          </a:prstGeom>
        </p:spPr>
      </p:pic>
      <p:sp>
        <p:nvSpPr>
          <p:cNvPr id="15" name="anim2-443"/>
          <p:cNvSpPr txBox="1"/>
          <p:nvPr/>
        </p:nvSpPr>
        <p:spPr>
          <a:xfrm>
            <a:off x="1463040" y="40690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Maintenance</a:t>
            </a:r>
            <a:endParaRPr lang="en-US" sz="1600" dirty="0"/>
          </a:p>
        </p:txBody>
      </p:sp>
      <p:sp>
        <p:nvSpPr>
          <p:cNvPr id="16" name="anim2-444"/>
          <p:cNvSpPr txBox="1"/>
          <p:nvPr/>
        </p:nvSpPr>
        <p:spPr>
          <a:xfrm>
            <a:off x="777240" y="4754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100 000 FCFA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par mois, formation des agents comprise</a:t>
            </a:r>
            <a:endParaRPr lang="en-US" sz="1500" dirty="0"/>
          </a:p>
        </p:txBody>
      </p:sp>
      <p:sp>
        <p:nvSpPr>
          <p:cNvPr id="17" name="anim3-445"/>
          <p:cNvSpPr txBox="1"/>
          <p:nvPr/>
        </p:nvSpPr>
        <p:spPr>
          <a:xfrm>
            <a:off x="6126480" y="1463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Calendrier de paiement de la maintenance</a:t>
            </a:r>
            <a:endParaRPr lang="en-US" sz="1700" dirty="0"/>
          </a:p>
        </p:txBody>
      </p:sp>
      <p:sp>
        <p:nvSpPr>
          <p:cNvPr id="18" name="anim3-446"/>
          <p:cNvSpPr/>
          <p:nvPr/>
        </p:nvSpPr>
        <p:spPr>
          <a:xfrm>
            <a:off x="6126480" y="2011680"/>
            <a:ext cx="553212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19" name="anim3-447"/>
          <p:cNvSpPr txBox="1"/>
          <p:nvPr/>
        </p:nvSpPr>
        <p:spPr>
          <a:xfrm>
            <a:off x="6355080" y="210312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Premier paiement : 300 000 FCFA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1er mois de maintenance + 2 mois payés d'avance (mois 2 et 3)</a:t>
            </a:r>
            <a:endParaRPr lang="en-US" sz="1500" dirty="0"/>
          </a:p>
        </p:txBody>
      </p:sp>
      <p:sp>
        <p:nvSpPr>
          <p:cNvPr id="20" name="anim4-448"/>
          <p:cNvSpPr/>
          <p:nvPr/>
        </p:nvSpPr>
        <p:spPr>
          <a:xfrm>
            <a:off x="8686800" y="3840480"/>
            <a:ext cx="411480" cy="411480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anim4-449"/>
          <p:cNvSpPr/>
          <p:nvPr/>
        </p:nvSpPr>
        <p:spPr>
          <a:xfrm>
            <a:off x="6126480" y="4343400"/>
            <a:ext cx="55321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27000" dist="38100" dir="5400000">
              <a:srgbClr val="1E2340">
                <a:alpha val="8000"/>
              </a:srgbClr>
            </a:outerShdw>
          </a:effectLst>
        </p:spPr>
      </p:sp>
      <p:sp>
        <p:nvSpPr>
          <p:cNvPr id="22" name="anim4-450"/>
          <p:cNvSpPr txBox="1"/>
          <p:nvPr/>
        </p:nvSpPr>
        <p:spPr>
          <a:xfrm>
            <a:off x="6355080" y="4434840"/>
            <a:ext cx="5120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À partir du 4ᵉ mois : 100 000 FCFA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réglés chaque mois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  <p:bldP spid="17" grpId="0" animBg="1"/>
      <p:bldP spid="19" grpId="0" animBg="1"/>
      <p:bldP spid="22" grpId="0" animBg="1"/>
    </p:bldLst>
  </p:timing>
</p:sld>
</file>

<file path=ppt/theme/theme1.xml><?xml version="1.0" encoding="utf-8"?>
<a:theme xmlns:a="http://schemas.openxmlformats.org/drawingml/2006/main" name="DTI">
  <a:themeElements>
    <a:clrScheme name="DTI">
      <a:dk1>
        <a:srgbClr val="1B2430"/>
      </a:dk1>
      <a:lt1>
        <a:srgbClr val="FFFFFF"/>
      </a:lt1>
      <a:dk2>
        <a:srgbClr val="1E2340"/>
      </a:dk2>
      <a:lt2>
        <a:srgbClr val="EEF2FA"/>
      </a:lt2>
      <a:accent1>
        <a:srgbClr val="3B5BA9"/>
      </a:accent1>
      <a:accent2>
        <a:srgbClr val="A9BCEB"/>
      </a:accent2>
      <a:accent3>
        <a:srgbClr val="3F8A6A"/>
      </a:accent3>
      <a:accent4>
        <a:srgbClr val="C60007"/>
      </a:accent4>
      <a:accent5>
        <a:srgbClr val="6B7584"/>
      </a:accent5>
      <a:accent6>
        <a:srgbClr val="E1E6F0"/>
      </a:accent6>
      <a:hlink>
        <a:srgbClr val="3B5BA9"/>
      </a:hlink>
      <a:folHlink>
        <a:srgbClr val="6B7584"/>
      </a:folHlink>
    </a:clrScheme>
    <a:fontScheme name="DT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Division Terrestre Internationale</dc:title>
  <dc:subject>PptxGenJS Presentation</dc:subject>
  <dc:creator>PptxGenJS</dc:creator>
  <cp:lastModifiedBy>PptxGenJS</cp:lastModifiedBy>
  <cp:revision>1</cp:revision>
  <dcterms:created xsi:type="dcterms:W3CDTF">2026-10-30T02:19:21Z</dcterms:created>
  <dcterms:modified xsi:type="dcterms:W3CDTF">2026-10-30T02:19:21Z</dcterms:modified>
</cp:coreProperties>
</file>