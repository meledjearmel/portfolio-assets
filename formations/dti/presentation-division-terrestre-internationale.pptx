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4afbebf-a4f8-dd5b-9357-5db53a0884e4}">
          <p14:sldIdLst>
            <p14:sldId id="256"/>
            <p14:sldId id="257"/>
            <p14:sldId id="258"/>
            <p14:sldId id="259"/>
          </p14:sldIdLst>
        </p14:section>
        <p14:section name="Pilotage" id="{e6fa4f38-3ff9-56f1-ca7a-7a93ea45da73}">
          <p14:sldIdLst>
            <p14:sldId id="260"/>
          </p14:sldIdLst>
        </p14:section>
        <p14:section name="Flotte" id="{ffc1b6ee-16da-96db-26c3-13d36714bd62}">
          <p14:sldIdLst>
            <p14:sldId id="261"/>
            <p14:sldId id="262"/>
            <p14:sldId id="263"/>
          </p14:sldIdLst>
        </p14:section>
        <p14:section name="Activité commerciale" id="{14efabe4-3439-30c2-896b-350b41376110}">
          <p14:sldIdLst>
            <p14:sldId id="264"/>
          </p14:sldIdLst>
        </p14:section>
        <p14:section name="Exploitation" id="{578e3184-7555-61f0-ac3a-fc963f04722e}">
          <p14:sldIdLst>
            <p14:sldId id="265"/>
            <p14:sldId id="266"/>
          </p14:sldIdLst>
        </p14:section>
        <p14:section name="Finances et pilotage" id="{73d602ac-45f9-1694-81ab-372c0f2bcc46}">
          <p14:sldIdLst>
            <p14:sldId id="267"/>
            <p14:sldId id="268"/>
          </p14:sldIdLst>
        </p14:section>
        <p14:section name="Administration" id="{4c49b34a-2062-152a-45c8-d55b85fae877}">
          <p14:sldIdLst>
            <p14:sldId id="269"/>
            <p14:sldId id="270"/>
          </p14:sldIdLst>
        </p14:section>
        <p14:section name="Bonnes pratiques" id="{a11a6cec-9f64-6492-8a7c-25d8f27e563c}">
          <p14:sldIdLst>
            <p14:sldId id="271"/>
            <p14:sldId id="272"/>
            <p14:sldId id="273"/>
            <p14:sldId id="274"/>
            <p14:sldId id="275"/>
            <p14:sldId id="276"/>
          </p14:sldIdLst>
        </p14:section>
        <p14:section name="Conclusion" id="{2de2cb54-f8b4-8e92-8a36-095a5b17dc7c}">
          <p14:sldIdLst>
            <p14:sldId id="277"/>
            <p14:sldId id="278"/>
            <p14:sldId id="279"/>
            <p14:sldId id="280"/>
          </p14:sldIdLst>
        </p14:section>
        <p14:section name="Réserve" id="{e7b72ef9-92fd-96b2-ff9b-d47989b8f844}">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Accueillir les participants (agents et direction). Rappeler que l'entreprise utilise déjà Division Terrestre Internationale : l'objectif de la séance est de bien l'utiliser au quotidien. Déroulé : tour des modules, bonnes pratiques (sécurité, confidentialité, qualité des données), démonstration en direct d'un circuit de travail, puis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logiciel est déjà en place : sa valeur dépend de la façon dont chacun l'utilise. Demander aux participants : aujourd'hui, toutes les informations sont-elles bien saisies ? Montrer qu'une saisie incomplète fait perdre les alertes et fausse les chiffres. Annoncer la suite : le tour des modules, puis les bonnes pratiques et une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la carte du logiciel : 18 modules dans le menu latéral, regroupés ici en 6 familles pour faciliter la lecture. Les libellés restent en anglais dans l'application : on les garde tels quels pour que chacun s'y retrouve à l'écran. Chaque famille est détaillée dans les diapositives suivantes.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Raconter le parcours d'un trajet comme une histoire : un client appelle, on réserve un camion disponible avec un chauffeur, le camion roule et on le suit, il fait le plein, il passe à l'entretien, on encaisse, puis on analyse la rentabilité. Annoncer que chaque étape correspond à un module présenté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le tableau de bord en direct pendant la démonstration. Insister sur le calendrier Availability : c'est le premier réflexe avant de planifier un trajet.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Points à montrer : la colonne des dates d'expiration en rouge, l'import en masse (Bulk Import), et les boutons d'export présents sur toutes les listes du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la sécurité et la conformité : un permis expiré est affiché en rouge dans la liste. Les fournisseurs de véhicules (Vehicle Vendor's) concernent les véhicules loués à des partenaires.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que le suivi GPS nécessite un boîtier GPS relié à chaque véhicule (synchronisation Traccar, visible sur le tableau de bord). Montrer la carte de l'historique si un véhicule est équipé.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la souplesse de facturation (encart en bas). La réservation peut être envoyée au client par e-mail ou SMS. Ce module servira de point de départ à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qu'un entretien consomme des pièces du stock et peut notifier des membres de l'équipe. Les rappels apparaissent aussi sur le tableau de bord.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compteur kilométrique saisi à chaque plein permet de comparer consommation et distance. Le rapport Fuel du module Reports reprend ces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liste des transactions filtrée par période, avec le total des débits et des crédits. Les catégories sont personnalisables : à définir avec la direction financière.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direction : les rapports Top véhicules et Top itinéraires montrent où l'entreprise gagne et perd de l'argent. Pour les agents : les rapports remplacent les synthèses faites à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droits se règlent finement, module par module et action par action. Les profils (exploitation, finance, direction…) seront définis avec l'organisation avant la mise en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paramètres sont réservés à l'administrateur. Mentionner aussi la configuration de la carte (MAP API) et du GPS (Traccar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Passer de la découverte à l'usage au quotidien. Message clé : le logiciel est déjà en place et protège l'accès, mais la plupart des incidents viennent de gestes simples (mot de passe partagé, export envoyé au mauvais endroit, saisie oubliée). Chaque participant repart avec quelques réflexes concrets.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la salle : qui a déjà prêté son mot de passe ? Expliquer que chaque transaction affiche son auteur : si un compte est partagé, on ne sait plus qui a fait quoi. Rappeler qu'aucun service ne demandera jamais un mot de passe par téléphone, e-mail ou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les exports et les captures d'écran : une fois sortie du logiciel, l'information n'est plus protégée par les droits d'accès. Donner un exemple : une liste de clients envoyée par erreur dans un groupe 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Exemple concret à montrer : la catégorie « Trip Income » existe deux fois dans l'application, ce qui disperse les revenus entre deux lignes. Proposer un référent qualité par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Préciser à qui s'adresser dans l'entreprise (administrateur ou responsable). Insister sur le fait que signaler une erreur ou un incident est un bon réflexe, jamais une faute.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1) FAUX, chaque action est enregistrée au nom du titulaire du compte. 2) FAUX, les données des clients sont confidentielles et sortent alors de toute protection. 3) VRAI, la saisie au fil de l'eau garantit des chiffres justes. 4) VRAI, le jour même de son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respiration avant la synthèse : laisser les chiffres apparaître un à un et les commenter brièvement.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Répartir clairement les rôles avant la démonstration. Demander à chacun de citer l'action qu'il fera dès demain dans le logiciel.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DÉROULÉ : 1) créer un client fictif ; 2) créer un trajet pour ce client avec un véhicule et un chauffeur, choisir un mode de facturation ; 3) enregistrer un plein pour ce véhicule ; 4) enregistrer la transaction de revenu du trajet (catégorie Trip Income) ; 5) revenir au tableau de bord et générer un rapport sur la période. Utiliser uniquement des données de test, et les supprimer après la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Recueillir les questions et les besoins : modules prioritaires, profils de droits à créer, données à importer (véhicules, chauffeurs), formation des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MASQUÉE : elle ne s'affiche pas pendant le diaporama. Pour l'afficher si la direction pose la question, taper 26 puis Entrée pendant le diaporama. Ne présenter que ces montants, sans autres frais.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OMB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PAC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U-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OMB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MPAC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446520"/>
            <a:ext cx="201168" cy="201168"/>
          </a:xfrm>
          <a:prstGeom prst="rect">
            <a:avLst/>
          </a:prstGeom>
        </p:spPr>
      </p:pic>
      <p:sp>
        <p:nvSpPr>
          <p:cNvPr id="3" name="Text 0"/>
          <p:cNvSpPr/>
          <p:nvPr/>
        </p:nvSpPr>
        <p:spPr>
          <a:xfrm>
            <a:off x="822960" y="6400800"/>
            <a:ext cx="7315200" cy="274320"/>
          </a:xfrm>
          <a:prstGeom prst="rect">
            <a:avLst/>
          </a:prstGeom>
          <a:noFill/>
          <a:ln/>
        </p:spPr>
        <p:txBody>
          <a:bodyPr wrap="square" rtlCol="0" anchor="ctr"/>
          <a:lstStyle/>
          <a:p>
            <a:pPr indent="0" marL="0">
              <a:buNone/>
            </a:pPr>
            <a:r>
              <a:rPr lang="en-US" sz="1000" dirty="0">
                <a:solidFill>
                  <a:schemeClr val="accent5"/>
                </a:solidFill>
              </a:rPr>
              <a:t>Division Terrestre Internationale</a:t>
            </a:r>
            <a:endParaRPr lang="en-US" sz="1000" dirty="0"/>
          </a:p>
        </p:txBody>
      </p:sp>
      <p:sp>
        <p:nvSpPr>
          <p:cNvPr id="4" name="Text 1"/>
          <p:cNvSpPr/>
          <p:nvPr>
            <p:ph idx="102" type="title" hasCustomPrompt="1"/>
          </p:nvPr>
        </p:nvSpPr>
        <p:spPr>
          <a:xfrm>
            <a:off x="1463040" y="566928"/>
            <a:ext cx="101498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4.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4.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4.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4.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4.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4.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4.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4.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4.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image" Target="../media/image-13-11.png"/><Relationship Id="rId12" Type="http://schemas.openxmlformats.org/officeDocument/2006/relationships/image" Target="../media/image-13-12.png"/><Relationship Id="rId13" Type="http://schemas.openxmlformats.org/officeDocument/2006/relationships/slideLayout" Target="../slideLayouts/slideLayout4.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4.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4.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4.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4.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4.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4.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412480" y="822960"/>
            <a:ext cx="3566160" cy="3566160"/>
          </a:xfrm>
          <a:prstGeom prst="ellipse">
            <a:avLst/>
          </a:prstGeom>
          <a:solidFill>
            <a:schemeClr val="accent1">
              <a:alpha val="45000"/>
            </a:schemeClr>
          </a:solidFill>
          <a:ln w="12700">
            <a:solidFill>
              <a:schemeClr val="accent2">
                <a:alpha val="40000"/>
              </a:schemeClr>
            </a:solidFill>
            <a:prstDash val="solid"/>
          </a:ln>
        </p:spPr>
      </p:sp>
      <p:pic>
        <p:nvPicPr>
          <p:cNvPr id="3" name="anim1-1" descr="preencoded.png">    </p:cNvPr>
          <p:cNvPicPr>
            <a:picLocks noChangeAspect="1"/>
          </p:cNvPicPr>
          <p:nvPr/>
        </p:nvPicPr>
        <p:blipFill>
          <a:blip r:embed="rId1"/>
          <a:stretch>
            <a:fillRect/>
          </a:stretch>
        </p:blipFill>
        <p:spPr>
          <a:xfrm>
            <a:off x="9189720" y="1600200"/>
            <a:ext cx="2011680" cy="2011680"/>
          </a:xfrm>
          <a:prstGeom prst="rect">
            <a:avLst/>
          </a:prstGeom>
        </p:spPr>
      </p:pic>
      <p:sp>
        <p:nvSpPr>
          <p:cNvPr id="4" name="Shape 1"/>
          <p:cNvSpPr/>
          <p:nvPr/>
        </p:nvSpPr>
        <p:spPr>
          <a:xfrm>
            <a:off x="731520" y="1417320"/>
            <a:ext cx="109728" cy="109728"/>
          </a:xfrm>
          <a:prstGeom prst="ellipse">
            <a:avLst/>
          </a:prstGeom>
          <a:solidFill>
            <a:schemeClr val="accent4"/>
          </a:solidFill>
          <a:ln w="12700">
            <a:solidFill>
              <a:schemeClr val="accent4"/>
            </a:solidFill>
            <a:prstDash val="solid"/>
          </a:ln>
        </p:spPr>
      </p:sp>
      <p:sp>
        <p:nvSpPr>
          <p:cNvPr id="5" name="Text 2"/>
          <p:cNvSpPr txBox="1"/>
          <p:nvPr/>
        </p:nvSpPr>
        <p:spPr>
          <a:xfrm>
            <a:off x="914400" y="1325880"/>
            <a:ext cx="5486400" cy="292608"/>
          </a:xfrm>
          <a:prstGeom prst="rect">
            <a:avLst/>
          </a:prstGeom>
          <a:noFill/>
          <a:ln/>
        </p:spPr>
        <p:txBody>
          <a:bodyPr wrap="square" lIns="0" tIns="0" rIns="0" bIns="0" rtlCol="0" anchor="ctr"/>
          <a:lstStyle/>
          <a:p>
            <a:pPr indent="0" marL="0">
              <a:buNone/>
            </a:pPr>
            <a:r>
              <a:rPr lang="en-US" sz="1200" b="1" spc="300" kern="0" dirty="0">
                <a:solidFill>
                  <a:schemeClr val="accent2"/>
                </a:solidFill>
              </a:rPr>
              <a:t>PRISE EN MAIN DU LOGICIEL</a:t>
            </a:r>
            <a:endParaRPr lang="en-US" sz="1200" dirty="0"/>
          </a:p>
        </p:txBody>
      </p:sp>
      <p:sp>
        <p:nvSpPr>
          <p:cNvPr id="6" name="Text 0"/>
          <p:cNvSpPr/>
          <p:nvPr>
            <p:ph idx="100" type="title" hasCustomPrompt="1"/>
          </p:nvPr>
        </p:nvSpPr>
        <p:spPr>
          <a:xfrm>
            <a:off x="731520" y="1828800"/>
            <a:ext cx="6583680" cy="1737360"/>
          </a:xfrm>
          <a:prstGeom prst="rect">
            <a:avLst/>
          </a:prstGeom>
          <a:noFill/>
          <a:ln/>
        </p:spPr>
        <p:txBody>
          <a:bodyPr wrap="square" rtlCol="0" anchor="b"/>
          <a:lstStyle/>
          <a:p>
            <a:pPr algn="l" indent="0" marL="0">
              <a:buNone/>
            </a:pPr>
            <a:r>
              <a:rPr lang="en-US" sz="4000" b="1" dirty="0">
                <a:solidFill>
                  <a:schemeClr val="bg1"/>
                </a:solidFill>
              </a:rPr>
              <a:t>Division Terrestre Internationale</a:t>
            </a:r>
            <a:endParaRPr lang="en-US" sz="4000" dirty="0"/>
          </a:p>
        </p:txBody>
      </p:sp>
      <p:sp>
        <p:nvSpPr>
          <p:cNvPr id="7" name="anim2-2"/>
          <p:cNvSpPr txBox="1"/>
          <p:nvPr/>
        </p:nvSpPr>
        <p:spPr>
          <a:xfrm>
            <a:off x="731520" y="3703320"/>
            <a:ext cx="6583680" cy="822960"/>
          </a:xfrm>
          <a:prstGeom prst="rect">
            <a:avLst/>
          </a:prstGeom>
          <a:noFill/>
          <a:ln/>
        </p:spPr>
        <p:txBody>
          <a:bodyPr wrap="square" rtlCol="0" anchor="t"/>
          <a:lstStyle/>
          <a:p>
            <a:pPr indent="0" marL="0">
              <a:buNone/>
            </a:pPr>
            <a:r>
              <a:rPr lang="en-US" sz="2000" dirty="0">
                <a:solidFill>
                  <a:schemeClr val="accent2"/>
                </a:solidFill>
              </a:rPr>
              <a:t>Gestion de la flotte, des chauffeurs, des trajets et des finances</a:t>
            </a:r>
            <a:endParaRPr lang="en-US" sz="2000" dirty="0"/>
          </a:p>
        </p:txBody>
      </p:sp>
      <p:sp>
        <p:nvSpPr>
          <p:cNvPr id="8" name="anim3-3"/>
          <p:cNvSpPr/>
          <p:nvPr/>
        </p:nvSpPr>
        <p:spPr>
          <a:xfrm>
            <a:off x="731520" y="4937760"/>
            <a:ext cx="640080" cy="640080"/>
          </a:xfrm>
          <a:prstGeom prst="roundRect">
            <a:avLst>
              <a:gd name="adj" fmla="val 22000"/>
            </a:avLst>
          </a:prstGeom>
          <a:solidFill>
            <a:schemeClr val="accent1"/>
          </a:solidFill>
          <a:ln w="12700">
            <a:solidFill>
              <a:schemeClr val="accent1"/>
            </a:solidFill>
            <a:prstDash val="solid"/>
          </a:ln>
        </p:spPr>
      </p:sp>
      <p:pic>
        <p:nvPicPr>
          <p:cNvPr id="9" name="anim3-4" descr="preencoded.png">    </p:cNvPr>
          <p:cNvPicPr>
            <a:picLocks noChangeAspect="1"/>
          </p:cNvPicPr>
          <p:nvPr/>
        </p:nvPicPr>
        <p:blipFill>
          <a:blip r:embed="rId2"/>
          <a:stretch>
            <a:fillRect/>
          </a:stretch>
        </p:blipFill>
        <p:spPr>
          <a:xfrm>
            <a:off x="897941" y="5104181"/>
            <a:ext cx="307238" cy="307238"/>
          </a:xfrm>
          <a:prstGeom prst="rect">
            <a:avLst/>
          </a:prstGeom>
        </p:spPr>
      </p:pic>
      <p:sp>
        <p:nvSpPr>
          <p:cNvPr id="10" name="anim3-5"/>
          <p:cNvSpPr txBox="1"/>
          <p:nvPr/>
        </p:nvSpPr>
        <p:spPr>
          <a:xfrm>
            <a:off x="1554480" y="4846320"/>
            <a:ext cx="4206240" cy="1005840"/>
          </a:xfrm>
          <a:prstGeom prst="rect">
            <a:avLst/>
          </a:prstGeom>
          <a:noFill/>
          <a:ln/>
        </p:spPr>
        <p:txBody>
          <a:bodyPr wrap="square" lIns="0" tIns="0" rIns="0" bIns="0" rtlCol="0" anchor="ctr"/>
          <a:lstStyle/>
          <a:p>
            <a:pPr indent="0" marL="0">
              <a:buNone/>
            </a:pPr>
            <a:r>
              <a:rPr lang="en-US" sz="1000" b="1" spc="200" kern="0" dirty="0">
                <a:solidFill>
                  <a:schemeClr val="accent2"/>
                </a:solidFill>
              </a:rPr>
              <a:t>PRÉSENTÉ PAR</a:t>
            </a:r>
            <a:endParaRPr lang="en-US" sz="1500" dirty="0"/>
          </a:p>
          <a:p>
            <a:pPr indent="0" marL="0">
              <a:buNone/>
            </a:pPr>
            <a:r>
              <a:rPr lang="en-US" sz="1900" b="1" dirty="0">
                <a:solidFill>
                  <a:schemeClr val="bg1"/>
                </a:solidFill>
              </a:rPr>
              <a:t>Armel Meledje</a:t>
            </a:r>
            <a:endParaRPr lang="en-US" sz="1500" dirty="0"/>
          </a:p>
          <a:p>
            <a:pPr indent="0" marL="0">
              <a:buNone/>
            </a:pPr>
            <a:r>
              <a:rPr lang="en-US" sz="1300" dirty="0">
                <a:solidFill>
                  <a:schemeClr val="accent2"/>
                </a:solidFill>
              </a:rPr>
              <a:t>Développeur Senior – Ingénieur de conception</a:t>
            </a:r>
            <a:endParaRPr lang="en-US" sz="1500" dirty="0"/>
          </a:p>
        </p:txBody>
      </p:sp>
      <p:sp>
        <p:nvSpPr>
          <p:cNvPr id="11" name="anim4-6"/>
          <p:cNvSpPr/>
          <p:nvPr/>
        </p:nvSpPr>
        <p:spPr>
          <a:xfrm>
            <a:off x="5623560" y="4937760"/>
            <a:ext cx="0" cy="822960"/>
          </a:xfrm>
          <a:prstGeom prst="line">
            <a:avLst/>
          </a:prstGeom>
          <a:noFill/>
          <a:ln w="12700">
            <a:solidFill>
              <a:srgbClr val="A9BCEB">
                <a:alpha val="50000"/>
              </a:srgbClr>
            </a:solidFill>
            <a:prstDash val="solid"/>
          </a:ln>
        </p:spPr>
      </p:sp>
      <p:sp>
        <p:nvSpPr>
          <p:cNvPr id="12" name="anim4-7"/>
          <p:cNvSpPr/>
          <p:nvPr/>
        </p:nvSpPr>
        <p:spPr>
          <a:xfrm>
            <a:off x="5852160" y="4937760"/>
            <a:ext cx="640080" cy="640080"/>
          </a:xfrm>
          <a:prstGeom prst="roundRect">
            <a:avLst>
              <a:gd name="adj" fmla="val 22000"/>
            </a:avLst>
          </a:prstGeom>
          <a:solidFill>
            <a:schemeClr val="accent1"/>
          </a:solidFill>
          <a:ln w="12700">
            <a:solidFill>
              <a:schemeClr val="accent1"/>
            </a:solidFill>
            <a:prstDash val="solid"/>
          </a:ln>
        </p:spPr>
      </p:sp>
      <p:pic>
        <p:nvPicPr>
          <p:cNvPr id="13" name="anim4-8" descr="preencoded.png">    </p:cNvPr>
          <p:cNvPicPr>
            <a:picLocks noChangeAspect="1"/>
          </p:cNvPicPr>
          <p:nvPr/>
        </p:nvPicPr>
        <p:blipFill>
          <a:blip r:embed="rId3"/>
          <a:stretch>
            <a:fillRect/>
          </a:stretch>
        </p:blipFill>
        <p:spPr>
          <a:xfrm>
            <a:off x="6018581" y="5104181"/>
            <a:ext cx="307238" cy="307238"/>
          </a:xfrm>
          <a:prstGeom prst="rect">
            <a:avLst/>
          </a:prstGeom>
        </p:spPr>
      </p:pic>
      <p:sp>
        <p:nvSpPr>
          <p:cNvPr id="14" name="anim4-9"/>
          <p:cNvSpPr txBox="1"/>
          <p:nvPr/>
        </p:nvSpPr>
        <p:spPr>
          <a:xfrm>
            <a:off x="6675120" y="4846320"/>
            <a:ext cx="2743200" cy="1005840"/>
          </a:xfrm>
          <a:prstGeom prst="rect">
            <a:avLst/>
          </a:prstGeom>
          <a:noFill/>
          <a:ln/>
        </p:spPr>
        <p:txBody>
          <a:bodyPr wrap="square" lIns="0" tIns="0" rIns="0" bIns="0" rtlCol="0" anchor="ctr"/>
          <a:lstStyle/>
          <a:p>
            <a:pPr indent="0" marL="0">
              <a:buNone/>
            </a:pPr>
            <a:r>
              <a:rPr lang="en-US" sz="1000" b="1" spc="200" kern="0" dirty="0">
                <a:solidFill>
                  <a:schemeClr val="accent2"/>
                </a:solidFill>
              </a:rPr>
              <a:t>DATE</a:t>
            </a:r>
            <a:endParaRPr lang="en-US" sz="1500" dirty="0"/>
          </a:p>
          <a:p>
            <a:pPr indent="0" marL="0">
              <a:buNone/>
            </a:pPr>
            <a:r>
              <a:rPr lang="en-US" sz="1700" b="1" dirty="0">
                <a:solidFill>
                  <a:schemeClr val="bg1"/>
                </a:solidFill>
              </a:rPr>
              <a:t>Vendredi 30 octobre 2026</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1"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500"/>
                                        <p:tgtEl>
                                          <p:spTgt spid="7"/>
                                        </p:tgtEl>
                                      </p:cBhvr>
                                    </p:animEffect>
                                  </p:childTnLst>
                                </p:cTn>
                              </p:par>
                              <p:par>
                                <p:cTn id="9" presetID="10" presetClass="entr" presetSubtype="0" fill="hold" nodeType="withEffect">
                                  <p:stCondLst>
                                    <p:cond delay="50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childTnLst>
                                </p:cTn>
                              </p:par>
                              <p:par>
                                <p:cTn id="12" presetID="10" presetClass="entr" presetSubtype="0" fill="hold" nodeType="withEffect">
                                  <p:stCondLst>
                                    <p:cond delay="5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10" presetClass="entr" presetSubtype="0" fill="hold" nodeType="withEffect">
                                  <p:stCondLst>
                                    <p:cond delay="50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par>
                                <p:cTn id="18" presetID="10" presetClass="entr" presetSubtype="0" fill="hold" nodeType="withEffect">
                                  <p:stCondLst>
                                    <p:cond delay="7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nodeType="withEffect">
                                  <p:stCondLst>
                                    <p:cond delay="7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par>
                                <p:cTn id="24" presetID="10" presetClass="entr" presetSubtype="0" fill="hold" nodeType="withEffect">
                                  <p:stCondLst>
                                    <p:cond delay="75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par>
                                <p:cTn id="27" presetID="10" presetClass="entr" presetSubtype="0" fill="hold" nodeType="withEffect">
                                  <p:stCondLst>
                                    <p:cond delay="75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1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Pourquoi bien l'utiliser au quotidien ?</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10"/>
          <p:cNvSpPr txBox="1"/>
          <p:nvPr/>
        </p:nvSpPr>
        <p:spPr>
          <a:xfrm>
            <a:off x="548640" y="1371600"/>
            <a:ext cx="5120640" cy="411480"/>
          </a:xfrm>
          <a:prstGeom prst="rect">
            <a:avLst/>
          </a:prstGeom>
          <a:noFill/>
          <a:ln/>
        </p:spPr>
        <p:txBody>
          <a:bodyPr wrap="square" rtlCol="0" anchor="t"/>
          <a:lstStyle/>
          <a:p>
            <a:pPr indent="0" marL="0">
              <a:buNone/>
            </a:pPr>
            <a:r>
              <a:rPr lang="en-US" sz="1900" b="1" dirty="0">
                <a:solidFill>
                  <a:schemeClr val="accent5"/>
                </a:solidFill>
              </a:rPr>
              <a:t>Quand la saisie est incomplète</a:t>
            </a:r>
            <a:endParaRPr lang="en-US" sz="1900" dirty="0"/>
          </a:p>
        </p:txBody>
      </p:sp>
      <p:sp>
        <p:nvSpPr>
          <p:cNvPr id="8" name="anim2-11"/>
          <p:cNvSpPr/>
          <p:nvPr/>
        </p:nvSpPr>
        <p:spPr>
          <a:xfrm>
            <a:off x="548640" y="187452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2-12"/>
          <p:cNvSpPr/>
          <p:nvPr/>
        </p:nvSpPr>
        <p:spPr>
          <a:xfrm>
            <a:off x="749808" y="2075688"/>
            <a:ext cx="548640" cy="548640"/>
          </a:xfrm>
          <a:prstGeom prst="roundRect">
            <a:avLst>
              <a:gd name="adj" fmla="val 22000"/>
            </a:avLst>
          </a:prstGeom>
          <a:solidFill>
            <a:schemeClr val="bg2"/>
          </a:solidFill>
          <a:ln w="12700">
            <a:solidFill>
              <a:schemeClr val="bg2"/>
            </a:solidFill>
            <a:prstDash val="solid"/>
          </a:ln>
        </p:spPr>
      </p:sp>
      <p:pic>
        <p:nvPicPr>
          <p:cNvPr id="10" name="anim2-13" descr="preencoded.png">    </p:cNvPr>
          <p:cNvPicPr>
            <a:picLocks noChangeAspect="1"/>
          </p:cNvPicPr>
          <p:nvPr/>
        </p:nvPicPr>
        <p:blipFill>
          <a:blip r:embed="rId2"/>
          <a:stretch>
            <a:fillRect/>
          </a:stretch>
        </p:blipFill>
        <p:spPr>
          <a:xfrm>
            <a:off x="892454" y="2218334"/>
            <a:ext cx="263347" cy="263347"/>
          </a:xfrm>
          <a:prstGeom prst="rect">
            <a:avLst/>
          </a:prstGeom>
        </p:spPr>
      </p:pic>
      <p:sp>
        <p:nvSpPr>
          <p:cNvPr id="11" name="anim2-14"/>
          <p:cNvSpPr txBox="1"/>
          <p:nvPr/>
        </p:nvSpPr>
        <p:spPr>
          <a:xfrm>
            <a:off x="1444752" y="200253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Informations introuvables</a:t>
            </a:r>
            <a:endParaRPr lang="en-US" sz="1500" dirty="0"/>
          </a:p>
          <a:p>
            <a:pPr indent="0" marL="0">
              <a:buNone/>
            </a:pPr>
            <a:r>
              <a:rPr lang="en-US" sz="1400" dirty="0">
                <a:solidFill>
                  <a:schemeClr val="tx1"/>
                </a:solidFill>
              </a:rPr>
              <a:t>Restées dans un cahier ou un tableur, elles ne servent à personne d'autre.</a:t>
            </a:r>
            <a:endParaRPr lang="en-US" sz="1500" dirty="0"/>
          </a:p>
        </p:txBody>
      </p:sp>
      <p:sp>
        <p:nvSpPr>
          <p:cNvPr id="12" name="anim3-15"/>
          <p:cNvSpPr/>
          <p:nvPr/>
        </p:nvSpPr>
        <p:spPr>
          <a:xfrm>
            <a:off x="548640" y="333756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3-16"/>
          <p:cNvSpPr/>
          <p:nvPr/>
        </p:nvSpPr>
        <p:spPr>
          <a:xfrm>
            <a:off x="749808" y="3538728"/>
            <a:ext cx="548640" cy="548640"/>
          </a:xfrm>
          <a:prstGeom prst="roundRect">
            <a:avLst>
              <a:gd name="adj" fmla="val 22000"/>
            </a:avLst>
          </a:prstGeom>
          <a:solidFill>
            <a:schemeClr val="bg2"/>
          </a:solidFill>
          <a:ln w="12700">
            <a:solidFill>
              <a:schemeClr val="bg2"/>
            </a:solidFill>
            <a:prstDash val="solid"/>
          </a:ln>
        </p:spPr>
      </p:sp>
      <p:pic>
        <p:nvPicPr>
          <p:cNvPr id="14" name="anim3-17" descr="preencoded.png">    </p:cNvPr>
          <p:cNvPicPr>
            <a:picLocks noChangeAspect="1"/>
          </p:cNvPicPr>
          <p:nvPr/>
        </p:nvPicPr>
        <p:blipFill>
          <a:blip r:embed="rId3"/>
          <a:stretch>
            <a:fillRect/>
          </a:stretch>
        </p:blipFill>
        <p:spPr>
          <a:xfrm>
            <a:off x="892454" y="3681374"/>
            <a:ext cx="263347" cy="263347"/>
          </a:xfrm>
          <a:prstGeom prst="rect">
            <a:avLst/>
          </a:prstGeom>
        </p:spPr>
      </p:pic>
      <p:sp>
        <p:nvSpPr>
          <p:cNvPr id="15" name="anim3-18"/>
          <p:cNvSpPr txBox="1"/>
          <p:nvPr/>
        </p:nvSpPr>
        <p:spPr>
          <a:xfrm>
            <a:off x="1444752" y="346557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Aucune alerte</a:t>
            </a:r>
            <a:endParaRPr lang="en-US" sz="1500" dirty="0"/>
          </a:p>
          <a:p>
            <a:pPr indent="0" marL="0">
              <a:buNone/>
            </a:pPr>
            <a:r>
              <a:rPr lang="en-US" sz="1400" dirty="0">
                <a:solidFill>
                  <a:schemeClr val="tx1"/>
                </a:solidFill>
              </a:rPr>
              <a:t>Une date d'expiration non saisie, c'est une assurance ou un permis qui expire sans prévenir.</a:t>
            </a:r>
            <a:endParaRPr lang="en-US" sz="1500" dirty="0"/>
          </a:p>
        </p:txBody>
      </p:sp>
      <p:sp>
        <p:nvSpPr>
          <p:cNvPr id="16" name="anim4-19"/>
          <p:cNvSpPr/>
          <p:nvPr/>
        </p:nvSpPr>
        <p:spPr>
          <a:xfrm>
            <a:off x="548640" y="4800600"/>
            <a:ext cx="512064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4-20"/>
          <p:cNvSpPr/>
          <p:nvPr/>
        </p:nvSpPr>
        <p:spPr>
          <a:xfrm>
            <a:off x="749808" y="5001768"/>
            <a:ext cx="548640" cy="548640"/>
          </a:xfrm>
          <a:prstGeom prst="roundRect">
            <a:avLst>
              <a:gd name="adj" fmla="val 22000"/>
            </a:avLst>
          </a:prstGeom>
          <a:solidFill>
            <a:schemeClr val="bg2"/>
          </a:solidFill>
          <a:ln w="12700">
            <a:solidFill>
              <a:schemeClr val="bg2"/>
            </a:solidFill>
            <a:prstDash val="solid"/>
          </a:ln>
        </p:spPr>
      </p:sp>
      <p:pic>
        <p:nvPicPr>
          <p:cNvPr id="18" name="anim4-21" descr="preencoded.png">    </p:cNvPr>
          <p:cNvPicPr>
            <a:picLocks noChangeAspect="1"/>
          </p:cNvPicPr>
          <p:nvPr/>
        </p:nvPicPr>
        <p:blipFill>
          <a:blip r:embed="rId4"/>
          <a:stretch>
            <a:fillRect/>
          </a:stretch>
        </p:blipFill>
        <p:spPr>
          <a:xfrm>
            <a:off x="892454" y="5144414"/>
            <a:ext cx="263347" cy="263347"/>
          </a:xfrm>
          <a:prstGeom prst="rect">
            <a:avLst/>
          </a:prstGeom>
        </p:spPr>
      </p:pic>
      <p:sp>
        <p:nvSpPr>
          <p:cNvPr id="19" name="anim4-22"/>
          <p:cNvSpPr txBox="1"/>
          <p:nvPr/>
        </p:nvSpPr>
        <p:spPr>
          <a:xfrm>
            <a:off x="1444752" y="4928616"/>
            <a:ext cx="4069080" cy="1024128"/>
          </a:xfrm>
          <a:prstGeom prst="rect">
            <a:avLst/>
          </a:prstGeom>
          <a:noFill/>
          <a:ln/>
        </p:spPr>
        <p:txBody>
          <a:bodyPr wrap="square" rtlCol="0" anchor="t"/>
          <a:lstStyle/>
          <a:p>
            <a:pPr indent="0" marL="0">
              <a:spcAft>
                <a:spcPts val="400"/>
              </a:spcAft>
              <a:buNone/>
            </a:pPr>
            <a:r>
              <a:rPr lang="en-US" sz="1600" b="1" dirty="0">
                <a:solidFill>
                  <a:schemeClr val="tx2"/>
                </a:solidFill>
              </a:rPr>
              <a:t>Chiffres faux</a:t>
            </a:r>
            <a:endParaRPr lang="en-US" sz="1500" dirty="0"/>
          </a:p>
          <a:p>
            <a:pPr indent="0" marL="0">
              <a:buNone/>
            </a:pPr>
            <a:r>
              <a:rPr lang="en-US" sz="1400" dirty="0">
                <a:solidFill>
                  <a:schemeClr val="tx1"/>
                </a:solidFill>
              </a:rPr>
              <a:t>Un plein ou une dépense oubliés faussent le tableau de bord et les rapports.</a:t>
            </a:r>
            <a:endParaRPr lang="en-US" sz="1500" dirty="0"/>
          </a:p>
        </p:txBody>
      </p:sp>
      <p:sp>
        <p:nvSpPr>
          <p:cNvPr id="20" name="anim5-23"/>
          <p:cNvSpPr/>
          <p:nvPr/>
        </p:nvSpPr>
        <p:spPr>
          <a:xfrm>
            <a:off x="5870448" y="3520440"/>
            <a:ext cx="502920" cy="502920"/>
          </a:xfrm>
          <a:prstGeom prst="rightArrow">
            <a:avLst/>
          </a:prstGeom>
          <a:solidFill>
            <a:schemeClr val="accent1"/>
          </a:solidFill>
          <a:ln w="12700">
            <a:solidFill>
              <a:schemeClr val="accent1"/>
            </a:solidFill>
            <a:prstDash val="solid"/>
          </a:ln>
        </p:spPr>
      </p:sp>
      <p:sp>
        <p:nvSpPr>
          <p:cNvPr id="21" name="anim6-24"/>
          <p:cNvSpPr txBox="1"/>
          <p:nvPr/>
        </p:nvSpPr>
        <p:spPr>
          <a:xfrm>
            <a:off x="6583680" y="1371600"/>
            <a:ext cx="5120640" cy="411480"/>
          </a:xfrm>
          <a:prstGeom prst="rect">
            <a:avLst/>
          </a:prstGeom>
          <a:noFill/>
          <a:ln/>
        </p:spPr>
        <p:txBody>
          <a:bodyPr wrap="square" rtlCol="0" anchor="t"/>
          <a:lstStyle/>
          <a:p>
            <a:pPr indent="0" marL="0">
              <a:buNone/>
            </a:pPr>
            <a:r>
              <a:rPr lang="en-US" sz="1900" b="1" dirty="0">
                <a:solidFill>
                  <a:schemeClr val="accent1"/>
                </a:solidFill>
              </a:rPr>
              <a:t>Quand chacun l'utilise bien</a:t>
            </a:r>
            <a:endParaRPr lang="en-US" sz="1900" dirty="0"/>
          </a:p>
        </p:txBody>
      </p:sp>
      <p:sp>
        <p:nvSpPr>
          <p:cNvPr id="22" name="anim7-25"/>
          <p:cNvSpPr/>
          <p:nvPr/>
        </p:nvSpPr>
        <p:spPr>
          <a:xfrm>
            <a:off x="6583680" y="187452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3" name="anim7-26"/>
          <p:cNvSpPr/>
          <p:nvPr/>
        </p:nvSpPr>
        <p:spPr>
          <a:xfrm>
            <a:off x="6784848" y="2075688"/>
            <a:ext cx="548640" cy="548640"/>
          </a:xfrm>
          <a:prstGeom prst="roundRect">
            <a:avLst>
              <a:gd name="adj" fmla="val 22000"/>
            </a:avLst>
          </a:prstGeom>
          <a:solidFill>
            <a:schemeClr val="bg2"/>
          </a:solidFill>
          <a:ln w="12700">
            <a:solidFill>
              <a:schemeClr val="bg2"/>
            </a:solidFill>
            <a:prstDash val="solid"/>
          </a:ln>
        </p:spPr>
      </p:sp>
      <p:pic>
        <p:nvPicPr>
          <p:cNvPr id="24" name="anim7-27" descr="preencoded.png">    </p:cNvPr>
          <p:cNvPicPr>
            <a:picLocks noChangeAspect="1"/>
          </p:cNvPicPr>
          <p:nvPr/>
        </p:nvPicPr>
        <p:blipFill>
          <a:blip r:embed="rId5"/>
          <a:stretch>
            <a:fillRect/>
          </a:stretch>
        </p:blipFill>
        <p:spPr>
          <a:xfrm>
            <a:off x="6927494" y="2218334"/>
            <a:ext cx="263347" cy="263347"/>
          </a:xfrm>
          <a:prstGeom prst="rect">
            <a:avLst/>
          </a:prstGeom>
        </p:spPr>
      </p:pic>
      <p:sp>
        <p:nvSpPr>
          <p:cNvPr id="25" name="anim7-28"/>
          <p:cNvSpPr txBox="1"/>
          <p:nvPr/>
        </p:nvSpPr>
        <p:spPr>
          <a:xfrm>
            <a:off x="7479792" y="200253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Tout est retrouvé en quelques secondes</a:t>
            </a:r>
            <a:endParaRPr lang="en-US" sz="1500" dirty="0"/>
          </a:p>
          <a:p>
            <a:pPr indent="0" marL="0">
              <a:buNone/>
            </a:pPr>
            <a:r>
              <a:rPr lang="en-US" sz="1400" dirty="0">
                <a:solidFill>
                  <a:schemeClr val="tx1"/>
                </a:solidFill>
              </a:rPr>
              <a:t>Véhicules, chauffeurs, trajets, clients, carburant, entretien et finances.</a:t>
            </a:r>
            <a:endParaRPr lang="en-US" sz="1500" dirty="0"/>
          </a:p>
        </p:txBody>
      </p:sp>
      <p:sp>
        <p:nvSpPr>
          <p:cNvPr id="26" name="anim8-29"/>
          <p:cNvSpPr/>
          <p:nvPr/>
        </p:nvSpPr>
        <p:spPr>
          <a:xfrm>
            <a:off x="6583680" y="333756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7" name="anim8-30"/>
          <p:cNvSpPr/>
          <p:nvPr/>
        </p:nvSpPr>
        <p:spPr>
          <a:xfrm>
            <a:off x="6784848" y="3538728"/>
            <a:ext cx="548640" cy="548640"/>
          </a:xfrm>
          <a:prstGeom prst="roundRect">
            <a:avLst>
              <a:gd name="adj" fmla="val 22000"/>
            </a:avLst>
          </a:prstGeom>
          <a:solidFill>
            <a:schemeClr val="bg2"/>
          </a:solidFill>
          <a:ln w="12700">
            <a:solidFill>
              <a:schemeClr val="bg2"/>
            </a:solidFill>
            <a:prstDash val="solid"/>
          </a:ln>
        </p:spPr>
      </p:sp>
      <p:pic>
        <p:nvPicPr>
          <p:cNvPr id="28" name="anim8-31" descr="preencoded.png">    </p:cNvPr>
          <p:cNvPicPr>
            <a:picLocks noChangeAspect="1"/>
          </p:cNvPicPr>
          <p:nvPr/>
        </p:nvPicPr>
        <p:blipFill>
          <a:blip r:embed="rId6"/>
          <a:stretch>
            <a:fillRect/>
          </a:stretch>
        </p:blipFill>
        <p:spPr>
          <a:xfrm>
            <a:off x="6927494" y="3681374"/>
            <a:ext cx="263347" cy="263347"/>
          </a:xfrm>
          <a:prstGeom prst="rect">
            <a:avLst/>
          </a:prstGeom>
        </p:spPr>
      </p:pic>
      <p:sp>
        <p:nvSpPr>
          <p:cNvPr id="29" name="anim8-32"/>
          <p:cNvSpPr txBox="1"/>
          <p:nvPr/>
        </p:nvSpPr>
        <p:spPr>
          <a:xfrm>
            <a:off x="7479792" y="346557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Les alertes fonctionnent</a:t>
            </a:r>
            <a:endParaRPr lang="en-US" sz="1500" dirty="0"/>
          </a:p>
          <a:p>
            <a:pPr indent="0" marL="0">
              <a:buNone/>
            </a:pPr>
            <a:r>
              <a:rPr lang="en-US" sz="1400" dirty="0">
                <a:solidFill>
                  <a:schemeClr val="tx1"/>
                </a:solidFill>
              </a:rPr>
              <a:t>Documents expirés signalés, rappels d'entretien au bon moment.</a:t>
            </a:r>
            <a:endParaRPr lang="en-US" sz="1500" dirty="0"/>
          </a:p>
        </p:txBody>
      </p:sp>
      <p:sp>
        <p:nvSpPr>
          <p:cNvPr id="30" name="anim9-33"/>
          <p:cNvSpPr/>
          <p:nvPr/>
        </p:nvSpPr>
        <p:spPr>
          <a:xfrm>
            <a:off x="6583680" y="4800600"/>
            <a:ext cx="5074920" cy="1280160"/>
          </a:xfrm>
          <a:prstGeom prst="roundRect">
            <a:avLst>
              <a:gd name="adj" fmla="val 8571"/>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1" name="anim9-34"/>
          <p:cNvSpPr/>
          <p:nvPr/>
        </p:nvSpPr>
        <p:spPr>
          <a:xfrm>
            <a:off x="6784848" y="5001768"/>
            <a:ext cx="548640" cy="548640"/>
          </a:xfrm>
          <a:prstGeom prst="roundRect">
            <a:avLst>
              <a:gd name="adj" fmla="val 22000"/>
            </a:avLst>
          </a:prstGeom>
          <a:solidFill>
            <a:schemeClr val="bg2"/>
          </a:solidFill>
          <a:ln w="12700">
            <a:solidFill>
              <a:schemeClr val="bg2"/>
            </a:solidFill>
            <a:prstDash val="solid"/>
          </a:ln>
        </p:spPr>
      </p:sp>
      <p:pic>
        <p:nvPicPr>
          <p:cNvPr id="32" name="anim9-35" descr="preencoded.png">    </p:cNvPr>
          <p:cNvPicPr>
            <a:picLocks noChangeAspect="1"/>
          </p:cNvPicPr>
          <p:nvPr/>
        </p:nvPicPr>
        <p:blipFill>
          <a:blip r:embed="rId7"/>
          <a:stretch>
            <a:fillRect/>
          </a:stretch>
        </p:blipFill>
        <p:spPr>
          <a:xfrm>
            <a:off x="6927494" y="5144414"/>
            <a:ext cx="263347" cy="263347"/>
          </a:xfrm>
          <a:prstGeom prst="rect">
            <a:avLst/>
          </a:prstGeom>
        </p:spPr>
      </p:pic>
      <p:sp>
        <p:nvSpPr>
          <p:cNvPr id="33" name="anim9-36"/>
          <p:cNvSpPr txBox="1"/>
          <p:nvPr/>
        </p:nvSpPr>
        <p:spPr>
          <a:xfrm>
            <a:off x="7479792" y="4928616"/>
            <a:ext cx="4023360" cy="1024128"/>
          </a:xfrm>
          <a:prstGeom prst="rect">
            <a:avLst/>
          </a:prstGeom>
          <a:noFill/>
          <a:ln/>
        </p:spPr>
        <p:txBody>
          <a:bodyPr wrap="square" rtlCol="0" anchor="t"/>
          <a:lstStyle/>
          <a:p>
            <a:pPr indent="0" marL="0">
              <a:spcAft>
                <a:spcPts val="400"/>
              </a:spcAft>
              <a:buNone/>
            </a:pPr>
            <a:r>
              <a:rPr lang="en-US" sz="1600" b="1" dirty="0">
                <a:solidFill>
                  <a:schemeClr val="tx2"/>
                </a:solidFill>
              </a:rPr>
              <a:t>Des chiffres fiables</a:t>
            </a:r>
            <a:endParaRPr lang="en-US" sz="1500" dirty="0"/>
          </a:p>
          <a:p>
            <a:pPr indent="0" marL="0">
              <a:buNone/>
            </a:pPr>
            <a:r>
              <a:rPr lang="en-US" sz="1400" dirty="0">
                <a:solidFill>
                  <a:schemeClr val="tx1"/>
                </a:solidFill>
              </a:rPr>
              <a:t>Tableau de bord et rapports justes pour décider par véhicule, chauffeur ou itinéraire.</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25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25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50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5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5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7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75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7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10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1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50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5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7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175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175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17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20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200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20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200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5" grpId="0" animBg="1"/>
      <p:bldP spid="19" grpId="0" animBg="1"/>
      <p:bldP spid="21" grpId="0" animBg="1"/>
      <p:bldP spid="25" grpId="0" animBg="1"/>
      <p:bldP spid="29" grpId="0" animBg="1"/>
      <p:bldP spid="3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18 modules, 6 grandes familles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INTRODUCTION</a:t>
            </a:r>
            <a:endParaRPr lang="en-US" sz="1000" dirty="0"/>
          </a:p>
        </p:txBody>
      </p:sp>
      <p:sp>
        <p:nvSpPr>
          <p:cNvPr id="7" name="anim1-37"/>
          <p:cNvSpPr/>
          <p:nvPr/>
        </p:nvSpPr>
        <p:spPr>
          <a:xfrm>
            <a:off x="411480" y="2057400"/>
            <a:ext cx="2743200" cy="2743200"/>
          </a:xfrm>
          <a:prstGeom prst="ellipse">
            <a:avLst/>
          </a:prstGeom>
          <a:solidFill>
            <a:schemeClr val="bg2"/>
          </a:solidFill>
          <a:ln w="12700">
            <a:solidFill>
              <a:schemeClr val="accent6"/>
            </a:solidFill>
            <a:prstDash val="solid"/>
          </a:ln>
        </p:spPr>
      </p:sp>
      <p:sp>
        <p:nvSpPr>
          <p:cNvPr id="8" name="anim1-38"/>
          <p:cNvSpPr/>
          <p:nvPr/>
        </p:nvSpPr>
        <p:spPr>
          <a:xfrm>
            <a:off x="685800" y="2331720"/>
            <a:ext cx="2194560" cy="2194560"/>
          </a:xfrm>
          <a:prstGeom prst="ellipse">
            <a:avLst/>
          </a:prstGeom>
          <a:solidFill>
            <a:schemeClr val="tx2"/>
          </a:solidFill>
          <a:ln w="12700">
            <a:solidFill>
              <a:schemeClr val="tx2"/>
            </a:solidFill>
            <a:prstDash val="solid"/>
          </a:ln>
        </p:spPr>
      </p:sp>
      <p:sp>
        <p:nvSpPr>
          <p:cNvPr id="9" name="anim1-39"/>
          <p:cNvSpPr txBox="1"/>
          <p:nvPr/>
        </p:nvSpPr>
        <p:spPr>
          <a:xfrm>
            <a:off x="685800" y="2331720"/>
            <a:ext cx="2194560" cy="2194560"/>
          </a:xfrm>
          <a:prstGeom prst="rect">
            <a:avLst/>
          </a:prstGeom>
          <a:noFill/>
          <a:ln/>
        </p:spPr>
        <p:txBody>
          <a:bodyPr wrap="square" rtlCol="0" anchor="ctr"/>
          <a:lstStyle/>
          <a:p>
            <a:pPr algn="ctr" indent="0" marL="0">
              <a:buNone/>
            </a:pPr>
            <a:r>
              <a:rPr lang="en-US" sz="6000" b="1" dirty="0">
                <a:solidFill>
                  <a:schemeClr val="bg1"/>
                </a:solidFill>
              </a:rPr>
              <a:t>18</a:t>
            </a:r>
            <a:endParaRPr lang="en-US" sz="1500" dirty="0"/>
          </a:p>
          <a:p>
            <a:pPr algn="ctr" indent="0" marL="0">
              <a:buNone/>
            </a:pPr>
            <a:r>
              <a:rPr lang="en-US" sz="1700" dirty="0">
                <a:solidFill>
                  <a:schemeClr val="accent2"/>
                </a:solidFill>
              </a:rPr>
              <a:t>modules</a:t>
            </a:r>
            <a:endParaRPr lang="en-US" sz="1500" dirty="0"/>
          </a:p>
        </p:txBody>
      </p:sp>
      <p:sp>
        <p:nvSpPr>
          <p:cNvPr id="10" name="anim2-40"/>
          <p:cNvSpPr/>
          <p:nvPr/>
        </p:nvSpPr>
        <p:spPr>
          <a:xfrm>
            <a:off x="3474720" y="14630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1" name="anim2-41"/>
          <p:cNvSpPr/>
          <p:nvPr/>
        </p:nvSpPr>
        <p:spPr>
          <a:xfrm>
            <a:off x="3675888" y="1664208"/>
            <a:ext cx="548640" cy="548640"/>
          </a:xfrm>
          <a:prstGeom prst="roundRect">
            <a:avLst>
              <a:gd name="adj" fmla="val 22000"/>
            </a:avLst>
          </a:prstGeom>
          <a:solidFill>
            <a:schemeClr val="bg2"/>
          </a:solidFill>
          <a:ln w="12700">
            <a:solidFill>
              <a:schemeClr val="bg2"/>
            </a:solidFill>
            <a:prstDash val="solid"/>
          </a:ln>
        </p:spPr>
      </p:sp>
      <p:pic>
        <p:nvPicPr>
          <p:cNvPr id="12" name="anim2-42" descr="preencoded.png">    </p:cNvPr>
          <p:cNvPicPr>
            <a:picLocks noChangeAspect="1"/>
          </p:cNvPicPr>
          <p:nvPr/>
        </p:nvPicPr>
        <p:blipFill>
          <a:blip r:embed="rId2"/>
          <a:stretch>
            <a:fillRect/>
          </a:stretch>
        </p:blipFill>
        <p:spPr>
          <a:xfrm>
            <a:off x="3818534" y="1806854"/>
            <a:ext cx="263347" cy="263347"/>
          </a:xfrm>
          <a:prstGeom prst="rect">
            <a:avLst/>
          </a:prstGeom>
        </p:spPr>
      </p:pic>
      <p:sp>
        <p:nvSpPr>
          <p:cNvPr id="13" name="anim2-43"/>
          <p:cNvSpPr txBox="1"/>
          <p:nvPr/>
        </p:nvSpPr>
        <p:spPr>
          <a:xfrm>
            <a:off x="4370832" y="15910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Pilotage</a:t>
            </a:r>
            <a:endParaRPr lang="en-US" sz="1500" dirty="0"/>
          </a:p>
          <a:p>
            <a:pPr indent="0" marL="0">
              <a:buNone/>
            </a:pPr>
            <a:r>
              <a:rPr lang="en-US" sz="1400" dirty="0">
                <a:solidFill>
                  <a:schemeClr val="tx1"/>
                </a:solidFill>
              </a:rPr>
              <a:t>Dashboard · Availability · Reports</a:t>
            </a:r>
            <a:endParaRPr lang="en-US" sz="1500" dirty="0"/>
          </a:p>
        </p:txBody>
      </p:sp>
      <p:sp>
        <p:nvSpPr>
          <p:cNvPr id="14" name="anim3-44"/>
          <p:cNvSpPr/>
          <p:nvPr/>
        </p:nvSpPr>
        <p:spPr>
          <a:xfrm>
            <a:off x="7589520" y="14630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5" name="anim3-45"/>
          <p:cNvSpPr/>
          <p:nvPr/>
        </p:nvSpPr>
        <p:spPr>
          <a:xfrm>
            <a:off x="7790688" y="1664208"/>
            <a:ext cx="548640" cy="548640"/>
          </a:xfrm>
          <a:prstGeom prst="roundRect">
            <a:avLst>
              <a:gd name="adj" fmla="val 22000"/>
            </a:avLst>
          </a:prstGeom>
          <a:solidFill>
            <a:schemeClr val="bg2"/>
          </a:solidFill>
          <a:ln w="12700">
            <a:solidFill>
              <a:schemeClr val="bg2"/>
            </a:solidFill>
            <a:prstDash val="solid"/>
          </a:ln>
        </p:spPr>
      </p:sp>
      <p:pic>
        <p:nvPicPr>
          <p:cNvPr id="16" name="anim3-46" descr="preencoded.png">    </p:cNvPr>
          <p:cNvPicPr>
            <a:picLocks noChangeAspect="1"/>
          </p:cNvPicPr>
          <p:nvPr/>
        </p:nvPicPr>
        <p:blipFill>
          <a:blip r:embed="rId3"/>
          <a:stretch>
            <a:fillRect/>
          </a:stretch>
        </p:blipFill>
        <p:spPr>
          <a:xfrm>
            <a:off x="7933334" y="1806854"/>
            <a:ext cx="263347" cy="263347"/>
          </a:xfrm>
          <a:prstGeom prst="rect">
            <a:avLst/>
          </a:prstGeom>
        </p:spPr>
      </p:pic>
      <p:sp>
        <p:nvSpPr>
          <p:cNvPr id="17" name="anim3-47"/>
          <p:cNvSpPr txBox="1"/>
          <p:nvPr/>
        </p:nvSpPr>
        <p:spPr>
          <a:xfrm>
            <a:off x="8485632" y="15910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Flotte</a:t>
            </a:r>
            <a:endParaRPr lang="en-US" sz="1500" dirty="0"/>
          </a:p>
          <a:p>
            <a:pPr indent="0" marL="0">
              <a:buNone/>
            </a:pPr>
            <a:r>
              <a:rPr lang="en-US" sz="1400" dirty="0">
                <a:solidFill>
                  <a:schemeClr val="tx1"/>
                </a:solidFill>
              </a:rPr>
              <a:t>Vehicle's · Vehicle Vendor's · Tracking · Geofence</a:t>
            </a:r>
            <a:endParaRPr lang="en-US" sz="1500" dirty="0"/>
          </a:p>
        </p:txBody>
      </p:sp>
      <p:sp>
        <p:nvSpPr>
          <p:cNvPr id="18" name="anim4-48"/>
          <p:cNvSpPr/>
          <p:nvPr/>
        </p:nvSpPr>
        <p:spPr>
          <a:xfrm>
            <a:off x="3474720" y="30632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4-49"/>
          <p:cNvSpPr/>
          <p:nvPr/>
        </p:nvSpPr>
        <p:spPr>
          <a:xfrm>
            <a:off x="3675888" y="3264408"/>
            <a:ext cx="548640" cy="548640"/>
          </a:xfrm>
          <a:prstGeom prst="roundRect">
            <a:avLst>
              <a:gd name="adj" fmla="val 22000"/>
            </a:avLst>
          </a:prstGeom>
          <a:solidFill>
            <a:schemeClr val="bg2"/>
          </a:solidFill>
          <a:ln w="12700">
            <a:solidFill>
              <a:schemeClr val="bg2"/>
            </a:solidFill>
            <a:prstDash val="solid"/>
          </a:ln>
        </p:spPr>
      </p:sp>
      <p:pic>
        <p:nvPicPr>
          <p:cNvPr id="20" name="anim4-50" descr="preencoded.png">    </p:cNvPr>
          <p:cNvPicPr>
            <a:picLocks noChangeAspect="1"/>
          </p:cNvPicPr>
          <p:nvPr/>
        </p:nvPicPr>
        <p:blipFill>
          <a:blip r:embed="rId4"/>
          <a:stretch>
            <a:fillRect/>
          </a:stretch>
        </p:blipFill>
        <p:spPr>
          <a:xfrm>
            <a:off x="3818534" y="3407054"/>
            <a:ext cx="263347" cy="263347"/>
          </a:xfrm>
          <a:prstGeom prst="rect">
            <a:avLst/>
          </a:prstGeom>
        </p:spPr>
      </p:pic>
      <p:sp>
        <p:nvSpPr>
          <p:cNvPr id="21" name="anim4-51"/>
          <p:cNvSpPr txBox="1"/>
          <p:nvPr/>
        </p:nvSpPr>
        <p:spPr>
          <a:xfrm>
            <a:off x="4370832" y="31912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Personnes</a:t>
            </a:r>
            <a:endParaRPr lang="en-US" sz="1500" dirty="0"/>
          </a:p>
          <a:p>
            <a:pPr indent="0" marL="0">
              <a:buNone/>
            </a:pPr>
            <a:r>
              <a:rPr lang="en-US" sz="1400" dirty="0">
                <a:solidFill>
                  <a:schemeClr val="tx1"/>
                </a:solidFill>
              </a:rPr>
              <a:t>Driver's · Employee</a:t>
            </a:r>
            <a:endParaRPr lang="en-US" sz="1500" dirty="0"/>
          </a:p>
        </p:txBody>
      </p:sp>
      <p:sp>
        <p:nvSpPr>
          <p:cNvPr id="22" name="anim5-52"/>
          <p:cNvSpPr/>
          <p:nvPr/>
        </p:nvSpPr>
        <p:spPr>
          <a:xfrm>
            <a:off x="7589520" y="30632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3" name="anim5-53"/>
          <p:cNvSpPr/>
          <p:nvPr/>
        </p:nvSpPr>
        <p:spPr>
          <a:xfrm>
            <a:off x="7790688" y="3264408"/>
            <a:ext cx="548640" cy="548640"/>
          </a:xfrm>
          <a:prstGeom prst="roundRect">
            <a:avLst>
              <a:gd name="adj" fmla="val 22000"/>
            </a:avLst>
          </a:prstGeom>
          <a:solidFill>
            <a:schemeClr val="bg2"/>
          </a:solidFill>
          <a:ln w="12700">
            <a:solidFill>
              <a:schemeClr val="bg2"/>
            </a:solidFill>
            <a:prstDash val="solid"/>
          </a:ln>
        </p:spPr>
      </p:sp>
      <p:pic>
        <p:nvPicPr>
          <p:cNvPr id="24" name="anim5-54" descr="preencoded.png">    </p:cNvPr>
          <p:cNvPicPr>
            <a:picLocks noChangeAspect="1"/>
          </p:cNvPicPr>
          <p:nvPr/>
        </p:nvPicPr>
        <p:blipFill>
          <a:blip r:embed="rId5"/>
          <a:stretch>
            <a:fillRect/>
          </a:stretch>
        </p:blipFill>
        <p:spPr>
          <a:xfrm>
            <a:off x="7933334" y="3407054"/>
            <a:ext cx="263347" cy="263347"/>
          </a:xfrm>
          <a:prstGeom prst="rect">
            <a:avLst/>
          </a:prstGeom>
        </p:spPr>
      </p:pic>
      <p:sp>
        <p:nvSpPr>
          <p:cNvPr id="25" name="anim5-55"/>
          <p:cNvSpPr txBox="1"/>
          <p:nvPr/>
        </p:nvSpPr>
        <p:spPr>
          <a:xfrm>
            <a:off x="8485632" y="31912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Activité commerciale</a:t>
            </a:r>
            <a:endParaRPr lang="en-US" sz="1500" dirty="0"/>
          </a:p>
          <a:p>
            <a:pPr indent="0" marL="0">
              <a:buNone/>
            </a:pPr>
            <a:r>
              <a:rPr lang="en-US" sz="1400" dirty="0">
                <a:solidFill>
                  <a:schemeClr val="tx1"/>
                </a:solidFill>
              </a:rPr>
              <a:t>Trips · Customer · Coupon Management</a:t>
            </a:r>
            <a:endParaRPr lang="en-US" sz="1500" dirty="0"/>
          </a:p>
        </p:txBody>
      </p:sp>
      <p:sp>
        <p:nvSpPr>
          <p:cNvPr id="26" name="anim6-56"/>
          <p:cNvSpPr/>
          <p:nvPr/>
        </p:nvSpPr>
        <p:spPr>
          <a:xfrm>
            <a:off x="3474720" y="46634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7" name="anim6-57"/>
          <p:cNvSpPr/>
          <p:nvPr/>
        </p:nvSpPr>
        <p:spPr>
          <a:xfrm>
            <a:off x="3675888" y="4864608"/>
            <a:ext cx="548640" cy="548640"/>
          </a:xfrm>
          <a:prstGeom prst="roundRect">
            <a:avLst>
              <a:gd name="adj" fmla="val 22000"/>
            </a:avLst>
          </a:prstGeom>
          <a:solidFill>
            <a:schemeClr val="bg2"/>
          </a:solidFill>
          <a:ln w="12700">
            <a:solidFill>
              <a:schemeClr val="bg2"/>
            </a:solidFill>
            <a:prstDash val="solid"/>
          </a:ln>
        </p:spPr>
      </p:sp>
      <p:pic>
        <p:nvPicPr>
          <p:cNvPr id="28" name="anim6-58" descr="preencoded.png">    </p:cNvPr>
          <p:cNvPicPr>
            <a:picLocks noChangeAspect="1"/>
          </p:cNvPicPr>
          <p:nvPr/>
        </p:nvPicPr>
        <p:blipFill>
          <a:blip r:embed="rId6"/>
          <a:stretch>
            <a:fillRect/>
          </a:stretch>
        </p:blipFill>
        <p:spPr>
          <a:xfrm>
            <a:off x="3818534" y="5007254"/>
            <a:ext cx="263347" cy="263347"/>
          </a:xfrm>
          <a:prstGeom prst="rect">
            <a:avLst/>
          </a:prstGeom>
        </p:spPr>
      </p:pic>
      <p:sp>
        <p:nvSpPr>
          <p:cNvPr id="29" name="anim6-59"/>
          <p:cNvSpPr txBox="1"/>
          <p:nvPr/>
        </p:nvSpPr>
        <p:spPr>
          <a:xfrm>
            <a:off x="4370832" y="47914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Exploitation</a:t>
            </a:r>
            <a:endParaRPr lang="en-US" sz="1500" dirty="0"/>
          </a:p>
          <a:p>
            <a:pPr indent="0" marL="0">
              <a:buNone/>
            </a:pPr>
            <a:r>
              <a:rPr lang="en-US" sz="1400" dirty="0">
                <a:solidFill>
                  <a:schemeClr val="tx1"/>
                </a:solidFill>
              </a:rPr>
              <a:t>Maintenance · Parts Stock · Fuel · Reminder</a:t>
            </a:r>
            <a:endParaRPr lang="en-US" sz="1500" dirty="0"/>
          </a:p>
        </p:txBody>
      </p:sp>
      <p:sp>
        <p:nvSpPr>
          <p:cNvPr id="30" name="anim7-60"/>
          <p:cNvSpPr/>
          <p:nvPr/>
        </p:nvSpPr>
        <p:spPr>
          <a:xfrm>
            <a:off x="7589520" y="4663440"/>
            <a:ext cx="3931920" cy="1417320"/>
          </a:xfrm>
          <a:prstGeom prst="roundRect">
            <a:avLst>
              <a:gd name="adj" fmla="val 7742"/>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1" name="anim7-61"/>
          <p:cNvSpPr/>
          <p:nvPr/>
        </p:nvSpPr>
        <p:spPr>
          <a:xfrm>
            <a:off x="7790688" y="4864608"/>
            <a:ext cx="548640" cy="548640"/>
          </a:xfrm>
          <a:prstGeom prst="roundRect">
            <a:avLst>
              <a:gd name="adj" fmla="val 22000"/>
            </a:avLst>
          </a:prstGeom>
          <a:solidFill>
            <a:schemeClr val="bg2"/>
          </a:solidFill>
          <a:ln w="12700">
            <a:solidFill>
              <a:schemeClr val="bg2"/>
            </a:solidFill>
            <a:prstDash val="solid"/>
          </a:ln>
        </p:spPr>
      </p:sp>
      <p:pic>
        <p:nvPicPr>
          <p:cNvPr id="32" name="anim7-62" descr="preencoded.png">    </p:cNvPr>
          <p:cNvPicPr>
            <a:picLocks noChangeAspect="1"/>
          </p:cNvPicPr>
          <p:nvPr/>
        </p:nvPicPr>
        <p:blipFill>
          <a:blip r:embed="rId7"/>
          <a:stretch>
            <a:fillRect/>
          </a:stretch>
        </p:blipFill>
        <p:spPr>
          <a:xfrm>
            <a:off x="7933334" y="5007254"/>
            <a:ext cx="263347" cy="263347"/>
          </a:xfrm>
          <a:prstGeom prst="rect">
            <a:avLst/>
          </a:prstGeom>
        </p:spPr>
      </p:pic>
      <p:sp>
        <p:nvSpPr>
          <p:cNvPr id="33" name="anim7-63"/>
          <p:cNvSpPr txBox="1"/>
          <p:nvPr/>
        </p:nvSpPr>
        <p:spPr>
          <a:xfrm>
            <a:off x="8485632" y="4791456"/>
            <a:ext cx="2880360" cy="1161288"/>
          </a:xfrm>
          <a:prstGeom prst="rect">
            <a:avLst/>
          </a:prstGeom>
          <a:noFill/>
          <a:ln/>
        </p:spPr>
        <p:txBody>
          <a:bodyPr wrap="square" rtlCol="0" anchor="t"/>
          <a:lstStyle/>
          <a:p>
            <a:pPr indent="0" marL="0">
              <a:spcAft>
                <a:spcPts val="400"/>
              </a:spcAft>
              <a:buNone/>
            </a:pPr>
            <a:r>
              <a:rPr lang="en-US" sz="1600" b="1" dirty="0">
                <a:solidFill>
                  <a:schemeClr val="tx2"/>
                </a:solidFill>
              </a:rPr>
              <a:t>Finances et système</a:t>
            </a:r>
            <a:endParaRPr lang="en-US" sz="1500" dirty="0"/>
          </a:p>
          <a:p>
            <a:pPr indent="0" marL="0">
              <a:buNone/>
            </a:pPr>
            <a:r>
              <a:rPr lang="en-US" sz="1400" dirty="0">
                <a:solidFill>
                  <a:schemeClr val="tx1"/>
                </a:solidFill>
              </a:rPr>
              <a:t>Accounts · Setting's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4" fill="hold">
                      <p:stCondLst>
                        <p:cond delay="indefinite"/>
                        <p:cond evt="onBegin" delay="0">
                          <p:tn val="2"/>
                        </p:cond>
                      </p:stCondLst>
                      <p:childTnLst>
                        <p:par>
                          <p:cTn id="8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25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50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50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75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7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7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7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00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0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0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2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125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125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12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1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par>
                                <p:cTn id="75" presetID="10" presetClass="entr" presetSubtype="0" fill="hold" nodeType="withEffect">
                                  <p:stCondLst>
                                    <p:cond delay="150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500"/>
                                        <p:tgtEl>
                                          <p:spTgt spid="31"/>
                                        </p:tgtEl>
                                      </p:cBhvr>
                                    </p:animEffect>
                                  </p:childTnLst>
                                </p:cTn>
                              </p:par>
                              <p:par>
                                <p:cTn id="78" presetID="10" presetClass="entr" presetSubtype="0" fill="hold" nodeType="withEffect">
                                  <p:stCondLst>
                                    <p:cond delay="15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500"/>
                                        <p:tgtEl>
                                          <p:spTgt spid="32"/>
                                        </p:tgtEl>
                                      </p:cBhvr>
                                    </p:animEffect>
                                  </p:childTnLst>
                                </p:cTn>
                              </p:par>
                              <p:par>
                                <p:cTn id="81" presetID="10" presetClass="entr" presetSubtype="0" fill="hold" nodeType="withEffect">
                                  <p:stCondLst>
                                    <p:cond delay="1500"/>
                                  </p:stCondLst>
                                  <p:childTnLst>
                                    <p:set>
                                      <p:cBhvr>
                                        <p:cTn id="82" dur="1" fill="hold">
                                          <p:stCondLst>
                                            <p:cond delay="0"/>
                                          </p:stCondLst>
                                        </p:cTn>
                                        <p:tgtEl>
                                          <p:spTgt spid="33"/>
                                        </p:tgtEl>
                                        <p:attrNameLst>
                                          <p:attrName>style.visibility</p:attrName>
                                        </p:attrNameLst>
                                      </p:cBhvr>
                                      <p:to>
                                        <p:strVal val="visible"/>
                                      </p:to>
                                    </p:set>
                                    <p:animEffect transition="in" filter="fade">
                                      <p:cBhvr>
                                        <p:cTn id="83"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3" grpId="0" animBg="1"/>
      <p:bldP spid="17" grpId="0" animBg="1"/>
      <p:bldP spid="21" grpId="0" animBg="1"/>
      <p:bldP spid="25" grpId="0" animBg="1"/>
      <p:bldP spid="29"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Un trajet, du premier appel au dernier franc</a:t>
            </a:r>
            <a:endParaRPr lang="en-US" sz="3200" dirty="0"/>
          </a:p>
        </p:txBody>
      </p:sp>
      <p:sp>
        <p:nvSpPr>
          <p:cNvPr id="3" name="anim1-64"/>
          <p:cNvSpPr txBox="1"/>
          <p:nvPr/>
        </p:nvSpPr>
        <p:spPr>
          <a:xfrm>
            <a:off x="731520" y="1508760"/>
            <a:ext cx="10058400" cy="457200"/>
          </a:xfrm>
          <a:prstGeom prst="rect">
            <a:avLst/>
          </a:prstGeom>
          <a:noFill/>
          <a:ln/>
        </p:spPr>
        <p:txBody>
          <a:bodyPr wrap="square" rtlCol="0" anchor="t"/>
          <a:lstStyle/>
          <a:p>
            <a:pPr indent="0" marL="0">
              <a:buNone/>
            </a:pPr>
            <a:r>
              <a:rPr lang="en-US" sz="1800" dirty="0">
                <a:solidFill>
                  <a:schemeClr val="accent2"/>
                </a:solidFill>
              </a:rPr>
              <a:t>Chaque étape du parcours d'un camion a sa place dans le logiciel.</a:t>
            </a:r>
            <a:endParaRPr lang="en-US" sz="1800" dirty="0"/>
          </a:p>
        </p:txBody>
      </p:sp>
      <p:sp>
        <p:nvSpPr>
          <p:cNvPr id="4" name="anim1-65"/>
          <p:cNvSpPr/>
          <p:nvPr/>
        </p:nvSpPr>
        <p:spPr>
          <a:xfrm>
            <a:off x="822960" y="3520440"/>
            <a:ext cx="10607040" cy="0"/>
          </a:xfrm>
          <a:prstGeom prst="line">
            <a:avLst/>
          </a:prstGeom>
          <a:noFill/>
          <a:ln w="381000">
            <a:solidFill>
              <a:srgbClr val="3A4A82"/>
            </a:solidFill>
            <a:prstDash val="solid"/>
          </a:ln>
        </p:spPr>
      </p:sp>
      <p:sp>
        <p:nvSpPr>
          <p:cNvPr id="5" name="anim1-66"/>
          <p:cNvSpPr/>
          <p:nvPr/>
        </p:nvSpPr>
        <p:spPr>
          <a:xfrm>
            <a:off x="914400" y="3520440"/>
            <a:ext cx="10424160" cy="0"/>
          </a:xfrm>
          <a:prstGeom prst="line">
            <a:avLst/>
          </a:prstGeom>
          <a:noFill/>
          <a:ln w="25400">
            <a:solidFill>
              <a:srgbClr val="A9BCEB"/>
            </a:solidFill>
            <a:prstDash val="dash"/>
          </a:ln>
        </p:spPr>
      </p:sp>
      <p:sp>
        <p:nvSpPr>
          <p:cNvPr id="6" name="anim2-67"/>
          <p:cNvSpPr/>
          <p:nvPr/>
        </p:nvSpPr>
        <p:spPr>
          <a:xfrm>
            <a:off x="758952" y="2953512"/>
            <a:ext cx="1133856" cy="1133856"/>
          </a:xfrm>
          <a:prstGeom prst="ellipse">
            <a:avLst/>
          </a:prstGeom>
          <a:solidFill>
            <a:schemeClr val="bg1"/>
          </a:solidFill>
          <a:ln w="50800">
            <a:solidFill>
              <a:srgbClr val="3A4A82"/>
            </a:solidFill>
            <a:prstDash val="solid"/>
          </a:ln>
        </p:spPr>
      </p:sp>
      <p:pic>
        <p:nvPicPr>
          <p:cNvPr id="7" name="anim2-68" descr="preencoded.png">    </p:cNvPr>
          <p:cNvPicPr>
            <a:picLocks noChangeAspect="1"/>
          </p:cNvPicPr>
          <p:nvPr/>
        </p:nvPicPr>
        <p:blipFill>
          <a:blip r:embed="rId1"/>
          <a:stretch>
            <a:fillRect/>
          </a:stretch>
        </p:blipFill>
        <p:spPr>
          <a:xfrm>
            <a:off x="1060704" y="3255264"/>
            <a:ext cx="530352" cy="530352"/>
          </a:xfrm>
          <a:prstGeom prst="rect">
            <a:avLst/>
          </a:prstGeom>
        </p:spPr>
      </p:pic>
      <p:sp>
        <p:nvSpPr>
          <p:cNvPr id="8" name="anim2-69"/>
          <p:cNvSpPr txBox="1"/>
          <p:nvPr/>
        </p:nvSpPr>
        <p:spPr>
          <a:xfrm>
            <a:off x="411480"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Réserver</a:t>
            </a:r>
            <a:endParaRPr lang="en-US" sz="1500" dirty="0"/>
          </a:p>
          <a:p>
            <a:pPr algn="ctr" indent="0" marL="0">
              <a:buNone/>
            </a:pPr>
            <a:r>
              <a:rPr lang="en-US" sz="1300" dirty="0">
                <a:solidFill>
                  <a:schemeClr val="accent2"/>
                </a:solidFill>
              </a:rPr>
              <a:t>Client, véhicule disponible, chauffeur</a:t>
            </a:r>
            <a:endParaRPr lang="en-US" sz="1500" dirty="0"/>
          </a:p>
        </p:txBody>
      </p:sp>
      <p:sp>
        <p:nvSpPr>
          <p:cNvPr id="9" name="anim3-70"/>
          <p:cNvSpPr/>
          <p:nvPr/>
        </p:nvSpPr>
        <p:spPr>
          <a:xfrm>
            <a:off x="2660904" y="2953512"/>
            <a:ext cx="1133856" cy="1133856"/>
          </a:xfrm>
          <a:prstGeom prst="ellipse">
            <a:avLst/>
          </a:prstGeom>
          <a:solidFill>
            <a:schemeClr val="accent1"/>
          </a:solidFill>
          <a:ln w="50800">
            <a:solidFill>
              <a:srgbClr val="3A4A82"/>
            </a:solidFill>
            <a:prstDash val="solid"/>
          </a:ln>
        </p:spPr>
      </p:sp>
      <p:pic>
        <p:nvPicPr>
          <p:cNvPr id="10" name="anim3-71" descr="preencoded.png">    </p:cNvPr>
          <p:cNvPicPr>
            <a:picLocks noChangeAspect="1"/>
          </p:cNvPicPr>
          <p:nvPr/>
        </p:nvPicPr>
        <p:blipFill>
          <a:blip r:embed="rId2"/>
          <a:stretch>
            <a:fillRect/>
          </a:stretch>
        </p:blipFill>
        <p:spPr>
          <a:xfrm>
            <a:off x="2962656" y="3255264"/>
            <a:ext cx="530352" cy="530352"/>
          </a:xfrm>
          <a:prstGeom prst="rect">
            <a:avLst/>
          </a:prstGeom>
        </p:spPr>
      </p:pic>
      <p:sp>
        <p:nvSpPr>
          <p:cNvPr id="11" name="anim3-72"/>
          <p:cNvSpPr txBox="1"/>
          <p:nvPr/>
        </p:nvSpPr>
        <p:spPr>
          <a:xfrm>
            <a:off x="2313432"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Rouler</a:t>
            </a:r>
            <a:endParaRPr lang="en-US" sz="1500" dirty="0"/>
          </a:p>
          <a:p>
            <a:pPr algn="ctr" indent="0" marL="0">
              <a:buNone/>
            </a:pPr>
            <a:r>
              <a:rPr lang="en-US" sz="1300" dirty="0">
                <a:solidFill>
                  <a:schemeClr val="accent2"/>
                </a:solidFill>
              </a:rPr>
              <a:t>Suivi GPS, zones, statut du trajet</a:t>
            </a:r>
            <a:endParaRPr lang="en-US" sz="1500" dirty="0"/>
          </a:p>
        </p:txBody>
      </p:sp>
      <p:sp>
        <p:nvSpPr>
          <p:cNvPr id="12" name="anim4-73"/>
          <p:cNvSpPr/>
          <p:nvPr/>
        </p:nvSpPr>
        <p:spPr>
          <a:xfrm>
            <a:off x="4562856" y="2953512"/>
            <a:ext cx="1133856" cy="1133856"/>
          </a:xfrm>
          <a:prstGeom prst="ellipse">
            <a:avLst/>
          </a:prstGeom>
          <a:solidFill>
            <a:schemeClr val="bg1"/>
          </a:solidFill>
          <a:ln w="50800">
            <a:solidFill>
              <a:srgbClr val="3A4A82"/>
            </a:solidFill>
            <a:prstDash val="solid"/>
          </a:ln>
        </p:spPr>
      </p:sp>
      <p:pic>
        <p:nvPicPr>
          <p:cNvPr id="13" name="anim4-74" descr="preencoded.png">    </p:cNvPr>
          <p:cNvPicPr>
            <a:picLocks noChangeAspect="1"/>
          </p:cNvPicPr>
          <p:nvPr/>
        </p:nvPicPr>
        <p:blipFill>
          <a:blip r:embed="rId3"/>
          <a:stretch>
            <a:fillRect/>
          </a:stretch>
        </p:blipFill>
        <p:spPr>
          <a:xfrm>
            <a:off x="4864608" y="3255264"/>
            <a:ext cx="530352" cy="530352"/>
          </a:xfrm>
          <a:prstGeom prst="rect">
            <a:avLst/>
          </a:prstGeom>
        </p:spPr>
      </p:pic>
      <p:sp>
        <p:nvSpPr>
          <p:cNvPr id="14" name="anim4-75"/>
          <p:cNvSpPr txBox="1"/>
          <p:nvPr/>
        </p:nvSpPr>
        <p:spPr>
          <a:xfrm>
            <a:off x="4215384"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Alimenter</a:t>
            </a:r>
            <a:endParaRPr lang="en-US" sz="1500" dirty="0"/>
          </a:p>
          <a:p>
            <a:pPr algn="ctr" indent="0" marL="0">
              <a:buNone/>
            </a:pPr>
            <a:r>
              <a:rPr lang="en-US" sz="1300" dirty="0">
                <a:solidFill>
                  <a:schemeClr val="accent2"/>
                </a:solidFill>
              </a:rPr>
              <a:t>Pleins rattachés au véhicule</a:t>
            </a:r>
            <a:endParaRPr lang="en-US" sz="1500" dirty="0"/>
          </a:p>
        </p:txBody>
      </p:sp>
      <p:sp>
        <p:nvSpPr>
          <p:cNvPr id="15" name="anim5-76"/>
          <p:cNvSpPr/>
          <p:nvPr/>
        </p:nvSpPr>
        <p:spPr>
          <a:xfrm>
            <a:off x="6464808" y="2953512"/>
            <a:ext cx="1133856" cy="1133856"/>
          </a:xfrm>
          <a:prstGeom prst="ellipse">
            <a:avLst/>
          </a:prstGeom>
          <a:solidFill>
            <a:schemeClr val="bg1"/>
          </a:solidFill>
          <a:ln w="50800">
            <a:solidFill>
              <a:srgbClr val="3A4A82"/>
            </a:solidFill>
            <a:prstDash val="solid"/>
          </a:ln>
        </p:spPr>
      </p:sp>
      <p:pic>
        <p:nvPicPr>
          <p:cNvPr id="16" name="anim5-77" descr="preencoded.png">    </p:cNvPr>
          <p:cNvPicPr>
            <a:picLocks noChangeAspect="1"/>
          </p:cNvPicPr>
          <p:nvPr/>
        </p:nvPicPr>
        <p:blipFill>
          <a:blip r:embed="rId4"/>
          <a:stretch>
            <a:fillRect/>
          </a:stretch>
        </p:blipFill>
        <p:spPr>
          <a:xfrm>
            <a:off x="6766560" y="3255264"/>
            <a:ext cx="530352" cy="530352"/>
          </a:xfrm>
          <a:prstGeom prst="rect">
            <a:avLst/>
          </a:prstGeom>
        </p:spPr>
      </p:pic>
      <p:sp>
        <p:nvSpPr>
          <p:cNvPr id="17" name="anim5-78"/>
          <p:cNvSpPr txBox="1"/>
          <p:nvPr/>
        </p:nvSpPr>
        <p:spPr>
          <a:xfrm>
            <a:off x="6117336"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Entretenir</a:t>
            </a:r>
            <a:endParaRPr lang="en-US" sz="1500" dirty="0"/>
          </a:p>
          <a:p>
            <a:pPr algn="ctr" indent="0" marL="0">
              <a:buNone/>
            </a:pPr>
            <a:r>
              <a:rPr lang="en-US" sz="1300" dirty="0">
                <a:solidFill>
                  <a:schemeClr val="accent2"/>
                </a:solidFill>
              </a:rPr>
              <a:t>Rappels, mécaniciens, pièces</a:t>
            </a:r>
            <a:endParaRPr lang="en-US" sz="1500" dirty="0"/>
          </a:p>
        </p:txBody>
      </p:sp>
      <p:sp>
        <p:nvSpPr>
          <p:cNvPr id="18" name="anim6-79"/>
          <p:cNvSpPr/>
          <p:nvPr/>
        </p:nvSpPr>
        <p:spPr>
          <a:xfrm>
            <a:off x="8366760" y="2953512"/>
            <a:ext cx="1133856" cy="1133856"/>
          </a:xfrm>
          <a:prstGeom prst="ellipse">
            <a:avLst/>
          </a:prstGeom>
          <a:solidFill>
            <a:schemeClr val="bg1"/>
          </a:solidFill>
          <a:ln w="50800">
            <a:solidFill>
              <a:srgbClr val="3A4A82"/>
            </a:solidFill>
            <a:prstDash val="solid"/>
          </a:ln>
        </p:spPr>
      </p:sp>
      <p:pic>
        <p:nvPicPr>
          <p:cNvPr id="19" name="anim6-80" descr="preencoded.png">    </p:cNvPr>
          <p:cNvPicPr>
            <a:picLocks noChangeAspect="1"/>
          </p:cNvPicPr>
          <p:nvPr/>
        </p:nvPicPr>
        <p:blipFill>
          <a:blip r:embed="rId5"/>
          <a:stretch>
            <a:fillRect/>
          </a:stretch>
        </p:blipFill>
        <p:spPr>
          <a:xfrm>
            <a:off x="8668512" y="3255264"/>
            <a:ext cx="530352" cy="530352"/>
          </a:xfrm>
          <a:prstGeom prst="rect">
            <a:avLst/>
          </a:prstGeom>
        </p:spPr>
      </p:pic>
      <p:sp>
        <p:nvSpPr>
          <p:cNvPr id="20" name="anim6-81"/>
          <p:cNvSpPr txBox="1"/>
          <p:nvPr/>
        </p:nvSpPr>
        <p:spPr>
          <a:xfrm>
            <a:off x="8019288"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Encaisser</a:t>
            </a:r>
            <a:endParaRPr lang="en-US" sz="1500" dirty="0"/>
          </a:p>
          <a:p>
            <a:pPr algn="ctr" indent="0" marL="0">
              <a:buNone/>
            </a:pPr>
            <a:r>
              <a:rPr lang="en-US" sz="1300" dirty="0">
                <a:solidFill>
                  <a:schemeClr val="accent2"/>
                </a:solidFill>
              </a:rPr>
              <a:t>Transactions et comptes</a:t>
            </a:r>
            <a:endParaRPr lang="en-US" sz="1500" dirty="0"/>
          </a:p>
        </p:txBody>
      </p:sp>
      <p:sp>
        <p:nvSpPr>
          <p:cNvPr id="21" name="anim7-82"/>
          <p:cNvSpPr/>
          <p:nvPr/>
        </p:nvSpPr>
        <p:spPr>
          <a:xfrm>
            <a:off x="10268712" y="2953512"/>
            <a:ext cx="1133856" cy="1133856"/>
          </a:xfrm>
          <a:prstGeom prst="ellipse">
            <a:avLst/>
          </a:prstGeom>
          <a:solidFill>
            <a:schemeClr val="bg1"/>
          </a:solidFill>
          <a:ln w="50800">
            <a:solidFill>
              <a:srgbClr val="3A4A82"/>
            </a:solidFill>
            <a:prstDash val="solid"/>
          </a:ln>
        </p:spPr>
      </p:sp>
      <p:pic>
        <p:nvPicPr>
          <p:cNvPr id="22" name="anim7-83" descr="preencoded.png">    </p:cNvPr>
          <p:cNvPicPr>
            <a:picLocks noChangeAspect="1"/>
          </p:cNvPicPr>
          <p:nvPr/>
        </p:nvPicPr>
        <p:blipFill>
          <a:blip r:embed="rId6"/>
          <a:stretch>
            <a:fillRect/>
          </a:stretch>
        </p:blipFill>
        <p:spPr>
          <a:xfrm>
            <a:off x="10570464" y="3255264"/>
            <a:ext cx="530352" cy="530352"/>
          </a:xfrm>
          <a:prstGeom prst="rect">
            <a:avLst/>
          </a:prstGeom>
        </p:spPr>
      </p:pic>
      <p:sp>
        <p:nvSpPr>
          <p:cNvPr id="23" name="anim7-84"/>
          <p:cNvSpPr txBox="1"/>
          <p:nvPr/>
        </p:nvSpPr>
        <p:spPr>
          <a:xfrm>
            <a:off x="9921240" y="4343400"/>
            <a:ext cx="1828800" cy="1188720"/>
          </a:xfrm>
          <a:prstGeom prst="rect">
            <a:avLst/>
          </a:prstGeom>
          <a:noFill/>
          <a:ln/>
        </p:spPr>
        <p:txBody>
          <a:bodyPr wrap="square" rtlCol="0" anchor="t"/>
          <a:lstStyle/>
          <a:p>
            <a:pPr algn="ctr" indent="0" marL="0">
              <a:spcAft>
                <a:spcPts val="400"/>
              </a:spcAft>
              <a:buNone/>
            </a:pPr>
            <a:r>
              <a:rPr lang="en-US" sz="1800" b="1" dirty="0">
                <a:solidFill>
                  <a:schemeClr val="bg1"/>
                </a:solidFill>
              </a:rPr>
              <a:t>Analyser</a:t>
            </a:r>
            <a:endParaRPr lang="en-US" sz="1500" dirty="0"/>
          </a:p>
          <a:p>
            <a:pPr algn="ctr" indent="0" marL="0">
              <a:buNone/>
            </a:pPr>
            <a:r>
              <a:rPr lang="en-US" sz="1300" dirty="0">
                <a:solidFill>
                  <a:schemeClr val="accent2"/>
                </a:solidFill>
              </a:rPr>
              <a:t>Tableau de bord et rapports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10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125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125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nodeType="withEffect">
                                  <p:stCondLst>
                                    <p:cond delay="125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nodeType="withEffect">
                                  <p:stCondLst>
                                    <p:cond delay="150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nodeType="withEffect">
                                  <p:stCondLst>
                                    <p:cond delay="150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nodeType="withEffect">
                                  <p:stCondLst>
                                    <p:cond delay="150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11" grpId="0" animBg="1"/>
      <p:bldP spid="14" grpId="0" animBg="1"/>
      <p:bldP spid="17" grpId="0" animBg="1"/>
      <p:bldP spid="20" grpId="0" animBg="1"/>
      <p:bldP spid="2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Le tableau de bord : la journée en un coup d'œil</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PILOTAGE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Dashboard · Availability</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Dès la connexion, l'essentiel de l'activité est affiché.</a:t>
            </a:r>
            <a:endParaRPr lang="en-US" sz="1700" dirty="0"/>
          </a:p>
        </p:txBody>
      </p:sp>
      <p:sp>
        <p:nvSpPr>
          <p:cNvPr id="9" name="anim1-85"/>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86"/>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87"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88"/>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Compteurs et transactions</a:t>
            </a:r>
            <a:endParaRPr lang="en-US" sz="1500" dirty="0"/>
          </a:p>
          <a:p>
            <a:pPr indent="0" marL="0">
              <a:buNone/>
            </a:pPr>
            <a:r>
              <a:rPr lang="en-US" sz="1400" dirty="0">
                <a:solidFill>
                  <a:schemeClr val="tx1"/>
                </a:solidFill>
              </a:rPr>
              <a:t>Véhicules, chauffeurs, clients, trajets du jour ; revenus et dépenses.</a:t>
            </a:r>
            <a:endParaRPr lang="en-US" sz="1500" dirty="0"/>
          </a:p>
        </p:txBody>
      </p:sp>
      <p:sp>
        <p:nvSpPr>
          <p:cNvPr id="13" name="anim2-89"/>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90"/>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91"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92"/>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Statut de la flotte</a:t>
            </a:r>
            <a:endParaRPr lang="en-US" sz="1500" dirty="0"/>
          </a:p>
          <a:p>
            <a:pPr indent="0" marL="0">
              <a:buNone/>
            </a:pPr>
            <a:r>
              <a:rPr lang="en-US" sz="1400" dirty="0">
                <a:solidFill>
                  <a:schemeClr val="tx1"/>
                </a:solidFill>
              </a:rPr>
              <a:t>Véhicules disponibles ou en trajet, et leur position actuelle.</a:t>
            </a:r>
            <a:endParaRPr lang="en-US" sz="1500" dirty="0"/>
          </a:p>
        </p:txBody>
      </p:sp>
      <p:sp>
        <p:nvSpPr>
          <p:cNvPr id="17" name="anim3-93"/>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94"/>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95"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96"/>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Rappels et tops</a:t>
            </a:r>
            <a:endParaRPr lang="en-US" sz="1500" dirty="0"/>
          </a:p>
          <a:p>
            <a:pPr indent="0" marL="0">
              <a:buNone/>
            </a:pPr>
            <a:r>
              <a:rPr lang="en-US" sz="1400" dirty="0">
                <a:solidFill>
                  <a:schemeClr val="tx1"/>
                </a:solidFill>
              </a:rPr>
              <a:t>Entretiens à prévoir, principaux revenus et dépenses.</a:t>
            </a:r>
            <a:endParaRPr lang="en-US" sz="1500" dirty="0"/>
          </a:p>
        </p:txBody>
      </p:sp>
      <p:sp>
        <p:nvSpPr>
          <p:cNvPr id="21" name="anim4-97"/>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98"/>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99"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00"/>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Calendrier de disponibilité</a:t>
            </a:r>
            <a:endParaRPr lang="en-US" sz="1500" dirty="0"/>
          </a:p>
          <a:p>
            <a:pPr indent="0" marL="0">
              <a:buNone/>
            </a:pPr>
            <a:r>
              <a:rPr lang="en-US" sz="1400" dirty="0">
                <a:solidFill>
                  <a:schemeClr val="tx1"/>
                </a:solidFill>
              </a:rPr>
              <a:t>Occupation des véhicules par mois, semaine ou jour.</a:t>
            </a:r>
            <a:endParaRPr lang="en-US" sz="1500" dirty="0"/>
          </a:p>
        </p:txBody>
      </p:sp>
      <p:sp>
        <p:nvSpPr>
          <p:cNvPr id="25" name="anim5-101"/>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02"/>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03"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04"/>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La direction voit l'activité sans demander de rapport</a:t>
            </a:r>
            <a:endParaRPr lang="en-US" sz="1400" dirty="0"/>
          </a:p>
        </p:txBody>
      </p:sp>
      <p:pic>
        <p:nvPicPr>
          <p:cNvPr id="29" name="anim7-105"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06"/>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agents savent tout de suite quels véhicules sont libres</a:t>
            </a:r>
            <a:endParaRPr lang="en-US" sz="1400" dirty="0"/>
          </a:p>
        </p:txBody>
      </p:sp>
      <p:pic>
        <p:nvPicPr>
          <p:cNvPr id="31" name="anim8-107"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08"/>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urgences sont visibles dès l'ouverture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Gérer les véhicules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FLOTTE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Vehicle's › Vehicle List · Add Vehicle · Vehicle Group · Route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Une fiche complète pour chaque véhicule, de l'immatriculation au GPS.</a:t>
            </a:r>
            <a:endParaRPr lang="en-US" sz="1700" dirty="0"/>
          </a:p>
        </p:txBody>
      </p:sp>
      <p:sp>
        <p:nvSpPr>
          <p:cNvPr id="9" name="anim1-109"/>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10"/>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11"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12"/>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Fiche véhicule</a:t>
            </a:r>
            <a:endParaRPr lang="en-US" sz="1500" dirty="0"/>
          </a:p>
          <a:p>
            <a:pPr indent="0" marL="0">
              <a:buNone/>
            </a:pPr>
            <a:r>
              <a:rPr lang="en-US" sz="1400" dirty="0">
                <a:solidFill>
                  <a:schemeClr val="tx1"/>
                </a:solidFill>
              </a:rPr>
              <a:t>Immatriculation, modèle, châssis, moteur, compteur, photo et documents.</a:t>
            </a:r>
            <a:endParaRPr lang="en-US" sz="1500" dirty="0"/>
          </a:p>
        </p:txBody>
      </p:sp>
      <p:sp>
        <p:nvSpPr>
          <p:cNvPr id="13" name="anim2-113"/>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14"/>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15"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16"/>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Échéances</a:t>
            </a:r>
            <a:endParaRPr lang="en-US" sz="1500" dirty="0"/>
          </a:p>
          <a:p>
            <a:pPr indent="0" marL="0">
              <a:buNone/>
            </a:pPr>
            <a:r>
              <a:rPr lang="en-US" sz="1400" dirty="0">
                <a:solidFill>
                  <a:schemeClr val="tx1"/>
                </a:solidFill>
              </a:rPr>
              <a:t>Expiration de l'immatriculation et de l'assurance, signalée à l'écran.</a:t>
            </a:r>
            <a:endParaRPr lang="en-US" sz="1500" dirty="0"/>
          </a:p>
        </p:txBody>
      </p:sp>
      <p:sp>
        <p:nvSpPr>
          <p:cNvPr id="17" name="anim3-117"/>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18"/>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19"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20"/>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Types et itinéraires</a:t>
            </a:r>
            <a:endParaRPr lang="en-US" sz="1500" dirty="0"/>
          </a:p>
          <a:p>
            <a:pPr indent="0" marL="0">
              <a:buNone/>
            </a:pPr>
            <a:r>
              <a:rPr lang="en-US" sz="1400" dirty="0">
                <a:solidFill>
                  <a:schemeClr val="tx1"/>
                </a:solidFill>
              </a:rPr>
              <a:t>Camion, bus, voiture… et liste des itinéraires.</a:t>
            </a:r>
            <a:endParaRPr lang="en-US" sz="1500" dirty="0"/>
          </a:p>
        </p:txBody>
      </p:sp>
      <p:sp>
        <p:nvSpPr>
          <p:cNvPr id="21" name="anim4-121"/>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22"/>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23"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24"/>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Tarif et propriété</a:t>
            </a:r>
            <a:endParaRPr lang="en-US" sz="1500" dirty="0"/>
          </a:p>
          <a:p>
            <a:pPr indent="0" marL="0">
              <a:buNone/>
            </a:pPr>
            <a:r>
              <a:rPr lang="en-US" sz="1400" dirty="0">
                <a:solidFill>
                  <a:schemeClr val="tx1"/>
                </a:solidFill>
              </a:rPr>
              <a:t>Facturation et coût par défaut, véhicule en propre ou loué, liaison GPS.</a:t>
            </a:r>
            <a:endParaRPr lang="en-US" sz="1500" dirty="0"/>
          </a:p>
        </p:txBody>
      </p:sp>
      <p:sp>
        <p:nvSpPr>
          <p:cNvPr id="25" name="anim5-125"/>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26"/>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27"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28"/>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Plus d'assurance expirée qui passe inaperçue</a:t>
            </a:r>
            <a:endParaRPr lang="en-US" sz="1400" dirty="0"/>
          </a:p>
        </p:txBody>
      </p:sp>
      <p:pic>
        <p:nvPicPr>
          <p:cNvPr id="29" name="anim7-129"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30"/>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Toute la flotte saisie d'un coup par import CSV</a:t>
            </a:r>
            <a:endParaRPr lang="en-US" sz="1400" dirty="0"/>
          </a:p>
        </p:txBody>
      </p:sp>
      <p:pic>
        <p:nvPicPr>
          <p:cNvPr id="31" name="anim8-131"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32"/>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Export Excel, CSV ou PDF</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Chauffeurs et fournisseurs de véhicules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FLOTTE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Driver's · Vehicle Vendor's</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Savoir qui conduit, avec quel permis, et avec quels partenaires on travaille.</a:t>
            </a:r>
            <a:endParaRPr lang="en-US" sz="1700" dirty="0"/>
          </a:p>
        </p:txBody>
      </p:sp>
      <p:sp>
        <p:nvSpPr>
          <p:cNvPr id="9" name="anim1-133"/>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34"/>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35"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36"/>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Fiche chauffeur</a:t>
            </a:r>
            <a:endParaRPr lang="en-US" sz="1500" dirty="0"/>
          </a:p>
          <a:p>
            <a:pPr indent="0" marL="0">
              <a:buNone/>
            </a:pPr>
            <a:r>
              <a:rPr lang="en-US" sz="1400" dirty="0">
                <a:solidFill>
                  <a:schemeClr val="tx1"/>
                </a:solidFill>
              </a:rPr>
              <a:t>Contact, âge, adresse, expérience, date d'entrée, photo et document.</a:t>
            </a:r>
            <a:endParaRPr lang="en-US" sz="1500" dirty="0"/>
          </a:p>
        </p:txBody>
      </p:sp>
      <p:sp>
        <p:nvSpPr>
          <p:cNvPr id="13" name="anim2-137"/>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38"/>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39"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40"/>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Permis</a:t>
            </a:r>
            <a:endParaRPr lang="en-US" sz="1500" dirty="0"/>
          </a:p>
          <a:p>
            <a:pPr indent="0" marL="0">
              <a:buNone/>
            </a:pPr>
            <a:r>
              <a:rPr lang="en-US" sz="1400" dirty="0">
                <a:solidFill>
                  <a:schemeClr val="tx1"/>
                </a:solidFill>
              </a:rPr>
              <a:t>Numéro et date d'expiration, signalée quand elle est dépassée.</a:t>
            </a:r>
            <a:endParaRPr lang="en-US" sz="1500" dirty="0"/>
          </a:p>
        </p:txBody>
      </p:sp>
      <p:sp>
        <p:nvSpPr>
          <p:cNvPr id="17" name="anim3-141"/>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42"/>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43"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44"/>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Fournisseurs de véhicules</a:t>
            </a:r>
            <a:endParaRPr lang="en-US" sz="1500" dirty="0"/>
          </a:p>
          <a:p>
            <a:pPr indent="0" marL="0">
              <a:buNone/>
            </a:pPr>
            <a:r>
              <a:rPr lang="en-US" sz="1400" dirty="0">
                <a:solidFill>
                  <a:schemeClr val="tx1"/>
                </a:solidFill>
              </a:rPr>
              <a:t>Société, contact, téléphone, adresse et statut.</a:t>
            </a:r>
            <a:endParaRPr lang="en-US" sz="1500" dirty="0"/>
          </a:p>
        </p:txBody>
      </p:sp>
      <p:sp>
        <p:nvSpPr>
          <p:cNvPr id="21" name="anim4-145"/>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46"/>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47"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48"/>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Contrats</a:t>
            </a:r>
            <a:endParaRPr lang="en-US" sz="1500" dirty="0"/>
          </a:p>
          <a:p>
            <a:pPr indent="0" marL="0">
              <a:buNone/>
            </a:pPr>
            <a:r>
              <a:rPr lang="en-US" sz="1400" dirty="0">
                <a:solidFill>
                  <a:schemeClr val="tx1"/>
                </a:solidFill>
              </a:rPr>
              <a:t>Date de contrat et document du contrat joint.</a:t>
            </a:r>
            <a:endParaRPr lang="en-US" sz="1500" dirty="0"/>
          </a:p>
        </p:txBody>
      </p:sp>
      <p:sp>
        <p:nvSpPr>
          <p:cNvPr id="25" name="anim5-149"/>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50"/>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51"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52"/>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Un permis expiré est repéré tout de suite</a:t>
            </a:r>
            <a:endParaRPr lang="en-US" sz="1400" dirty="0"/>
          </a:p>
        </p:txBody>
      </p:sp>
      <p:pic>
        <p:nvPicPr>
          <p:cNvPr id="29" name="anim7-153"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54"/>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contrats des loueurs sont centralisés</a:t>
            </a:r>
            <a:endParaRPr lang="en-US" sz="1400" dirty="0"/>
          </a:p>
        </p:txBody>
      </p:sp>
      <p:pic>
        <p:nvPicPr>
          <p:cNvPr id="31" name="anim8-155"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56"/>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Import des chauffeurs en masse par CSV</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Suivi GPS et zones géographiques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FLOTTE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Tracking › History Tracking · Live Location · Geofence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Savoir où sont les véhicules, et être prévenu quand ils entrent ou sortent d'une zone.</a:t>
            </a:r>
            <a:endParaRPr lang="en-US" sz="1700" dirty="0"/>
          </a:p>
        </p:txBody>
      </p:sp>
      <p:sp>
        <p:nvSpPr>
          <p:cNvPr id="9" name="anim1-157"/>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58"/>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59"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60"/>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Position en direct</a:t>
            </a:r>
            <a:endParaRPr lang="en-US" sz="1500" dirty="0"/>
          </a:p>
          <a:p>
            <a:pPr indent="0" marL="0">
              <a:buNone/>
            </a:pPr>
            <a:r>
              <a:rPr lang="en-US" sz="1400" dirty="0">
                <a:solidFill>
                  <a:schemeClr val="tx1"/>
                </a:solidFill>
              </a:rPr>
              <a:t>Localisation actuelle des véhicules sur la carte.</a:t>
            </a:r>
            <a:endParaRPr lang="en-US" sz="1500" dirty="0"/>
          </a:p>
        </p:txBody>
      </p:sp>
      <p:sp>
        <p:nvSpPr>
          <p:cNvPr id="13" name="anim2-161"/>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62"/>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63"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64"/>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Historique des parcours</a:t>
            </a:r>
            <a:endParaRPr lang="en-US" sz="1500" dirty="0"/>
          </a:p>
          <a:p>
            <a:pPr indent="0" marL="0">
              <a:buNone/>
            </a:pPr>
            <a:r>
              <a:rPr lang="en-US" sz="1400" dirty="0">
                <a:solidFill>
                  <a:schemeClr val="tx1"/>
                </a:solidFill>
              </a:rPr>
              <a:t>Trajet d'un véhicule sur une période choisie.</a:t>
            </a:r>
            <a:endParaRPr lang="en-US" sz="1500" dirty="0"/>
          </a:p>
        </p:txBody>
      </p:sp>
      <p:sp>
        <p:nvSpPr>
          <p:cNvPr id="17" name="anim3-165"/>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66"/>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67"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68"/>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Zones (geofences)</a:t>
            </a:r>
            <a:endParaRPr lang="en-US" sz="1500" dirty="0"/>
          </a:p>
          <a:p>
            <a:pPr indent="0" marL="0">
              <a:buNone/>
            </a:pPr>
            <a:r>
              <a:rPr lang="en-US" sz="1400" dirty="0">
                <a:solidFill>
                  <a:schemeClr val="tx1"/>
                </a:solidFill>
              </a:rPr>
              <a:t>Zones dessinées sur la carte : cercle, rectangle, polygone…</a:t>
            </a:r>
            <a:endParaRPr lang="en-US" sz="1500" dirty="0"/>
          </a:p>
        </p:txBody>
      </p:sp>
      <p:sp>
        <p:nvSpPr>
          <p:cNvPr id="21" name="anim4-169"/>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70"/>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71"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72"/>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Événements de zone</a:t>
            </a:r>
            <a:endParaRPr lang="en-US" sz="1500" dirty="0"/>
          </a:p>
          <a:p>
            <a:pPr indent="0" marL="0">
              <a:buNone/>
            </a:pPr>
            <a:r>
              <a:rPr lang="en-US" sz="1400" dirty="0">
                <a:solidFill>
                  <a:schemeClr val="tx1"/>
                </a:solidFill>
              </a:rPr>
              <a:t>Entrées et sorties enregistrées, avec notification.</a:t>
            </a:r>
            <a:endParaRPr lang="en-US" sz="1500" dirty="0"/>
          </a:p>
        </p:txBody>
      </p:sp>
      <p:sp>
        <p:nvSpPr>
          <p:cNvPr id="25" name="anim5-173"/>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74"/>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75"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176"/>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Contrôler les itinéraires réellement suivis</a:t>
            </a:r>
            <a:endParaRPr lang="en-US" sz="1400" dirty="0"/>
          </a:p>
        </p:txBody>
      </p:sp>
      <p:pic>
        <p:nvPicPr>
          <p:cNvPr id="29" name="anim7-177"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178"/>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Réagir vite en cas d'écart</a:t>
            </a:r>
            <a:endParaRPr lang="en-US" sz="1400" dirty="0"/>
          </a:p>
        </p:txBody>
      </p:sp>
      <p:pic>
        <p:nvPicPr>
          <p:cNvPr id="31" name="anim8-179"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180"/>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Rassurer les clients sur leurs livraisons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Trajets, clients et coupons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ACTIVITÉ COMMERCIALE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Trips · Customer · Coupon Management</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De la réservation à la facturation, chaque trajet est suivi.</a:t>
            </a:r>
            <a:endParaRPr lang="en-US" sz="1700" dirty="0"/>
          </a:p>
        </p:txBody>
      </p:sp>
      <p:sp>
        <p:nvSpPr>
          <p:cNvPr id="9" name="anim1-181"/>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182"/>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183"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184"/>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Réservation</a:t>
            </a:r>
            <a:endParaRPr lang="en-US" sz="1500" dirty="0"/>
          </a:p>
          <a:p>
            <a:pPr indent="0" marL="0">
              <a:buNone/>
            </a:pPr>
            <a:r>
              <a:rPr lang="en-US" sz="1400" dirty="0">
                <a:solidFill>
                  <a:schemeClr val="tx1"/>
                </a:solidFill>
              </a:rPr>
              <a:t>Client, dates, véhicule, chauffeur, départ, arrivée, kilométrage, ramassages.</a:t>
            </a:r>
            <a:endParaRPr lang="en-US" sz="1500" dirty="0"/>
          </a:p>
        </p:txBody>
      </p:sp>
      <p:sp>
        <p:nvSpPr>
          <p:cNvPr id="13" name="anim2-185"/>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186"/>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187"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188"/>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Suivi du trajet</a:t>
            </a:r>
            <a:endParaRPr lang="en-US" sz="1500" dirty="0"/>
          </a:p>
          <a:p>
            <a:pPr indent="0" marL="0">
              <a:buNone/>
            </a:pPr>
            <a:r>
              <a:rPr lang="en-US" sz="1400" dirty="0">
                <a:solidFill>
                  <a:schemeClr val="tx1"/>
                </a:solidFill>
              </a:rPr>
              <a:t>Statut (réservé, commencé…), distance et numéro de réservation.</a:t>
            </a:r>
            <a:endParaRPr lang="en-US" sz="1500" dirty="0"/>
          </a:p>
        </p:txBody>
      </p:sp>
      <p:sp>
        <p:nvSpPr>
          <p:cNvPr id="17" name="anim3-189"/>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190"/>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191"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192"/>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Clients</a:t>
            </a:r>
            <a:endParaRPr lang="en-US" sz="1500" dirty="0"/>
          </a:p>
          <a:p>
            <a:pPr indent="0" marL="0">
              <a:buNone/>
            </a:pPr>
            <a:r>
              <a:rPr lang="en-US" sz="1400" dirty="0">
                <a:solidFill>
                  <a:schemeClr val="tx1"/>
                </a:solidFill>
              </a:rPr>
              <a:t>Coordonnées, solde impayé et statut actif ou inactif.</a:t>
            </a:r>
            <a:endParaRPr lang="en-US" sz="1500" dirty="0"/>
          </a:p>
        </p:txBody>
      </p:sp>
      <p:sp>
        <p:nvSpPr>
          <p:cNvPr id="21" name="anim4-193"/>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194"/>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195"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196"/>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Coupons</a:t>
            </a:r>
            <a:endParaRPr lang="en-US" sz="1500" dirty="0"/>
          </a:p>
          <a:p>
            <a:pPr indent="0" marL="0">
              <a:buNone/>
            </a:pPr>
            <a:r>
              <a:rPr lang="en-US" sz="1400" dirty="0">
                <a:solidFill>
                  <a:schemeClr val="tx1"/>
                </a:solidFill>
              </a:rPr>
              <a:t>Codes de réduction : montant, dates, limite d'utilisation.</a:t>
            </a:r>
            <a:endParaRPr lang="en-US" sz="1500" dirty="0"/>
          </a:p>
        </p:txBody>
      </p:sp>
      <p:sp>
        <p:nvSpPr>
          <p:cNvPr id="25" name="anim5-197"/>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198"/>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199"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00"/>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Chaque trajet lié à un client, un véhicule, un chauffeur</a:t>
            </a:r>
            <a:endParaRPr lang="en-US" sz="1400" dirty="0"/>
          </a:p>
        </p:txBody>
      </p:sp>
      <p:pic>
        <p:nvPicPr>
          <p:cNvPr id="29" name="anim7-201"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02"/>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impayés clients sont visibles</a:t>
            </a:r>
            <a:endParaRPr lang="en-US" sz="1400" dirty="0"/>
          </a:p>
        </p:txBody>
      </p:sp>
      <p:pic>
        <p:nvPicPr>
          <p:cNvPr id="31" name="anim8-203"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04"/>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Confirmation par e-mail ou SMS</a:t>
            </a:r>
            <a:endParaRPr lang="en-US" sz="1400" dirty="0"/>
          </a:p>
        </p:txBody>
      </p:sp>
      <p:sp>
        <p:nvSpPr>
          <p:cNvPr id="34" name="anim9-205"/>
          <p:cNvSpPr txBox="1"/>
          <p:nvPr/>
        </p:nvSpPr>
        <p:spPr>
          <a:xfrm>
            <a:off x="548640" y="6053328"/>
            <a:ext cx="7863840" cy="274320"/>
          </a:xfrm>
          <a:prstGeom prst="rect">
            <a:avLst/>
          </a:prstGeom>
          <a:noFill/>
          <a:ln/>
        </p:spPr>
        <p:txBody>
          <a:bodyPr wrap="square" lIns="0" tIns="0" rIns="0" bIns="0" rtlCol="0" anchor="t"/>
          <a:lstStyle/>
          <a:p>
            <a:pPr indent="0" marL="0">
              <a:buNone/>
            </a:pPr>
            <a:r>
              <a:rPr lang="en-US" sz="1300" b="1" dirty="0">
                <a:solidFill>
                  <a:schemeClr val="accent1"/>
                </a:solidFill>
              </a:rPr>
              <a:t>9 modes de facturation : </a:t>
            </a:r>
            <a:pPr indent="0" marL="0">
              <a:buNone/>
            </a:pPr>
            <a:r>
              <a:rPr lang="en-US" sz="1300" dirty="0">
                <a:solidFill>
                  <a:schemeClr val="tx2"/>
                </a:solidFill>
              </a:rPr>
              <a:t>fixe · tonne · kg · km · trajet · jour · heure · litre · sac</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8" fill="hold">
                      <p:stCondLst>
                        <p:cond delay="indefinite"/>
                        <p:cond evt="onBegin" delay="0">
                          <p:tn val="2"/>
                        </p:cond>
                      </p:stCondLst>
                      <p:childTnLst>
                        <p:par>
                          <p:cTn id="79"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par>
                                <p:cTn id="75" presetID="10" presetClass="entr" presetSubtype="0" fill="hold" nodeType="withEffect">
                                  <p:stCondLst>
                                    <p:cond delay="200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Entretien, pièces et rappels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EXPLOITATION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Maintenance · Parts Stock · Reminder</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Anticiper les entretiens et maîtriser leur coût.</a:t>
            </a:r>
            <a:endParaRPr lang="en-US" sz="1700" dirty="0"/>
          </a:p>
        </p:txBody>
      </p:sp>
      <p:sp>
        <p:nvSpPr>
          <p:cNvPr id="9" name="anim1-206"/>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07"/>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08"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09"/>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Entretiens</a:t>
            </a:r>
            <a:endParaRPr lang="en-US" sz="1500" dirty="0"/>
          </a:p>
          <a:p>
            <a:pPr indent="0" marL="0">
              <a:buNone/>
            </a:pPr>
            <a:r>
              <a:rPr lang="en-US" sz="1400" dirty="0">
                <a:solidFill>
                  <a:schemeClr val="tx1"/>
                </a:solidFill>
              </a:rPr>
              <a:t>Véhicule, dates, mécanicien, fournisseur, coût et pièces utilisées.</a:t>
            </a:r>
            <a:endParaRPr lang="en-US" sz="1500" dirty="0"/>
          </a:p>
        </p:txBody>
      </p:sp>
      <p:sp>
        <p:nvSpPr>
          <p:cNvPr id="13" name="anim2-210"/>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11"/>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12"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13"/>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Mécaniciens et fournisseurs</a:t>
            </a:r>
            <a:endParaRPr lang="en-US" sz="1500" dirty="0"/>
          </a:p>
          <a:p>
            <a:pPr indent="0" marL="0">
              <a:buNone/>
            </a:pPr>
            <a:r>
              <a:rPr lang="en-US" sz="1400" dirty="0">
                <a:solidFill>
                  <a:schemeClr val="tx1"/>
                </a:solidFill>
              </a:rPr>
              <a:t>Annuaire des intervenants, avec catégorie.</a:t>
            </a:r>
            <a:endParaRPr lang="en-US" sz="1500" dirty="0"/>
          </a:p>
        </p:txBody>
      </p:sp>
      <p:sp>
        <p:nvSpPr>
          <p:cNvPr id="17" name="anim3-214"/>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15"/>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16"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17"/>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Stock de pièces</a:t>
            </a:r>
            <a:endParaRPr lang="en-US" sz="1500" dirty="0"/>
          </a:p>
          <a:p>
            <a:pPr indent="0" marL="0">
              <a:buNone/>
            </a:pPr>
            <a:r>
              <a:rPr lang="en-US" sz="1400" dirty="0">
                <a:solidFill>
                  <a:schemeClr val="tx1"/>
                </a:solidFill>
              </a:rPr>
              <a:t>Inventaire, prix et historique des achats avec statut de paiement.</a:t>
            </a:r>
            <a:endParaRPr lang="en-US" sz="1500" dirty="0"/>
          </a:p>
        </p:txBody>
      </p:sp>
      <p:sp>
        <p:nvSpPr>
          <p:cNvPr id="21" name="anim4-218"/>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19"/>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20"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21"/>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Rappels</a:t>
            </a:r>
            <a:endParaRPr lang="en-US" sz="1500" dirty="0"/>
          </a:p>
          <a:p>
            <a:pPr indent="0" marL="0">
              <a:buNone/>
            </a:pPr>
            <a:r>
              <a:rPr lang="en-US" sz="1400" dirty="0">
                <a:solidFill>
                  <a:schemeClr val="tx1"/>
                </a:solidFill>
              </a:rPr>
              <a:t>Échéances par véhicule et service, marquées comme terminées.</a:t>
            </a:r>
            <a:endParaRPr lang="en-US" sz="1500" dirty="0"/>
          </a:p>
        </p:txBody>
      </p:sp>
      <p:sp>
        <p:nvSpPr>
          <p:cNvPr id="25" name="anim5-222"/>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23"/>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224"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25"/>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Moins de pannes grâce aux rappels</a:t>
            </a:r>
            <a:endParaRPr lang="en-US" sz="1400" dirty="0"/>
          </a:p>
        </p:txBody>
      </p:sp>
      <p:pic>
        <p:nvPicPr>
          <p:cNvPr id="29" name="anim7-226"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27"/>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Coût réel de l'entretien par véhicule</a:t>
            </a:r>
            <a:endParaRPr lang="en-US" sz="1400" dirty="0"/>
          </a:p>
        </p:txBody>
      </p:sp>
      <p:pic>
        <p:nvPicPr>
          <p:cNvPr id="31" name="anim8-228"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29"/>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Stock de pièces et achats tracés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Carburant</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EXPLOITATION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Fuel › Fuel Management · Add Fuel · Fuel Vendor</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plein est enregistré et rattaché à un véhicule et un chauffeur.</a:t>
            </a:r>
            <a:endParaRPr lang="en-US" sz="1700" dirty="0"/>
          </a:p>
        </p:txBody>
      </p:sp>
      <p:sp>
        <p:nvSpPr>
          <p:cNvPr id="9" name="anim1-230"/>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31"/>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32"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33"/>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Pleins</a:t>
            </a:r>
            <a:endParaRPr lang="en-US" sz="1500" dirty="0"/>
          </a:p>
          <a:p>
            <a:pPr indent="0" marL="0">
              <a:buNone/>
            </a:pPr>
            <a:r>
              <a:rPr lang="en-US" sz="1400" dirty="0">
                <a:solidFill>
                  <a:schemeClr val="tx1"/>
                </a:solidFill>
              </a:rPr>
              <a:t>Date, véhicule, chauffeur, quantité, montant, compteur et commentaire.</a:t>
            </a:r>
            <a:endParaRPr lang="en-US" sz="1500" dirty="0"/>
          </a:p>
        </p:txBody>
      </p:sp>
      <p:sp>
        <p:nvSpPr>
          <p:cNvPr id="13" name="anim2-234"/>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35"/>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36"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37"/>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Provenance</a:t>
            </a:r>
            <a:endParaRPr lang="en-US" sz="1500" dirty="0"/>
          </a:p>
          <a:p>
            <a:pPr indent="0" marL="0">
              <a:buNone/>
            </a:pPr>
            <a:r>
              <a:rPr lang="en-US" sz="1400" dirty="0">
                <a:solidFill>
                  <a:schemeClr val="tx1"/>
                </a:solidFill>
              </a:rPr>
              <a:t>Cuve interne ou fournisseur extérieur.</a:t>
            </a:r>
            <a:endParaRPr lang="en-US" sz="1500" dirty="0"/>
          </a:p>
        </p:txBody>
      </p:sp>
      <p:sp>
        <p:nvSpPr>
          <p:cNvPr id="17" name="anim3-238"/>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39"/>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40"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41"/>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Cuve</a:t>
            </a:r>
            <a:endParaRPr lang="en-US" sz="1500" dirty="0"/>
          </a:p>
          <a:p>
            <a:pPr indent="0" marL="0">
              <a:buNone/>
            </a:pPr>
            <a:r>
              <a:rPr lang="en-US" sz="1400" dirty="0">
                <a:solidFill>
                  <a:schemeClr val="tx1"/>
                </a:solidFill>
              </a:rPr>
              <a:t>Réapprovisionnement et stock disponible en litres.</a:t>
            </a:r>
            <a:endParaRPr lang="en-US" sz="1500" dirty="0"/>
          </a:p>
        </p:txBody>
      </p:sp>
      <p:sp>
        <p:nvSpPr>
          <p:cNvPr id="21" name="anim4-242"/>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43"/>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44"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45"/>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Fournisseurs</a:t>
            </a:r>
            <a:endParaRPr lang="en-US" sz="1500" dirty="0"/>
          </a:p>
          <a:p>
            <a:pPr indent="0" marL="0">
              <a:buNone/>
            </a:pPr>
            <a:r>
              <a:rPr lang="en-US" sz="1400" dirty="0">
                <a:solidFill>
                  <a:schemeClr val="tx1"/>
                </a:solidFill>
              </a:rPr>
              <a:t>Liste des stations ou fournisseurs de carburant.</a:t>
            </a:r>
            <a:endParaRPr lang="en-US" sz="1500" dirty="0"/>
          </a:p>
        </p:txBody>
      </p:sp>
      <p:sp>
        <p:nvSpPr>
          <p:cNvPr id="25" name="anim5-246"/>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47"/>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248"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49"/>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Repérer une consommation anormale</a:t>
            </a:r>
            <a:endParaRPr lang="en-US" sz="1400" dirty="0"/>
          </a:p>
        </p:txBody>
      </p:sp>
      <p:pic>
        <p:nvPicPr>
          <p:cNvPr id="29" name="anim7-250"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51"/>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Contrôler le stock de la cuve</a:t>
            </a:r>
            <a:endParaRPr lang="en-US" sz="1400" dirty="0"/>
          </a:p>
        </p:txBody>
      </p:sp>
      <p:pic>
        <p:nvPicPr>
          <p:cNvPr id="31" name="anim8-252"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53"/>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Rapport carburant par période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Finances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FINANCES ET PILOTAGE</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Accounts › Accounts · Add Transactions · Transactions · Ac Transfers / Deposit · Category</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Revenus et dépenses enregistrés par compte, catégorie et véhicule.</a:t>
            </a:r>
            <a:endParaRPr lang="en-US" sz="1700" dirty="0"/>
          </a:p>
        </p:txBody>
      </p:sp>
      <p:sp>
        <p:nvSpPr>
          <p:cNvPr id="9" name="anim1-254"/>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255"/>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256"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257"/>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Comptes</a:t>
            </a:r>
            <a:endParaRPr lang="en-US" sz="1500" dirty="0"/>
          </a:p>
          <a:p>
            <a:pPr indent="0" marL="0">
              <a:buNone/>
            </a:pPr>
            <a:r>
              <a:rPr lang="en-US" sz="1400" dirty="0">
                <a:solidFill>
                  <a:schemeClr val="tx1"/>
                </a:solidFill>
              </a:rPr>
              <a:t>Comptes financiers avec leur solde.</a:t>
            </a:r>
            <a:endParaRPr lang="en-US" sz="1500" dirty="0"/>
          </a:p>
        </p:txBody>
      </p:sp>
      <p:sp>
        <p:nvSpPr>
          <p:cNvPr id="13" name="anim2-258"/>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259"/>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260"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261"/>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Transactions</a:t>
            </a:r>
            <a:endParaRPr lang="en-US" sz="1500" dirty="0"/>
          </a:p>
          <a:p>
            <a:pPr indent="0" marL="0">
              <a:buNone/>
            </a:pPr>
            <a:r>
              <a:rPr lang="en-US" sz="1400" dirty="0">
                <a:solidFill>
                  <a:schemeClr val="tx1"/>
                </a:solidFill>
              </a:rPr>
              <a:t>Revenu ou dépense : compte, catégorie, véhicule, montant, référence.</a:t>
            </a:r>
            <a:endParaRPr lang="en-US" sz="1500" dirty="0"/>
          </a:p>
        </p:txBody>
      </p:sp>
      <p:sp>
        <p:nvSpPr>
          <p:cNvPr id="17" name="anim3-262"/>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263"/>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264"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265"/>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Virements et dépôts</a:t>
            </a:r>
            <a:endParaRPr lang="en-US" sz="1500" dirty="0"/>
          </a:p>
          <a:p>
            <a:pPr indent="0" marL="0">
              <a:buNone/>
            </a:pPr>
            <a:r>
              <a:rPr lang="en-US" sz="1400" dirty="0">
                <a:solidFill>
                  <a:schemeClr val="tx1"/>
                </a:solidFill>
              </a:rPr>
              <a:t>Mouvements d'un compte à un autre.</a:t>
            </a:r>
            <a:endParaRPr lang="en-US" sz="1500" dirty="0"/>
          </a:p>
        </p:txBody>
      </p:sp>
      <p:sp>
        <p:nvSpPr>
          <p:cNvPr id="21" name="anim4-266"/>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267"/>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268"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269"/>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Catégories</a:t>
            </a:r>
            <a:endParaRPr lang="en-US" sz="1500" dirty="0"/>
          </a:p>
          <a:p>
            <a:pPr indent="0" marL="0">
              <a:buNone/>
            </a:pPr>
            <a:r>
              <a:rPr lang="en-US" sz="1400" dirty="0">
                <a:solidFill>
                  <a:schemeClr val="tx1"/>
                </a:solidFill>
              </a:rPr>
              <a:t>Revenus de trajet, carburant, salaires, transfrontalier…</a:t>
            </a:r>
            <a:endParaRPr lang="en-US" sz="1500" dirty="0"/>
          </a:p>
        </p:txBody>
      </p:sp>
      <p:sp>
        <p:nvSpPr>
          <p:cNvPr id="25" name="anim5-270"/>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271"/>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272"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273"/>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Rentabilité visible par véhicule</a:t>
            </a:r>
            <a:endParaRPr lang="en-US" sz="1400" dirty="0"/>
          </a:p>
        </p:txBody>
      </p:sp>
      <p:pic>
        <p:nvPicPr>
          <p:cNvPr id="29" name="anim7-274"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275"/>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Historique filtrable avec totaux</a:t>
            </a:r>
            <a:endParaRPr lang="en-US" sz="1400" dirty="0"/>
          </a:p>
        </p:txBody>
      </p:sp>
      <p:pic>
        <p:nvPicPr>
          <p:cNvPr id="31" name="anim8-276"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277"/>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Catégories adaptées à l'entreprise</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11 rapports prêts à l'emploi</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FINANCES ET PILOTAGE</a:t>
            </a:r>
            <a:endParaRPr lang="en-US" sz="1000" dirty="0"/>
          </a:p>
        </p:txBody>
      </p:sp>
      <p:sp>
        <p:nvSpPr>
          <p:cNvPr id="7" name="Text 4"/>
          <p:cNvSpPr txBox="1"/>
          <p:nvPr/>
        </p:nvSpPr>
        <p:spPr>
          <a:xfrm>
            <a:off x="548640" y="1417320"/>
            <a:ext cx="10972800" cy="411480"/>
          </a:xfrm>
          <a:prstGeom prst="rect">
            <a:avLst/>
          </a:prstGeom>
          <a:noFill/>
          <a:ln/>
        </p:spPr>
        <p:txBody>
          <a:bodyPr wrap="square" rtlCol="0" anchor="t"/>
          <a:lstStyle/>
          <a:p>
            <a:pPr indent="0" marL="0">
              <a:buNone/>
            </a:pPr>
            <a:r>
              <a:rPr lang="en-US" sz="1700" dirty="0">
                <a:solidFill>
                  <a:schemeClr val="tx2"/>
                </a:solidFill>
              </a:rPr>
              <a:t>Choisir une période, un filtre, puis « Generate Report ».</a:t>
            </a:r>
            <a:endParaRPr lang="en-US" sz="1700" dirty="0"/>
          </a:p>
        </p:txBody>
      </p:sp>
      <p:sp>
        <p:nvSpPr>
          <p:cNvPr id="8" name="anim1-278"/>
          <p:cNvSpPr/>
          <p:nvPr/>
        </p:nvSpPr>
        <p:spPr>
          <a:xfrm>
            <a:off x="54864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279"/>
          <p:cNvSpPr/>
          <p:nvPr/>
        </p:nvSpPr>
        <p:spPr>
          <a:xfrm>
            <a:off x="749808" y="2286000"/>
            <a:ext cx="594360" cy="594360"/>
          </a:xfrm>
          <a:prstGeom prst="roundRect">
            <a:avLst>
              <a:gd name="adj" fmla="val 22000"/>
            </a:avLst>
          </a:prstGeom>
          <a:solidFill>
            <a:schemeClr val="bg2"/>
          </a:solidFill>
          <a:ln w="12700">
            <a:solidFill>
              <a:schemeClr val="bg2"/>
            </a:solidFill>
            <a:prstDash val="solid"/>
          </a:ln>
        </p:spPr>
      </p:sp>
      <p:pic>
        <p:nvPicPr>
          <p:cNvPr id="10" name="anim1-280" descr="preencoded.png">    </p:cNvPr>
          <p:cNvPicPr>
            <a:picLocks noChangeAspect="1"/>
          </p:cNvPicPr>
          <p:nvPr/>
        </p:nvPicPr>
        <p:blipFill>
          <a:blip r:embed="rId2"/>
          <a:stretch>
            <a:fillRect/>
          </a:stretch>
        </p:blipFill>
        <p:spPr>
          <a:xfrm>
            <a:off x="904342" y="2440534"/>
            <a:ext cx="285293" cy="285293"/>
          </a:xfrm>
          <a:prstGeom prst="rect">
            <a:avLst/>
          </a:prstGeom>
        </p:spPr>
      </p:pic>
      <p:sp>
        <p:nvSpPr>
          <p:cNvPr id="11" name="anim1-281"/>
          <p:cNvSpPr txBox="1"/>
          <p:nvPr/>
        </p:nvSpPr>
        <p:spPr>
          <a:xfrm>
            <a:off x="1481328" y="2011680"/>
            <a:ext cx="1645920" cy="1143000"/>
          </a:xfrm>
          <a:prstGeom prst="rect">
            <a:avLst/>
          </a:prstGeom>
          <a:noFill/>
          <a:ln/>
        </p:spPr>
        <p:txBody>
          <a:bodyPr wrap="square" rtlCol="0" anchor="ctr"/>
          <a:lstStyle/>
          <a:p>
            <a:pPr indent="0" marL="0">
              <a:buNone/>
            </a:pPr>
            <a:r>
              <a:rPr lang="en-US" sz="1500" b="1" dirty="0">
                <a:solidFill>
                  <a:schemeClr val="tx2"/>
                </a:solidFill>
              </a:rPr>
              <a:t>Réservations</a:t>
            </a:r>
            <a:endParaRPr lang="en-US" sz="1500" dirty="0"/>
          </a:p>
        </p:txBody>
      </p:sp>
      <p:sp>
        <p:nvSpPr>
          <p:cNvPr id="12" name="anim2-282"/>
          <p:cNvSpPr/>
          <p:nvPr/>
        </p:nvSpPr>
        <p:spPr>
          <a:xfrm>
            <a:off x="338328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283"/>
          <p:cNvSpPr/>
          <p:nvPr/>
        </p:nvSpPr>
        <p:spPr>
          <a:xfrm>
            <a:off x="3584448" y="2286000"/>
            <a:ext cx="594360" cy="594360"/>
          </a:xfrm>
          <a:prstGeom prst="roundRect">
            <a:avLst>
              <a:gd name="adj" fmla="val 22000"/>
            </a:avLst>
          </a:prstGeom>
          <a:solidFill>
            <a:schemeClr val="bg2"/>
          </a:solidFill>
          <a:ln w="12700">
            <a:solidFill>
              <a:schemeClr val="bg2"/>
            </a:solidFill>
            <a:prstDash val="solid"/>
          </a:ln>
        </p:spPr>
      </p:sp>
      <p:pic>
        <p:nvPicPr>
          <p:cNvPr id="14" name="anim2-284" descr="preencoded.png">    </p:cNvPr>
          <p:cNvPicPr>
            <a:picLocks noChangeAspect="1"/>
          </p:cNvPicPr>
          <p:nvPr/>
        </p:nvPicPr>
        <p:blipFill>
          <a:blip r:embed="rId3"/>
          <a:stretch>
            <a:fillRect/>
          </a:stretch>
        </p:blipFill>
        <p:spPr>
          <a:xfrm>
            <a:off x="3738982" y="2440534"/>
            <a:ext cx="285293" cy="285293"/>
          </a:xfrm>
          <a:prstGeom prst="rect">
            <a:avLst/>
          </a:prstGeom>
        </p:spPr>
      </p:pic>
      <p:sp>
        <p:nvSpPr>
          <p:cNvPr id="15" name="anim2-285"/>
          <p:cNvSpPr txBox="1"/>
          <p:nvPr/>
        </p:nvSpPr>
        <p:spPr>
          <a:xfrm>
            <a:off x="4315968" y="2011680"/>
            <a:ext cx="1645920" cy="1143000"/>
          </a:xfrm>
          <a:prstGeom prst="rect">
            <a:avLst/>
          </a:prstGeom>
          <a:noFill/>
          <a:ln/>
        </p:spPr>
        <p:txBody>
          <a:bodyPr wrap="square" rtlCol="0" anchor="ctr"/>
          <a:lstStyle/>
          <a:p>
            <a:pPr indent="0" marL="0">
              <a:buNone/>
            </a:pPr>
            <a:r>
              <a:rPr lang="en-US" sz="1500" b="1" dirty="0">
                <a:solidFill>
                  <a:schemeClr val="tx2"/>
                </a:solidFill>
              </a:rPr>
              <a:t>Revenus et dépenses</a:t>
            </a:r>
            <a:endParaRPr lang="en-US" sz="1500" dirty="0"/>
          </a:p>
        </p:txBody>
      </p:sp>
      <p:sp>
        <p:nvSpPr>
          <p:cNvPr id="16" name="anim3-286"/>
          <p:cNvSpPr/>
          <p:nvPr/>
        </p:nvSpPr>
        <p:spPr>
          <a:xfrm>
            <a:off x="621792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3-287"/>
          <p:cNvSpPr/>
          <p:nvPr/>
        </p:nvSpPr>
        <p:spPr>
          <a:xfrm>
            <a:off x="6419088" y="2286000"/>
            <a:ext cx="594360" cy="594360"/>
          </a:xfrm>
          <a:prstGeom prst="roundRect">
            <a:avLst>
              <a:gd name="adj" fmla="val 22000"/>
            </a:avLst>
          </a:prstGeom>
          <a:solidFill>
            <a:schemeClr val="bg2"/>
          </a:solidFill>
          <a:ln w="12700">
            <a:solidFill>
              <a:schemeClr val="bg2"/>
            </a:solidFill>
            <a:prstDash val="solid"/>
          </a:ln>
        </p:spPr>
      </p:sp>
      <p:pic>
        <p:nvPicPr>
          <p:cNvPr id="18" name="anim3-288" descr="preencoded.png">    </p:cNvPr>
          <p:cNvPicPr>
            <a:picLocks noChangeAspect="1"/>
          </p:cNvPicPr>
          <p:nvPr/>
        </p:nvPicPr>
        <p:blipFill>
          <a:blip r:embed="rId4"/>
          <a:stretch>
            <a:fillRect/>
          </a:stretch>
        </p:blipFill>
        <p:spPr>
          <a:xfrm>
            <a:off x="6573622" y="2440534"/>
            <a:ext cx="285293" cy="285293"/>
          </a:xfrm>
          <a:prstGeom prst="rect">
            <a:avLst/>
          </a:prstGeom>
        </p:spPr>
      </p:pic>
      <p:sp>
        <p:nvSpPr>
          <p:cNvPr id="19" name="anim3-289"/>
          <p:cNvSpPr txBox="1"/>
          <p:nvPr/>
        </p:nvSpPr>
        <p:spPr>
          <a:xfrm>
            <a:off x="7150608" y="2011680"/>
            <a:ext cx="1645920" cy="1143000"/>
          </a:xfrm>
          <a:prstGeom prst="rect">
            <a:avLst/>
          </a:prstGeom>
          <a:noFill/>
          <a:ln/>
        </p:spPr>
        <p:txBody>
          <a:bodyPr wrap="square" rtlCol="0" anchor="ctr"/>
          <a:lstStyle/>
          <a:p>
            <a:pPr indent="0" marL="0">
              <a:buNone/>
            </a:pPr>
            <a:r>
              <a:rPr lang="en-US" sz="1500" b="1" dirty="0">
                <a:solidFill>
                  <a:schemeClr val="tx2"/>
                </a:solidFill>
              </a:rPr>
              <a:t>Carburant</a:t>
            </a:r>
            <a:endParaRPr lang="en-US" sz="1500" dirty="0"/>
          </a:p>
        </p:txBody>
      </p:sp>
      <p:sp>
        <p:nvSpPr>
          <p:cNvPr id="20" name="anim4-290"/>
          <p:cNvSpPr/>
          <p:nvPr/>
        </p:nvSpPr>
        <p:spPr>
          <a:xfrm>
            <a:off x="9052560" y="20116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1" name="anim4-291"/>
          <p:cNvSpPr/>
          <p:nvPr/>
        </p:nvSpPr>
        <p:spPr>
          <a:xfrm>
            <a:off x="9253728" y="2286000"/>
            <a:ext cx="594360" cy="594360"/>
          </a:xfrm>
          <a:prstGeom prst="roundRect">
            <a:avLst>
              <a:gd name="adj" fmla="val 22000"/>
            </a:avLst>
          </a:prstGeom>
          <a:solidFill>
            <a:schemeClr val="bg2"/>
          </a:solidFill>
          <a:ln w="12700">
            <a:solidFill>
              <a:schemeClr val="bg2"/>
            </a:solidFill>
            <a:prstDash val="solid"/>
          </a:ln>
        </p:spPr>
      </p:sp>
      <p:pic>
        <p:nvPicPr>
          <p:cNvPr id="22" name="anim4-292" descr="preencoded.png">    </p:cNvPr>
          <p:cNvPicPr>
            <a:picLocks noChangeAspect="1"/>
          </p:cNvPicPr>
          <p:nvPr/>
        </p:nvPicPr>
        <p:blipFill>
          <a:blip r:embed="rId5"/>
          <a:stretch>
            <a:fillRect/>
          </a:stretch>
        </p:blipFill>
        <p:spPr>
          <a:xfrm>
            <a:off x="9408262" y="2440534"/>
            <a:ext cx="285293" cy="285293"/>
          </a:xfrm>
          <a:prstGeom prst="rect">
            <a:avLst/>
          </a:prstGeom>
        </p:spPr>
      </p:pic>
      <p:sp>
        <p:nvSpPr>
          <p:cNvPr id="23" name="anim4-293"/>
          <p:cNvSpPr txBox="1"/>
          <p:nvPr/>
        </p:nvSpPr>
        <p:spPr>
          <a:xfrm>
            <a:off x="9985248" y="2011680"/>
            <a:ext cx="1645920" cy="1143000"/>
          </a:xfrm>
          <a:prstGeom prst="rect">
            <a:avLst/>
          </a:prstGeom>
          <a:noFill/>
          <a:ln/>
        </p:spPr>
        <p:txBody>
          <a:bodyPr wrap="square" rtlCol="0" anchor="ctr"/>
          <a:lstStyle/>
          <a:p>
            <a:pPr indent="0" marL="0">
              <a:buNone/>
            </a:pPr>
            <a:r>
              <a:rPr lang="en-US" sz="1500" b="1" dirty="0">
                <a:solidFill>
                  <a:schemeClr val="tx2"/>
                </a:solidFill>
              </a:rPr>
              <a:t>Chauffeurs</a:t>
            </a:r>
            <a:endParaRPr lang="en-US" sz="1500" dirty="0"/>
          </a:p>
        </p:txBody>
      </p:sp>
      <p:sp>
        <p:nvSpPr>
          <p:cNvPr id="24" name="anim5-294"/>
          <p:cNvSpPr/>
          <p:nvPr/>
        </p:nvSpPr>
        <p:spPr>
          <a:xfrm>
            <a:off x="54864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5" name="anim5-295"/>
          <p:cNvSpPr/>
          <p:nvPr/>
        </p:nvSpPr>
        <p:spPr>
          <a:xfrm>
            <a:off x="749808" y="3657600"/>
            <a:ext cx="594360" cy="594360"/>
          </a:xfrm>
          <a:prstGeom prst="roundRect">
            <a:avLst>
              <a:gd name="adj" fmla="val 22000"/>
            </a:avLst>
          </a:prstGeom>
          <a:solidFill>
            <a:schemeClr val="bg2"/>
          </a:solidFill>
          <a:ln w="12700">
            <a:solidFill>
              <a:schemeClr val="bg2"/>
            </a:solidFill>
            <a:prstDash val="solid"/>
          </a:ln>
        </p:spPr>
      </p:sp>
      <p:pic>
        <p:nvPicPr>
          <p:cNvPr id="26" name="anim5-296" descr="preencoded.png">    </p:cNvPr>
          <p:cNvPicPr>
            <a:picLocks noChangeAspect="1"/>
          </p:cNvPicPr>
          <p:nvPr/>
        </p:nvPicPr>
        <p:blipFill>
          <a:blip r:embed="rId6"/>
          <a:stretch>
            <a:fillRect/>
          </a:stretch>
        </p:blipFill>
        <p:spPr>
          <a:xfrm>
            <a:off x="904342" y="3812134"/>
            <a:ext cx="285293" cy="285293"/>
          </a:xfrm>
          <a:prstGeom prst="rect">
            <a:avLst/>
          </a:prstGeom>
        </p:spPr>
      </p:pic>
      <p:sp>
        <p:nvSpPr>
          <p:cNvPr id="27" name="anim5-297"/>
          <p:cNvSpPr txBox="1"/>
          <p:nvPr/>
        </p:nvSpPr>
        <p:spPr>
          <a:xfrm>
            <a:off x="1481328" y="3383280"/>
            <a:ext cx="1645920" cy="1143000"/>
          </a:xfrm>
          <a:prstGeom prst="rect">
            <a:avLst/>
          </a:prstGeom>
          <a:noFill/>
          <a:ln/>
        </p:spPr>
        <p:txBody>
          <a:bodyPr wrap="square" rtlCol="0" anchor="ctr"/>
          <a:lstStyle/>
          <a:p>
            <a:pPr indent="0" marL="0">
              <a:buNone/>
            </a:pPr>
            <a:r>
              <a:rPr lang="en-US" sz="1500" b="1" dirty="0">
                <a:solidFill>
                  <a:schemeClr val="tx2"/>
                </a:solidFill>
              </a:rPr>
              <a:t>Coupons</a:t>
            </a:r>
            <a:endParaRPr lang="en-US" sz="1500" dirty="0"/>
          </a:p>
        </p:txBody>
      </p:sp>
      <p:sp>
        <p:nvSpPr>
          <p:cNvPr id="28" name="anim6-298"/>
          <p:cNvSpPr/>
          <p:nvPr/>
        </p:nvSpPr>
        <p:spPr>
          <a:xfrm>
            <a:off x="338328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9" name="anim6-299"/>
          <p:cNvSpPr/>
          <p:nvPr/>
        </p:nvSpPr>
        <p:spPr>
          <a:xfrm>
            <a:off x="3584448" y="3657600"/>
            <a:ext cx="594360" cy="594360"/>
          </a:xfrm>
          <a:prstGeom prst="roundRect">
            <a:avLst>
              <a:gd name="adj" fmla="val 22000"/>
            </a:avLst>
          </a:prstGeom>
          <a:solidFill>
            <a:schemeClr val="bg2"/>
          </a:solidFill>
          <a:ln w="12700">
            <a:solidFill>
              <a:schemeClr val="bg2"/>
            </a:solidFill>
            <a:prstDash val="solid"/>
          </a:ln>
        </p:spPr>
      </p:sp>
      <p:pic>
        <p:nvPicPr>
          <p:cNvPr id="30" name="anim6-300" descr="preencoded.png">    </p:cNvPr>
          <p:cNvPicPr>
            <a:picLocks noChangeAspect="1"/>
          </p:cNvPicPr>
          <p:nvPr/>
        </p:nvPicPr>
        <p:blipFill>
          <a:blip r:embed="rId7"/>
          <a:stretch>
            <a:fillRect/>
          </a:stretch>
        </p:blipFill>
        <p:spPr>
          <a:xfrm>
            <a:off x="3738982" y="3812134"/>
            <a:ext cx="285293" cy="285293"/>
          </a:xfrm>
          <a:prstGeom prst="rect">
            <a:avLst/>
          </a:prstGeom>
        </p:spPr>
      </p:pic>
      <p:sp>
        <p:nvSpPr>
          <p:cNvPr id="31" name="anim6-301"/>
          <p:cNvSpPr txBox="1"/>
          <p:nvPr/>
        </p:nvSpPr>
        <p:spPr>
          <a:xfrm>
            <a:off x="4315968" y="3383280"/>
            <a:ext cx="1645920" cy="1143000"/>
          </a:xfrm>
          <a:prstGeom prst="rect">
            <a:avLst/>
          </a:prstGeom>
          <a:noFill/>
          <a:ln/>
        </p:spPr>
        <p:txBody>
          <a:bodyPr wrap="square" rtlCol="0" anchor="ctr"/>
          <a:lstStyle/>
          <a:p>
            <a:pPr indent="0" marL="0">
              <a:buNone/>
            </a:pPr>
            <a:r>
              <a:rPr lang="en-US" sz="1500" b="1" dirty="0">
                <a:solidFill>
                  <a:schemeClr val="tx2"/>
                </a:solidFill>
              </a:rPr>
              <a:t>Rappels</a:t>
            </a:r>
            <a:endParaRPr lang="en-US" sz="1500" dirty="0"/>
          </a:p>
        </p:txBody>
      </p:sp>
      <p:sp>
        <p:nvSpPr>
          <p:cNvPr id="32" name="anim7-302"/>
          <p:cNvSpPr/>
          <p:nvPr/>
        </p:nvSpPr>
        <p:spPr>
          <a:xfrm>
            <a:off x="6217920" y="3383280"/>
            <a:ext cx="2651760" cy="1143000"/>
          </a:xfrm>
          <a:prstGeom prst="roundRect">
            <a:avLst>
              <a:gd name="adj" fmla="val 96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33" name="anim7-303"/>
          <p:cNvSpPr/>
          <p:nvPr/>
        </p:nvSpPr>
        <p:spPr>
          <a:xfrm>
            <a:off x="6419088" y="3657600"/>
            <a:ext cx="594360" cy="594360"/>
          </a:xfrm>
          <a:prstGeom prst="roundRect">
            <a:avLst>
              <a:gd name="adj" fmla="val 22000"/>
            </a:avLst>
          </a:prstGeom>
          <a:solidFill>
            <a:schemeClr val="bg2"/>
          </a:solidFill>
          <a:ln w="12700">
            <a:solidFill>
              <a:schemeClr val="bg2"/>
            </a:solidFill>
            <a:prstDash val="solid"/>
          </a:ln>
        </p:spPr>
      </p:sp>
      <p:pic>
        <p:nvPicPr>
          <p:cNvPr id="34" name="anim7-304" descr="preencoded.png">    </p:cNvPr>
          <p:cNvPicPr>
            <a:picLocks noChangeAspect="1"/>
          </p:cNvPicPr>
          <p:nvPr/>
        </p:nvPicPr>
        <p:blipFill>
          <a:blip r:embed="rId8"/>
          <a:stretch>
            <a:fillRect/>
          </a:stretch>
        </p:blipFill>
        <p:spPr>
          <a:xfrm>
            <a:off x="6573622" y="3812134"/>
            <a:ext cx="285293" cy="285293"/>
          </a:xfrm>
          <a:prstGeom prst="rect">
            <a:avLst/>
          </a:prstGeom>
        </p:spPr>
      </p:pic>
      <p:sp>
        <p:nvSpPr>
          <p:cNvPr id="35" name="anim7-305"/>
          <p:cNvSpPr txBox="1"/>
          <p:nvPr/>
        </p:nvSpPr>
        <p:spPr>
          <a:xfrm>
            <a:off x="7150608" y="3383280"/>
            <a:ext cx="1645920" cy="1143000"/>
          </a:xfrm>
          <a:prstGeom prst="rect">
            <a:avLst/>
          </a:prstGeom>
          <a:noFill/>
          <a:ln/>
        </p:spPr>
        <p:txBody>
          <a:bodyPr wrap="square" rtlCol="0" anchor="ctr"/>
          <a:lstStyle/>
          <a:p>
            <a:pPr indent="0" marL="0">
              <a:buNone/>
            </a:pPr>
            <a:r>
              <a:rPr lang="en-US" sz="1500" b="1" dirty="0">
                <a:solidFill>
                  <a:schemeClr val="tx2"/>
                </a:solidFill>
              </a:rPr>
              <a:t>Entretien</a:t>
            </a:r>
            <a:endParaRPr lang="en-US" sz="1500" dirty="0"/>
          </a:p>
        </p:txBody>
      </p:sp>
      <p:sp>
        <p:nvSpPr>
          <p:cNvPr id="36" name="anim8-306"/>
          <p:cNvSpPr/>
          <p:nvPr/>
        </p:nvSpPr>
        <p:spPr>
          <a:xfrm>
            <a:off x="9052560" y="33832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37" name="anim8-307"/>
          <p:cNvSpPr/>
          <p:nvPr/>
        </p:nvSpPr>
        <p:spPr>
          <a:xfrm>
            <a:off x="9253728" y="3657600"/>
            <a:ext cx="594360" cy="594360"/>
          </a:xfrm>
          <a:prstGeom prst="roundRect">
            <a:avLst>
              <a:gd name="adj" fmla="val 22000"/>
            </a:avLst>
          </a:prstGeom>
          <a:solidFill>
            <a:schemeClr val="accent1"/>
          </a:solidFill>
          <a:ln w="12700">
            <a:solidFill>
              <a:schemeClr val="accent1"/>
            </a:solidFill>
            <a:prstDash val="solid"/>
          </a:ln>
        </p:spPr>
      </p:sp>
      <p:pic>
        <p:nvPicPr>
          <p:cNvPr id="38" name="anim8-308" descr="preencoded.png">    </p:cNvPr>
          <p:cNvPicPr>
            <a:picLocks noChangeAspect="1"/>
          </p:cNvPicPr>
          <p:nvPr/>
        </p:nvPicPr>
        <p:blipFill>
          <a:blip r:embed="rId9"/>
          <a:stretch>
            <a:fillRect/>
          </a:stretch>
        </p:blipFill>
        <p:spPr>
          <a:xfrm>
            <a:off x="9408262" y="3812134"/>
            <a:ext cx="285293" cy="285293"/>
          </a:xfrm>
          <a:prstGeom prst="rect">
            <a:avLst/>
          </a:prstGeom>
        </p:spPr>
      </p:pic>
      <p:sp>
        <p:nvSpPr>
          <p:cNvPr id="39" name="anim8-309"/>
          <p:cNvSpPr txBox="1"/>
          <p:nvPr/>
        </p:nvSpPr>
        <p:spPr>
          <a:xfrm>
            <a:off x="9985248" y="3383280"/>
            <a:ext cx="1645920" cy="1143000"/>
          </a:xfrm>
          <a:prstGeom prst="rect">
            <a:avLst/>
          </a:prstGeom>
          <a:noFill/>
          <a:ln/>
        </p:spPr>
        <p:txBody>
          <a:bodyPr wrap="square" rtlCol="0" anchor="ctr"/>
          <a:lstStyle/>
          <a:p>
            <a:pPr indent="0" marL="0">
              <a:buNone/>
            </a:pPr>
            <a:r>
              <a:rPr lang="en-US" sz="1500" b="1" dirty="0">
                <a:solidFill>
                  <a:schemeClr val="bg1"/>
                </a:solidFill>
              </a:rPr>
              <a:t>Top revenus</a:t>
            </a:r>
            <a:endParaRPr lang="en-US" sz="1500" dirty="0"/>
          </a:p>
        </p:txBody>
      </p:sp>
      <p:sp>
        <p:nvSpPr>
          <p:cNvPr id="40" name="anim9-310"/>
          <p:cNvSpPr/>
          <p:nvPr/>
        </p:nvSpPr>
        <p:spPr>
          <a:xfrm>
            <a:off x="54864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1" name="anim9-311"/>
          <p:cNvSpPr/>
          <p:nvPr/>
        </p:nvSpPr>
        <p:spPr>
          <a:xfrm>
            <a:off x="749808" y="5029200"/>
            <a:ext cx="594360" cy="594360"/>
          </a:xfrm>
          <a:prstGeom prst="roundRect">
            <a:avLst>
              <a:gd name="adj" fmla="val 22000"/>
            </a:avLst>
          </a:prstGeom>
          <a:solidFill>
            <a:schemeClr val="accent1"/>
          </a:solidFill>
          <a:ln w="12700">
            <a:solidFill>
              <a:schemeClr val="accent1"/>
            </a:solidFill>
            <a:prstDash val="solid"/>
          </a:ln>
        </p:spPr>
      </p:sp>
      <p:pic>
        <p:nvPicPr>
          <p:cNvPr id="42" name="anim9-312" descr="preencoded.png">    </p:cNvPr>
          <p:cNvPicPr>
            <a:picLocks noChangeAspect="1"/>
          </p:cNvPicPr>
          <p:nvPr/>
        </p:nvPicPr>
        <p:blipFill>
          <a:blip r:embed="rId10"/>
          <a:stretch>
            <a:fillRect/>
          </a:stretch>
        </p:blipFill>
        <p:spPr>
          <a:xfrm>
            <a:off x="904342" y="5183734"/>
            <a:ext cx="285293" cy="285293"/>
          </a:xfrm>
          <a:prstGeom prst="rect">
            <a:avLst/>
          </a:prstGeom>
        </p:spPr>
      </p:pic>
      <p:sp>
        <p:nvSpPr>
          <p:cNvPr id="43" name="anim9-313"/>
          <p:cNvSpPr txBox="1"/>
          <p:nvPr/>
        </p:nvSpPr>
        <p:spPr>
          <a:xfrm>
            <a:off x="1481328" y="4754880"/>
            <a:ext cx="1645920" cy="1143000"/>
          </a:xfrm>
          <a:prstGeom prst="rect">
            <a:avLst/>
          </a:prstGeom>
          <a:noFill/>
          <a:ln/>
        </p:spPr>
        <p:txBody>
          <a:bodyPr wrap="square" rtlCol="0" anchor="ctr"/>
          <a:lstStyle/>
          <a:p>
            <a:pPr indent="0" marL="0">
              <a:buNone/>
            </a:pPr>
            <a:r>
              <a:rPr lang="en-US" sz="1500" b="1" dirty="0">
                <a:solidFill>
                  <a:schemeClr val="bg1"/>
                </a:solidFill>
              </a:rPr>
              <a:t>Top dépenses</a:t>
            </a:r>
            <a:endParaRPr lang="en-US" sz="1500" dirty="0"/>
          </a:p>
        </p:txBody>
      </p:sp>
      <p:sp>
        <p:nvSpPr>
          <p:cNvPr id="44" name="anim10-314"/>
          <p:cNvSpPr/>
          <p:nvPr/>
        </p:nvSpPr>
        <p:spPr>
          <a:xfrm>
            <a:off x="338328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5" name="anim10-315"/>
          <p:cNvSpPr/>
          <p:nvPr/>
        </p:nvSpPr>
        <p:spPr>
          <a:xfrm>
            <a:off x="3584448" y="5029200"/>
            <a:ext cx="594360" cy="594360"/>
          </a:xfrm>
          <a:prstGeom prst="roundRect">
            <a:avLst>
              <a:gd name="adj" fmla="val 22000"/>
            </a:avLst>
          </a:prstGeom>
          <a:solidFill>
            <a:schemeClr val="accent1"/>
          </a:solidFill>
          <a:ln w="12700">
            <a:solidFill>
              <a:schemeClr val="accent1"/>
            </a:solidFill>
            <a:prstDash val="solid"/>
          </a:ln>
        </p:spPr>
      </p:sp>
      <p:pic>
        <p:nvPicPr>
          <p:cNvPr id="46" name="anim10-316" descr="preencoded.png">    </p:cNvPr>
          <p:cNvPicPr>
            <a:picLocks noChangeAspect="1"/>
          </p:cNvPicPr>
          <p:nvPr/>
        </p:nvPicPr>
        <p:blipFill>
          <a:blip r:embed="rId11"/>
          <a:stretch>
            <a:fillRect/>
          </a:stretch>
        </p:blipFill>
        <p:spPr>
          <a:xfrm>
            <a:off x="3738982" y="5183734"/>
            <a:ext cx="285293" cy="285293"/>
          </a:xfrm>
          <a:prstGeom prst="rect">
            <a:avLst/>
          </a:prstGeom>
        </p:spPr>
      </p:pic>
      <p:sp>
        <p:nvSpPr>
          <p:cNvPr id="47" name="anim10-317"/>
          <p:cNvSpPr txBox="1"/>
          <p:nvPr/>
        </p:nvSpPr>
        <p:spPr>
          <a:xfrm>
            <a:off x="4315968" y="4754880"/>
            <a:ext cx="1645920" cy="1143000"/>
          </a:xfrm>
          <a:prstGeom prst="rect">
            <a:avLst/>
          </a:prstGeom>
          <a:noFill/>
          <a:ln/>
        </p:spPr>
        <p:txBody>
          <a:bodyPr wrap="square" rtlCol="0" anchor="ctr"/>
          <a:lstStyle/>
          <a:p>
            <a:pPr indent="0" marL="0">
              <a:buNone/>
            </a:pPr>
            <a:r>
              <a:rPr lang="en-US" sz="1500" b="1" dirty="0">
                <a:solidFill>
                  <a:schemeClr val="bg1"/>
                </a:solidFill>
              </a:rPr>
              <a:t>Top véhicules</a:t>
            </a:r>
            <a:endParaRPr lang="en-US" sz="1500" dirty="0"/>
          </a:p>
        </p:txBody>
      </p:sp>
      <p:sp>
        <p:nvSpPr>
          <p:cNvPr id="48" name="anim11-318"/>
          <p:cNvSpPr/>
          <p:nvPr/>
        </p:nvSpPr>
        <p:spPr>
          <a:xfrm>
            <a:off x="6217920" y="4754880"/>
            <a:ext cx="2651760" cy="1143000"/>
          </a:xfrm>
          <a:prstGeom prst="roundRect">
            <a:avLst>
              <a:gd name="adj" fmla="val 9600"/>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49" name="anim11-319"/>
          <p:cNvSpPr/>
          <p:nvPr/>
        </p:nvSpPr>
        <p:spPr>
          <a:xfrm>
            <a:off x="6419088" y="5029200"/>
            <a:ext cx="594360" cy="594360"/>
          </a:xfrm>
          <a:prstGeom prst="roundRect">
            <a:avLst>
              <a:gd name="adj" fmla="val 22000"/>
            </a:avLst>
          </a:prstGeom>
          <a:solidFill>
            <a:schemeClr val="accent1"/>
          </a:solidFill>
          <a:ln w="12700">
            <a:solidFill>
              <a:schemeClr val="accent1"/>
            </a:solidFill>
            <a:prstDash val="solid"/>
          </a:ln>
        </p:spPr>
      </p:sp>
      <p:pic>
        <p:nvPicPr>
          <p:cNvPr id="50" name="anim11-320" descr="preencoded.png">    </p:cNvPr>
          <p:cNvPicPr>
            <a:picLocks noChangeAspect="1"/>
          </p:cNvPicPr>
          <p:nvPr/>
        </p:nvPicPr>
        <p:blipFill>
          <a:blip r:embed="rId12"/>
          <a:stretch>
            <a:fillRect/>
          </a:stretch>
        </p:blipFill>
        <p:spPr>
          <a:xfrm>
            <a:off x="6573622" y="5183734"/>
            <a:ext cx="285293" cy="285293"/>
          </a:xfrm>
          <a:prstGeom prst="rect">
            <a:avLst/>
          </a:prstGeom>
        </p:spPr>
      </p:pic>
      <p:sp>
        <p:nvSpPr>
          <p:cNvPr id="51" name="anim11-321"/>
          <p:cNvSpPr txBox="1"/>
          <p:nvPr/>
        </p:nvSpPr>
        <p:spPr>
          <a:xfrm>
            <a:off x="7150608" y="4754880"/>
            <a:ext cx="1645920" cy="1143000"/>
          </a:xfrm>
          <a:prstGeom prst="rect">
            <a:avLst/>
          </a:prstGeom>
          <a:noFill/>
          <a:ln/>
        </p:spPr>
        <p:txBody>
          <a:bodyPr wrap="square" rtlCol="0" anchor="ctr"/>
          <a:lstStyle/>
          <a:p>
            <a:pPr indent="0" marL="0">
              <a:buNone/>
            </a:pPr>
            <a:r>
              <a:rPr lang="en-US" sz="1500" b="1" dirty="0">
                <a:solidFill>
                  <a:schemeClr val="bg1"/>
                </a:solidFill>
              </a:rPr>
              <a:t>Top itinéraires</a:t>
            </a:r>
            <a:endParaRPr lang="en-US" sz="1500" dirty="0"/>
          </a:p>
        </p:txBody>
      </p:sp>
      <p:sp>
        <p:nvSpPr>
          <p:cNvPr id="52" name="Text 38"/>
          <p:cNvSpPr txBox="1"/>
          <p:nvPr/>
        </p:nvSpPr>
        <p:spPr>
          <a:xfrm>
            <a:off x="9052560" y="4754880"/>
            <a:ext cx="2606040" cy="1143000"/>
          </a:xfrm>
          <a:prstGeom prst="rect">
            <a:avLst/>
          </a:prstGeom>
          <a:noFill/>
          <a:ln/>
        </p:spPr>
        <p:txBody>
          <a:bodyPr wrap="square" rtlCol="0" anchor="ctr"/>
          <a:lstStyle/>
          <a:p>
            <a:pPr indent="0" marL="0">
              <a:buNone/>
            </a:pPr>
            <a:r>
              <a:rPr lang="en-US" sz="1300" i="1" dirty="0">
                <a:solidFill>
                  <a:schemeClr val="accent5"/>
                </a:solidFill>
              </a:rPr>
              <a:t>Les « Top » classent les postes qui rapportent ou coûtent le plus.</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5" fill="hold">
                      <p:stCondLst>
                        <p:cond delay="indefinite"/>
                        <p:cond evt="onBegin" delay="0">
                          <p:tn val="2"/>
                        </p:cond>
                      </p:stCondLst>
                      <p:childTnLst>
                        <p:par>
                          <p:cTn id="13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1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1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100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1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125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nodeType="withEffect">
                                  <p:stCondLst>
                                    <p:cond delay="125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par>
                                <p:cTn id="69" presetID="10" presetClass="entr" presetSubtype="0" fill="hold" nodeType="withEffect">
                                  <p:stCondLst>
                                    <p:cond delay="125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par>
                                <p:cTn id="72" presetID="10" presetClass="entr" presetSubtype="0" fill="hold" nodeType="withEffect">
                                  <p:stCondLst>
                                    <p:cond delay="125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par>
                                <p:cTn id="75" presetID="10" presetClass="entr" presetSubtype="0" fill="hold" nodeType="withEffect">
                                  <p:stCondLst>
                                    <p:cond delay="150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00"/>
                                        <p:tgtEl>
                                          <p:spTgt spid="32"/>
                                        </p:tgtEl>
                                      </p:cBhvr>
                                    </p:animEffect>
                                  </p:childTnLst>
                                </p:cTn>
                              </p:par>
                              <p:par>
                                <p:cTn id="78" presetID="10" presetClass="entr" presetSubtype="0" fill="hold" nodeType="withEffect">
                                  <p:stCondLst>
                                    <p:cond delay="150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par>
                                <p:cTn id="81" presetID="10" presetClass="entr" presetSubtype="0" fill="hold" nodeType="withEffect">
                                  <p:stCondLst>
                                    <p:cond delay="150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00"/>
                                        <p:tgtEl>
                                          <p:spTgt spid="34"/>
                                        </p:tgtEl>
                                      </p:cBhvr>
                                    </p:animEffect>
                                  </p:childTnLst>
                                </p:cTn>
                              </p:par>
                              <p:par>
                                <p:cTn id="84" presetID="10" presetClass="entr" presetSubtype="0" fill="hold" nodeType="withEffect">
                                  <p:stCondLst>
                                    <p:cond delay="15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500"/>
                                        <p:tgtEl>
                                          <p:spTgt spid="35"/>
                                        </p:tgtEl>
                                      </p:cBhvr>
                                    </p:animEffect>
                                  </p:childTnLst>
                                </p:cTn>
                              </p:par>
                              <p:par>
                                <p:cTn id="87" presetID="10" presetClass="entr" presetSubtype="0" fill="hold" nodeType="withEffect">
                                  <p:stCondLst>
                                    <p:cond delay="175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00"/>
                                        <p:tgtEl>
                                          <p:spTgt spid="36"/>
                                        </p:tgtEl>
                                      </p:cBhvr>
                                    </p:animEffect>
                                  </p:childTnLst>
                                </p:cTn>
                              </p:par>
                              <p:par>
                                <p:cTn id="90" presetID="10" presetClass="entr" presetSubtype="0" fill="hold" nodeType="withEffect">
                                  <p:stCondLst>
                                    <p:cond delay="175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500"/>
                                        <p:tgtEl>
                                          <p:spTgt spid="37"/>
                                        </p:tgtEl>
                                      </p:cBhvr>
                                    </p:animEffect>
                                  </p:childTnLst>
                                </p:cTn>
                              </p:par>
                              <p:par>
                                <p:cTn id="93" presetID="10" presetClass="entr" presetSubtype="0" fill="hold" nodeType="withEffect">
                                  <p:stCondLst>
                                    <p:cond delay="175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0"/>
                                        <p:tgtEl>
                                          <p:spTgt spid="38"/>
                                        </p:tgtEl>
                                      </p:cBhvr>
                                    </p:animEffect>
                                  </p:childTnLst>
                                </p:cTn>
                              </p:par>
                              <p:par>
                                <p:cTn id="96" presetID="10" presetClass="entr" presetSubtype="0" fill="hold" nodeType="withEffect">
                                  <p:stCondLst>
                                    <p:cond delay="175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500"/>
                                        <p:tgtEl>
                                          <p:spTgt spid="39"/>
                                        </p:tgtEl>
                                      </p:cBhvr>
                                    </p:animEffect>
                                  </p:childTnLst>
                                </p:cTn>
                              </p:par>
                              <p:par>
                                <p:cTn id="99" presetID="10" presetClass="entr" presetSubtype="0" fill="hold" nodeType="withEffect">
                                  <p:stCondLst>
                                    <p:cond delay="2000"/>
                                  </p:stCondLst>
                                  <p:childTnLst>
                                    <p:set>
                                      <p:cBhvr>
                                        <p:cTn id="100" dur="1" fill="hold">
                                          <p:stCondLst>
                                            <p:cond delay="0"/>
                                          </p:stCondLst>
                                        </p:cTn>
                                        <p:tgtEl>
                                          <p:spTgt spid="40"/>
                                        </p:tgtEl>
                                        <p:attrNameLst>
                                          <p:attrName>style.visibility</p:attrName>
                                        </p:attrNameLst>
                                      </p:cBhvr>
                                      <p:to>
                                        <p:strVal val="visible"/>
                                      </p:to>
                                    </p:set>
                                    <p:animEffect transition="in" filter="fade">
                                      <p:cBhvr>
                                        <p:cTn id="101" dur="500"/>
                                        <p:tgtEl>
                                          <p:spTgt spid="40"/>
                                        </p:tgtEl>
                                      </p:cBhvr>
                                    </p:animEffect>
                                  </p:childTnLst>
                                </p:cTn>
                              </p:par>
                              <p:par>
                                <p:cTn id="102" presetID="10" presetClass="entr" presetSubtype="0" fill="hold" nodeType="withEffect">
                                  <p:stCondLst>
                                    <p:cond delay="200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500"/>
                                        <p:tgtEl>
                                          <p:spTgt spid="41"/>
                                        </p:tgtEl>
                                      </p:cBhvr>
                                    </p:animEffect>
                                  </p:childTnLst>
                                </p:cTn>
                              </p:par>
                              <p:par>
                                <p:cTn id="105" presetID="10" presetClass="entr" presetSubtype="0" fill="hold" nodeType="withEffect">
                                  <p:stCondLst>
                                    <p:cond delay="2000"/>
                                  </p:stCondLst>
                                  <p:childTnLst>
                                    <p:set>
                                      <p:cBhvr>
                                        <p:cTn id="106" dur="1" fill="hold">
                                          <p:stCondLst>
                                            <p:cond delay="0"/>
                                          </p:stCondLst>
                                        </p:cTn>
                                        <p:tgtEl>
                                          <p:spTgt spid="42"/>
                                        </p:tgtEl>
                                        <p:attrNameLst>
                                          <p:attrName>style.visibility</p:attrName>
                                        </p:attrNameLst>
                                      </p:cBhvr>
                                      <p:to>
                                        <p:strVal val="visible"/>
                                      </p:to>
                                    </p:set>
                                    <p:animEffect transition="in" filter="fade">
                                      <p:cBhvr>
                                        <p:cTn id="107" dur="500"/>
                                        <p:tgtEl>
                                          <p:spTgt spid="42"/>
                                        </p:tgtEl>
                                      </p:cBhvr>
                                    </p:animEffect>
                                  </p:childTnLst>
                                </p:cTn>
                              </p:par>
                              <p:par>
                                <p:cTn id="108" presetID="10" presetClass="entr" presetSubtype="0" fill="hold" nodeType="withEffect">
                                  <p:stCondLst>
                                    <p:cond delay="2000"/>
                                  </p:stCondLst>
                                  <p:childTnLst>
                                    <p:set>
                                      <p:cBhvr>
                                        <p:cTn id="109" dur="1" fill="hold">
                                          <p:stCondLst>
                                            <p:cond delay="0"/>
                                          </p:stCondLst>
                                        </p:cTn>
                                        <p:tgtEl>
                                          <p:spTgt spid="43"/>
                                        </p:tgtEl>
                                        <p:attrNameLst>
                                          <p:attrName>style.visibility</p:attrName>
                                        </p:attrNameLst>
                                      </p:cBhvr>
                                      <p:to>
                                        <p:strVal val="visible"/>
                                      </p:to>
                                    </p:set>
                                    <p:animEffect transition="in" filter="fade">
                                      <p:cBhvr>
                                        <p:cTn id="110" dur="500"/>
                                        <p:tgtEl>
                                          <p:spTgt spid="43"/>
                                        </p:tgtEl>
                                      </p:cBhvr>
                                    </p:animEffect>
                                  </p:childTnLst>
                                </p:cTn>
                              </p:par>
                              <p:par>
                                <p:cTn id="111" presetID="10" presetClass="entr" presetSubtype="0" fill="hold" nodeType="withEffect">
                                  <p:stCondLst>
                                    <p:cond delay="2250"/>
                                  </p:stCondLst>
                                  <p:childTnLst>
                                    <p:set>
                                      <p:cBhvr>
                                        <p:cTn id="112" dur="1" fill="hold">
                                          <p:stCondLst>
                                            <p:cond delay="0"/>
                                          </p:stCondLst>
                                        </p:cTn>
                                        <p:tgtEl>
                                          <p:spTgt spid="44"/>
                                        </p:tgtEl>
                                        <p:attrNameLst>
                                          <p:attrName>style.visibility</p:attrName>
                                        </p:attrNameLst>
                                      </p:cBhvr>
                                      <p:to>
                                        <p:strVal val="visible"/>
                                      </p:to>
                                    </p:set>
                                    <p:animEffect transition="in" filter="fade">
                                      <p:cBhvr>
                                        <p:cTn id="113" dur="500"/>
                                        <p:tgtEl>
                                          <p:spTgt spid="44"/>
                                        </p:tgtEl>
                                      </p:cBhvr>
                                    </p:animEffect>
                                  </p:childTnLst>
                                </p:cTn>
                              </p:par>
                              <p:par>
                                <p:cTn id="114" presetID="10" presetClass="entr" presetSubtype="0" fill="hold" nodeType="withEffect">
                                  <p:stCondLst>
                                    <p:cond delay="2250"/>
                                  </p:stCondLst>
                                  <p:childTnLst>
                                    <p:set>
                                      <p:cBhvr>
                                        <p:cTn id="115" dur="1" fill="hold">
                                          <p:stCondLst>
                                            <p:cond delay="0"/>
                                          </p:stCondLst>
                                        </p:cTn>
                                        <p:tgtEl>
                                          <p:spTgt spid="45"/>
                                        </p:tgtEl>
                                        <p:attrNameLst>
                                          <p:attrName>style.visibility</p:attrName>
                                        </p:attrNameLst>
                                      </p:cBhvr>
                                      <p:to>
                                        <p:strVal val="visible"/>
                                      </p:to>
                                    </p:set>
                                    <p:animEffect transition="in" filter="fade">
                                      <p:cBhvr>
                                        <p:cTn id="116" dur="500"/>
                                        <p:tgtEl>
                                          <p:spTgt spid="45"/>
                                        </p:tgtEl>
                                      </p:cBhvr>
                                    </p:animEffect>
                                  </p:childTnLst>
                                </p:cTn>
                              </p:par>
                              <p:par>
                                <p:cTn id="117" presetID="10" presetClass="entr" presetSubtype="0" fill="hold" nodeType="withEffect">
                                  <p:stCondLst>
                                    <p:cond delay="2250"/>
                                  </p:stCondLst>
                                  <p:childTnLst>
                                    <p:set>
                                      <p:cBhvr>
                                        <p:cTn id="118" dur="1" fill="hold">
                                          <p:stCondLst>
                                            <p:cond delay="0"/>
                                          </p:stCondLst>
                                        </p:cTn>
                                        <p:tgtEl>
                                          <p:spTgt spid="46"/>
                                        </p:tgtEl>
                                        <p:attrNameLst>
                                          <p:attrName>style.visibility</p:attrName>
                                        </p:attrNameLst>
                                      </p:cBhvr>
                                      <p:to>
                                        <p:strVal val="visible"/>
                                      </p:to>
                                    </p:set>
                                    <p:animEffect transition="in" filter="fade">
                                      <p:cBhvr>
                                        <p:cTn id="119" dur="500"/>
                                        <p:tgtEl>
                                          <p:spTgt spid="46"/>
                                        </p:tgtEl>
                                      </p:cBhvr>
                                    </p:animEffect>
                                  </p:childTnLst>
                                </p:cTn>
                              </p:par>
                              <p:par>
                                <p:cTn id="120" presetID="10" presetClass="entr" presetSubtype="0" fill="hold" nodeType="withEffect">
                                  <p:stCondLst>
                                    <p:cond delay="2250"/>
                                  </p:stCondLst>
                                  <p:childTnLst>
                                    <p:set>
                                      <p:cBhvr>
                                        <p:cTn id="121" dur="1" fill="hold">
                                          <p:stCondLst>
                                            <p:cond delay="0"/>
                                          </p:stCondLst>
                                        </p:cTn>
                                        <p:tgtEl>
                                          <p:spTgt spid="47"/>
                                        </p:tgtEl>
                                        <p:attrNameLst>
                                          <p:attrName>style.visibility</p:attrName>
                                        </p:attrNameLst>
                                      </p:cBhvr>
                                      <p:to>
                                        <p:strVal val="visible"/>
                                      </p:to>
                                    </p:set>
                                    <p:animEffect transition="in" filter="fade">
                                      <p:cBhvr>
                                        <p:cTn id="122" dur="500"/>
                                        <p:tgtEl>
                                          <p:spTgt spid="47"/>
                                        </p:tgtEl>
                                      </p:cBhvr>
                                    </p:animEffect>
                                  </p:childTnLst>
                                </p:cTn>
                              </p:par>
                              <p:par>
                                <p:cTn id="123" presetID="10" presetClass="entr" presetSubtype="0" fill="hold" nodeType="withEffect">
                                  <p:stCondLst>
                                    <p:cond delay="2500"/>
                                  </p:stCondLst>
                                  <p:childTnLst>
                                    <p:set>
                                      <p:cBhvr>
                                        <p:cTn id="124" dur="1" fill="hold">
                                          <p:stCondLst>
                                            <p:cond delay="0"/>
                                          </p:stCondLst>
                                        </p:cTn>
                                        <p:tgtEl>
                                          <p:spTgt spid="48"/>
                                        </p:tgtEl>
                                        <p:attrNameLst>
                                          <p:attrName>style.visibility</p:attrName>
                                        </p:attrNameLst>
                                      </p:cBhvr>
                                      <p:to>
                                        <p:strVal val="visible"/>
                                      </p:to>
                                    </p:set>
                                    <p:animEffect transition="in" filter="fade">
                                      <p:cBhvr>
                                        <p:cTn id="125" dur="500"/>
                                        <p:tgtEl>
                                          <p:spTgt spid="48"/>
                                        </p:tgtEl>
                                      </p:cBhvr>
                                    </p:animEffect>
                                  </p:childTnLst>
                                </p:cTn>
                              </p:par>
                              <p:par>
                                <p:cTn id="126" presetID="10" presetClass="entr" presetSubtype="0" fill="hold" nodeType="withEffect">
                                  <p:stCondLst>
                                    <p:cond delay="2500"/>
                                  </p:stCondLst>
                                  <p:childTnLst>
                                    <p:set>
                                      <p:cBhvr>
                                        <p:cTn id="127" dur="1" fill="hold">
                                          <p:stCondLst>
                                            <p:cond delay="0"/>
                                          </p:stCondLst>
                                        </p:cTn>
                                        <p:tgtEl>
                                          <p:spTgt spid="49"/>
                                        </p:tgtEl>
                                        <p:attrNameLst>
                                          <p:attrName>style.visibility</p:attrName>
                                        </p:attrNameLst>
                                      </p:cBhvr>
                                      <p:to>
                                        <p:strVal val="visible"/>
                                      </p:to>
                                    </p:set>
                                    <p:animEffect transition="in" filter="fade">
                                      <p:cBhvr>
                                        <p:cTn id="128" dur="500"/>
                                        <p:tgtEl>
                                          <p:spTgt spid="49"/>
                                        </p:tgtEl>
                                      </p:cBhvr>
                                    </p:animEffect>
                                  </p:childTnLst>
                                </p:cTn>
                              </p:par>
                              <p:par>
                                <p:cTn id="129" presetID="10" presetClass="entr" presetSubtype="0" fill="hold" nodeType="withEffect">
                                  <p:stCondLst>
                                    <p:cond delay="250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2" presetID="10" presetClass="entr" presetSubtype="0" fill="hold" nodeType="withEffect">
                                  <p:stCondLst>
                                    <p:cond delay="2500"/>
                                  </p:stCondLst>
                                  <p:childTnLst>
                                    <p:set>
                                      <p:cBhvr>
                                        <p:cTn id="133"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9" grpId="0" animBg="1"/>
      <p:bldP spid="23" grpId="0" animBg="1"/>
      <p:bldP spid="27" grpId="0" animBg="1"/>
      <p:bldP spid="31" grpId="0" animBg="1"/>
      <p:bldP spid="35" grpId="0" animBg="1"/>
      <p:bldP spid="39" grpId="0" animBg="1"/>
      <p:bldP spid="43" grpId="0" animBg="1"/>
      <p:bldP spid="47" grpId="0" animBg="1"/>
      <p:bldP spid="5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Employés et droits d'accès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ADMINISTRATION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Employee › Employee Management · Add Employee</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Chaque utilisateur a son compte et ne voit que ce qu'il doit voir.</a:t>
            </a:r>
            <a:endParaRPr lang="en-US" sz="1700" dirty="0"/>
          </a:p>
        </p:txBody>
      </p:sp>
      <p:sp>
        <p:nvSpPr>
          <p:cNvPr id="9" name="anim1-322"/>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323"/>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324"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325"/>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Comptes utilisateurs</a:t>
            </a:r>
            <a:endParaRPr lang="en-US" sz="1500" dirty="0"/>
          </a:p>
          <a:p>
            <a:pPr indent="0" marL="0">
              <a:buNone/>
            </a:pPr>
            <a:r>
              <a:rPr lang="en-US" sz="1400" dirty="0">
                <a:solidFill>
                  <a:schemeClr val="tx1"/>
                </a:solidFill>
              </a:rPr>
              <a:t>Nom, téléphone, e-mail, identifiant, mot de passe, dernière connexion.</a:t>
            </a:r>
            <a:endParaRPr lang="en-US" sz="1500" dirty="0"/>
          </a:p>
        </p:txBody>
      </p:sp>
      <p:sp>
        <p:nvSpPr>
          <p:cNvPr id="13" name="anim2-326"/>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327"/>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28"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29"/>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Permissions par module</a:t>
            </a:r>
            <a:endParaRPr lang="en-US" sz="1500" dirty="0"/>
          </a:p>
          <a:p>
            <a:pPr indent="0" marL="0">
              <a:buNone/>
            </a:pPr>
            <a:r>
              <a:rPr lang="en-US" sz="1400" dirty="0">
                <a:solidFill>
                  <a:schemeClr val="tx1"/>
                </a:solidFill>
              </a:rPr>
              <a:t>Cases à cocher : voir, ajouter, modifier, supprimer…</a:t>
            </a:r>
            <a:endParaRPr lang="en-US" sz="1500" dirty="0"/>
          </a:p>
        </p:txBody>
      </p:sp>
      <p:sp>
        <p:nvSpPr>
          <p:cNvPr id="17" name="anim3-330"/>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31"/>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32"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33"/>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Modules concernés</a:t>
            </a:r>
            <a:endParaRPr lang="en-US" sz="1500" dirty="0"/>
          </a:p>
          <a:p>
            <a:pPr indent="0" marL="0">
              <a:buNone/>
            </a:pPr>
            <a:r>
              <a:rPr lang="en-US" sz="1400" dirty="0">
                <a:solidFill>
                  <a:schemeClr val="tx1"/>
                </a:solidFill>
              </a:rPr>
              <a:t>Véhicules, chauffeurs, transactions, clients, carburant, entretien, GPS…</a:t>
            </a:r>
            <a:endParaRPr lang="en-US" sz="1500" dirty="0"/>
          </a:p>
        </p:txBody>
      </p:sp>
      <p:sp>
        <p:nvSpPr>
          <p:cNvPr id="21" name="anim4-334"/>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35"/>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336"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337"/>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Statut</a:t>
            </a:r>
            <a:endParaRPr lang="en-US" sz="1500" dirty="0"/>
          </a:p>
          <a:p>
            <a:pPr indent="0" marL="0">
              <a:buNone/>
            </a:pPr>
            <a:r>
              <a:rPr lang="en-US" sz="1400" dirty="0">
                <a:solidFill>
                  <a:schemeClr val="tx1"/>
                </a:solidFill>
              </a:rPr>
              <a:t>Compte actif ou désactivé.</a:t>
            </a:r>
            <a:endParaRPr lang="en-US" sz="1500" dirty="0"/>
          </a:p>
        </p:txBody>
      </p:sp>
      <p:sp>
        <p:nvSpPr>
          <p:cNvPr id="25" name="anim5-338"/>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339"/>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340"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341"/>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Chacun travaille dans son périmètre</a:t>
            </a:r>
            <a:endParaRPr lang="en-US" sz="1400" dirty="0"/>
          </a:p>
        </p:txBody>
      </p:sp>
      <p:pic>
        <p:nvPicPr>
          <p:cNvPr id="29" name="anim7-342"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343"/>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Les données financières restent protégées</a:t>
            </a:r>
            <a:endParaRPr lang="en-US" sz="1400" dirty="0"/>
          </a:p>
        </p:txBody>
      </p:sp>
      <p:pic>
        <p:nvPicPr>
          <p:cNvPr id="31" name="anim8-344"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345"/>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On sait qui a créé chaque transaction</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Paramètres et sécurité</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ADMINISTRATION</a:t>
            </a:r>
            <a:endParaRPr lang="en-US" sz="1000" dirty="0"/>
          </a:p>
        </p:txBody>
      </p:sp>
      <p:sp>
        <p:nvSpPr>
          <p:cNvPr id="7" name="Text 4"/>
          <p:cNvSpPr txBox="1"/>
          <p:nvPr/>
        </p:nvSpPr>
        <p:spPr>
          <a:xfrm>
            <a:off x="548640" y="1371600"/>
            <a:ext cx="7680960" cy="292608"/>
          </a:xfrm>
          <a:prstGeom prst="rect">
            <a:avLst/>
          </a:prstGeom>
          <a:noFill/>
          <a:ln/>
        </p:spPr>
        <p:txBody>
          <a:bodyPr wrap="square" lIns="0" tIns="0" rIns="0" bIns="0" rtlCol="0" anchor="ctr"/>
          <a:lstStyle/>
          <a:p>
            <a:pPr indent="0" marL="0">
              <a:buNone/>
            </a:pPr>
            <a:r>
              <a:rPr lang="en-US" sz="1200" b="1" dirty="0">
                <a:solidFill>
                  <a:schemeClr val="accent1"/>
                </a:solidFill>
              </a:rPr>
              <a:t>Menu  </a:t>
            </a:r>
            <a:pPr indent="0" marL="0">
              <a:buNone/>
            </a:pPr>
            <a:r>
              <a:rPr lang="en-US" sz="1200" dirty="0">
                <a:solidFill>
                  <a:schemeClr val="accent5"/>
                </a:solidFill>
              </a:rPr>
              <a:t>Setting's</a:t>
            </a:r>
            <a:endParaRPr lang="en-US" sz="1200" dirty="0"/>
          </a:p>
        </p:txBody>
      </p:sp>
      <p:sp>
        <p:nvSpPr>
          <p:cNvPr id="8" name="Text 5"/>
          <p:cNvSpPr txBox="1"/>
          <p:nvPr/>
        </p:nvSpPr>
        <p:spPr>
          <a:xfrm>
            <a:off x="548640" y="1719072"/>
            <a:ext cx="7680960" cy="457200"/>
          </a:xfrm>
          <a:prstGeom prst="rect">
            <a:avLst/>
          </a:prstGeom>
          <a:noFill/>
          <a:ln/>
        </p:spPr>
        <p:txBody>
          <a:bodyPr wrap="square" lIns="0" tIns="0" rIns="0" bIns="0" rtlCol="0" anchor="t"/>
          <a:lstStyle/>
          <a:p>
            <a:pPr indent="0" marL="0">
              <a:buNone/>
            </a:pPr>
            <a:r>
              <a:rPr lang="en-US" sz="1700" dirty="0">
                <a:solidFill>
                  <a:schemeClr val="tx2"/>
                </a:solidFill>
              </a:rPr>
              <a:t>Le logiciel s'adapte à l'entreprise et protège ses données.</a:t>
            </a:r>
            <a:endParaRPr lang="en-US" sz="1700" dirty="0"/>
          </a:p>
        </p:txBody>
      </p:sp>
      <p:sp>
        <p:nvSpPr>
          <p:cNvPr id="9" name="anim1-346"/>
          <p:cNvSpPr/>
          <p:nvPr/>
        </p:nvSpPr>
        <p:spPr>
          <a:xfrm>
            <a:off x="54864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0" name="anim1-347"/>
          <p:cNvSpPr/>
          <p:nvPr/>
        </p:nvSpPr>
        <p:spPr>
          <a:xfrm>
            <a:off x="749808" y="2578608"/>
            <a:ext cx="548640" cy="548640"/>
          </a:xfrm>
          <a:prstGeom prst="roundRect">
            <a:avLst>
              <a:gd name="adj" fmla="val 22000"/>
            </a:avLst>
          </a:prstGeom>
          <a:solidFill>
            <a:schemeClr val="bg2"/>
          </a:solidFill>
          <a:ln w="12700">
            <a:solidFill>
              <a:schemeClr val="bg2"/>
            </a:solidFill>
            <a:prstDash val="solid"/>
          </a:ln>
        </p:spPr>
      </p:sp>
      <p:pic>
        <p:nvPicPr>
          <p:cNvPr id="11" name="anim1-348" descr="preencoded.png">    </p:cNvPr>
          <p:cNvPicPr>
            <a:picLocks noChangeAspect="1"/>
          </p:cNvPicPr>
          <p:nvPr/>
        </p:nvPicPr>
        <p:blipFill>
          <a:blip r:embed="rId2"/>
          <a:stretch>
            <a:fillRect/>
          </a:stretch>
        </p:blipFill>
        <p:spPr>
          <a:xfrm>
            <a:off x="892454" y="2721254"/>
            <a:ext cx="263347" cy="263347"/>
          </a:xfrm>
          <a:prstGeom prst="rect">
            <a:avLst/>
          </a:prstGeom>
        </p:spPr>
      </p:pic>
      <p:sp>
        <p:nvSpPr>
          <p:cNvPr id="12" name="anim1-349"/>
          <p:cNvSpPr txBox="1"/>
          <p:nvPr/>
        </p:nvSpPr>
        <p:spPr>
          <a:xfrm>
            <a:off x="144475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Identité de l'entreprise</a:t>
            </a:r>
            <a:endParaRPr lang="en-US" sz="1500" dirty="0"/>
          </a:p>
          <a:p>
            <a:pPr indent="0" marL="0">
              <a:buNone/>
            </a:pPr>
            <a:r>
              <a:rPr lang="en-US" sz="1400" dirty="0">
                <a:solidFill>
                  <a:schemeClr val="tx1"/>
                </a:solidFill>
              </a:rPr>
              <a:t>Nom, adresse, contacts, logo, couleurs, fuseau horaire.</a:t>
            </a:r>
            <a:endParaRPr lang="en-US" sz="1500" dirty="0"/>
          </a:p>
        </p:txBody>
      </p:sp>
      <p:sp>
        <p:nvSpPr>
          <p:cNvPr id="13" name="anim2-350"/>
          <p:cNvSpPr/>
          <p:nvPr/>
        </p:nvSpPr>
        <p:spPr>
          <a:xfrm>
            <a:off x="4480560" y="237744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4" name="anim2-351"/>
          <p:cNvSpPr/>
          <p:nvPr/>
        </p:nvSpPr>
        <p:spPr>
          <a:xfrm>
            <a:off x="4681728" y="2578608"/>
            <a:ext cx="548640" cy="548640"/>
          </a:xfrm>
          <a:prstGeom prst="roundRect">
            <a:avLst>
              <a:gd name="adj" fmla="val 22000"/>
            </a:avLst>
          </a:prstGeom>
          <a:solidFill>
            <a:schemeClr val="bg2"/>
          </a:solidFill>
          <a:ln w="12700">
            <a:solidFill>
              <a:schemeClr val="bg2"/>
            </a:solidFill>
            <a:prstDash val="solid"/>
          </a:ln>
        </p:spPr>
      </p:sp>
      <p:pic>
        <p:nvPicPr>
          <p:cNvPr id="15" name="anim2-352" descr="preencoded.png">    </p:cNvPr>
          <p:cNvPicPr>
            <a:picLocks noChangeAspect="1"/>
          </p:cNvPicPr>
          <p:nvPr/>
        </p:nvPicPr>
        <p:blipFill>
          <a:blip r:embed="rId3"/>
          <a:stretch>
            <a:fillRect/>
          </a:stretch>
        </p:blipFill>
        <p:spPr>
          <a:xfrm>
            <a:off x="4824374" y="2721254"/>
            <a:ext cx="263347" cy="263347"/>
          </a:xfrm>
          <a:prstGeom prst="rect">
            <a:avLst/>
          </a:prstGeom>
        </p:spPr>
      </p:pic>
      <p:sp>
        <p:nvSpPr>
          <p:cNvPr id="16" name="anim2-353"/>
          <p:cNvSpPr txBox="1"/>
          <p:nvPr/>
        </p:nvSpPr>
        <p:spPr>
          <a:xfrm>
            <a:off x="5376672" y="250545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Communication</a:t>
            </a:r>
            <a:endParaRPr lang="en-US" sz="1500" dirty="0"/>
          </a:p>
          <a:p>
            <a:pPr indent="0" marL="0">
              <a:buNone/>
            </a:pPr>
            <a:r>
              <a:rPr lang="en-US" sz="1400" dirty="0">
                <a:solidFill>
                  <a:schemeClr val="tx1"/>
                </a:solidFill>
              </a:rPr>
              <a:t>Envoi d'e-mails et de SMS, avec modèles de messages.</a:t>
            </a:r>
            <a:endParaRPr lang="en-US" sz="1500" dirty="0"/>
          </a:p>
        </p:txBody>
      </p:sp>
      <p:sp>
        <p:nvSpPr>
          <p:cNvPr id="17" name="anim3-354"/>
          <p:cNvSpPr/>
          <p:nvPr/>
        </p:nvSpPr>
        <p:spPr>
          <a:xfrm>
            <a:off x="54864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8" name="anim3-355"/>
          <p:cNvSpPr/>
          <p:nvPr/>
        </p:nvSpPr>
        <p:spPr>
          <a:xfrm>
            <a:off x="749808" y="4453128"/>
            <a:ext cx="548640" cy="548640"/>
          </a:xfrm>
          <a:prstGeom prst="roundRect">
            <a:avLst>
              <a:gd name="adj" fmla="val 22000"/>
            </a:avLst>
          </a:prstGeom>
          <a:solidFill>
            <a:schemeClr val="bg2"/>
          </a:solidFill>
          <a:ln w="12700">
            <a:solidFill>
              <a:schemeClr val="bg2"/>
            </a:solidFill>
            <a:prstDash val="solid"/>
          </a:ln>
        </p:spPr>
      </p:sp>
      <p:pic>
        <p:nvPicPr>
          <p:cNvPr id="19" name="anim3-356" descr="preencoded.png">    </p:cNvPr>
          <p:cNvPicPr>
            <a:picLocks noChangeAspect="1"/>
          </p:cNvPicPr>
          <p:nvPr/>
        </p:nvPicPr>
        <p:blipFill>
          <a:blip r:embed="rId4"/>
          <a:stretch>
            <a:fillRect/>
          </a:stretch>
        </p:blipFill>
        <p:spPr>
          <a:xfrm>
            <a:off x="892454" y="4595774"/>
            <a:ext cx="263347" cy="263347"/>
          </a:xfrm>
          <a:prstGeom prst="rect">
            <a:avLst/>
          </a:prstGeom>
        </p:spPr>
      </p:pic>
      <p:sp>
        <p:nvSpPr>
          <p:cNvPr id="20" name="anim3-357"/>
          <p:cNvSpPr txBox="1"/>
          <p:nvPr/>
        </p:nvSpPr>
        <p:spPr>
          <a:xfrm>
            <a:off x="144475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Réservations et factures</a:t>
            </a:r>
            <a:endParaRPr lang="en-US" sz="1500" dirty="0"/>
          </a:p>
          <a:p>
            <a:pPr indent="0" marL="0">
              <a:buNone/>
            </a:pPr>
            <a:r>
              <a:rPr lang="en-US" sz="1400" dirty="0">
                <a:solidFill>
                  <a:schemeClr val="tx1"/>
                </a:solidFill>
              </a:rPr>
              <a:t>Préfixe des numéros de réservation, réglages des factures.</a:t>
            </a:r>
            <a:endParaRPr lang="en-US" sz="1500" dirty="0"/>
          </a:p>
        </p:txBody>
      </p:sp>
      <p:sp>
        <p:nvSpPr>
          <p:cNvPr id="21" name="anim4-358"/>
          <p:cNvSpPr/>
          <p:nvPr/>
        </p:nvSpPr>
        <p:spPr>
          <a:xfrm>
            <a:off x="4480560" y="4251960"/>
            <a:ext cx="3749040" cy="1691640"/>
          </a:xfrm>
          <a:prstGeom prst="roundRect">
            <a:avLst>
              <a:gd name="adj" fmla="val 6486"/>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359"/>
          <p:cNvSpPr/>
          <p:nvPr/>
        </p:nvSpPr>
        <p:spPr>
          <a:xfrm>
            <a:off x="4681728" y="4453128"/>
            <a:ext cx="548640" cy="548640"/>
          </a:xfrm>
          <a:prstGeom prst="roundRect">
            <a:avLst>
              <a:gd name="adj" fmla="val 22000"/>
            </a:avLst>
          </a:prstGeom>
          <a:solidFill>
            <a:schemeClr val="bg2"/>
          </a:solidFill>
          <a:ln w="12700">
            <a:solidFill>
              <a:schemeClr val="bg2"/>
            </a:solidFill>
            <a:prstDash val="solid"/>
          </a:ln>
        </p:spPr>
      </p:sp>
      <p:pic>
        <p:nvPicPr>
          <p:cNvPr id="23" name="anim4-360" descr="preencoded.png">    </p:cNvPr>
          <p:cNvPicPr>
            <a:picLocks noChangeAspect="1"/>
          </p:cNvPicPr>
          <p:nvPr/>
        </p:nvPicPr>
        <p:blipFill>
          <a:blip r:embed="rId5"/>
          <a:stretch>
            <a:fillRect/>
          </a:stretch>
        </p:blipFill>
        <p:spPr>
          <a:xfrm>
            <a:off x="4824374" y="4595774"/>
            <a:ext cx="263347" cy="263347"/>
          </a:xfrm>
          <a:prstGeom prst="rect">
            <a:avLst/>
          </a:prstGeom>
        </p:spPr>
      </p:pic>
      <p:sp>
        <p:nvSpPr>
          <p:cNvPr id="24" name="anim4-361"/>
          <p:cNvSpPr txBox="1"/>
          <p:nvPr/>
        </p:nvSpPr>
        <p:spPr>
          <a:xfrm>
            <a:off x="5376672" y="4379976"/>
            <a:ext cx="2697480" cy="1435608"/>
          </a:xfrm>
          <a:prstGeom prst="rect">
            <a:avLst/>
          </a:prstGeom>
          <a:noFill/>
          <a:ln/>
        </p:spPr>
        <p:txBody>
          <a:bodyPr wrap="square" rtlCol="0" anchor="t"/>
          <a:lstStyle/>
          <a:p>
            <a:pPr indent="0" marL="0">
              <a:spcAft>
                <a:spcPts val="400"/>
              </a:spcAft>
              <a:buNone/>
            </a:pPr>
            <a:r>
              <a:rPr lang="en-US" sz="1600" b="1" dirty="0">
                <a:solidFill>
                  <a:schemeClr val="tx2"/>
                </a:solidFill>
              </a:rPr>
              <a:t>Sauvegardes</a:t>
            </a:r>
            <a:endParaRPr lang="en-US" sz="1500" dirty="0"/>
          </a:p>
          <a:p>
            <a:pPr indent="0" marL="0">
              <a:buNone/>
            </a:pPr>
            <a:r>
              <a:rPr lang="en-US" sz="1400" dirty="0">
                <a:solidFill>
                  <a:schemeClr val="tx1"/>
                </a:solidFill>
              </a:rPr>
              <a:t>Sauvegarde de la base de données en un clic.</a:t>
            </a:r>
            <a:endParaRPr lang="en-US" sz="1500" dirty="0"/>
          </a:p>
        </p:txBody>
      </p:sp>
      <p:sp>
        <p:nvSpPr>
          <p:cNvPr id="25" name="anim5-362"/>
          <p:cNvSpPr/>
          <p:nvPr/>
        </p:nvSpPr>
        <p:spPr>
          <a:xfrm>
            <a:off x="8549640" y="1371600"/>
            <a:ext cx="3108960" cy="4754880"/>
          </a:xfrm>
          <a:prstGeom prst="roundRect">
            <a:avLst>
              <a:gd name="adj" fmla="val 3529"/>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26" name="anim5-363"/>
          <p:cNvSpPr txBox="1"/>
          <p:nvPr/>
        </p:nvSpPr>
        <p:spPr>
          <a:xfrm>
            <a:off x="8778240" y="1554480"/>
            <a:ext cx="2743200" cy="457200"/>
          </a:xfrm>
          <a:prstGeom prst="rect">
            <a:avLst/>
          </a:prstGeom>
          <a:noFill/>
          <a:ln/>
        </p:spPr>
        <p:txBody>
          <a:bodyPr wrap="square" lIns="0" tIns="0" rIns="0" bIns="0" rtlCol="0" anchor="t"/>
          <a:lstStyle/>
          <a:p>
            <a:pPr indent="0" marL="0">
              <a:buNone/>
            </a:pPr>
            <a:r>
              <a:rPr lang="en-US" sz="1800" b="1" dirty="0">
                <a:solidFill>
                  <a:schemeClr val="accent2"/>
                </a:solidFill>
              </a:rPr>
              <a:t>Ce que ça apporte</a:t>
            </a:r>
            <a:endParaRPr lang="en-US" sz="1800" dirty="0"/>
          </a:p>
        </p:txBody>
      </p:sp>
      <p:pic>
        <p:nvPicPr>
          <p:cNvPr id="27" name="anim6-364" descr="preencoded.png">    </p:cNvPr>
          <p:cNvPicPr>
            <a:picLocks noChangeAspect="1"/>
          </p:cNvPicPr>
          <p:nvPr/>
        </p:nvPicPr>
        <p:blipFill>
          <a:blip r:embed="rId6"/>
          <a:stretch>
            <a:fillRect/>
          </a:stretch>
        </p:blipFill>
        <p:spPr>
          <a:xfrm>
            <a:off x="8778240" y="2276856"/>
            <a:ext cx="292608" cy="292608"/>
          </a:xfrm>
          <a:prstGeom prst="rect">
            <a:avLst/>
          </a:prstGeom>
        </p:spPr>
      </p:pic>
      <p:sp>
        <p:nvSpPr>
          <p:cNvPr id="28" name="anim6-365"/>
          <p:cNvSpPr txBox="1"/>
          <p:nvPr/>
        </p:nvSpPr>
        <p:spPr>
          <a:xfrm>
            <a:off x="9189720" y="2240280"/>
            <a:ext cx="2331720" cy="1051560"/>
          </a:xfrm>
          <a:prstGeom prst="rect">
            <a:avLst/>
          </a:prstGeom>
          <a:noFill/>
          <a:ln/>
        </p:spPr>
        <p:txBody>
          <a:bodyPr wrap="square" lIns="0" tIns="0" rIns="0" bIns="0" rtlCol="0" anchor="t"/>
          <a:lstStyle/>
          <a:p>
            <a:pPr indent="0" marL="0">
              <a:buNone/>
            </a:pPr>
            <a:r>
              <a:rPr lang="en-US" sz="1400" dirty="0">
                <a:solidFill>
                  <a:schemeClr val="bg1"/>
                </a:solidFill>
              </a:rPr>
              <a:t>Documents aux couleurs de l'entreprise</a:t>
            </a:r>
            <a:endParaRPr lang="en-US" sz="1400" dirty="0"/>
          </a:p>
        </p:txBody>
      </p:sp>
      <p:pic>
        <p:nvPicPr>
          <p:cNvPr id="29" name="anim7-366" descr="preencoded.png">    </p:cNvPr>
          <p:cNvPicPr>
            <a:picLocks noChangeAspect="1"/>
          </p:cNvPicPr>
          <p:nvPr/>
        </p:nvPicPr>
        <p:blipFill>
          <a:blip r:embed="rId7"/>
          <a:stretch>
            <a:fillRect/>
          </a:stretch>
        </p:blipFill>
        <p:spPr>
          <a:xfrm>
            <a:off x="8778240" y="3465576"/>
            <a:ext cx="292608" cy="292608"/>
          </a:xfrm>
          <a:prstGeom prst="rect">
            <a:avLst/>
          </a:prstGeom>
        </p:spPr>
      </p:pic>
      <p:sp>
        <p:nvSpPr>
          <p:cNvPr id="30" name="anim7-367"/>
          <p:cNvSpPr txBox="1"/>
          <p:nvPr/>
        </p:nvSpPr>
        <p:spPr>
          <a:xfrm>
            <a:off x="9189720" y="3429000"/>
            <a:ext cx="2331720" cy="1051560"/>
          </a:xfrm>
          <a:prstGeom prst="rect">
            <a:avLst/>
          </a:prstGeom>
          <a:noFill/>
          <a:ln/>
        </p:spPr>
        <p:txBody>
          <a:bodyPr wrap="square" lIns="0" tIns="0" rIns="0" bIns="0" rtlCol="0" anchor="t"/>
          <a:lstStyle/>
          <a:p>
            <a:pPr indent="0" marL="0">
              <a:buNone/>
            </a:pPr>
            <a:r>
              <a:rPr lang="en-US" sz="1400" dirty="0">
                <a:solidFill>
                  <a:schemeClr val="bg1"/>
                </a:solidFill>
              </a:rPr>
              <a:t>Clients informés automatiquement</a:t>
            </a:r>
            <a:endParaRPr lang="en-US" sz="1400" dirty="0"/>
          </a:p>
        </p:txBody>
      </p:sp>
      <p:pic>
        <p:nvPicPr>
          <p:cNvPr id="31" name="anim8-368" descr="preencoded.png">    </p:cNvPr>
          <p:cNvPicPr>
            <a:picLocks noChangeAspect="1"/>
          </p:cNvPicPr>
          <p:nvPr/>
        </p:nvPicPr>
        <p:blipFill>
          <a:blip r:embed="rId8"/>
          <a:stretch>
            <a:fillRect/>
          </a:stretch>
        </p:blipFill>
        <p:spPr>
          <a:xfrm>
            <a:off x="8778240" y="4654296"/>
            <a:ext cx="292608" cy="292608"/>
          </a:xfrm>
          <a:prstGeom prst="rect">
            <a:avLst/>
          </a:prstGeom>
        </p:spPr>
      </p:pic>
      <p:sp>
        <p:nvSpPr>
          <p:cNvPr id="32" name="anim8-369"/>
          <p:cNvSpPr txBox="1"/>
          <p:nvPr/>
        </p:nvSpPr>
        <p:spPr>
          <a:xfrm>
            <a:off x="9189720" y="4617720"/>
            <a:ext cx="2331720" cy="1051560"/>
          </a:xfrm>
          <a:prstGeom prst="rect">
            <a:avLst/>
          </a:prstGeom>
          <a:noFill/>
          <a:ln/>
        </p:spPr>
        <p:txBody>
          <a:bodyPr wrap="square" lIns="0" tIns="0" rIns="0" bIns="0" rtlCol="0" anchor="t"/>
          <a:lstStyle/>
          <a:p>
            <a:pPr indent="0" marL="0">
              <a:buNone/>
            </a:pPr>
            <a:r>
              <a:rPr lang="en-US" sz="1400" dirty="0">
                <a:solidFill>
                  <a:schemeClr val="bg1"/>
                </a:solidFill>
              </a:rPr>
              <a:t>Données protégées par des sauvegardes</a:t>
            </a:r>
            <a:endParaRPr lang="en-US" sz="14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500"/>
                                        <p:tgtEl>
                                          <p:spTgt spid="9"/>
                                        </p:tgtEl>
                                      </p:cBhvr>
                                    </p:animEffect>
                                  </p:childTnLst>
                                </p:cTn>
                              </p:par>
                              <p:par>
                                <p:cTn id="6" presetID="10" presetClass="entr" presetSubtype="0" fill="hold" nodeType="with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500"/>
                                        <p:tgtEl>
                                          <p:spTgt spid="10"/>
                                        </p:tgtEl>
                                      </p:cBhvr>
                                    </p:animEffect>
                                  </p:childTnLst>
                                </p:cTn>
                              </p:par>
                              <p:par>
                                <p:cTn id="9" presetID="10"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10" presetClass="entr" presetSubtype="0" fill="hold" nodeType="with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500"/>
                                        <p:tgtEl>
                                          <p:spTgt spid="12"/>
                                        </p:tgtEl>
                                      </p:cBhvr>
                                    </p:animEffect>
                                  </p:childTnLst>
                                </p:cTn>
                              </p:par>
                              <p:par>
                                <p:cTn id="15" presetID="10" presetClass="entr" presetSubtype="0" fill="hold" nodeType="withEffect">
                                  <p:stCondLst>
                                    <p:cond delay="2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2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25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childTnLst>
                                </p:cTn>
                              </p:par>
                              <p:par>
                                <p:cTn id="24" presetID="10" presetClass="entr" presetSubtype="0" fill="hold" nodeType="withEffect">
                                  <p:stCondLst>
                                    <p:cond delay="25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500"/>
                                        <p:tgtEl>
                                          <p:spTgt spid="16"/>
                                        </p:tgtEl>
                                      </p:cBhvr>
                                    </p:animEffect>
                                  </p:childTnLst>
                                </p:cTn>
                              </p:par>
                              <p:par>
                                <p:cTn id="27" presetID="10" presetClass="entr" presetSubtype="0" fill="hold" nodeType="withEffect">
                                  <p:stCondLst>
                                    <p:cond delay="5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500"/>
                                        <p:tgtEl>
                                          <p:spTgt spid="17"/>
                                        </p:tgtEl>
                                      </p:cBhvr>
                                    </p:animEffect>
                                  </p:childTnLst>
                                </p:cTn>
                              </p:par>
                              <p:par>
                                <p:cTn id="30" presetID="10" presetClass="entr" presetSubtype="0" fill="hold" nodeType="withEffect">
                                  <p:stCondLst>
                                    <p:cond delay="50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par>
                                <p:cTn id="33" presetID="10" presetClass="entr" presetSubtype="0" fill="hold" nodeType="withEffect">
                                  <p:stCondLst>
                                    <p:cond delay="50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50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500"/>
                                        <p:tgtEl>
                                          <p:spTgt spid="20"/>
                                        </p:tgtEl>
                                      </p:cBhvr>
                                    </p:animEffect>
                                  </p:childTnLst>
                                </p:cTn>
                              </p:par>
                              <p:par>
                                <p:cTn id="39" presetID="10" presetClass="entr" presetSubtype="0" fill="hold" nodeType="withEffect">
                                  <p:stCondLst>
                                    <p:cond delay="75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500"/>
                                        <p:tgtEl>
                                          <p:spTgt spid="21"/>
                                        </p:tgtEl>
                                      </p:cBhvr>
                                    </p:animEffect>
                                  </p:childTnLst>
                                </p:cTn>
                              </p:par>
                              <p:par>
                                <p:cTn id="42" presetID="10" presetClass="entr" presetSubtype="0" fill="hold" nodeType="withEffect">
                                  <p:stCondLst>
                                    <p:cond delay="75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500"/>
                                        <p:tgtEl>
                                          <p:spTgt spid="22"/>
                                        </p:tgtEl>
                                      </p:cBhvr>
                                    </p:animEffect>
                                  </p:childTnLst>
                                </p:cTn>
                              </p:par>
                              <p:par>
                                <p:cTn id="45" presetID="10" presetClass="entr" presetSubtype="0" fill="hold" nodeType="withEffect">
                                  <p:stCondLst>
                                    <p:cond delay="75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nodeType="withEffect">
                                  <p:stCondLst>
                                    <p:cond delay="75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nodeType="withEffect">
                                  <p:stCondLst>
                                    <p:cond delay="100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500"/>
                                        <p:tgtEl>
                                          <p:spTgt spid="25"/>
                                        </p:tgtEl>
                                      </p:cBhvr>
                                    </p:animEffect>
                                  </p:childTnLst>
                                </p:cTn>
                              </p:par>
                              <p:par>
                                <p:cTn id="54" presetID="10" presetClass="entr" presetSubtype="0" fill="hold" nodeType="withEffect">
                                  <p:stCondLst>
                                    <p:cond delay="100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500"/>
                                        <p:tgtEl>
                                          <p:spTgt spid="26"/>
                                        </p:tgtEl>
                                      </p:cBhvr>
                                    </p:animEffect>
                                  </p:childTnLst>
                                </p:cTn>
                              </p:par>
                              <p:par>
                                <p:cTn id="57" presetID="10" presetClass="entr" presetSubtype="0" fill="hold" nodeType="withEffect">
                                  <p:stCondLst>
                                    <p:cond delay="125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500"/>
                                        <p:tgtEl>
                                          <p:spTgt spid="27"/>
                                        </p:tgtEl>
                                      </p:cBhvr>
                                    </p:animEffect>
                                  </p:childTnLst>
                                </p:cTn>
                              </p:par>
                              <p:par>
                                <p:cTn id="60" presetID="10" presetClass="entr" presetSubtype="0" fill="hold" nodeType="withEffect">
                                  <p:stCondLst>
                                    <p:cond delay="125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500"/>
                                        <p:tgtEl>
                                          <p:spTgt spid="28"/>
                                        </p:tgtEl>
                                      </p:cBhvr>
                                    </p:animEffect>
                                  </p:childTnLst>
                                </p:cTn>
                              </p:par>
                              <p:par>
                                <p:cTn id="63" presetID="10" presetClass="entr" presetSubtype="0" fill="hold" nodeType="withEffect">
                                  <p:stCondLst>
                                    <p:cond delay="150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500"/>
                                        <p:tgtEl>
                                          <p:spTgt spid="29"/>
                                        </p:tgtEl>
                                      </p:cBhvr>
                                    </p:animEffect>
                                  </p:childTnLst>
                                </p:cTn>
                              </p:par>
                              <p:par>
                                <p:cTn id="66" presetID="10" presetClass="entr" presetSubtype="0" fill="hold" nodeType="withEffect">
                                  <p:stCondLst>
                                    <p:cond delay="150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nodeType="withEffect">
                                  <p:stCondLst>
                                    <p:cond delay="1750"/>
                                  </p:stCondLst>
                                  <p:childTnLst>
                                    <p:set>
                                      <p:cBhvr>
                                        <p:cTn id="70" dur="1" fill="hold">
                                          <p:stCondLst>
                                            <p:cond delay="0"/>
                                          </p:stCondLst>
                                        </p:cTn>
                                        <p:tgtEl>
                                          <p:spTgt spid="31"/>
                                        </p:tgtEl>
                                        <p:attrNameLst>
                                          <p:attrName>style.visibility</p:attrName>
                                        </p:attrNameLst>
                                      </p:cBhvr>
                                      <p:to>
                                        <p:strVal val="visible"/>
                                      </p:to>
                                    </p:set>
                                    <p:animEffect transition="in" filter="fade">
                                      <p:cBhvr>
                                        <p:cTn id="71" dur="500"/>
                                        <p:tgtEl>
                                          <p:spTgt spid="31"/>
                                        </p:tgtEl>
                                      </p:cBhvr>
                                    </p:animEffect>
                                  </p:childTnLst>
                                </p:cTn>
                              </p:par>
                              <p:par>
                                <p:cTn id="72" presetID="10" presetClass="entr" presetSubtype="0" fill="hold" nodeType="withEffect">
                                  <p:stCondLst>
                                    <p:cond delay="1750"/>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6" grpId="0" animBg="1"/>
      <p:bldP spid="20" grpId="0" animBg="1"/>
      <p:bldP spid="24" grpId="0" animBg="1"/>
      <p:bldP spid="26" grpId="0" animBg="1"/>
      <p:bldP spid="28" grpId="0" animBg="1"/>
      <p:bldP spid="30" grpId="0" animBg="1"/>
      <p:bldP spid="3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Bien utiliser le logiciel : les bons réflexes</a:t>
            </a:r>
            <a:endParaRPr lang="en-US" sz="3200" dirty="0"/>
          </a:p>
        </p:txBody>
      </p:sp>
      <p:sp>
        <p:nvSpPr>
          <p:cNvPr id="3" name="anim1-370"/>
          <p:cNvSpPr txBox="1"/>
          <p:nvPr/>
        </p:nvSpPr>
        <p:spPr>
          <a:xfrm>
            <a:off x="731520" y="1508760"/>
            <a:ext cx="10515600" cy="457200"/>
          </a:xfrm>
          <a:prstGeom prst="rect">
            <a:avLst/>
          </a:prstGeom>
          <a:noFill/>
          <a:ln/>
        </p:spPr>
        <p:txBody>
          <a:bodyPr wrap="square" rtlCol="0" anchor="t"/>
          <a:lstStyle/>
          <a:p>
            <a:pPr indent="0" marL="0">
              <a:buNone/>
            </a:pPr>
            <a:r>
              <a:rPr lang="en-US" sz="1800" dirty="0">
                <a:solidFill>
                  <a:schemeClr val="accent2"/>
                </a:solidFill>
              </a:rPr>
              <a:t>Le logiciel protège l'accès et les données, mais la sécurité dépend surtout de chacun de nous.</a:t>
            </a:r>
            <a:endParaRPr lang="en-US" sz="1800" dirty="0"/>
          </a:p>
        </p:txBody>
      </p:sp>
      <p:sp>
        <p:nvSpPr>
          <p:cNvPr id="4" name="anim2-371"/>
          <p:cNvSpPr/>
          <p:nvPr/>
        </p:nvSpPr>
        <p:spPr>
          <a:xfrm>
            <a:off x="731520" y="2331720"/>
            <a:ext cx="3337560" cy="3291840"/>
          </a:xfrm>
          <a:prstGeom prst="roundRect">
            <a:avLst>
              <a:gd name="adj" fmla="val 4167"/>
            </a:avLst>
          </a:prstGeom>
          <a:solidFill>
            <a:srgbClr val="28356B"/>
          </a:solidFill>
          <a:ln w="12700">
            <a:solidFill>
              <a:srgbClr val="4A5C9A"/>
            </a:solidFill>
            <a:prstDash val="solid"/>
          </a:ln>
        </p:spPr>
      </p:sp>
      <p:sp>
        <p:nvSpPr>
          <p:cNvPr id="5" name="anim2-372"/>
          <p:cNvSpPr/>
          <p:nvPr/>
        </p:nvSpPr>
        <p:spPr>
          <a:xfrm>
            <a:off x="1892808" y="2606040"/>
            <a:ext cx="1005840" cy="1005840"/>
          </a:xfrm>
          <a:prstGeom prst="ellipse">
            <a:avLst/>
          </a:prstGeom>
          <a:solidFill>
            <a:schemeClr val="bg1"/>
          </a:solidFill>
          <a:ln w="50800">
            <a:solidFill>
              <a:srgbClr val="3A4A82"/>
            </a:solidFill>
            <a:prstDash val="solid"/>
          </a:ln>
        </p:spPr>
      </p:sp>
      <p:pic>
        <p:nvPicPr>
          <p:cNvPr id="6" name="anim2-373" descr="preencoded.png">    </p:cNvPr>
          <p:cNvPicPr>
            <a:picLocks noChangeAspect="1"/>
          </p:cNvPicPr>
          <p:nvPr/>
        </p:nvPicPr>
        <p:blipFill>
          <a:blip r:embed="rId1"/>
          <a:stretch>
            <a:fillRect/>
          </a:stretch>
        </p:blipFill>
        <p:spPr>
          <a:xfrm>
            <a:off x="2148840" y="2862072"/>
            <a:ext cx="493776" cy="493776"/>
          </a:xfrm>
          <a:prstGeom prst="rect">
            <a:avLst/>
          </a:prstGeom>
        </p:spPr>
      </p:pic>
      <p:sp>
        <p:nvSpPr>
          <p:cNvPr id="7" name="anim2-374"/>
          <p:cNvSpPr txBox="1"/>
          <p:nvPr/>
        </p:nvSpPr>
        <p:spPr>
          <a:xfrm>
            <a:off x="96012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Sécurité</a:t>
            </a:r>
            <a:endParaRPr lang="en-US" sz="1500" dirty="0"/>
          </a:p>
          <a:p>
            <a:pPr algn="ctr" indent="0" marL="0">
              <a:buNone/>
            </a:pPr>
            <a:r>
              <a:rPr lang="en-US" sz="1500" dirty="0">
                <a:solidFill>
                  <a:schemeClr val="accent2"/>
                </a:solidFill>
              </a:rPr>
              <a:t>Protéger son compte et l'accès au logiciel.</a:t>
            </a:r>
            <a:endParaRPr lang="en-US" sz="1500" dirty="0"/>
          </a:p>
        </p:txBody>
      </p:sp>
      <p:sp>
        <p:nvSpPr>
          <p:cNvPr id="8" name="anim3-375"/>
          <p:cNvSpPr/>
          <p:nvPr/>
        </p:nvSpPr>
        <p:spPr>
          <a:xfrm>
            <a:off x="4343400" y="2331720"/>
            <a:ext cx="3337560" cy="3291840"/>
          </a:xfrm>
          <a:prstGeom prst="roundRect">
            <a:avLst>
              <a:gd name="adj" fmla="val 4167"/>
            </a:avLst>
          </a:prstGeom>
          <a:solidFill>
            <a:srgbClr val="28356B"/>
          </a:solidFill>
          <a:ln w="12700">
            <a:solidFill>
              <a:srgbClr val="4A5C9A"/>
            </a:solidFill>
            <a:prstDash val="solid"/>
          </a:ln>
        </p:spPr>
      </p:sp>
      <p:sp>
        <p:nvSpPr>
          <p:cNvPr id="9" name="anim3-376"/>
          <p:cNvSpPr/>
          <p:nvPr/>
        </p:nvSpPr>
        <p:spPr>
          <a:xfrm>
            <a:off x="5504688" y="2606040"/>
            <a:ext cx="1005840" cy="1005840"/>
          </a:xfrm>
          <a:prstGeom prst="ellipse">
            <a:avLst/>
          </a:prstGeom>
          <a:solidFill>
            <a:schemeClr val="bg1"/>
          </a:solidFill>
          <a:ln w="50800">
            <a:solidFill>
              <a:srgbClr val="3A4A82"/>
            </a:solidFill>
            <a:prstDash val="solid"/>
          </a:ln>
        </p:spPr>
      </p:sp>
      <p:pic>
        <p:nvPicPr>
          <p:cNvPr id="10" name="anim3-377" descr="preencoded.png">    </p:cNvPr>
          <p:cNvPicPr>
            <a:picLocks noChangeAspect="1"/>
          </p:cNvPicPr>
          <p:nvPr/>
        </p:nvPicPr>
        <p:blipFill>
          <a:blip r:embed="rId2"/>
          <a:stretch>
            <a:fillRect/>
          </a:stretch>
        </p:blipFill>
        <p:spPr>
          <a:xfrm>
            <a:off x="5760720" y="2862072"/>
            <a:ext cx="493776" cy="493776"/>
          </a:xfrm>
          <a:prstGeom prst="rect">
            <a:avLst/>
          </a:prstGeom>
        </p:spPr>
      </p:pic>
      <p:sp>
        <p:nvSpPr>
          <p:cNvPr id="11" name="anim3-378"/>
          <p:cNvSpPr txBox="1"/>
          <p:nvPr/>
        </p:nvSpPr>
        <p:spPr>
          <a:xfrm>
            <a:off x="457200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Confidentialité</a:t>
            </a:r>
            <a:endParaRPr lang="en-US" sz="1500" dirty="0"/>
          </a:p>
          <a:p>
            <a:pPr algn="ctr" indent="0" marL="0">
              <a:buNone/>
            </a:pPr>
            <a:r>
              <a:rPr lang="en-US" sz="1500" dirty="0">
                <a:solidFill>
                  <a:schemeClr val="accent2"/>
                </a:solidFill>
              </a:rPr>
              <a:t>Protéger les informations des clients, des chauffeurs et de l'entreprise.</a:t>
            </a:r>
            <a:endParaRPr lang="en-US" sz="1500" dirty="0"/>
          </a:p>
        </p:txBody>
      </p:sp>
      <p:sp>
        <p:nvSpPr>
          <p:cNvPr id="12" name="anim4-379"/>
          <p:cNvSpPr/>
          <p:nvPr/>
        </p:nvSpPr>
        <p:spPr>
          <a:xfrm>
            <a:off x="7955280" y="2331720"/>
            <a:ext cx="3337560" cy="3291840"/>
          </a:xfrm>
          <a:prstGeom prst="roundRect">
            <a:avLst>
              <a:gd name="adj" fmla="val 4167"/>
            </a:avLst>
          </a:prstGeom>
          <a:solidFill>
            <a:srgbClr val="28356B"/>
          </a:solidFill>
          <a:ln w="12700">
            <a:solidFill>
              <a:srgbClr val="4A5C9A"/>
            </a:solidFill>
            <a:prstDash val="solid"/>
          </a:ln>
        </p:spPr>
      </p:sp>
      <p:sp>
        <p:nvSpPr>
          <p:cNvPr id="13" name="anim4-380"/>
          <p:cNvSpPr/>
          <p:nvPr/>
        </p:nvSpPr>
        <p:spPr>
          <a:xfrm>
            <a:off x="9116568" y="2606040"/>
            <a:ext cx="1005840" cy="1005840"/>
          </a:xfrm>
          <a:prstGeom prst="ellipse">
            <a:avLst/>
          </a:prstGeom>
          <a:solidFill>
            <a:schemeClr val="bg1"/>
          </a:solidFill>
          <a:ln w="50800">
            <a:solidFill>
              <a:srgbClr val="3A4A82"/>
            </a:solidFill>
            <a:prstDash val="solid"/>
          </a:ln>
        </p:spPr>
      </p:sp>
      <p:pic>
        <p:nvPicPr>
          <p:cNvPr id="14" name="anim4-381" descr="preencoded.png">    </p:cNvPr>
          <p:cNvPicPr>
            <a:picLocks noChangeAspect="1"/>
          </p:cNvPicPr>
          <p:nvPr/>
        </p:nvPicPr>
        <p:blipFill>
          <a:blip r:embed="rId3"/>
          <a:stretch>
            <a:fillRect/>
          </a:stretch>
        </p:blipFill>
        <p:spPr>
          <a:xfrm>
            <a:off x="9372600" y="2862072"/>
            <a:ext cx="493776" cy="493776"/>
          </a:xfrm>
          <a:prstGeom prst="rect">
            <a:avLst/>
          </a:prstGeom>
        </p:spPr>
      </p:pic>
      <p:sp>
        <p:nvSpPr>
          <p:cNvPr id="15" name="anim4-382"/>
          <p:cNvSpPr txBox="1"/>
          <p:nvPr/>
        </p:nvSpPr>
        <p:spPr>
          <a:xfrm>
            <a:off x="8183880" y="3794760"/>
            <a:ext cx="2880360" cy="1645920"/>
          </a:xfrm>
          <a:prstGeom prst="rect">
            <a:avLst/>
          </a:prstGeom>
          <a:noFill/>
          <a:ln/>
        </p:spPr>
        <p:txBody>
          <a:bodyPr wrap="square" rtlCol="0" anchor="t"/>
          <a:lstStyle/>
          <a:p>
            <a:pPr algn="ctr" indent="0" marL="0">
              <a:spcAft>
                <a:spcPts val="600"/>
              </a:spcAft>
              <a:buNone/>
            </a:pPr>
            <a:r>
              <a:rPr lang="en-US" sz="2100" b="1" dirty="0">
                <a:solidFill>
                  <a:schemeClr val="bg1"/>
                </a:solidFill>
              </a:rPr>
              <a:t>Qualité des données</a:t>
            </a:r>
            <a:endParaRPr lang="en-US" sz="1500" dirty="0"/>
          </a:p>
          <a:p>
            <a:pPr algn="ctr" indent="0" marL="0">
              <a:buNone/>
            </a:pPr>
            <a:r>
              <a:rPr lang="en-US" sz="1500" dirty="0">
                <a:solidFill>
                  <a:schemeClr val="accent2"/>
                </a:solidFill>
              </a:rPr>
              <a:t>Saisir juste, complet et à temps pour des chiffres fiables.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2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5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7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11" grpId="0" animBg="1"/>
      <p:bldP spid="1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Sécurité : protéger son compte</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Votre compte, c'est votre signature : tout ce qui est fait avec est enregistré à votre nom.</a:t>
            </a:r>
            <a:endParaRPr lang="en-US" sz="1700" dirty="0"/>
          </a:p>
        </p:txBody>
      </p:sp>
      <p:sp>
        <p:nvSpPr>
          <p:cNvPr id="8" name="anim1-383"/>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384"/>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385"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386"/>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Choisir un mot de passe long et personnel</a:t>
            </a:r>
            <a:endParaRPr lang="en-US" sz="1500" dirty="0"/>
          </a:p>
        </p:txBody>
      </p:sp>
      <p:pic>
        <p:nvPicPr>
          <p:cNvPr id="12" name="anim3-387"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388"/>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Le changer dès qu'il a pu être vu</a:t>
            </a:r>
            <a:endParaRPr lang="en-US" sz="1500" dirty="0"/>
          </a:p>
        </p:txBody>
      </p:sp>
      <p:pic>
        <p:nvPicPr>
          <p:cNvPr id="14" name="anim4-389"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390"/>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Verrouiller son poste en quittant son bureau</a:t>
            </a:r>
            <a:endParaRPr lang="en-US" sz="1500" dirty="0"/>
          </a:p>
        </p:txBody>
      </p:sp>
      <p:pic>
        <p:nvPicPr>
          <p:cNvPr id="16" name="anim5-391"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392"/>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Se déconnecter sur un ordinateur partagé</a:t>
            </a:r>
            <a:endParaRPr lang="en-US" sz="1500" dirty="0"/>
          </a:p>
        </p:txBody>
      </p:sp>
      <p:sp>
        <p:nvSpPr>
          <p:cNvPr id="18" name="anim7-393"/>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394"/>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395"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396"/>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Prêter son identifiant, même à un collègue pressé</a:t>
            </a:r>
            <a:endParaRPr lang="en-US" sz="1500" dirty="0"/>
          </a:p>
        </p:txBody>
      </p:sp>
      <p:pic>
        <p:nvPicPr>
          <p:cNvPr id="22" name="anim9-397"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398"/>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Noter son mot de passe sur un post-it</a:t>
            </a:r>
            <a:endParaRPr lang="en-US" sz="1500" dirty="0"/>
          </a:p>
        </p:txBody>
      </p:sp>
      <p:pic>
        <p:nvPicPr>
          <p:cNvPr id="24" name="anim10-399"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00"/>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Répondre à un message qui demande ses identifiants</a:t>
            </a:r>
            <a:endParaRPr lang="en-US" sz="1500" dirty="0"/>
          </a:p>
        </p:txBody>
      </p:sp>
      <p:pic>
        <p:nvPicPr>
          <p:cNvPr id="26" name="anim11-401"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02"/>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Se connecter depuis un poste ou un Wi-Fi inconnu</a:t>
            </a:r>
            <a:endParaRPr lang="en-US" sz="1500" dirty="0"/>
          </a:p>
        </p:txBody>
      </p:sp>
      <p:sp>
        <p:nvSpPr>
          <p:cNvPr id="28" name="anim13-403"/>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menu Change Password pour changer son mot de passe ; l'administrateur peut désactiver un compte.</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Confidentialité : protéger les informations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Contacts des clients, permis des chauffeurs, salaires, chiffres de l'entreprise : ces données sont sensibles.</a:t>
            </a:r>
            <a:endParaRPr lang="en-US" sz="1700" dirty="0"/>
          </a:p>
        </p:txBody>
      </p:sp>
      <p:sp>
        <p:nvSpPr>
          <p:cNvPr id="8" name="anim1-404"/>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05"/>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06"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07"/>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Consulter uniquement ce dont on a besoin</a:t>
            </a:r>
            <a:endParaRPr lang="en-US" sz="1500" dirty="0"/>
          </a:p>
        </p:txBody>
      </p:sp>
      <p:pic>
        <p:nvPicPr>
          <p:cNvPr id="12" name="anim3-408"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09"/>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Garder les exports dans les dossiers de l'entreprise</a:t>
            </a:r>
            <a:endParaRPr lang="en-US" sz="1500" dirty="0"/>
          </a:p>
        </p:txBody>
      </p:sp>
      <p:pic>
        <p:nvPicPr>
          <p:cNvPr id="14" name="anim4-410"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11"/>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Supprimer les exports devenus inutiles</a:t>
            </a:r>
            <a:endParaRPr lang="en-US" sz="1500" dirty="0"/>
          </a:p>
        </p:txBody>
      </p:sp>
      <p:pic>
        <p:nvPicPr>
          <p:cNvPr id="16" name="anim5-412"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13"/>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Demander l'avis de son responsable en cas de doute</a:t>
            </a:r>
            <a:endParaRPr lang="en-US" sz="1500" dirty="0"/>
          </a:p>
        </p:txBody>
      </p:sp>
      <p:sp>
        <p:nvSpPr>
          <p:cNvPr id="18" name="anim7-414"/>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15"/>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16"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17"/>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Envoyer un export ou une capture d'écran sur WhatsApp</a:t>
            </a:r>
            <a:endParaRPr lang="en-US" sz="1500" dirty="0"/>
          </a:p>
        </p:txBody>
      </p:sp>
      <p:pic>
        <p:nvPicPr>
          <p:cNvPr id="22" name="anim9-418"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19"/>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Communiquer les coordonnées d'un client ou d'un chauffeur</a:t>
            </a:r>
            <a:endParaRPr lang="en-US" sz="1500" dirty="0"/>
          </a:p>
        </p:txBody>
      </p:sp>
      <p:pic>
        <p:nvPicPr>
          <p:cNvPr id="24" name="anim10-420"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21"/>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Laisser un document imprimé traîner</a:t>
            </a:r>
            <a:endParaRPr lang="en-US" sz="1500" dirty="0"/>
          </a:p>
        </p:txBody>
      </p:sp>
      <p:pic>
        <p:nvPicPr>
          <p:cNvPr id="26" name="anim11-422"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23"/>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Parler des chiffres de l'entreprise à l'extérieur</a:t>
            </a:r>
            <a:endParaRPr lang="en-US" sz="1500" dirty="0"/>
          </a:p>
        </p:txBody>
      </p:sp>
      <p:sp>
        <p:nvSpPr>
          <p:cNvPr id="28" name="anim13-424"/>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les droits d'accès sont réglés par profil ; les exports Excel, CSV et PDF sont à réserver aux besoins du service.</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Qualité des données : saisir juste</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Le tableau de bord et les rapports ne sont fiables que si la saisie l'est.</a:t>
            </a:r>
            <a:endParaRPr lang="en-US" sz="1700" dirty="0"/>
          </a:p>
        </p:txBody>
      </p:sp>
      <p:sp>
        <p:nvSpPr>
          <p:cNvPr id="8" name="anim1-425"/>
          <p:cNvSpPr/>
          <p:nvPr/>
        </p:nvSpPr>
        <p:spPr>
          <a:xfrm>
            <a:off x="54864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26"/>
          <p:cNvSpPr txBox="1"/>
          <p:nvPr/>
        </p:nvSpPr>
        <p:spPr>
          <a:xfrm>
            <a:off x="822960" y="2103120"/>
            <a:ext cx="4937760" cy="457200"/>
          </a:xfrm>
          <a:prstGeom prst="rect">
            <a:avLst/>
          </a:prstGeom>
          <a:noFill/>
          <a:ln/>
        </p:spPr>
        <p:txBody>
          <a:bodyPr wrap="square" lIns="0" tIns="0" rIns="0" bIns="0" rtlCol="0" anchor="t"/>
          <a:lstStyle/>
          <a:p>
            <a:pPr indent="0" marL="0">
              <a:buNone/>
            </a:pPr>
            <a:r>
              <a:rPr lang="en-US" sz="1900" b="1" dirty="0">
                <a:solidFill>
                  <a:schemeClr val="accent3"/>
                </a:solidFill>
              </a:rPr>
              <a:t>À faire</a:t>
            </a:r>
            <a:endParaRPr lang="en-US" sz="1900" dirty="0"/>
          </a:p>
        </p:txBody>
      </p:sp>
      <p:pic>
        <p:nvPicPr>
          <p:cNvPr id="10" name="anim2-427" descr="preencoded.png">    </p:cNvPr>
          <p:cNvPicPr>
            <a:picLocks noChangeAspect="1"/>
          </p:cNvPicPr>
          <p:nvPr/>
        </p:nvPicPr>
        <p:blipFill>
          <a:blip r:embed="rId2"/>
          <a:stretch>
            <a:fillRect/>
          </a:stretch>
        </p:blipFill>
        <p:spPr>
          <a:xfrm>
            <a:off x="822960" y="2734056"/>
            <a:ext cx="292608" cy="292608"/>
          </a:xfrm>
          <a:prstGeom prst="rect">
            <a:avLst/>
          </a:prstGeom>
        </p:spPr>
      </p:pic>
      <p:sp>
        <p:nvSpPr>
          <p:cNvPr id="11" name="anim2-428"/>
          <p:cNvSpPr txBox="1"/>
          <p:nvPr/>
        </p:nvSpPr>
        <p:spPr>
          <a:xfrm>
            <a:off x="128016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Saisir au fil de l'eau : un plein, un trajet, une dépense</a:t>
            </a:r>
            <a:endParaRPr lang="en-US" sz="1500" dirty="0"/>
          </a:p>
        </p:txBody>
      </p:sp>
      <p:pic>
        <p:nvPicPr>
          <p:cNvPr id="12" name="anim3-429" descr="preencoded.png">    </p:cNvPr>
          <p:cNvPicPr>
            <a:picLocks noChangeAspect="1"/>
          </p:cNvPicPr>
          <p:nvPr/>
        </p:nvPicPr>
        <p:blipFill>
          <a:blip r:embed="rId3"/>
          <a:stretch>
            <a:fillRect/>
          </a:stretch>
        </p:blipFill>
        <p:spPr>
          <a:xfrm>
            <a:off x="822960" y="3447288"/>
            <a:ext cx="292608" cy="292608"/>
          </a:xfrm>
          <a:prstGeom prst="rect">
            <a:avLst/>
          </a:prstGeom>
        </p:spPr>
      </p:pic>
      <p:sp>
        <p:nvSpPr>
          <p:cNvPr id="13" name="anim3-430"/>
          <p:cNvSpPr txBox="1"/>
          <p:nvPr/>
        </p:nvSpPr>
        <p:spPr>
          <a:xfrm>
            <a:off x="128016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Vérifier véhicule, chauffeur, montant et date avant d'enregistrer</a:t>
            </a:r>
            <a:endParaRPr lang="en-US" sz="1500" dirty="0"/>
          </a:p>
        </p:txBody>
      </p:sp>
      <p:pic>
        <p:nvPicPr>
          <p:cNvPr id="14" name="anim4-431" descr="preencoded.png">    </p:cNvPr>
          <p:cNvPicPr>
            <a:picLocks noChangeAspect="1"/>
          </p:cNvPicPr>
          <p:nvPr/>
        </p:nvPicPr>
        <p:blipFill>
          <a:blip r:embed="rId4"/>
          <a:stretch>
            <a:fillRect/>
          </a:stretch>
        </p:blipFill>
        <p:spPr>
          <a:xfrm>
            <a:off x="822960" y="4160520"/>
            <a:ext cx="292608" cy="292608"/>
          </a:xfrm>
          <a:prstGeom prst="rect">
            <a:avLst/>
          </a:prstGeom>
        </p:spPr>
      </p:pic>
      <p:sp>
        <p:nvSpPr>
          <p:cNvPr id="15" name="anim4-432"/>
          <p:cNvSpPr txBox="1"/>
          <p:nvPr/>
        </p:nvSpPr>
        <p:spPr>
          <a:xfrm>
            <a:off x="128016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Joindre les documents (permis, assurance, contrat)</a:t>
            </a:r>
            <a:endParaRPr lang="en-US" sz="1500" dirty="0"/>
          </a:p>
        </p:txBody>
      </p:sp>
      <p:pic>
        <p:nvPicPr>
          <p:cNvPr id="16" name="anim5-433" descr="preencoded.png">    </p:cNvPr>
          <p:cNvPicPr>
            <a:picLocks noChangeAspect="1"/>
          </p:cNvPicPr>
          <p:nvPr/>
        </p:nvPicPr>
        <p:blipFill>
          <a:blip r:embed="rId5"/>
          <a:stretch>
            <a:fillRect/>
          </a:stretch>
        </p:blipFill>
        <p:spPr>
          <a:xfrm>
            <a:off x="822960" y="4873752"/>
            <a:ext cx="292608" cy="292608"/>
          </a:xfrm>
          <a:prstGeom prst="rect">
            <a:avLst/>
          </a:prstGeom>
        </p:spPr>
      </p:pic>
      <p:sp>
        <p:nvSpPr>
          <p:cNvPr id="17" name="anim5-434"/>
          <p:cNvSpPr txBox="1"/>
          <p:nvPr/>
        </p:nvSpPr>
        <p:spPr>
          <a:xfrm>
            <a:off x="128016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Mettre à jour les dates d'expiration</a:t>
            </a:r>
            <a:endParaRPr lang="en-US" sz="1500" dirty="0"/>
          </a:p>
        </p:txBody>
      </p:sp>
      <p:sp>
        <p:nvSpPr>
          <p:cNvPr id="18" name="anim7-435"/>
          <p:cNvSpPr/>
          <p:nvPr/>
        </p:nvSpPr>
        <p:spPr>
          <a:xfrm>
            <a:off x="6172200" y="1965960"/>
            <a:ext cx="5440680" cy="3657600"/>
          </a:xfrm>
          <a:prstGeom prst="roundRect">
            <a:avLst>
              <a:gd name="adj" fmla="val 3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9" name="anim7-436"/>
          <p:cNvSpPr txBox="1"/>
          <p:nvPr/>
        </p:nvSpPr>
        <p:spPr>
          <a:xfrm>
            <a:off x="6446520" y="2103120"/>
            <a:ext cx="4937760" cy="457200"/>
          </a:xfrm>
          <a:prstGeom prst="rect">
            <a:avLst/>
          </a:prstGeom>
          <a:noFill/>
          <a:ln/>
        </p:spPr>
        <p:txBody>
          <a:bodyPr wrap="square" lIns="0" tIns="0" rIns="0" bIns="0" rtlCol="0" anchor="t"/>
          <a:lstStyle/>
          <a:p>
            <a:pPr indent="0" marL="0">
              <a:buNone/>
            </a:pPr>
            <a:r>
              <a:rPr lang="en-US" sz="1900" b="1" dirty="0">
                <a:solidFill>
                  <a:schemeClr val="accent5"/>
                </a:solidFill>
              </a:rPr>
              <a:t>À éviter</a:t>
            </a:r>
            <a:endParaRPr lang="en-US" sz="1900" dirty="0"/>
          </a:p>
        </p:txBody>
      </p:sp>
      <p:pic>
        <p:nvPicPr>
          <p:cNvPr id="20" name="anim8-437" descr="preencoded.png">    </p:cNvPr>
          <p:cNvPicPr>
            <a:picLocks noChangeAspect="1"/>
          </p:cNvPicPr>
          <p:nvPr/>
        </p:nvPicPr>
        <p:blipFill>
          <a:blip r:embed="rId6"/>
          <a:stretch>
            <a:fillRect/>
          </a:stretch>
        </p:blipFill>
        <p:spPr>
          <a:xfrm>
            <a:off x="6446520" y="2734056"/>
            <a:ext cx="292608" cy="292608"/>
          </a:xfrm>
          <a:prstGeom prst="rect">
            <a:avLst/>
          </a:prstGeom>
        </p:spPr>
      </p:pic>
      <p:sp>
        <p:nvSpPr>
          <p:cNvPr id="21" name="anim8-438"/>
          <p:cNvSpPr txBox="1"/>
          <p:nvPr/>
        </p:nvSpPr>
        <p:spPr>
          <a:xfrm>
            <a:off x="6903720" y="2697480"/>
            <a:ext cx="4526280" cy="658368"/>
          </a:xfrm>
          <a:prstGeom prst="rect">
            <a:avLst/>
          </a:prstGeom>
          <a:noFill/>
          <a:ln/>
        </p:spPr>
        <p:txBody>
          <a:bodyPr wrap="square" lIns="0" tIns="0" rIns="0" bIns="0" rtlCol="0" anchor="t"/>
          <a:lstStyle/>
          <a:p>
            <a:pPr indent="0" marL="0">
              <a:buNone/>
            </a:pPr>
            <a:r>
              <a:rPr lang="en-US" sz="1500" dirty="0">
                <a:solidFill>
                  <a:schemeClr val="tx1"/>
                </a:solidFill>
              </a:rPr>
              <a:t>Tout saisir en fin de semaine ou de mois</a:t>
            </a:r>
            <a:endParaRPr lang="en-US" sz="1500" dirty="0"/>
          </a:p>
        </p:txBody>
      </p:sp>
      <p:pic>
        <p:nvPicPr>
          <p:cNvPr id="22" name="anim9-439" descr="preencoded.png">    </p:cNvPr>
          <p:cNvPicPr>
            <a:picLocks noChangeAspect="1"/>
          </p:cNvPicPr>
          <p:nvPr/>
        </p:nvPicPr>
        <p:blipFill>
          <a:blip r:embed="rId7"/>
          <a:stretch>
            <a:fillRect/>
          </a:stretch>
        </p:blipFill>
        <p:spPr>
          <a:xfrm>
            <a:off x="6446520" y="3447288"/>
            <a:ext cx="292608" cy="292608"/>
          </a:xfrm>
          <a:prstGeom prst="rect">
            <a:avLst/>
          </a:prstGeom>
        </p:spPr>
      </p:pic>
      <p:sp>
        <p:nvSpPr>
          <p:cNvPr id="23" name="anim9-440"/>
          <p:cNvSpPr txBox="1"/>
          <p:nvPr/>
        </p:nvSpPr>
        <p:spPr>
          <a:xfrm>
            <a:off x="6903720" y="3410712"/>
            <a:ext cx="4526280" cy="658368"/>
          </a:xfrm>
          <a:prstGeom prst="rect">
            <a:avLst/>
          </a:prstGeom>
          <a:noFill/>
          <a:ln/>
        </p:spPr>
        <p:txBody>
          <a:bodyPr wrap="square" lIns="0" tIns="0" rIns="0" bIns="0" rtlCol="0" anchor="t"/>
          <a:lstStyle/>
          <a:p>
            <a:pPr indent="0" marL="0">
              <a:buNone/>
            </a:pPr>
            <a:r>
              <a:rPr lang="en-US" sz="1500" dirty="0">
                <a:solidFill>
                  <a:schemeClr val="tx1"/>
                </a:solidFill>
              </a:rPr>
              <a:t>Créer un doublon (client, catégorie…) au lieu de chercher l'existant</a:t>
            </a:r>
            <a:endParaRPr lang="en-US" sz="1500" dirty="0"/>
          </a:p>
        </p:txBody>
      </p:sp>
      <p:pic>
        <p:nvPicPr>
          <p:cNvPr id="24" name="anim10-441" descr="preencoded.png">    </p:cNvPr>
          <p:cNvPicPr>
            <a:picLocks noChangeAspect="1"/>
          </p:cNvPicPr>
          <p:nvPr/>
        </p:nvPicPr>
        <p:blipFill>
          <a:blip r:embed="rId8"/>
          <a:stretch>
            <a:fillRect/>
          </a:stretch>
        </p:blipFill>
        <p:spPr>
          <a:xfrm>
            <a:off x="6446520" y="4160520"/>
            <a:ext cx="292608" cy="292608"/>
          </a:xfrm>
          <a:prstGeom prst="rect">
            <a:avLst/>
          </a:prstGeom>
        </p:spPr>
      </p:pic>
      <p:sp>
        <p:nvSpPr>
          <p:cNvPr id="25" name="anim10-442"/>
          <p:cNvSpPr txBox="1"/>
          <p:nvPr/>
        </p:nvSpPr>
        <p:spPr>
          <a:xfrm>
            <a:off x="6903720" y="4123944"/>
            <a:ext cx="4526280" cy="658368"/>
          </a:xfrm>
          <a:prstGeom prst="rect">
            <a:avLst/>
          </a:prstGeom>
          <a:noFill/>
          <a:ln/>
        </p:spPr>
        <p:txBody>
          <a:bodyPr wrap="square" lIns="0" tIns="0" rIns="0" bIns="0" rtlCol="0" anchor="t"/>
          <a:lstStyle/>
          <a:p>
            <a:pPr indent="0" marL="0">
              <a:buNone/>
            </a:pPr>
            <a:r>
              <a:rPr lang="en-US" sz="1500" dirty="0">
                <a:solidFill>
                  <a:schemeClr val="tx1"/>
                </a:solidFill>
              </a:rPr>
              <a:t>Laisser des données de test dans le logiciel</a:t>
            </a:r>
            <a:endParaRPr lang="en-US" sz="1500" dirty="0"/>
          </a:p>
        </p:txBody>
      </p:sp>
      <p:pic>
        <p:nvPicPr>
          <p:cNvPr id="26" name="anim11-443" descr="preencoded.png">    </p:cNvPr>
          <p:cNvPicPr>
            <a:picLocks noChangeAspect="1"/>
          </p:cNvPicPr>
          <p:nvPr/>
        </p:nvPicPr>
        <p:blipFill>
          <a:blip r:embed="rId9"/>
          <a:stretch>
            <a:fillRect/>
          </a:stretch>
        </p:blipFill>
        <p:spPr>
          <a:xfrm>
            <a:off x="6446520" y="4873752"/>
            <a:ext cx="292608" cy="292608"/>
          </a:xfrm>
          <a:prstGeom prst="rect">
            <a:avLst/>
          </a:prstGeom>
        </p:spPr>
      </p:pic>
      <p:sp>
        <p:nvSpPr>
          <p:cNvPr id="27" name="anim11-444"/>
          <p:cNvSpPr txBox="1"/>
          <p:nvPr/>
        </p:nvSpPr>
        <p:spPr>
          <a:xfrm>
            <a:off x="6903720" y="4837176"/>
            <a:ext cx="4526280" cy="658368"/>
          </a:xfrm>
          <a:prstGeom prst="rect">
            <a:avLst/>
          </a:prstGeom>
          <a:noFill/>
          <a:ln/>
        </p:spPr>
        <p:txBody>
          <a:bodyPr wrap="square" lIns="0" tIns="0" rIns="0" bIns="0" rtlCol="0" anchor="t"/>
          <a:lstStyle/>
          <a:p>
            <a:pPr indent="0" marL="0">
              <a:buNone/>
            </a:pPr>
            <a:r>
              <a:rPr lang="en-US" sz="1500" dirty="0">
                <a:solidFill>
                  <a:schemeClr val="tx1"/>
                </a:solidFill>
              </a:rPr>
              <a:t>Corriger en silence l'erreur d'un collègue</a:t>
            </a:r>
            <a:endParaRPr lang="en-US" sz="1500" dirty="0"/>
          </a:p>
        </p:txBody>
      </p:sp>
      <p:sp>
        <p:nvSpPr>
          <p:cNvPr id="28" name="anim13-445"/>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300" b="1" dirty="0">
                <a:solidFill>
                  <a:schemeClr val="accent1"/>
                </a:solidFill>
              </a:rPr>
              <a:t>Dans le logiciel  </a:t>
            </a:r>
            <a:pPr indent="0" marL="0">
              <a:buNone/>
            </a:pPr>
            <a:r>
              <a:rPr lang="en-US" sz="1300" dirty="0">
                <a:solidFill>
                  <a:schemeClr val="tx2"/>
                </a:solidFill>
              </a:rPr>
              <a:t>utiliser la recherche avant de créer ; les champs marqués * sont obligatoires.</a:t>
            </a:r>
            <a:endParaRPr lang="en-US" sz="13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67"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25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5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50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7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7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10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10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125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125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1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15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1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1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200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200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225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225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25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P spid="15" grpId="0" animBg="1"/>
      <p:bldP spid="17" grpId="0" animBg="1"/>
      <p:bldP spid="19" grpId="0" animBg="1"/>
      <p:bldP spid="21" grpId="0" animBg="1"/>
      <p:bldP spid="23" grpId="0" animBg="1"/>
      <p:bldP spid="25" grpId="0" animBg="1"/>
      <p:bldP spid="27" grpId="0" animBg="1"/>
      <p:bldP spid="2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En cas de problème : les bons réflexes</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BONNES PRATIQUES</a:t>
            </a:r>
            <a:endParaRPr lang="en-US" sz="10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700" dirty="0">
                <a:solidFill>
                  <a:schemeClr val="tx2"/>
                </a:solidFill>
              </a:rPr>
              <a:t>Signaler vite vaut mieux que réparer tard. Personne ne sera blâmé pour avoir signalé.</a:t>
            </a:r>
            <a:endParaRPr lang="en-US" sz="1700" dirty="0"/>
          </a:p>
        </p:txBody>
      </p:sp>
      <p:sp>
        <p:nvSpPr>
          <p:cNvPr id="8" name="anim1-446"/>
          <p:cNvSpPr/>
          <p:nvPr/>
        </p:nvSpPr>
        <p:spPr>
          <a:xfrm>
            <a:off x="548640" y="20574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9" name="anim1-447"/>
          <p:cNvSpPr/>
          <p:nvPr/>
        </p:nvSpPr>
        <p:spPr>
          <a:xfrm>
            <a:off x="749808" y="2258568"/>
            <a:ext cx="548640" cy="548640"/>
          </a:xfrm>
          <a:prstGeom prst="roundRect">
            <a:avLst>
              <a:gd name="adj" fmla="val 22000"/>
            </a:avLst>
          </a:prstGeom>
          <a:solidFill>
            <a:schemeClr val="bg2"/>
          </a:solidFill>
          <a:ln w="12700">
            <a:solidFill>
              <a:schemeClr val="bg2"/>
            </a:solidFill>
            <a:prstDash val="solid"/>
          </a:ln>
        </p:spPr>
      </p:sp>
      <p:pic>
        <p:nvPicPr>
          <p:cNvPr id="10" name="anim1-448" descr="preencoded.png">    </p:cNvPr>
          <p:cNvPicPr>
            <a:picLocks noChangeAspect="1"/>
          </p:cNvPicPr>
          <p:nvPr/>
        </p:nvPicPr>
        <p:blipFill>
          <a:blip r:embed="rId2"/>
          <a:stretch>
            <a:fillRect/>
          </a:stretch>
        </p:blipFill>
        <p:spPr>
          <a:xfrm>
            <a:off x="892454" y="2401214"/>
            <a:ext cx="263347" cy="263347"/>
          </a:xfrm>
          <a:prstGeom prst="rect">
            <a:avLst/>
          </a:prstGeom>
        </p:spPr>
      </p:pic>
      <p:sp>
        <p:nvSpPr>
          <p:cNvPr id="11" name="anim1-449"/>
          <p:cNvSpPr txBox="1"/>
          <p:nvPr/>
        </p:nvSpPr>
        <p:spPr>
          <a:xfrm>
            <a:off x="1444752" y="21854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Mon mot de passe a pu être vu</a:t>
            </a:r>
            <a:endParaRPr lang="en-US" sz="1500" dirty="0"/>
          </a:p>
          <a:p>
            <a:pPr indent="0" marL="0">
              <a:buNone/>
            </a:pPr>
            <a:r>
              <a:rPr lang="en-US" sz="1400" dirty="0">
                <a:solidFill>
                  <a:schemeClr val="tx1"/>
                </a:solidFill>
              </a:rPr>
              <a:t>Je le change tout de suite (Change Password) et je préviens l'administrateur.</a:t>
            </a:r>
            <a:endParaRPr lang="en-US" sz="1500" dirty="0"/>
          </a:p>
        </p:txBody>
      </p:sp>
      <p:sp>
        <p:nvSpPr>
          <p:cNvPr id="12" name="anim2-450"/>
          <p:cNvSpPr/>
          <p:nvPr/>
        </p:nvSpPr>
        <p:spPr>
          <a:xfrm>
            <a:off x="6172200" y="20574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451"/>
          <p:cNvSpPr/>
          <p:nvPr/>
        </p:nvSpPr>
        <p:spPr>
          <a:xfrm>
            <a:off x="6373368" y="2258568"/>
            <a:ext cx="548640" cy="548640"/>
          </a:xfrm>
          <a:prstGeom prst="roundRect">
            <a:avLst>
              <a:gd name="adj" fmla="val 22000"/>
            </a:avLst>
          </a:prstGeom>
          <a:solidFill>
            <a:schemeClr val="bg2"/>
          </a:solidFill>
          <a:ln w="12700">
            <a:solidFill>
              <a:schemeClr val="bg2"/>
            </a:solidFill>
            <a:prstDash val="solid"/>
          </a:ln>
        </p:spPr>
      </p:sp>
      <p:pic>
        <p:nvPicPr>
          <p:cNvPr id="14" name="anim2-452" descr="preencoded.png">    </p:cNvPr>
          <p:cNvPicPr>
            <a:picLocks noChangeAspect="1"/>
          </p:cNvPicPr>
          <p:nvPr/>
        </p:nvPicPr>
        <p:blipFill>
          <a:blip r:embed="rId3"/>
          <a:stretch>
            <a:fillRect/>
          </a:stretch>
        </p:blipFill>
        <p:spPr>
          <a:xfrm>
            <a:off x="6516014" y="2401214"/>
            <a:ext cx="263347" cy="263347"/>
          </a:xfrm>
          <a:prstGeom prst="rect">
            <a:avLst/>
          </a:prstGeom>
        </p:spPr>
      </p:pic>
      <p:sp>
        <p:nvSpPr>
          <p:cNvPr id="15" name="anim2-453"/>
          <p:cNvSpPr txBox="1"/>
          <p:nvPr/>
        </p:nvSpPr>
        <p:spPr>
          <a:xfrm>
            <a:off x="7068312" y="21854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Message suspect demandant mes identifiants</a:t>
            </a:r>
            <a:endParaRPr lang="en-US" sz="1500" dirty="0"/>
          </a:p>
          <a:p>
            <a:pPr indent="0" marL="0">
              <a:buNone/>
            </a:pPr>
            <a:r>
              <a:rPr lang="en-US" sz="1400" dirty="0">
                <a:solidFill>
                  <a:schemeClr val="tx1"/>
                </a:solidFill>
              </a:rPr>
              <a:t>Je ne réponds pas, je ne clique pas, je le signale.</a:t>
            </a:r>
            <a:endParaRPr lang="en-US" sz="1500" dirty="0"/>
          </a:p>
        </p:txBody>
      </p:sp>
      <p:sp>
        <p:nvSpPr>
          <p:cNvPr id="16" name="anim3-454"/>
          <p:cNvSpPr/>
          <p:nvPr/>
        </p:nvSpPr>
        <p:spPr>
          <a:xfrm>
            <a:off x="548640" y="41148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7" name="anim3-455"/>
          <p:cNvSpPr/>
          <p:nvPr/>
        </p:nvSpPr>
        <p:spPr>
          <a:xfrm>
            <a:off x="749808" y="4315968"/>
            <a:ext cx="548640" cy="548640"/>
          </a:xfrm>
          <a:prstGeom prst="roundRect">
            <a:avLst>
              <a:gd name="adj" fmla="val 22000"/>
            </a:avLst>
          </a:prstGeom>
          <a:solidFill>
            <a:schemeClr val="bg2"/>
          </a:solidFill>
          <a:ln w="12700">
            <a:solidFill>
              <a:schemeClr val="bg2"/>
            </a:solidFill>
            <a:prstDash val="solid"/>
          </a:ln>
        </p:spPr>
      </p:sp>
      <p:pic>
        <p:nvPicPr>
          <p:cNvPr id="18" name="anim3-456" descr="preencoded.png">    </p:cNvPr>
          <p:cNvPicPr>
            <a:picLocks noChangeAspect="1"/>
          </p:cNvPicPr>
          <p:nvPr/>
        </p:nvPicPr>
        <p:blipFill>
          <a:blip r:embed="rId4"/>
          <a:stretch>
            <a:fillRect/>
          </a:stretch>
        </p:blipFill>
        <p:spPr>
          <a:xfrm>
            <a:off x="892454" y="4458614"/>
            <a:ext cx="263347" cy="263347"/>
          </a:xfrm>
          <a:prstGeom prst="rect">
            <a:avLst/>
          </a:prstGeom>
        </p:spPr>
      </p:pic>
      <p:sp>
        <p:nvSpPr>
          <p:cNvPr id="19" name="anim3-457"/>
          <p:cNvSpPr txBox="1"/>
          <p:nvPr/>
        </p:nvSpPr>
        <p:spPr>
          <a:xfrm>
            <a:off x="1444752" y="42428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Je constate une erreur de saisie</a:t>
            </a:r>
            <a:endParaRPr lang="en-US" sz="1500" dirty="0"/>
          </a:p>
          <a:p>
            <a:pPr indent="0" marL="0">
              <a:buNone/>
            </a:pPr>
            <a:r>
              <a:rPr lang="en-US" sz="1400" dirty="0">
                <a:solidFill>
                  <a:schemeClr val="tx1"/>
                </a:solidFill>
              </a:rPr>
              <a:t>Je la corrige si j'en ai le droit, sinon je la signale à mon responsable.</a:t>
            </a:r>
            <a:endParaRPr lang="en-US" sz="1500" dirty="0"/>
          </a:p>
        </p:txBody>
      </p:sp>
      <p:sp>
        <p:nvSpPr>
          <p:cNvPr id="20" name="anim4-458"/>
          <p:cNvSpPr/>
          <p:nvPr/>
        </p:nvSpPr>
        <p:spPr>
          <a:xfrm>
            <a:off x="6172200" y="4114800"/>
            <a:ext cx="5440680" cy="1828800"/>
          </a:xfrm>
          <a:prstGeom prst="roundRect">
            <a:avLst>
              <a:gd name="adj" fmla="val 6000"/>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1" name="anim4-459"/>
          <p:cNvSpPr/>
          <p:nvPr/>
        </p:nvSpPr>
        <p:spPr>
          <a:xfrm>
            <a:off x="6373368" y="4315968"/>
            <a:ext cx="548640" cy="548640"/>
          </a:xfrm>
          <a:prstGeom prst="roundRect">
            <a:avLst>
              <a:gd name="adj" fmla="val 22000"/>
            </a:avLst>
          </a:prstGeom>
          <a:solidFill>
            <a:schemeClr val="bg2"/>
          </a:solidFill>
          <a:ln w="12700">
            <a:solidFill>
              <a:schemeClr val="bg2"/>
            </a:solidFill>
            <a:prstDash val="solid"/>
          </a:ln>
        </p:spPr>
      </p:sp>
      <p:pic>
        <p:nvPicPr>
          <p:cNvPr id="22" name="anim4-460" descr="preencoded.png">    </p:cNvPr>
          <p:cNvPicPr>
            <a:picLocks noChangeAspect="1"/>
          </p:cNvPicPr>
          <p:nvPr/>
        </p:nvPicPr>
        <p:blipFill>
          <a:blip r:embed="rId5"/>
          <a:stretch>
            <a:fillRect/>
          </a:stretch>
        </p:blipFill>
        <p:spPr>
          <a:xfrm>
            <a:off x="6516014" y="4458614"/>
            <a:ext cx="263347" cy="263347"/>
          </a:xfrm>
          <a:prstGeom prst="rect">
            <a:avLst/>
          </a:prstGeom>
        </p:spPr>
      </p:pic>
      <p:sp>
        <p:nvSpPr>
          <p:cNvPr id="23" name="anim4-461"/>
          <p:cNvSpPr txBox="1"/>
          <p:nvPr/>
        </p:nvSpPr>
        <p:spPr>
          <a:xfrm>
            <a:off x="7068312" y="4242816"/>
            <a:ext cx="4389120" cy="1572768"/>
          </a:xfrm>
          <a:prstGeom prst="rect">
            <a:avLst/>
          </a:prstGeom>
          <a:noFill/>
          <a:ln/>
        </p:spPr>
        <p:txBody>
          <a:bodyPr wrap="square" rtlCol="0" anchor="t"/>
          <a:lstStyle/>
          <a:p>
            <a:pPr indent="0" marL="0">
              <a:spcAft>
                <a:spcPts val="400"/>
              </a:spcAft>
              <a:buNone/>
            </a:pPr>
            <a:r>
              <a:rPr lang="en-US" sz="1600" b="1" dirty="0">
                <a:solidFill>
                  <a:schemeClr val="tx2"/>
                </a:solidFill>
              </a:rPr>
              <a:t>Un collègue quitte l'entreprise</a:t>
            </a:r>
            <a:endParaRPr lang="en-US" sz="1500" dirty="0"/>
          </a:p>
          <a:p>
            <a:pPr indent="0" marL="0">
              <a:buNone/>
            </a:pPr>
            <a:r>
              <a:rPr lang="en-US" sz="1400" dirty="0">
                <a:solidFill>
                  <a:schemeClr val="tx1"/>
                </a:solidFill>
              </a:rPr>
              <a:t>Le responsable demande la désactivation de son compte le jour même.</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75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5" grpId="0" animBg="1"/>
      <p:bldP spid="19" grpId="0" animBg="1"/>
      <p:bldP spid="23"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Vrai ou faux ?</a:t>
            </a:r>
            <a:endParaRPr lang="en-US" sz="3200" dirty="0"/>
          </a:p>
        </p:txBody>
      </p:sp>
      <p:sp>
        <p:nvSpPr>
          <p:cNvPr id="3" name="anim1-462"/>
          <p:cNvSpPr txBox="1"/>
          <p:nvPr/>
        </p:nvSpPr>
        <p:spPr>
          <a:xfrm>
            <a:off x="731520" y="1508760"/>
            <a:ext cx="10515600" cy="457200"/>
          </a:xfrm>
          <a:prstGeom prst="rect">
            <a:avLst/>
          </a:prstGeom>
          <a:noFill/>
          <a:ln/>
        </p:spPr>
        <p:txBody>
          <a:bodyPr wrap="square" rtlCol="0" anchor="t"/>
          <a:lstStyle/>
          <a:p>
            <a:pPr indent="0" marL="0">
              <a:buNone/>
            </a:pPr>
            <a:r>
              <a:rPr lang="en-US" sz="1800" dirty="0">
                <a:solidFill>
                  <a:schemeClr val="accent2"/>
                </a:solidFill>
              </a:rPr>
              <a:t>Votez à main levée.</a:t>
            </a:r>
            <a:endParaRPr lang="en-US" sz="1800" dirty="0"/>
          </a:p>
        </p:txBody>
      </p:sp>
      <p:sp>
        <p:nvSpPr>
          <p:cNvPr id="4" name="anim2-463"/>
          <p:cNvSpPr/>
          <p:nvPr/>
        </p:nvSpPr>
        <p:spPr>
          <a:xfrm>
            <a:off x="731520" y="2286000"/>
            <a:ext cx="5212080" cy="1463040"/>
          </a:xfrm>
          <a:prstGeom prst="roundRect">
            <a:avLst>
              <a:gd name="adj" fmla="val 9375"/>
            </a:avLst>
          </a:prstGeom>
          <a:solidFill>
            <a:srgbClr val="28356B"/>
          </a:solidFill>
          <a:ln w="12700">
            <a:solidFill>
              <a:srgbClr val="4A5C9A"/>
            </a:solidFill>
            <a:prstDash val="solid"/>
          </a:ln>
        </p:spPr>
      </p:sp>
      <p:sp>
        <p:nvSpPr>
          <p:cNvPr id="5" name="anim2-464"/>
          <p:cNvSpPr/>
          <p:nvPr/>
        </p:nvSpPr>
        <p:spPr>
          <a:xfrm>
            <a:off x="1005840" y="2697480"/>
            <a:ext cx="640080" cy="640080"/>
          </a:xfrm>
          <a:prstGeom prst="ellipse">
            <a:avLst/>
          </a:prstGeom>
          <a:solidFill>
            <a:schemeClr val="bg1"/>
          </a:solidFill>
          <a:ln w="12700">
            <a:solidFill>
              <a:schemeClr val="bg1"/>
            </a:solidFill>
            <a:prstDash val="solid"/>
          </a:ln>
        </p:spPr>
      </p:sp>
      <p:sp>
        <p:nvSpPr>
          <p:cNvPr id="6" name="anim2-465"/>
          <p:cNvSpPr txBox="1"/>
          <p:nvPr/>
        </p:nvSpPr>
        <p:spPr>
          <a:xfrm>
            <a:off x="1005840" y="269748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1</a:t>
            </a:r>
            <a:endParaRPr lang="en-US" sz="2000" dirty="0"/>
          </a:p>
        </p:txBody>
      </p:sp>
      <p:sp>
        <p:nvSpPr>
          <p:cNvPr id="7" name="anim2-466"/>
          <p:cNvSpPr txBox="1"/>
          <p:nvPr/>
        </p:nvSpPr>
        <p:spPr>
          <a:xfrm>
            <a:off x="1874520" y="228600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 peux prêter mon identifiant à un collègue pressé.</a:t>
            </a:r>
            <a:endParaRPr lang="en-US" sz="1700" dirty="0"/>
          </a:p>
        </p:txBody>
      </p:sp>
      <p:sp>
        <p:nvSpPr>
          <p:cNvPr id="8" name="anim3-467"/>
          <p:cNvSpPr/>
          <p:nvPr/>
        </p:nvSpPr>
        <p:spPr>
          <a:xfrm>
            <a:off x="6172200" y="2286000"/>
            <a:ext cx="5212080" cy="1463040"/>
          </a:xfrm>
          <a:prstGeom prst="roundRect">
            <a:avLst>
              <a:gd name="adj" fmla="val 9375"/>
            </a:avLst>
          </a:prstGeom>
          <a:solidFill>
            <a:srgbClr val="28356B"/>
          </a:solidFill>
          <a:ln w="12700">
            <a:solidFill>
              <a:srgbClr val="4A5C9A"/>
            </a:solidFill>
            <a:prstDash val="solid"/>
          </a:ln>
        </p:spPr>
      </p:sp>
      <p:sp>
        <p:nvSpPr>
          <p:cNvPr id="9" name="anim3-468"/>
          <p:cNvSpPr/>
          <p:nvPr/>
        </p:nvSpPr>
        <p:spPr>
          <a:xfrm>
            <a:off x="6446520" y="2697480"/>
            <a:ext cx="640080" cy="640080"/>
          </a:xfrm>
          <a:prstGeom prst="ellipse">
            <a:avLst/>
          </a:prstGeom>
          <a:solidFill>
            <a:schemeClr val="bg1"/>
          </a:solidFill>
          <a:ln w="12700">
            <a:solidFill>
              <a:schemeClr val="bg1"/>
            </a:solidFill>
            <a:prstDash val="solid"/>
          </a:ln>
        </p:spPr>
      </p:sp>
      <p:sp>
        <p:nvSpPr>
          <p:cNvPr id="10" name="anim3-469"/>
          <p:cNvSpPr txBox="1"/>
          <p:nvPr/>
        </p:nvSpPr>
        <p:spPr>
          <a:xfrm>
            <a:off x="6446520" y="269748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2</a:t>
            </a:r>
            <a:endParaRPr lang="en-US" sz="2000" dirty="0"/>
          </a:p>
        </p:txBody>
      </p:sp>
      <p:sp>
        <p:nvSpPr>
          <p:cNvPr id="11" name="anim3-470"/>
          <p:cNvSpPr txBox="1"/>
          <p:nvPr/>
        </p:nvSpPr>
        <p:spPr>
          <a:xfrm>
            <a:off x="7315200" y="2286000"/>
            <a:ext cx="3886200" cy="1463040"/>
          </a:xfrm>
          <a:prstGeom prst="rect">
            <a:avLst/>
          </a:prstGeom>
          <a:noFill/>
          <a:ln/>
        </p:spPr>
        <p:txBody>
          <a:bodyPr wrap="square" lIns="0" tIns="0" rIns="0" bIns="0" rtlCol="0" anchor="ctr"/>
          <a:lstStyle/>
          <a:p>
            <a:pPr indent="0" marL="0">
              <a:buNone/>
            </a:pPr>
            <a:r>
              <a:rPr lang="en-US" sz="1700" dirty="0">
                <a:solidFill>
                  <a:schemeClr val="bg1"/>
                </a:solidFill>
              </a:rPr>
              <a:t>Un export de la liste des clients peut être partagé sur WhatsApp.</a:t>
            </a:r>
            <a:endParaRPr lang="en-US" sz="1700" dirty="0"/>
          </a:p>
        </p:txBody>
      </p:sp>
      <p:sp>
        <p:nvSpPr>
          <p:cNvPr id="12" name="anim4-471"/>
          <p:cNvSpPr/>
          <p:nvPr/>
        </p:nvSpPr>
        <p:spPr>
          <a:xfrm>
            <a:off x="731520" y="4023360"/>
            <a:ext cx="5212080" cy="1463040"/>
          </a:xfrm>
          <a:prstGeom prst="roundRect">
            <a:avLst>
              <a:gd name="adj" fmla="val 9375"/>
            </a:avLst>
          </a:prstGeom>
          <a:solidFill>
            <a:srgbClr val="28356B"/>
          </a:solidFill>
          <a:ln w="12700">
            <a:solidFill>
              <a:srgbClr val="4A5C9A"/>
            </a:solidFill>
            <a:prstDash val="solid"/>
          </a:ln>
        </p:spPr>
      </p:sp>
      <p:sp>
        <p:nvSpPr>
          <p:cNvPr id="13" name="anim4-472"/>
          <p:cNvSpPr/>
          <p:nvPr/>
        </p:nvSpPr>
        <p:spPr>
          <a:xfrm>
            <a:off x="1005840" y="4434840"/>
            <a:ext cx="640080" cy="640080"/>
          </a:xfrm>
          <a:prstGeom prst="ellipse">
            <a:avLst/>
          </a:prstGeom>
          <a:solidFill>
            <a:schemeClr val="bg1"/>
          </a:solidFill>
          <a:ln w="12700">
            <a:solidFill>
              <a:schemeClr val="bg1"/>
            </a:solidFill>
            <a:prstDash val="solid"/>
          </a:ln>
        </p:spPr>
      </p:sp>
      <p:sp>
        <p:nvSpPr>
          <p:cNvPr id="14" name="anim4-473"/>
          <p:cNvSpPr txBox="1"/>
          <p:nvPr/>
        </p:nvSpPr>
        <p:spPr>
          <a:xfrm>
            <a:off x="100584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5" name="anim4-474"/>
          <p:cNvSpPr txBox="1"/>
          <p:nvPr/>
        </p:nvSpPr>
        <p:spPr>
          <a:xfrm>
            <a:off x="1874520" y="4023360"/>
            <a:ext cx="3886200" cy="1463040"/>
          </a:xfrm>
          <a:prstGeom prst="rect">
            <a:avLst/>
          </a:prstGeom>
          <a:noFill/>
          <a:ln/>
        </p:spPr>
        <p:txBody>
          <a:bodyPr wrap="square" lIns="0" tIns="0" rIns="0" bIns="0" rtlCol="0" anchor="ctr"/>
          <a:lstStyle/>
          <a:p>
            <a:pPr indent="0" marL="0">
              <a:buNone/>
            </a:pPr>
            <a:r>
              <a:rPr lang="en-US" sz="1700" dirty="0">
                <a:solidFill>
                  <a:schemeClr val="bg1"/>
                </a:solidFill>
              </a:rPr>
              <a:t>J'enregistre le plein dès qu'il est fait.</a:t>
            </a:r>
            <a:endParaRPr lang="en-US" sz="1700" dirty="0"/>
          </a:p>
        </p:txBody>
      </p:sp>
      <p:sp>
        <p:nvSpPr>
          <p:cNvPr id="16" name="anim5-475"/>
          <p:cNvSpPr/>
          <p:nvPr/>
        </p:nvSpPr>
        <p:spPr>
          <a:xfrm>
            <a:off x="6172200" y="4023360"/>
            <a:ext cx="5212080" cy="1463040"/>
          </a:xfrm>
          <a:prstGeom prst="roundRect">
            <a:avLst>
              <a:gd name="adj" fmla="val 9375"/>
            </a:avLst>
          </a:prstGeom>
          <a:solidFill>
            <a:srgbClr val="28356B"/>
          </a:solidFill>
          <a:ln w="12700">
            <a:solidFill>
              <a:srgbClr val="4A5C9A"/>
            </a:solidFill>
            <a:prstDash val="solid"/>
          </a:ln>
        </p:spPr>
      </p:sp>
      <p:sp>
        <p:nvSpPr>
          <p:cNvPr id="17" name="anim5-476"/>
          <p:cNvSpPr/>
          <p:nvPr/>
        </p:nvSpPr>
        <p:spPr>
          <a:xfrm>
            <a:off x="6446520" y="4434840"/>
            <a:ext cx="640080" cy="640080"/>
          </a:xfrm>
          <a:prstGeom prst="ellipse">
            <a:avLst/>
          </a:prstGeom>
          <a:solidFill>
            <a:schemeClr val="bg1"/>
          </a:solidFill>
          <a:ln w="12700">
            <a:solidFill>
              <a:schemeClr val="bg1"/>
            </a:solidFill>
            <a:prstDash val="solid"/>
          </a:ln>
        </p:spPr>
      </p:sp>
      <p:sp>
        <p:nvSpPr>
          <p:cNvPr id="18" name="anim5-477"/>
          <p:cNvSpPr txBox="1"/>
          <p:nvPr/>
        </p:nvSpPr>
        <p:spPr>
          <a:xfrm>
            <a:off x="6446520" y="4434840"/>
            <a:ext cx="640080" cy="640080"/>
          </a:xfrm>
          <a:prstGeom prst="rect">
            <a:avLst/>
          </a:prstGeom>
          <a:noFill/>
          <a:ln/>
        </p:spPr>
        <p:txBody>
          <a:bodyPr wrap="square" lIns="0" tIns="0" rIns="0" bIns="0" rtlCol="0" anchor="ctr"/>
          <a:lstStyle/>
          <a:p>
            <a:pPr algn="ctr" indent="0" marL="0">
              <a:buNone/>
            </a:pPr>
            <a:r>
              <a:rPr lang="en-US" sz="2000" b="1" dirty="0">
                <a:solidFill>
                  <a:schemeClr val="tx2"/>
                </a:solidFill>
              </a:rPr>
              <a:t>4</a:t>
            </a:r>
            <a:endParaRPr lang="en-US" sz="2000" dirty="0"/>
          </a:p>
        </p:txBody>
      </p:sp>
      <p:sp>
        <p:nvSpPr>
          <p:cNvPr id="19" name="anim5-478"/>
          <p:cNvSpPr txBox="1"/>
          <p:nvPr/>
        </p:nvSpPr>
        <p:spPr>
          <a:xfrm>
            <a:off x="7315200" y="4023360"/>
            <a:ext cx="3886200" cy="1463040"/>
          </a:xfrm>
          <a:prstGeom prst="rect">
            <a:avLst/>
          </a:prstGeom>
          <a:noFill/>
          <a:ln/>
        </p:spPr>
        <p:txBody>
          <a:bodyPr wrap="square" lIns="0" tIns="0" rIns="0" bIns="0" rtlCol="0" anchor="ctr"/>
          <a:lstStyle/>
          <a:p>
            <a:pPr indent="0" marL="0">
              <a:buNone/>
            </a:pPr>
            <a:r>
              <a:rPr lang="en-US" sz="1700" dirty="0">
                <a:solidFill>
                  <a:schemeClr val="bg1"/>
                </a:solidFill>
              </a:rPr>
              <a:t>Le compte d'un collègue qui part doit être désactivé.</a:t>
            </a:r>
            <a:endParaRPr lang="en-US" sz="17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55"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25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50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75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100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nodeType="withEffect">
                                  <p:stCondLst>
                                    <p:cond delay="100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nodeType="withEffect">
                                  <p:stCondLst>
                                    <p:cond delay="100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nodeType="withEffect">
                                  <p:stCondLst>
                                    <p:cond delay="100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P spid="10" grpId="0" animBg="1"/>
      <p:bldP spid="11" grpId="0" animBg="1"/>
      <p:bldP spid="14" grpId="0" animBg="1"/>
      <p:bldP spid="15" grpId="0" animBg="1"/>
      <p:bldP spid="18" grpId="0" animBg="1"/>
      <p:bldP spid="1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731520" y="685800"/>
            <a:ext cx="10698480" cy="822960"/>
          </a:xfrm>
          <a:prstGeom prst="rect">
            <a:avLst/>
          </a:prstGeom>
          <a:noFill/>
          <a:ln/>
        </p:spPr>
        <p:txBody>
          <a:bodyPr wrap="square" rtlCol="0" anchor="ctr"/>
          <a:lstStyle/>
          <a:p>
            <a:pPr algn="l" indent="0" marL="0">
              <a:buNone/>
            </a:pPr>
            <a:r>
              <a:rPr lang="en-US" sz="3200" b="1" dirty="0">
                <a:solidFill>
                  <a:schemeClr val="bg1"/>
                </a:solidFill>
              </a:rPr>
              <a:t>En résumé, en quelques chiffres</a:t>
            </a:r>
            <a:endParaRPr lang="en-US" sz="3200" dirty="0"/>
          </a:p>
        </p:txBody>
      </p:sp>
      <p:sp>
        <p:nvSpPr>
          <p:cNvPr id="3" name="anim1-479"/>
          <p:cNvSpPr/>
          <p:nvPr/>
        </p:nvSpPr>
        <p:spPr>
          <a:xfrm>
            <a:off x="731520" y="1920240"/>
            <a:ext cx="2514600" cy="3291840"/>
          </a:xfrm>
          <a:prstGeom prst="roundRect">
            <a:avLst>
              <a:gd name="adj" fmla="val 5455"/>
            </a:avLst>
          </a:prstGeom>
          <a:solidFill>
            <a:srgbClr val="28356B"/>
          </a:solidFill>
          <a:ln w="12700">
            <a:solidFill>
              <a:srgbClr val="4A5C9A"/>
            </a:solidFill>
            <a:prstDash val="solid"/>
          </a:ln>
        </p:spPr>
      </p:sp>
      <p:sp>
        <p:nvSpPr>
          <p:cNvPr id="4" name="anim1-480"/>
          <p:cNvSpPr txBox="1"/>
          <p:nvPr/>
        </p:nvSpPr>
        <p:spPr>
          <a:xfrm>
            <a:off x="7315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18</a:t>
            </a:r>
            <a:endParaRPr lang="en-US" sz="8000" dirty="0"/>
          </a:p>
        </p:txBody>
      </p:sp>
      <p:sp>
        <p:nvSpPr>
          <p:cNvPr id="5" name="anim1-481"/>
          <p:cNvSpPr txBox="1"/>
          <p:nvPr/>
        </p:nvSpPr>
        <p:spPr>
          <a:xfrm>
            <a:off x="8686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modules</a:t>
            </a:r>
            <a:endParaRPr lang="en-US" sz="1500" dirty="0"/>
          </a:p>
          <a:p>
            <a:pPr algn="ctr" indent="0" marL="0">
              <a:buNone/>
            </a:pPr>
            <a:r>
              <a:rPr lang="en-US" sz="1400" dirty="0">
                <a:solidFill>
                  <a:schemeClr val="accent2"/>
                </a:solidFill>
              </a:rPr>
              <a:t>pour couvrir toute l'activité</a:t>
            </a:r>
            <a:endParaRPr lang="en-US" sz="1500" dirty="0"/>
          </a:p>
        </p:txBody>
      </p:sp>
      <p:sp>
        <p:nvSpPr>
          <p:cNvPr id="6" name="anim2-482"/>
          <p:cNvSpPr/>
          <p:nvPr/>
        </p:nvSpPr>
        <p:spPr>
          <a:xfrm>
            <a:off x="3474720" y="1920240"/>
            <a:ext cx="2514600" cy="3291840"/>
          </a:xfrm>
          <a:prstGeom prst="roundRect">
            <a:avLst>
              <a:gd name="adj" fmla="val 5455"/>
            </a:avLst>
          </a:prstGeom>
          <a:solidFill>
            <a:srgbClr val="28356B"/>
          </a:solidFill>
          <a:ln w="12700">
            <a:solidFill>
              <a:srgbClr val="4A5C9A"/>
            </a:solidFill>
            <a:prstDash val="solid"/>
          </a:ln>
        </p:spPr>
      </p:sp>
      <p:sp>
        <p:nvSpPr>
          <p:cNvPr id="7" name="anim2-483"/>
          <p:cNvSpPr txBox="1"/>
          <p:nvPr/>
        </p:nvSpPr>
        <p:spPr>
          <a:xfrm>
            <a:off x="34747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11</a:t>
            </a:r>
            <a:endParaRPr lang="en-US" sz="8000" dirty="0"/>
          </a:p>
        </p:txBody>
      </p:sp>
      <p:sp>
        <p:nvSpPr>
          <p:cNvPr id="8" name="anim2-484"/>
          <p:cNvSpPr txBox="1"/>
          <p:nvPr/>
        </p:nvSpPr>
        <p:spPr>
          <a:xfrm>
            <a:off x="36118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rapports</a:t>
            </a:r>
            <a:endParaRPr lang="en-US" sz="1500" dirty="0"/>
          </a:p>
          <a:p>
            <a:pPr algn="ctr" indent="0" marL="0">
              <a:buNone/>
            </a:pPr>
            <a:r>
              <a:rPr lang="en-US" sz="1400" dirty="0">
                <a:solidFill>
                  <a:schemeClr val="accent2"/>
                </a:solidFill>
              </a:rPr>
              <a:t>prêts à l'emploi</a:t>
            </a:r>
            <a:endParaRPr lang="en-US" sz="1500" dirty="0"/>
          </a:p>
        </p:txBody>
      </p:sp>
      <p:sp>
        <p:nvSpPr>
          <p:cNvPr id="9" name="anim3-485"/>
          <p:cNvSpPr/>
          <p:nvPr/>
        </p:nvSpPr>
        <p:spPr>
          <a:xfrm>
            <a:off x="6217920" y="1920240"/>
            <a:ext cx="2514600" cy="3291840"/>
          </a:xfrm>
          <a:prstGeom prst="roundRect">
            <a:avLst>
              <a:gd name="adj" fmla="val 5455"/>
            </a:avLst>
          </a:prstGeom>
          <a:solidFill>
            <a:srgbClr val="28356B"/>
          </a:solidFill>
          <a:ln w="12700">
            <a:solidFill>
              <a:srgbClr val="4A5C9A"/>
            </a:solidFill>
            <a:prstDash val="solid"/>
          </a:ln>
        </p:spPr>
      </p:sp>
      <p:sp>
        <p:nvSpPr>
          <p:cNvPr id="10" name="anim3-486"/>
          <p:cNvSpPr txBox="1"/>
          <p:nvPr/>
        </p:nvSpPr>
        <p:spPr>
          <a:xfrm>
            <a:off x="6217920" y="2148840"/>
            <a:ext cx="2514600" cy="1463040"/>
          </a:xfrm>
          <a:prstGeom prst="rect">
            <a:avLst/>
          </a:prstGeom>
          <a:noFill/>
          <a:ln/>
        </p:spPr>
        <p:txBody>
          <a:bodyPr wrap="square" rtlCol="0" anchor="ctr"/>
          <a:lstStyle/>
          <a:p>
            <a:pPr algn="ctr" indent="0" marL="0">
              <a:buNone/>
            </a:pPr>
            <a:r>
              <a:rPr lang="en-US" sz="8000" b="1" dirty="0">
                <a:solidFill>
                  <a:schemeClr val="bg1"/>
                </a:solidFill>
                <a:latin typeface="Arial" pitchFamily="34" charset="0"/>
                <a:ea typeface="Arial" pitchFamily="34" charset="-122"/>
                <a:cs typeface="Arial" pitchFamily="34" charset="-120"/>
              </a:rPr>
              <a:t>9</a:t>
            </a:r>
            <a:endParaRPr lang="en-US" sz="8000" dirty="0"/>
          </a:p>
        </p:txBody>
      </p:sp>
      <p:sp>
        <p:nvSpPr>
          <p:cNvPr id="11" name="anim3-487"/>
          <p:cNvSpPr txBox="1"/>
          <p:nvPr/>
        </p:nvSpPr>
        <p:spPr>
          <a:xfrm>
            <a:off x="63550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modes</a:t>
            </a:r>
            <a:endParaRPr lang="en-US" sz="1500" dirty="0"/>
          </a:p>
          <a:p>
            <a:pPr algn="ctr" indent="0" marL="0">
              <a:buNone/>
            </a:pPr>
            <a:r>
              <a:rPr lang="en-US" sz="1400" dirty="0">
                <a:solidFill>
                  <a:schemeClr val="accent2"/>
                </a:solidFill>
              </a:rPr>
              <a:t>de facturation des trajets</a:t>
            </a:r>
            <a:endParaRPr lang="en-US" sz="1500" dirty="0"/>
          </a:p>
        </p:txBody>
      </p:sp>
      <p:sp>
        <p:nvSpPr>
          <p:cNvPr id="12" name="anim4-488"/>
          <p:cNvSpPr/>
          <p:nvPr/>
        </p:nvSpPr>
        <p:spPr>
          <a:xfrm>
            <a:off x="8961120" y="1920240"/>
            <a:ext cx="2514600" cy="3291840"/>
          </a:xfrm>
          <a:prstGeom prst="roundRect">
            <a:avLst>
              <a:gd name="adj" fmla="val 5455"/>
            </a:avLst>
          </a:prstGeom>
          <a:solidFill>
            <a:srgbClr val="28356B"/>
          </a:solidFill>
          <a:ln w="12700">
            <a:solidFill>
              <a:srgbClr val="4A5C9A"/>
            </a:solidFill>
            <a:prstDash val="solid"/>
          </a:ln>
        </p:spPr>
      </p:sp>
      <p:sp>
        <p:nvSpPr>
          <p:cNvPr id="13" name="anim4-489"/>
          <p:cNvSpPr txBox="1"/>
          <p:nvPr/>
        </p:nvSpPr>
        <p:spPr>
          <a:xfrm>
            <a:off x="8961120" y="2148840"/>
            <a:ext cx="2514600" cy="1463040"/>
          </a:xfrm>
          <a:prstGeom prst="rect">
            <a:avLst/>
          </a:prstGeom>
          <a:noFill/>
          <a:ln/>
        </p:spPr>
        <p:txBody>
          <a:bodyPr wrap="square" rtlCol="0" anchor="ctr"/>
          <a:lstStyle/>
          <a:p>
            <a:pPr algn="ctr" indent="0" marL="0">
              <a:buNone/>
            </a:pPr>
            <a:r>
              <a:rPr lang="en-US" sz="8000" b="1" dirty="0">
                <a:solidFill>
                  <a:schemeClr val="accent2"/>
                </a:solidFill>
                <a:latin typeface="Arial" pitchFamily="34" charset="0"/>
                <a:ea typeface="Arial" pitchFamily="34" charset="-122"/>
                <a:cs typeface="Arial" pitchFamily="34" charset="-120"/>
              </a:rPr>
              <a:t>1</a:t>
            </a:r>
            <a:endParaRPr lang="en-US" sz="8000" dirty="0"/>
          </a:p>
        </p:txBody>
      </p:sp>
      <p:sp>
        <p:nvSpPr>
          <p:cNvPr id="14" name="anim4-490"/>
          <p:cNvSpPr txBox="1"/>
          <p:nvPr/>
        </p:nvSpPr>
        <p:spPr>
          <a:xfrm>
            <a:off x="9098280" y="3703320"/>
            <a:ext cx="2240280" cy="1280160"/>
          </a:xfrm>
          <a:prstGeom prst="rect">
            <a:avLst/>
          </a:prstGeom>
          <a:noFill/>
          <a:ln/>
        </p:spPr>
        <p:txBody>
          <a:bodyPr wrap="square" rtlCol="0" anchor="t"/>
          <a:lstStyle/>
          <a:p>
            <a:pPr algn="ctr" indent="0" marL="0">
              <a:spcAft>
                <a:spcPts val="400"/>
              </a:spcAft>
              <a:buNone/>
            </a:pPr>
            <a:r>
              <a:rPr lang="en-US" sz="1900" b="1" dirty="0">
                <a:solidFill>
                  <a:schemeClr val="bg1"/>
                </a:solidFill>
              </a:rPr>
              <a:t>seule application</a:t>
            </a:r>
            <a:endParaRPr lang="en-US" sz="1500" dirty="0"/>
          </a:p>
          <a:p>
            <a:pPr algn="ctr" indent="0" marL="0">
              <a:buNone/>
            </a:pPr>
            <a:r>
              <a:rPr lang="en-US" sz="1400" dirty="0">
                <a:solidFill>
                  <a:schemeClr val="accent2"/>
                </a:solidFill>
              </a:rPr>
              <a:t>pour la direction et les agents</a:t>
            </a:r>
            <a:endParaRPr lang="en-US" sz="1500" dirty="0"/>
          </a:p>
        </p:txBody>
      </p:sp>
      <p:sp>
        <p:nvSpPr>
          <p:cNvPr id="15" name="anim5-491"/>
          <p:cNvSpPr txBox="1"/>
          <p:nvPr/>
        </p:nvSpPr>
        <p:spPr>
          <a:xfrm>
            <a:off x="731520" y="5577840"/>
            <a:ext cx="10698480" cy="457200"/>
          </a:xfrm>
          <a:prstGeom prst="rect">
            <a:avLst/>
          </a:prstGeom>
          <a:noFill/>
          <a:ln/>
        </p:spPr>
        <p:txBody>
          <a:bodyPr wrap="square" rtlCol="0" anchor="t"/>
          <a:lstStyle/>
          <a:p>
            <a:pPr indent="0" marL="0">
              <a:buNone/>
            </a:pPr>
            <a:r>
              <a:rPr lang="en-US" sz="1500" dirty="0">
                <a:solidFill>
                  <a:schemeClr val="accent2"/>
                </a:solidFill>
              </a:rPr>
              <a:t>Plus des alertes sur les échéances, le suivi GPS, les exports Excel, CSV, PDF et les sauvegardes.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2"/>
                </a:solidFill>
              </a:defRPr>
            </a:lvl1pPr>
          </a:lstStyle>
          <a:p>
            <a:pPr algn="r"/>
            <a:fld id="{F7021451-1387-4CA6-816F-3879F97B5CBC}" type="slidenum">
              <a:rPr b="0"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cond evt="onBegin" delay="0">
                          <p:tn val="2"/>
                        </p:cond>
                      </p:stCondLst>
                      <p:childTnLst>
                        <p:par>
                          <p:cTn id="43"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500"/>
                                        <p:tgtEl>
                                          <p:spTgt spid="4"/>
                                        </p:tgtEl>
                                      </p:cBhvr>
                                    </p:animEffect>
                                  </p:childTnLst>
                                </p:cTn>
                              </p:par>
                              <p:par>
                                <p:cTn id="9" presetID="10"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nodeType="withEffect">
                                  <p:stCondLst>
                                    <p:cond delay="2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nodeType="withEffect">
                                  <p:stCondLst>
                                    <p:cond delay="25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nodeType="withEffect">
                                  <p:stCondLst>
                                    <p:cond delay="25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50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nodeType="withEffect">
                                  <p:stCondLst>
                                    <p:cond delay="50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nodeType="withEffect">
                                  <p:stCondLst>
                                    <p:cond delay="5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nodeType="withEffect">
                                  <p:stCondLst>
                                    <p:cond delay="75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nodeType="withEffect">
                                  <p:stCondLst>
                                    <p:cond delay="7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nodeType="withEffect">
                                  <p:stCondLst>
                                    <p:cond delay="75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nodeType="withEffect">
                                  <p:stCondLst>
                                    <p:cond delay="1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10" grpId="0" animBg="1"/>
      <p:bldP spid="11" grpId="0" animBg="1"/>
      <p:bldP spid="13" grpId="0" animBg="1"/>
      <p:bldP spid="14" grpId="0" animBg="1"/>
      <p:bldP spid="1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Qui fait quoi au quotidien ?</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CONCLUSION</a:t>
            </a:r>
            <a:endParaRPr lang="en-US" sz="1000" dirty="0"/>
          </a:p>
        </p:txBody>
      </p:sp>
      <p:sp>
        <p:nvSpPr>
          <p:cNvPr id="7" name="anim1-492"/>
          <p:cNvSpPr/>
          <p:nvPr/>
        </p:nvSpPr>
        <p:spPr>
          <a:xfrm>
            <a:off x="548640" y="1463040"/>
            <a:ext cx="5394960" cy="4663440"/>
          </a:xfrm>
          <a:prstGeom prst="roundRect">
            <a:avLst>
              <a:gd name="adj" fmla="val 235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493"/>
          <p:cNvSpPr/>
          <p:nvPr/>
        </p:nvSpPr>
        <p:spPr>
          <a:xfrm>
            <a:off x="822960" y="1691640"/>
            <a:ext cx="777240" cy="777240"/>
          </a:xfrm>
          <a:prstGeom prst="roundRect">
            <a:avLst>
              <a:gd name="adj" fmla="val 22000"/>
            </a:avLst>
          </a:prstGeom>
          <a:solidFill>
            <a:schemeClr val="tx2"/>
          </a:solidFill>
          <a:ln w="12700">
            <a:solidFill>
              <a:schemeClr val="tx2"/>
            </a:solidFill>
            <a:prstDash val="solid"/>
          </a:ln>
        </p:spPr>
      </p:sp>
      <p:pic>
        <p:nvPicPr>
          <p:cNvPr id="9" name="anim1-494" descr="preencoded.png">    </p:cNvPr>
          <p:cNvPicPr>
            <a:picLocks noChangeAspect="1"/>
          </p:cNvPicPr>
          <p:nvPr/>
        </p:nvPicPr>
        <p:blipFill>
          <a:blip r:embed="rId2"/>
          <a:stretch>
            <a:fillRect/>
          </a:stretch>
        </p:blipFill>
        <p:spPr>
          <a:xfrm>
            <a:off x="1025042" y="1893722"/>
            <a:ext cx="373075" cy="373075"/>
          </a:xfrm>
          <a:prstGeom prst="rect">
            <a:avLst/>
          </a:prstGeom>
        </p:spPr>
      </p:pic>
      <p:sp>
        <p:nvSpPr>
          <p:cNvPr id="10" name="anim1-495"/>
          <p:cNvSpPr txBox="1"/>
          <p:nvPr/>
        </p:nvSpPr>
        <p:spPr>
          <a:xfrm>
            <a:off x="1783080" y="1691640"/>
            <a:ext cx="3931920" cy="777240"/>
          </a:xfrm>
          <a:prstGeom prst="rect">
            <a:avLst/>
          </a:prstGeom>
          <a:noFill/>
          <a:ln/>
        </p:spPr>
        <p:txBody>
          <a:bodyPr wrap="square" rtlCol="0" anchor="ctr"/>
          <a:lstStyle/>
          <a:p>
            <a:pPr indent="0" marL="0">
              <a:buNone/>
            </a:pPr>
            <a:r>
              <a:rPr lang="en-US" sz="2200" b="1" dirty="0">
                <a:solidFill>
                  <a:schemeClr val="tx2"/>
                </a:solidFill>
              </a:rPr>
              <a:t>La direction</a:t>
            </a:r>
            <a:endParaRPr lang="en-US" sz="2200" dirty="0"/>
          </a:p>
        </p:txBody>
      </p:sp>
      <p:pic>
        <p:nvPicPr>
          <p:cNvPr id="11" name="anim2-496" descr="preencoded.png">    </p:cNvPr>
          <p:cNvPicPr>
            <a:picLocks noChangeAspect="1"/>
          </p:cNvPicPr>
          <p:nvPr/>
        </p:nvPicPr>
        <p:blipFill>
          <a:blip r:embed="rId3"/>
          <a:stretch>
            <a:fillRect/>
          </a:stretch>
        </p:blipFill>
        <p:spPr>
          <a:xfrm>
            <a:off x="868680" y="2788920"/>
            <a:ext cx="292608" cy="292608"/>
          </a:xfrm>
          <a:prstGeom prst="rect">
            <a:avLst/>
          </a:prstGeom>
        </p:spPr>
      </p:pic>
      <p:sp>
        <p:nvSpPr>
          <p:cNvPr id="12" name="anim2-497"/>
          <p:cNvSpPr txBox="1"/>
          <p:nvPr/>
        </p:nvSpPr>
        <p:spPr>
          <a:xfrm>
            <a:off x="1325880" y="2743200"/>
            <a:ext cx="4434840" cy="731520"/>
          </a:xfrm>
          <a:prstGeom prst="rect">
            <a:avLst/>
          </a:prstGeom>
          <a:noFill/>
          <a:ln/>
        </p:spPr>
        <p:txBody>
          <a:bodyPr wrap="square" lIns="0" tIns="0" rIns="0" bIns="0" rtlCol="0" anchor="t"/>
          <a:lstStyle/>
          <a:p>
            <a:pPr indent="0" marL="0">
              <a:buNone/>
            </a:pPr>
            <a:r>
              <a:rPr lang="en-US" sz="1700" dirty="0">
                <a:solidFill>
                  <a:schemeClr val="tx1"/>
                </a:solidFill>
              </a:rPr>
              <a:t>Consulte le tableau de bord chaque jour</a:t>
            </a:r>
            <a:endParaRPr lang="en-US" sz="1700" dirty="0"/>
          </a:p>
        </p:txBody>
      </p:sp>
      <p:pic>
        <p:nvPicPr>
          <p:cNvPr id="13" name="anim3-498" descr="preencoded.png">    </p:cNvPr>
          <p:cNvPicPr>
            <a:picLocks noChangeAspect="1"/>
          </p:cNvPicPr>
          <p:nvPr/>
        </p:nvPicPr>
        <p:blipFill>
          <a:blip r:embed="rId4"/>
          <a:stretch>
            <a:fillRect/>
          </a:stretch>
        </p:blipFill>
        <p:spPr>
          <a:xfrm>
            <a:off x="868680" y="3593592"/>
            <a:ext cx="292608" cy="292608"/>
          </a:xfrm>
          <a:prstGeom prst="rect">
            <a:avLst/>
          </a:prstGeom>
        </p:spPr>
      </p:pic>
      <p:sp>
        <p:nvSpPr>
          <p:cNvPr id="14" name="anim3-499"/>
          <p:cNvSpPr txBox="1"/>
          <p:nvPr/>
        </p:nvSpPr>
        <p:spPr>
          <a:xfrm>
            <a:off x="1325880" y="3547872"/>
            <a:ext cx="4434840" cy="731520"/>
          </a:xfrm>
          <a:prstGeom prst="rect">
            <a:avLst/>
          </a:prstGeom>
          <a:noFill/>
          <a:ln/>
        </p:spPr>
        <p:txBody>
          <a:bodyPr wrap="square" lIns="0" tIns="0" rIns="0" bIns="0" rtlCol="0" anchor="t"/>
          <a:lstStyle/>
          <a:p>
            <a:pPr indent="0" marL="0">
              <a:buNone/>
            </a:pPr>
            <a:r>
              <a:rPr lang="en-US" sz="1700" dirty="0">
                <a:solidFill>
                  <a:schemeClr val="tx1"/>
                </a:solidFill>
              </a:rPr>
              <a:t>Suit les rapports (Top véhicules, itinéraires, dépenses)</a:t>
            </a:r>
            <a:endParaRPr lang="en-US" sz="1700" dirty="0"/>
          </a:p>
        </p:txBody>
      </p:sp>
      <p:pic>
        <p:nvPicPr>
          <p:cNvPr id="15" name="anim4-500" descr="preencoded.png">    </p:cNvPr>
          <p:cNvPicPr>
            <a:picLocks noChangeAspect="1"/>
          </p:cNvPicPr>
          <p:nvPr/>
        </p:nvPicPr>
        <p:blipFill>
          <a:blip r:embed="rId5"/>
          <a:stretch>
            <a:fillRect/>
          </a:stretch>
        </p:blipFill>
        <p:spPr>
          <a:xfrm>
            <a:off x="868680" y="4398264"/>
            <a:ext cx="292608" cy="292608"/>
          </a:xfrm>
          <a:prstGeom prst="rect">
            <a:avLst/>
          </a:prstGeom>
        </p:spPr>
      </p:pic>
      <p:sp>
        <p:nvSpPr>
          <p:cNvPr id="16" name="anim4-501"/>
          <p:cNvSpPr txBox="1"/>
          <p:nvPr/>
        </p:nvSpPr>
        <p:spPr>
          <a:xfrm>
            <a:off x="1325880" y="4352544"/>
            <a:ext cx="4434840" cy="731520"/>
          </a:xfrm>
          <a:prstGeom prst="rect">
            <a:avLst/>
          </a:prstGeom>
          <a:noFill/>
          <a:ln/>
        </p:spPr>
        <p:txBody>
          <a:bodyPr wrap="square" lIns="0" tIns="0" rIns="0" bIns="0" rtlCol="0" anchor="t"/>
          <a:lstStyle/>
          <a:p>
            <a:pPr indent="0" marL="0">
              <a:buNone/>
            </a:pPr>
            <a:r>
              <a:rPr lang="en-US" sz="1700" dirty="0">
                <a:solidFill>
                  <a:schemeClr val="tx1"/>
                </a:solidFill>
              </a:rPr>
              <a:t>Valide les droits d'accès de chaque profil</a:t>
            </a:r>
            <a:endParaRPr lang="en-US" sz="1700" dirty="0"/>
          </a:p>
        </p:txBody>
      </p:sp>
      <p:pic>
        <p:nvPicPr>
          <p:cNvPr id="17" name="anim5-502" descr="preencoded.png">    </p:cNvPr>
          <p:cNvPicPr>
            <a:picLocks noChangeAspect="1"/>
          </p:cNvPicPr>
          <p:nvPr/>
        </p:nvPicPr>
        <p:blipFill>
          <a:blip r:embed="rId6"/>
          <a:stretch>
            <a:fillRect/>
          </a:stretch>
        </p:blipFill>
        <p:spPr>
          <a:xfrm>
            <a:off x="868680" y="5202936"/>
            <a:ext cx="292608" cy="292608"/>
          </a:xfrm>
          <a:prstGeom prst="rect">
            <a:avLst/>
          </a:prstGeom>
        </p:spPr>
      </p:pic>
      <p:sp>
        <p:nvSpPr>
          <p:cNvPr id="18" name="anim5-503"/>
          <p:cNvSpPr txBox="1"/>
          <p:nvPr/>
        </p:nvSpPr>
        <p:spPr>
          <a:xfrm>
            <a:off x="1325880" y="5157216"/>
            <a:ext cx="4434840" cy="731520"/>
          </a:xfrm>
          <a:prstGeom prst="rect">
            <a:avLst/>
          </a:prstGeom>
          <a:noFill/>
          <a:ln/>
        </p:spPr>
        <p:txBody>
          <a:bodyPr wrap="square" lIns="0" tIns="0" rIns="0" bIns="0" rtlCol="0" anchor="t"/>
          <a:lstStyle/>
          <a:p>
            <a:pPr indent="0" marL="0">
              <a:buNone/>
            </a:pPr>
            <a:r>
              <a:rPr lang="en-US" sz="1700" dirty="0">
                <a:solidFill>
                  <a:schemeClr val="tx1"/>
                </a:solidFill>
              </a:rPr>
              <a:t>Veille à la qualité des données</a:t>
            </a:r>
            <a:endParaRPr lang="en-US" sz="1700" dirty="0"/>
          </a:p>
        </p:txBody>
      </p:sp>
      <p:sp>
        <p:nvSpPr>
          <p:cNvPr id="19" name="anim6-504"/>
          <p:cNvSpPr/>
          <p:nvPr/>
        </p:nvSpPr>
        <p:spPr>
          <a:xfrm>
            <a:off x="6217920" y="1463040"/>
            <a:ext cx="5394960" cy="4663440"/>
          </a:xfrm>
          <a:prstGeom prst="roundRect">
            <a:avLst>
              <a:gd name="adj" fmla="val 2353"/>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0" name="anim6-505"/>
          <p:cNvSpPr/>
          <p:nvPr/>
        </p:nvSpPr>
        <p:spPr>
          <a:xfrm>
            <a:off x="6492240" y="1691640"/>
            <a:ext cx="777240" cy="777240"/>
          </a:xfrm>
          <a:prstGeom prst="roundRect">
            <a:avLst>
              <a:gd name="adj" fmla="val 22000"/>
            </a:avLst>
          </a:prstGeom>
          <a:solidFill>
            <a:schemeClr val="accent1"/>
          </a:solidFill>
          <a:ln w="12700">
            <a:solidFill>
              <a:schemeClr val="accent1"/>
            </a:solidFill>
            <a:prstDash val="solid"/>
          </a:ln>
        </p:spPr>
      </p:sp>
      <p:pic>
        <p:nvPicPr>
          <p:cNvPr id="21" name="anim6-506" descr="preencoded.png">    </p:cNvPr>
          <p:cNvPicPr>
            <a:picLocks noChangeAspect="1"/>
          </p:cNvPicPr>
          <p:nvPr/>
        </p:nvPicPr>
        <p:blipFill>
          <a:blip r:embed="rId7"/>
          <a:stretch>
            <a:fillRect/>
          </a:stretch>
        </p:blipFill>
        <p:spPr>
          <a:xfrm>
            <a:off x="6694322" y="1893722"/>
            <a:ext cx="373075" cy="373075"/>
          </a:xfrm>
          <a:prstGeom prst="rect">
            <a:avLst/>
          </a:prstGeom>
        </p:spPr>
      </p:pic>
      <p:sp>
        <p:nvSpPr>
          <p:cNvPr id="22" name="anim6-507"/>
          <p:cNvSpPr txBox="1"/>
          <p:nvPr/>
        </p:nvSpPr>
        <p:spPr>
          <a:xfrm>
            <a:off x="7452360" y="1691640"/>
            <a:ext cx="3931920" cy="777240"/>
          </a:xfrm>
          <a:prstGeom prst="rect">
            <a:avLst/>
          </a:prstGeom>
          <a:noFill/>
          <a:ln/>
        </p:spPr>
        <p:txBody>
          <a:bodyPr wrap="square" rtlCol="0" anchor="ctr"/>
          <a:lstStyle/>
          <a:p>
            <a:pPr indent="0" marL="0">
              <a:buNone/>
            </a:pPr>
            <a:r>
              <a:rPr lang="en-US" sz="2200" b="1" dirty="0">
                <a:solidFill>
                  <a:schemeClr val="tx2"/>
                </a:solidFill>
              </a:rPr>
              <a:t>Les agents</a:t>
            </a:r>
            <a:endParaRPr lang="en-US" sz="2200" dirty="0"/>
          </a:p>
        </p:txBody>
      </p:sp>
      <p:pic>
        <p:nvPicPr>
          <p:cNvPr id="23" name="anim7-508" descr="preencoded.png">    </p:cNvPr>
          <p:cNvPicPr>
            <a:picLocks noChangeAspect="1"/>
          </p:cNvPicPr>
          <p:nvPr/>
        </p:nvPicPr>
        <p:blipFill>
          <a:blip r:embed="rId8"/>
          <a:stretch>
            <a:fillRect/>
          </a:stretch>
        </p:blipFill>
        <p:spPr>
          <a:xfrm>
            <a:off x="6537960" y="2788920"/>
            <a:ext cx="292608" cy="292608"/>
          </a:xfrm>
          <a:prstGeom prst="rect">
            <a:avLst/>
          </a:prstGeom>
        </p:spPr>
      </p:pic>
      <p:sp>
        <p:nvSpPr>
          <p:cNvPr id="24" name="anim7-509"/>
          <p:cNvSpPr txBox="1"/>
          <p:nvPr/>
        </p:nvSpPr>
        <p:spPr>
          <a:xfrm>
            <a:off x="6995160" y="2743200"/>
            <a:ext cx="4434840" cy="731520"/>
          </a:xfrm>
          <a:prstGeom prst="rect">
            <a:avLst/>
          </a:prstGeom>
          <a:noFill/>
          <a:ln/>
        </p:spPr>
        <p:txBody>
          <a:bodyPr wrap="square" lIns="0" tIns="0" rIns="0" bIns="0" rtlCol="0" anchor="t"/>
          <a:lstStyle/>
          <a:p>
            <a:pPr indent="0" marL="0">
              <a:buNone/>
            </a:pPr>
            <a:r>
              <a:rPr lang="en-US" sz="1700" dirty="0">
                <a:solidFill>
                  <a:schemeClr val="tx1"/>
                </a:solidFill>
              </a:rPr>
              <a:t>Vérifient le calendrier avant de réserver</a:t>
            </a:r>
            <a:endParaRPr lang="en-US" sz="1700" dirty="0"/>
          </a:p>
        </p:txBody>
      </p:sp>
      <p:pic>
        <p:nvPicPr>
          <p:cNvPr id="25" name="anim8-510" descr="preencoded.png">    </p:cNvPr>
          <p:cNvPicPr>
            <a:picLocks noChangeAspect="1"/>
          </p:cNvPicPr>
          <p:nvPr/>
        </p:nvPicPr>
        <p:blipFill>
          <a:blip r:embed="rId9"/>
          <a:stretch>
            <a:fillRect/>
          </a:stretch>
        </p:blipFill>
        <p:spPr>
          <a:xfrm>
            <a:off x="6537960" y="3593592"/>
            <a:ext cx="292608" cy="292608"/>
          </a:xfrm>
          <a:prstGeom prst="rect">
            <a:avLst/>
          </a:prstGeom>
        </p:spPr>
      </p:pic>
      <p:sp>
        <p:nvSpPr>
          <p:cNvPr id="26" name="anim8-511"/>
          <p:cNvSpPr txBox="1"/>
          <p:nvPr/>
        </p:nvSpPr>
        <p:spPr>
          <a:xfrm>
            <a:off x="6995160" y="3547872"/>
            <a:ext cx="4434840" cy="731520"/>
          </a:xfrm>
          <a:prstGeom prst="rect">
            <a:avLst/>
          </a:prstGeom>
          <a:noFill/>
          <a:ln/>
        </p:spPr>
        <p:txBody>
          <a:bodyPr wrap="square" lIns="0" tIns="0" rIns="0" bIns="0" rtlCol="0" anchor="t"/>
          <a:lstStyle/>
          <a:p>
            <a:pPr indent="0" marL="0">
              <a:buNone/>
            </a:pPr>
            <a:r>
              <a:rPr lang="en-US" sz="1700" dirty="0">
                <a:solidFill>
                  <a:schemeClr val="tx1"/>
                </a:solidFill>
              </a:rPr>
              <a:t>Saisissent trajets, pleins et dépenses au fil de l'eau</a:t>
            </a:r>
            <a:endParaRPr lang="en-US" sz="1700" dirty="0"/>
          </a:p>
        </p:txBody>
      </p:sp>
      <p:pic>
        <p:nvPicPr>
          <p:cNvPr id="27" name="anim9-512" descr="preencoded.png">    </p:cNvPr>
          <p:cNvPicPr>
            <a:picLocks noChangeAspect="1"/>
          </p:cNvPicPr>
          <p:nvPr/>
        </p:nvPicPr>
        <p:blipFill>
          <a:blip r:embed="rId10"/>
          <a:stretch>
            <a:fillRect/>
          </a:stretch>
        </p:blipFill>
        <p:spPr>
          <a:xfrm>
            <a:off x="6537960" y="4398264"/>
            <a:ext cx="292608" cy="292608"/>
          </a:xfrm>
          <a:prstGeom prst="rect">
            <a:avLst/>
          </a:prstGeom>
        </p:spPr>
      </p:pic>
      <p:sp>
        <p:nvSpPr>
          <p:cNvPr id="28" name="anim9-513"/>
          <p:cNvSpPr txBox="1"/>
          <p:nvPr/>
        </p:nvSpPr>
        <p:spPr>
          <a:xfrm>
            <a:off x="6995160" y="4352544"/>
            <a:ext cx="4434840" cy="731520"/>
          </a:xfrm>
          <a:prstGeom prst="rect">
            <a:avLst/>
          </a:prstGeom>
          <a:noFill/>
          <a:ln/>
        </p:spPr>
        <p:txBody>
          <a:bodyPr wrap="square" lIns="0" tIns="0" rIns="0" bIns="0" rtlCol="0" anchor="t"/>
          <a:lstStyle/>
          <a:p>
            <a:pPr indent="0" marL="0">
              <a:buNone/>
            </a:pPr>
            <a:r>
              <a:rPr lang="en-US" sz="1700" dirty="0">
                <a:solidFill>
                  <a:schemeClr val="tx1"/>
                </a:solidFill>
              </a:rPr>
              <a:t>Tiennent à jour documents et dates d'expiration</a:t>
            </a:r>
            <a:endParaRPr lang="en-US" sz="1700" dirty="0"/>
          </a:p>
        </p:txBody>
      </p:sp>
      <p:pic>
        <p:nvPicPr>
          <p:cNvPr id="29" name="anim10-514" descr="preencoded.png">    </p:cNvPr>
          <p:cNvPicPr>
            <a:picLocks noChangeAspect="1"/>
          </p:cNvPicPr>
          <p:nvPr/>
        </p:nvPicPr>
        <p:blipFill>
          <a:blip r:embed="rId11"/>
          <a:stretch>
            <a:fillRect/>
          </a:stretch>
        </p:blipFill>
        <p:spPr>
          <a:xfrm>
            <a:off x="6537960" y="5202936"/>
            <a:ext cx="292608" cy="292608"/>
          </a:xfrm>
          <a:prstGeom prst="rect">
            <a:avLst/>
          </a:prstGeom>
        </p:spPr>
      </p:pic>
      <p:sp>
        <p:nvSpPr>
          <p:cNvPr id="30" name="anim10-515"/>
          <p:cNvSpPr txBox="1"/>
          <p:nvPr/>
        </p:nvSpPr>
        <p:spPr>
          <a:xfrm>
            <a:off x="6995160" y="5157216"/>
            <a:ext cx="4434840" cy="731520"/>
          </a:xfrm>
          <a:prstGeom prst="rect">
            <a:avLst/>
          </a:prstGeom>
          <a:noFill/>
          <a:ln/>
        </p:spPr>
        <p:txBody>
          <a:bodyPr wrap="square" lIns="0" tIns="0" rIns="0" bIns="0" rtlCol="0" anchor="t"/>
          <a:lstStyle/>
          <a:p>
            <a:pPr indent="0" marL="0">
              <a:buNone/>
            </a:pPr>
            <a:r>
              <a:rPr lang="en-US" sz="1700" dirty="0">
                <a:solidFill>
                  <a:schemeClr val="tx1"/>
                </a:solidFill>
              </a:rPr>
              <a:t>Signalent les erreurs et les incidents</a:t>
            </a:r>
            <a:endParaRPr lang="en-US" sz="17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76"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25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50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5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7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7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10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10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125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12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12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12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par>
                                <p:cTn id="51" presetID="10" presetClass="entr" presetSubtype="0" fill="hold" nodeType="withEffect">
                                  <p:stCondLst>
                                    <p:cond delay="1500"/>
                                  </p:stCondLst>
                                  <p:childTnLst>
                                    <p:set>
                                      <p:cBhvr>
                                        <p:cTn id="52" dur="1" fill="hold">
                                          <p:stCondLst>
                                            <p:cond delay="0"/>
                                          </p:stCondLst>
                                        </p:cTn>
                                        <p:tgtEl>
                                          <p:spTgt spid="23"/>
                                        </p:tgtEl>
                                        <p:attrNameLst>
                                          <p:attrName>style.visibility</p:attrName>
                                        </p:attrNameLst>
                                      </p:cBhvr>
                                      <p:to>
                                        <p:strVal val="visible"/>
                                      </p:to>
                                    </p:set>
                                    <p:animEffect transition="in" filter="fade">
                                      <p:cBhvr>
                                        <p:cTn id="53" dur="500"/>
                                        <p:tgtEl>
                                          <p:spTgt spid="23"/>
                                        </p:tgtEl>
                                      </p:cBhvr>
                                    </p:animEffect>
                                  </p:childTnLst>
                                </p:cTn>
                              </p:par>
                              <p:par>
                                <p:cTn id="54" presetID="10" presetClass="entr" presetSubtype="0" fill="hold" nodeType="withEffect">
                                  <p:stCondLst>
                                    <p:cond delay="150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500"/>
                                        <p:tgtEl>
                                          <p:spTgt spid="24"/>
                                        </p:tgtEl>
                                      </p:cBhvr>
                                    </p:animEffect>
                                  </p:childTnLst>
                                </p:cTn>
                              </p:par>
                              <p:par>
                                <p:cTn id="57" presetID="10" presetClass="entr" presetSubtype="0" fill="hold" nodeType="withEffect">
                                  <p:stCondLst>
                                    <p:cond delay="175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par>
                                <p:cTn id="60" presetID="10" presetClass="entr" presetSubtype="0" fill="hold" nodeType="withEffect">
                                  <p:stCondLst>
                                    <p:cond delay="175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par>
                                <p:cTn id="63" presetID="10" presetClass="entr" presetSubtype="0" fill="hold" nodeType="withEffect">
                                  <p:stCondLst>
                                    <p:cond delay="200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500"/>
                                        <p:tgtEl>
                                          <p:spTgt spid="27"/>
                                        </p:tgtEl>
                                      </p:cBhvr>
                                    </p:animEffect>
                                  </p:childTnLst>
                                </p:cTn>
                              </p:par>
                              <p:par>
                                <p:cTn id="66" presetID="10" presetClass="entr" presetSubtype="0" fill="hold" nodeType="withEffect">
                                  <p:stCondLst>
                                    <p:cond delay="200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500"/>
                                        <p:tgtEl>
                                          <p:spTgt spid="28"/>
                                        </p:tgtEl>
                                      </p:cBhvr>
                                    </p:animEffect>
                                  </p:childTnLst>
                                </p:cTn>
                              </p:par>
                              <p:par>
                                <p:cTn id="69" presetID="10" presetClass="entr" presetSubtype="0" fill="hold" nodeType="withEffect">
                                  <p:stCondLst>
                                    <p:cond delay="22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nodeType="withEffect">
                                  <p:stCondLst>
                                    <p:cond delay="2250"/>
                                  </p:stCondLst>
                                  <p:childTnLst>
                                    <p:set>
                                      <p:cBhvr>
                                        <p:cTn id="73" dur="1" fill="hold">
                                          <p:stCondLst>
                                            <p:cond delay="0"/>
                                          </p:stCondLst>
                                        </p:cTn>
                                        <p:tgtEl>
                                          <p:spTgt spid="30"/>
                                        </p:tgtEl>
                                        <p:attrNameLst>
                                          <p:attrName>style.visibility</p:attrName>
                                        </p:attrNameLst>
                                      </p:cBhvr>
                                      <p:to>
                                        <p:strVal val="visible"/>
                                      </p:to>
                                    </p:set>
                                    <p:animEffect transition="in" filter="fade">
                                      <p:cBhvr>
                                        <p:cTn id="7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Démonstration : un circuit de travail</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CONCLUSION</a:t>
            </a:r>
            <a:endParaRPr lang="en-US" sz="1000" dirty="0"/>
          </a:p>
        </p:txBody>
      </p:sp>
      <p:sp>
        <p:nvSpPr>
          <p:cNvPr id="7" name="Text 4"/>
          <p:cNvSpPr txBox="1"/>
          <p:nvPr/>
        </p:nvSpPr>
        <p:spPr>
          <a:xfrm>
            <a:off x="548640" y="1417320"/>
            <a:ext cx="10972800" cy="411480"/>
          </a:xfrm>
          <a:prstGeom prst="rect">
            <a:avLst/>
          </a:prstGeom>
          <a:noFill/>
          <a:ln/>
        </p:spPr>
        <p:txBody>
          <a:bodyPr wrap="square" rtlCol="0" anchor="t"/>
          <a:lstStyle/>
          <a:p>
            <a:pPr indent="0" marL="0">
              <a:buNone/>
            </a:pPr>
            <a:r>
              <a:rPr lang="en-US" sz="1700" dirty="0">
                <a:solidFill>
                  <a:schemeClr val="tx2"/>
                </a:solidFill>
              </a:rPr>
              <a:t>En direct dans l'application, de la commande au rapport.</a:t>
            </a:r>
            <a:endParaRPr lang="en-US" sz="1700" dirty="0"/>
          </a:p>
        </p:txBody>
      </p:sp>
      <p:sp>
        <p:nvSpPr>
          <p:cNvPr id="8" name="anim1-516"/>
          <p:cNvSpPr/>
          <p:nvPr/>
        </p:nvSpPr>
        <p:spPr>
          <a:xfrm>
            <a:off x="548640" y="2788920"/>
            <a:ext cx="11064240" cy="0"/>
          </a:xfrm>
          <a:prstGeom prst="line">
            <a:avLst/>
          </a:prstGeom>
          <a:noFill/>
          <a:ln w="330200">
            <a:solidFill>
              <a:srgbClr val="D5DCEB"/>
            </a:solidFill>
            <a:prstDash val="solid"/>
          </a:ln>
        </p:spPr>
      </p:sp>
      <p:sp>
        <p:nvSpPr>
          <p:cNvPr id="9" name="anim1-517"/>
          <p:cNvSpPr/>
          <p:nvPr/>
        </p:nvSpPr>
        <p:spPr>
          <a:xfrm>
            <a:off x="685800" y="2788920"/>
            <a:ext cx="10789920" cy="0"/>
          </a:xfrm>
          <a:prstGeom prst="line">
            <a:avLst/>
          </a:prstGeom>
          <a:noFill/>
          <a:ln w="25400">
            <a:solidFill>
              <a:srgbClr val="FFFFFF"/>
            </a:solidFill>
            <a:prstDash val="dash"/>
          </a:ln>
        </p:spPr>
      </p:sp>
      <p:pic>
        <p:nvPicPr>
          <p:cNvPr id="10" name="anim1-518" descr="preencoded.png">    </p:cNvPr>
          <p:cNvPicPr>
            <a:picLocks noChangeAspect="1"/>
          </p:cNvPicPr>
          <p:nvPr/>
        </p:nvPicPr>
        <p:blipFill>
          <a:blip r:embed="rId2"/>
          <a:stretch>
            <a:fillRect/>
          </a:stretch>
        </p:blipFill>
        <p:spPr>
          <a:xfrm>
            <a:off x="502920" y="1965960"/>
            <a:ext cx="548640" cy="548640"/>
          </a:xfrm>
          <a:prstGeom prst="rect">
            <a:avLst/>
          </a:prstGeom>
        </p:spPr>
      </p:pic>
      <p:sp>
        <p:nvSpPr>
          <p:cNvPr id="11" name="anim2-519"/>
          <p:cNvSpPr/>
          <p:nvPr/>
        </p:nvSpPr>
        <p:spPr>
          <a:xfrm>
            <a:off x="123444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12" name="anim2-520" descr="preencoded.png">    </p:cNvPr>
          <p:cNvPicPr>
            <a:picLocks noChangeAspect="1"/>
          </p:cNvPicPr>
          <p:nvPr/>
        </p:nvPicPr>
        <p:blipFill>
          <a:blip r:embed="rId3"/>
          <a:stretch>
            <a:fillRect/>
          </a:stretch>
        </p:blipFill>
        <p:spPr>
          <a:xfrm>
            <a:off x="1536192" y="2542032"/>
            <a:ext cx="493776" cy="493776"/>
          </a:xfrm>
          <a:prstGeom prst="rect">
            <a:avLst/>
          </a:prstGeom>
        </p:spPr>
      </p:pic>
      <p:sp>
        <p:nvSpPr>
          <p:cNvPr id="13" name="anim2-521"/>
          <p:cNvSpPr/>
          <p:nvPr/>
        </p:nvSpPr>
        <p:spPr>
          <a:xfrm>
            <a:off x="2039112" y="2148840"/>
            <a:ext cx="384048" cy="384048"/>
          </a:xfrm>
          <a:prstGeom prst="ellipse">
            <a:avLst/>
          </a:prstGeom>
          <a:solidFill>
            <a:schemeClr val="accent4"/>
          </a:solidFill>
          <a:ln w="25400">
            <a:solidFill>
              <a:schemeClr val="bg1"/>
            </a:solidFill>
            <a:prstDash val="solid"/>
          </a:ln>
        </p:spPr>
      </p:sp>
      <p:sp>
        <p:nvSpPr>
          <p:cNvPr id="14" name="anim2-522"/>
          <p:cNvSpPr txBox="1"/>
          <p:nvPr/>
        </p:nvSpPr>
        <p:spPr>
          <a:xfrm>
            <a:off x="203911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5" name="anim2-523"/>
          <p:cNvSpPr txBox="1"/>
          <p:nvPr/>
        </p:nvSpPr>
        <p:spPr>
          <a:xfrm>
            <a:off x="777240" y="3520440"/>
            <a:ext cx="2011680" cy="1005840"/>
          </a:xfrm>
          <a:prstGeom prst="rect">
            <a:avLst/>
          </a:prstGeom>
          <a:noFill/>
          <a:ln/>
        </p:spPr>
        <p:txBody>
          <a:bodyPr wrap="square" rtlCol="0" anchor="t"/>
          <a:lstStyle/>
          <a:p>
            <a:pPr algn="ctr" indent="0" marL="0">
              <a:buNone/>
            </a:pPr>
            <a:r>
              <a:rPr lang="en-US" sz="1600" b="1" dirty="0">
                <a:solidFill>
                  <a:schemeClr val="tx2"/>
                </a:solidFill>
              </a:rPr>
              <a:t>Client</a:t>
            </a:r>
            <a:endParaRPr lang="en-US" sz="1500" dirty="0"/>
          </a:p>
          <a:p>
            <a:pPr algn="ctr" indent="0" marL="0">
              <a:buNone/>
            </a:pPr>
            <a:r>
              <a:rPr lang="en-US" sz="1200" dirty="0">
                <a:solidFill>
                  <a:schemeClr val="accent5"/>
                </a:solidFill>
              </a:rPr>
              <a:t>Customer › Add Customer</a:t>
            </a:r>
            <a:endParaRPr lang="en-US" sz="1500" dirty="0"/>
          </a:p>
        </p:txBody>
      </p:sp>
      <p:sp>
        <p:nvSpPr>
          <p:cNvPr id="16" name="anim3-524"/>
          <p:cNvSpPr/>
          <p:nvPr/>
        </p:nvSpPr>
        <p:spPr>
          <a:xfrm>
            <a:off x="338328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17" name="anim3-525" descr="preencoded.png">    </p:cNvPr>
          <p:cNvPicPr>
            <a:picLocks noChangeAspect="1"/>
          </p:cNvPicPr>
          <p:nvPr/>
        </p:nvPicPr>
        <p:blipFill>
          <a:blip r:embed="rId4"/>
          <a:stretch>
            <a:fillRect/>
          </a:stretch>
        </p:blipFill>
        <p:spPr>
          <a:xfrm>
            <a:off x="3685032" y="2542032"/>
            <a:ext cx="493776" cy="493776"/>
          </a:xfrm>
          <a:prstGeom prst="rect">
            <a:avLst/>
          </a:prstGeom>
        </p:spPr>
      </p:pic>
      <p:sp>
        <p:nvSpPr>
          <p:cNvPr id="18" name="anim3-526"/>
          <p:cNvSpPr/>
          <p:nvPr/>
        </p:nvSpPr>
        <p:spPr>
          <a:xfrm>
            <a:off x="4187952" y="2148840"/>
            <a:ext cx="384048" cy="384048"/>
          </a:xfrm>
          <a:prstGeom prst="ellipse">
            <a:avLst/>
          </a:prstGeom>
          <a:solidFill>
            <a:schemeClr val="accent4"/>
          </a:solidFill>
          <a:ln w="25400">
            <a:solidFill>
              <a:schemeClr val="bg1"/>
            </a:solidFill>
            <a:prstDash val="solid"/>
          </a:ln>
        </p:spPr>
      </p:sp>
      <p:sp>
        <p:nvSpPr>
          <p:cNvPr id="19" name="anim3-527"/>
          <p:cNvSpPr txBox="1"/>
          <p:nvPr/>
        </p:nvSpPr>
        <p:spPr>
          <a:xfrm>
            <a:off x="418795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0" name="anim3-528"/>
          <p:cNvSpPr txBox="1"/>
          <p:nvPr/>
        </p:nvSpPr>
        <p:spPr>
          <a:xfrm>
            <a:off x="2926080" y="3520440"/>
            <a:ext cx="2011680" cy="1005840"/>
          </a:xfrm>
          <a:prstGeom prst="rect">
            <a:avLst/>
          </a:prstGeom>
          <a:noFill/>
          <a:ln/>
        </p:spPr>
        <p:txBody>
          <a:bodyPr wrap="square" rtlCol="0" anchor="t"/>
          <a:lstStyle/>
          <a:p>
            <a:pPr algn="ctr" indent="0" marL="0">
              <a:buNone/>
            </a:pPr>
            <a:r>
              <a:rPr lang="en-US" sz="1600" b="1" dirty="0">
                <a:solidFill>
                  <a:schemeClr val="tx2"/>
                </a:solidFill>
              </a:rPr>
              <a:t>Trajet</a:t>
            </a:r>
            <a:endParaRPr lang="en-US" sz="1500" dirty="0"/>
          </a:p>
          <a:p>
            <a:pPr algn="ctr" indent="0" marL="0">
              <a:buNone/>
            </a:pPr>
            <a:r>
              <a:rPr lang="en-US" sz="1200" dirty="0">
                <a:solidFill>
                  <a:schemeClr val="accent5"/>
                </a:solidFill>
              </a:rPr>
              <a:t>Trips › Add Trips</a:t>
            </a:r>
            <a:endParaRPr lang="en-US" sz="1500" dirty="0"/>
          </a:p>
        </p:txBody>
      </p:sp>
      <p:sp>
        <p:nvSpPr>
          <p:cNvPr id="21" name="anim4-529"/>
          <p:cNvSpPr/>
          <p:nvPr/>
        </p:nvSpPr>
        <p:spPr>
          <a:xfrm>
            <a:off x="553212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22" name="anim4-530" descr="preencoded.png">    </p:cNvPr>
          <p:cNvPicPr>
            <a:picLocks noChangeAspect="1"/>
          </p:cNvPicPr>
          <p:nvPr/>
        </p:nvPicPr>
        <p:blipFill>
          <a:blip r:embed="rId5"/>
          <a:stretch>
            <a:fillRect/>
          </a:stretch>
        </p:blipFill>
        <p:spPr>
          <a:xfrm>
            <a:off x="5833872" y="2542032"/>
            <a:ext cx="493776" cy="493776"/>
          </a:xfrm>
          <a:prstGeom prst="rect">
            <a:avLst/>
          </a:prstGeom>
        </p:spPr>
      </p:pic>
      <p:sp>
        <p:nvSpPr>
          <p:cNvPr id="23" name="anim4-531"/>
          <p:cNvSpPr/>
          <p:nvPr/>
        </p:nvSpPr>
        <p:spPr>
          <a:xfrm>
            <a:off x="6336792" y="2148840"/>
            <a:ext cx="384048" cy="384048"/>
          </a:xfrm>
          <a:prstGeom prst="ellipse">
            <a:avLst/>
          </a:prstGeom>
          <a:solidFill>
            <a:schemeClr val="accent4"/>
          </a:solidFill>
          <a:ln w="25400">
            <a:solidFill>
              <a:schemeClr val="bg1"/>
            </a:solidFill>
            <a:prstDash val="solid"/>
          </a:ln>
        </p:spPr>
      </p:sp>
      <p:sp>
        <p:nvSpPr>
          <p:cNvPr id="24" name="anim4-532"/>
          <p:cNvSpPr txBox="1"/>
          <p:nvPr/>
        </p:nvSpPr>
        <p:spPr>
          <a:xfrm>
            <a:off x="633679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anim4-533"/>
          <p:cNvSpPr txBox="1"/>
          <p:nvPr/>
        </p:nvSpPr>
        <p:spPr>
          <a:xfrm>
            <a:off x="5074920" y="3520440"/>
            <a:ext cx="2011680" cy="1005840"/>
          </a:xfrm>
          <a:prstGeom prst="rect">
            <a:avLst/>
          </a:prstGeom>
          <a:noFill/>
          <a:ln/>
        </p:spPr>
        <p:txBody>
          <a:bodyPr wrap="square" rtlCol="0" anchor="t"/>
          <a:lstStyle/>
          <a:p>
            <a:pPr algn="ctr" indent="0" marL="0">
              <a:buNone/>
            </a:pPr>
            <a:r>
              <a:rPr lang="en-US" sz="1600" b="1" dirty="0">
                <a:solidFill>
                  <a:schemeClr val="tx2"/>
                </a:solidFill>
              </a:rPr>
              <a:t>Carburant</a:t>
            </a:r>
            <a:endParaRPr lang="en-US" sz="1500" dirty="0"/>
          </a:p>
          <a:p>
            <a:pPr algn="ctr" indent="0" marL="0">
              <a:buNone/>
            </a:pPr>
            <a:r>
              <a:rPr lang="en-US" sz="1200" dirty="0">
                <a:solidFill>
                  <a:schemeClr val="accent5"/>
                </a:solidFill>
              </a:rPr>
              <a:t>Fuel › Add Fuel</a:t>
            </a:r>
            <a:endParaRPr lang="en-US" sz="1500" dirty="0"/>
          </a:p>
        </p:txBody>
      </p:sp>
      <p:sp>
        <p:nvSpPr>
          <p:cNvPr id="26" name="anim5-534"/>
          <p:cNvSpPr/>
          <p:nvPr/>
        </p:nvSpPr>
        <p:spPr>
          <a:xfrm>
            <a:off x="768096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27" name="anim5-535" descr="preencoded.png">    </p:cNvPr>
          <p:cNvPicPr>
            <a:picLocks noChangeAspect="1"/>
          </p:cNvPicPr>
          <p:nvPr/>
        </p:nvPicPr>
        <p:blipFill>
          <a:blip r:embed="rId6"/>
          <a:stretch>
            <a:fillRect/>
          </a:stretch>
        </p:blipFill>
        <p:spPr>
          <a:xfrm>
            <a:off x="7982712" y="2542032"/>
            <a:ext cx="493776" cy="493776"/>
          </a:xfrm>
          <a:prstGeom prst="rect">
            <a:avLst/>
          </a:prstGeom>
        </p:spPr>
      </p:pic>
      <p:sp>
        <p:nvSpPr>
          <p:cNvPr id="28" name="anim5-536"/>
          <p:cNvSpPr/>
          <p:nvPr/>
        </p:nvSpPr>
        <p:spPr>
          <a:xfrm>
            <a:off x="8485632" y="2148840"/>
            <a:ext cx="384048" cy="384048"/>
          </a:xfrm>
          <a:prstGeom prst="ellipse">
            <a:avLst/>
          </a:prstGeom>
          <a:solidFill>
            <a:schemeClr val="accent4"/>
          </a:solidFill>
          <a:ln w="25400">
            <a:solidFill>
              <a:schemeClr val="bg1"/>
            </a:solidFill>
            <a:prstDash val="solid"/>
          </a:ln>
        </p:spPr>
      </p:sp>
      <p:sp>
        <p:nvSpPr>
          <p:cNvPr id="29" name="anim5-537"/>
          <p:cNvSpPr txBox="1"/>
          <p:nvPr/>
        </p:nvSpPr>
        <p:spPr>
          <a:xfrm>
            <a:off x="848563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0" name="anim5-538"/>
          <p:cNvSpPr txBox="1"/>
          <p:nvPr/>
        </p:nvSpPr>
        <p:spPr>
          <a:xfrm>
            <a:off x="7223760" y="3520440"/>
            <a:ext cx="2011680" cy="1005840"/>
          </a:xfrm>
          <a:prstGeom prst="rect">
            <a:avLst/>
          </a:prstGeom>
          <a:noFill/>
          <a:ln/>
        </p:spPr>
        <p:txBody>
          <a:bodyPr wrap="square" rtlCol="0" anchor="t"/>
          <a:lstStyle/>
          <a:p>
            <a:pPr algn="ctr" indent="0" marL="0">
              <a:buNone/>
            </a:pPr>
            <a:r>
              <a:rPr lang="en-US" sz="1600" b="1" dirty="0">
                <a:solidFill>
                  <a:schemeClr val="tx2"/>
                </a:solidFill>
              </a:rPr>
              <a:t>Transaction</a:t>
            </a:r>
            <a:endParaRPr lang="en-US" sz="1500" dirty="0"/>
          </a:p>
          <a:p>
            <a:pPr algn="ctr" indent="0" marL="0">
              <a:buNone/>
            </a:pPr>
            <a:r>
              <a:rPr lang="en-US" sz="1200" dirty="0">
                <a:solidFill>
                  <a:schemeClr val="accent5"/>
                </a:solidFill>
              </a:rPr>
              <a:t>Accounts › Add Transactions</a:t>
            </a:r>
            <a:endParaRPr lang="en-US" sz="1500" dirty="0"/>
          </a:p>
        </p:txBody>
      </p:sp>
      <p:sp>
        <p:nvSpPr>
          <p:cNvPr id="31" name="anim6-539"/>
          <p:cNvSpPr/>
          <p:nvPr/>
        </p:nvSpPr>
        <p:spPr>
          <a:xfrm>
            <a:off x="9829800" y="2240280"/>
            <a:ext cx="1097280" cy="1097280"/>
          </a:xfrm>
          <a:prstGeom prst="ellipse">
            <a:avLst/>
          </a:prstGeom>
          <a:solidFill>
            <a:schemeClr val="tx2"/>
          </a:solidFill>
          <a:ln w="38100">
            <a:solidFill>
              <a:schemeClr val="bg1"/>
            </a:solidFill>
            <a:prstDash val="solid"/>
          </a:ln>
          <a:effectLst>
            <a:outerShdw sx="100000" sy="100000" kx="0" ky="0" algn="bl" rotWithShape="0" blurRad="127000" dist="38100" dir="5400000">
              <a:srgbClr val="1E2340">
                <a:alpha val="8000"/>
              </a:srgbClr>
            </a:outerShdw>
          </a:effectLst>
        </p:spPr>
      </p:sp>
      <p:pic>
        <p:nvPicPr>
          <p:cNvPr id="32" name="anim6-540" descr="preencoded.png">    </p:cNvPr>
          <p:cNvPicPr>
            <a:picLocks noChangeAspect="1"/>
          </p:cNvPicPr>
          <p:nvPr/>
        </p:nvPicPr>
        <p:blipFill>
          <a:blip r:embed="rId7"/>
          <a:stretch>
            <a:fillRect/>
          </a:stretch>
        </p:blipFill>
        <p:spPr>
          <a:xfrm>
            <a:off x="10131552" y="2542032"/>
            <a:ext cx="493776" cy="493776"/>
          </a:xfrm>
          <a:prstGeom prst="rect">
            <a:avLst/>
          </a:prstGeom>
        </p:spPr>
      </p:pic>
      <p:sp>
        <p:nvSpPr>
          <p:cNvPr id="33" name="anim6-541"/>
          <p:cNvSpPr/>
          <p:nvPr/>
        </p:nvSpPr>
        <p:spPr>
          <a:xfrm>
            <a:off x="10634472" y="2148840"/>
            <a:ext cx="384048" cy="384048"/>
          </a:xfrm>
          <a:prstGeom prst="ellipse">
            <a:avLst/>
          </a:prstGeom>
          <a:solidFill>
            <a:schemeClr val="accent4"/>
          </a:solidFill>
          <a:ln w="25400">
            <a:solidFill>
              <a:schemeClr val="bg1"/>
            </a:solidFill>
            <a:prstDash val="solid"/>
          </a:ln>
        </p:spPr>
      </p:sp>
      <p:sp>
        <p:nvSpPr>
          <p:cNvPr id="34" name="anim6-542"/>
          <p:cNvSpPr txBox="1"/>
          <p:nvPr/>
        </p:nvSpPr>
        <p:spPr>
          <a:xfrm>
            <a:off x="10634472" y="214884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anim6-543"/>
          <p:cNvSpPr txBox="1"/>
          <p:nvPr/>
        </p:nvSpPr>
        <p:spPr>
          <a:xfrm>
            <a:off x="9372600" y="3520440"/>
            <a:ext cx="2011680" cy="1005840"/>
          </a:xfrm>
          <a:prstGeom prst="rect">
            <a:avLst/>
          </a:prstGeom>
          <a:noFill/>
          <a:ln/>
        </p:spPr>
        <p:txBody>
          <a:bodyPr wrap="square" rtlCol="0" anchor="t"/>
          <a:lstStyle/>
          <a:p>
            <a:pPr algn="ctr" indent="0" marL="0">
              <a:buNone/>
            </a:pPr>
            <a:r>
              <a:rPr lang="en-US" sz="1600" b="1" dirty="0">
                <a:solidFill>
                  <a:schemeClr val="tx2"/>
                </a:solidFill>
              </a:rPr>
              <a:t>Tableau de bord et rapport</a:t>
            </a:r>
            <a:endParaRPr lang="en-US" sz="1500" dirty="0"/>
          </a:p>
          <a:p>
            <a:pPr algn="ctr" indent="0" marL="0">
              <a:buNone/>
            </a:pPr>
            <a:r>
              <a:rPr lang="en-US" sz="1200" dirty="0">
                <a:solidFill>
                  <a:schemeClr val="accent5"/>
                </a:solidFill>
              </a:rPr>
              <a:t>Dashboard · Reports</a:t>
            </a:r>
            <a:endParaRPr lang="en-US" sz="1500" dirty="0"/>
          </a:p>
        </p:txBody>
      </p:sp>
      <p:sp>
        <p:nvSpPr>
          <p:cNvPr id="36" name="anim7-544"/>
          <p:cNvSpPr/>
          <p:nvPr/>
        </p:nvSpPr>
        <p:spPr>
          <a:xfrm>
            <a:off x="548640" y="4846320"/>
            <a:ext cx="11064240" cy="1188720"/>
          </a:xfrm>
          <a:prstGeom prst="roundRect">
            <a:avLst>
              <a:gd name="adj" fmla="val 9231"/>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37" name="anim7-545"/>
          <p:cNvSpPr/>
          <p:nvPr/>
        </p:nvSpPr>
        <p:spPr>
          <a:xfrm>
            <a:off x="777240" y="5074920"/>
            <a:ext cx="731520" cy="731520"/>
          </a:xfrm>
          <a:prstGeom prst="roundRect">
            <a:avLst>
              <a:gd name="adj" fmla="val 22000"/>
            </a:avLst>
          </a:prstGeom>
          <a:solidFill>
            <a:schemeClr val="accent1"/>
          </a:solidFill>
          <a:ln w="12700">
            <a:solidFill>
              <a:schemeClr val="accent1"/>
            </a:solidFill>
            <a:prstDash val="solid"/>
          </a:ln>
        </p:spPr>
      </p:sp>
      <p:pic>
        <p:nvPicPr>
          <p:cNvPr id="38" name="anim7-546" descr="preencoded.png">    </p:cNvPr>
          <p:cNvPicPr>
            <a:picLocks noChangeAspect="1"/>
          </p:cNvPicPr>
          <p:nvPr/>
        </p:nvPicPr>
        <p:blipFill>
          <a:blip r:embed="rId8"/>
          <a:stretch>
            <a:fillRect/>
          </a:stretch>
        </p:blipFill>
        <p:spPr>
          <a:xfrm>
            <a:off x="967435" y="5265115"/>
            <a:ext cx="351130" cy="351130"/>
          </a:xfrm>
          <a:prstGeom prst="rect">
            <a:avLst/>
          </a:prstGeom>
        </p:spPr>
      </p:pic>
      <p:sp>
        <p:nvSpPr>
          <p:cNvPr id="39" name="anim7-547"/>
          <p:cNvSpPr txBox="1"/>
          <p:nvPr/>
        </p:nvSpPr>
        <p:spPr>
          <a:xfrm>
            <a:off x="1737360" y="4846320"/>
            <a:ext cx="9692640" cy="1188720"/>
          </a:xfrm>
          <a:prstGeom prst="rect">
            <a:avLst/>
          </a:prstGeom>
          <a:noFill/>
          <a:ln/>
        </p:spPr>
        <p:txBody>
          <a:bodyPr wrap="square" rtlCol="0" anchor="ctr"/>
          <a:lstStyle/>
          <a:p>
            <a:pPr indent="0" marL="0">
              <a:buNone/>
            </a:pPr>
            <a:r>
              <a:rPr lang="en-US" sz="1500" b="1" dirty="0">
                <a:solidFill>
                  <a:schemeClr val="accent2"/>
                </a:solidFill>
              </a:rPr>
              <a:t>Objectif  </a:t>
            </a:r>
            <a:pPr indent="0" marL="0">
              <a:buNone/>
            </a:pPr>
            <a:r>
              <a:rPr lang="en-US" sz="1500" dirty="0">
                <a:solidFill>
                  <a:schemeClr val="bg1"/>
                </a:solidFill>
              </a:rPr>
              <a:t>montrer qu'une seule saisie alimente tout le reste : le trajet apparaît dans le calendrier, le carburant et la transaction dans les finances, puis dans le tableau de bord et les rapports.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9" fill="hold">
                      <p:stCondLst>
                        <p:cond delay="indefinite"/>
                        <p:cond evt="onBegin" delay="0">
                          <p:tn val="2"/>
                        </p:cond>
                      </p:stCondLst>
                      <p:childTnLst>
                        <p:par>
                          <p:cTn id="10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8"/>
                                        </p:tgtEl>
                                        <p:attrNameLst>
                                          <p:attrName>style.visibility</p:attrName>
                                        </p:attrNameLst>
                                      </p:cBhvr>
                                      <p:to>
                                        <p:strVal val="visible"/>
                                      </p:to>
                                    </p:set>
                                    <p:animEffect transition="in" filter="fade">
                                      <p:cBhvr>
                                        <p:cTn id="5" dur="500"/>
                                        <p:tgtEl>
                                          <p:spTgt spid="8"/>
                                        </p:tgtEl>
                                      </p:cBhvr>
                                    </p:animEffect>
                                  </p:childTnLst>
                                </p:cTn>
                              </p:par>
                              <p:par>
                                <p:cTn id="6" presetID="10" presetClass="entr" presetSubtype="0" fill="hold" nodeType="with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500"/>
                                        <p:tgtEl>
                                          <p:spTgt spid="9"/>
                                        </p:tgtEl>
                                      </p:cBhvr>
                                    </p:animEffect>
                                  </p:childTnLst>
                                </p:cTn>
                              </p:par>
                              <p:par>
                                <p:cTn id="9" presetID="10"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childTnLst>
                                </p:cTn>
                              </p:par>
                              <p:par>
                                <p:cTn id="12" presetID="10" presetClass="entr" presetSubtype="0" fill="hold" nodeType="withEffect">
                                  <p:stCondLst>
                                    <p:cond delay="25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500"/>
                                        <p:tgtEl>
                                          <p:spTgt spid="11"/>
                                        </p:tgtEl>
                                      </p:cBhvr>
                                    </p:animEffect>
                                  </p:childTnLst>
                                </p:cTn>
                              </p:par>
                              <p:par>
                                <p:cTn id="15" presetID="10" presetClass="entr" presetSubtype="0" fill="hold" nodeType="withEffect">
                                  <p:stCondLst>
                                    <p:cond delay="25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10" presetClass="entr" presetSubtype="0" fill="hold" nodeType="withEffect">
                                  <p:stCondLst>
                                    <p:cond delay="25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nodeType="withEffect">
                                  <p:stCondLst>
                                    <p:cond delay="25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500"/>
                                        <p:tgtEl>
                                          <p:spTgt spid="14"/>
                                        </p:tgtEl>
                                      </p:cBhvr>
                                    </p:animEffect>
                                  </p:childTnLst>
                                </p:cTn>
                              </p:par>
                              <p:par>
                                <p:cTn id="24" presetID="10" presetClass="entr" presetSubtype="0" fill="hold" nodeType="withEffect">
                                  <p:stCondLst>
                                    <p:cond delay="25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27" presetID="10" presetClass="entr" presetSubtype="0" fill="hold" nodeType="withEffect">
                                  <p:stCondLst>
                                    <p:cond delay="500"/>
                                  </p:stCondLst>
                                  <p:childTnLst>
                                    <p:set>
                                      <p:cBhvr>
                                        <p:cTn id="28" dur="1" fill="hold">
                                          <p:stCondLst>
                                            <p:cond delay="0"/>
                                          </p:stCondLst>
                                        </p:cTn>
                                        <p:tgtEl>
                                          <p:spTgt spid="16"/>
                                        </p:tgtEl>
                                        <p:attrNameLst>
                                          <p:attrName>style.visibility</p:attrName>
                                        </p:attrNameLst>
                                      </p:cBhvr>
                                      <p:to>
                                        <p:strVal val="visible"/>
                                      </p:to>
                                    </p:set>
                                    <p:animEffect transition="in" filter="fade">
                                      <p:cBhvr>
                                        <p:cTn id="29" dur="500"/>
                                        <p:tgtEl>
                                          <p:spTgt spid="16"/>
                                        </p:tgtEl>
                                      </p:cBhvr>
                                    </p:animEffect>
                                  </p:childTnLst>
                                </p:cTn>
                              </p:par>
                              <p:par>
                                <p:cTn id="30" presetID="10" presetClass="entr" presetSubtype="0" fill="hold" nodeType="withEffect">
                                  <p:stCondLst>
                                    <p:cond delay="50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par>
                                <p:cTn id="33" presetID="10" presetClass="entr" presetSubtype="0" fill="hold" nodeType="withEffect">
                                  <p:stCondLst>
                                    <p:cond delay="50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par>
                                <p:cTn id="36" presetID="10" presetClass="entr" presetSubtype="0" fill="hold" nodeType="withEffect">
                                  <p:stCondLst>
                                    <p:cond delay="50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500"/>
                                        <p:tgtEl>
                                          <p:spTgt spid="19"/>
                                        </p:tgtEl>
                                      </p:cBhvr>
                                    </p:animEffect>
                                  </p:childTnLst>
                                </p:cTn>
                              </p:par>
                              <p:par>
                                <p:cTn id="39" presetID="10" presetClass="entr" presetSubtype="0" fill="hold" nodeType="withEffect">
                                  <p:stCondLst>
                                    <p:cond delay="50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nodeType="withEffect">
                                  <p:stCondLst>
                                    <p:cond delay="75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nodeType="withEffect">
                                  <p:stCondLst>
                                    <p:cond delay="75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nodeType="withEffect">
                                  <p:stCondLst>
                                    <p:cond delay="75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nodeType="withEffect">
                                  <p:stCondLst>
                                    <p:cond delay="75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par>
                                <p:cTn id="54" presetID="10" presetClass="entr" presetSubtype="0" fill="hold" nodeType="withEffect">
                                  <p:stCondLst>
                                    <p:cond delay="75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500"/>
                                        <p:tgtEl>
                                          <p:spTgt spid="25"/>
                                        </p:tgtEl>
                                      </p:cBhvr>
                                    </p:animEffect>
                                  </p:childTnLst>
                                </p:cTn>
                              </p:par>
                              <p:par>
                                <p:cTn id="57" presetID="10" presetClass="entr" presetSubtype="0" fill="hold" nodeType="withEffect">
                                  <p:stCondLst>
                                    <p:cond delay="100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500"/>
                                        <p:tgtEl>
                                          <p:spTgt spid="26"/>
                                        </p:tgtEl>
                                      </p:cBhvr>
                                    </p:animEffect>
                                  </p:childTnLst>
                                </p:cTn>
                              </p:par>
                              <p:par>
                                <p:cTn id="60" presetID="10" presetClass="entr" presetSubtype="0" fill="hold" nodeType="withEffect">
                                  <p:stCondLst>
                                    <p:cond delay="100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500"/>
                                        <p:tgtEl>
                                          <p:spTgt spid="27"/>
                                        </p:tgtEl>
                                      </p:cBhvr>
                                    </p:animEffect>
                                  </p:childTnLst>
                                </p:cTn>
                              </p:par>
                              <p:par>
                                <p:cTn id="63" presetID="10" presetClass="entr" presetSubtype="0" fill="hold" nodeType="withEffect">
                                  <p:stCondLst>
                                    <p:cond delay="100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500"/>
                                        <p:tgtEl>
                                          <p:spTgt spid="28"/>
                                        </p:tgtEl>
                                      </p:cBhvr>
                                    </p:animEffect>
                                  </p:childTnLst>
                                </p:cTn>
                              </p:par>
                              <p:par>
                                <p:cTn id="66" presetID="10" presetClass="entr" presetSubtype="0" fill="hold" nodeType="withEffect">
                                  <p:stCondLst>
                                    <p:cond delay="100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500"/>
                                        <p:tgtEl>
                                          <p:spTgt spid="29"/>
                                        </p:tgtEl>
                                      </p:cBhvr>
                                    </p:animEffect>
                                  </p:childTnLst>
                                </p:cTn>
                              </p:par>
                              <p:par>
                                <p:cTn id="69" presetID="10" presetClass="entr" presetSubtype="0" fill="hold" nodeType="withEffect">
                                  <p:stCondLst>
                                    <p:cond delay="100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500"/>
                                        <p:tgtEl>
                                          <p:spTgt spid="30"/>
                                        </p:tgtEl>
                                      </p:cBhvr>
                                    </p:animEffect>
                                  </p:childTnLst>
                                </p:cTn>
                              </p:par>
                              <p:par>
                                <p:cTn id="72" presetID="10" presetClass="entr" presetSubtype="0" fill="hold" nodeType="withEffect">
                                  <p:stCondLst>
                                    <p:cond delay="125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500"/>
                                        <p:tgtEl>
                                          <p:spTgt spid="31"/>
                                        </p:tgtEl>
                                      </p:cBhvr>
                                    </p:animEffect>
                                  </p:childTnLst>
                                </p:cTn>
                              </p:par>
                              <p:par>
                                <p:cTn id="75" presetID="10" presetClass="entr" presetSubtype="0" fill="hold" nodeType="withEffect">
                                  <p:stCondLst>
                                    <p:cond delay="125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500"/>
                                        <p:tgtEl>
                                          <p:spTgt spid="32"/>
                                        </p:tgtEl>
                                      </p:cBhvr>
                                    </p:animEffect>
                                  </p:childTnLst>
                                </p:cTn>
                              </p:par>
                              <p:par>
                                <p:cTn id="78" presetID="10" presetClass="entr" presetSubtype="0" fill="hold" nodeType="withEffect">
                                  <p:stCondLst>
                                    <p:cond delay="1250"/>
                                  </p:stCondLst>
                                  <p:childTnLst>
                                    <p:set>
                                      <p:cBhvr>
                                        <p:cTn id="79" dur="1" fill="hold">
                                          <p:stCondLst>
                                            <p:cond delay="0"/>
                                          </p:stCondLst>
                                        </p:cTn>
                                        <p:tgtEl>
                                          <p:spTgt spid="33"/>
                                        </p:tgtEl>
                                        <p:attrNameLst>
                                          <p:attrName>style.visibility</p:attrName>
                                        </p:attrNameLst>
                                      </p:cBhvr>
                                      <p:to>
                                        <p:strVal val="visible"/>
                                      </p:to>
                                    </p:set>
                                    <p:animEffect transition="in" filter="fade">
                                      <p:cBhvr>
                                        <p:cTn id="80" dur="500"/>
                                        <p:tgtEl>
                                          <p:spTgt spid="33"/>
                                        </p:tgtEl>
                                      </p:cBhvr>
                                    </p:animEffect>
                                  </p:childTnLst>
                                </p:cTn>
                              </p:par>
                              <p:par>
                                <p:cTn id="81" presetID="10" presetClass="entr" presetSubtype="0" fill="hold" nodeType="withEffect">
                                  <p:stCondLst>
                                    <p:cond delay="125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00"/>
                                        <p:tgtEl>
                                          <p:spTgt spid="34"/>
                                        </p:tgtEl>
                                      </p:cBhvr>
                                    </p:animEffect>
                                  </p:childTnLst>
                                </p:cTn>
                              </p:par>
                              <p:par>
                                <p:cTn id="84" presetID="10" presetClass="entr" presetSubtype="0" fill="hold" nodeType="withEffect">
                                  <p:stCondLst>
                                    <p:cond delay="125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500"/>
                                        <p:tgtEl>
                                          <p:spTgt spid="35"/>
                                        </p:tgtEl>
                                      </p:cBhvr>
                                    </p:animEffect>
                                  </p:childTnLst>
                                </p:cTn>
                              </p:par>
                              <p:par>
                                <p:cTn id="87" presetID="10" presetClass="entr" presetSubtype="0" fill="hold" nodeType="withEffect">
                                  <p:stCondLst>
                                    <p:cond delay="15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00"/>
                                        <p:tgtEl>
                                          <p:spTgt spid="36"/>
                                        </p:tgtEl>
                                      </p:cBhvr>
                                    </p:animEffect>
                                  </p:childTnLst>
                                </p:cTn>
                              </p:par>
                              <p:par>
                                <p:cTn id="90" presetID="10" presetClass="entr" presetSubtype="0" fill="hold" nodeType="withEffect">
                                  <p:stCondLst>
                                    <p:cond delay="1500"/>
                                  </p:stCondLst>
                                  <p:childTnLst>
                                    <p:set>
                                      <p:cBhvr>
                                        <p:cTn id="91" dur="1" fill="hold">
                                          <p:stCondLst>
                                            <p:cond delay="0"/>
                                          </p:stCondLst>
                                        </p:cTn>
                                        <p:tgtEl>
                                          <p:spTgt spid="37"/>
                                        </p:tgtEl>
                                        <p:attrNameLst>
                                          <p:attrName>style.visibility</p:attrName>
                                        </p:attrNameLst>
                                      </p:cBhvr>
                                      <p:to>
                                        <p:strVal val="visible"/>
                                      </p:to>
                                    </p:set>
                                    <p:animEffect transition="in" filter="fade">
                                      <p:cBhvr>
                                        <p:cTn id="92" dur="500"/>
                                        <p:tgtEl>
                                          <p:spTgt spid="37"/>
                                        </p:tgtEl>
                                      </p:cBhvr>
                                    </p:animEffect>
                                  </p:childTnLst>
                                </p:cTn>
                              </p:par>
                              <p:par>
                                <p:cTn id="93" presetID="10" presetClass="entr" presetSubtype="0" fill="hold" nodeType="withEffect">
                                  <p:stCondLst>
                                    <p:cond delay="1500"/>
                                  </p:stCondLst>
                                  <p:childTnLst>
                                    <p:set>
                                      <p:cBhvr>
                                        <p:cTn id="94" dur="1" fill="hold">
                                          <p:stCondLst>
                                            <p:cond delay="0"/>
                                          </p:stCondLst>
                                        </p:cTn>
                                        <p:tgtEl>
                                          <p:spTgt spid="38"/>
                                        </p:tgtEl>
                                        <p:attrNameLst>
                                          <p:attrName>style.visibility</p:attrName>
                                        </p:attrNameLst>
                                      </p:cBhvr>
                                      <p:to>
                                        <p:strVal val="visible"/>
                                      </p:to>
                                    </p:set>
                                    <p:animEffect transition="in" filter="fade">
                                      <p:cBhvr>
                                        <p:cTn id="95" dur="500"/>
                                        <p:tgtEl>
                                          <p:spTgt spid="38"/>
                                        </p:tgtEl>
                                      </p:cBhvr>
                                    </p:animEffect>
                                  </p:childTnLst>
                                </p:cTn>
                              </p:par>
                              <p:par>
                                <p:cTn id="96" presetID="10" presetClass="entr" presetSubtype="0" fill="hold" nodeType="withEffect">
                                  <p:stCondLst>
                                    <p:cond delay="1500"/>
                                  </p:stCondLst>
                                  <p:childTnLst>
                                    <p:set>
                                      <p:cBhvr>
                                        <p:cTn id="97" dur="1" fill="hold">
                                          <p:stCondLst>
                                            <p:cond delay="0"/>
                                          </p:stCondLst>
                                        </p:cTn>
                                        <p:tgtEl>
                                          <p:spTgt spid="39"/>
                                        </p:tgtEl>
                                        <p:attrNameLst>
                                          <p:attrName>style.visibility</p:attrName>
                                        </p:attrNameLst>
                                      </p:cBhvr>
                                      <p:to>
                                        <p:strVal val="visible"/>
                                      </p:to>
                                    </p:set>
                                    <p:animEffect transition="in" filter="fade">
                                      <p:cBhvr>
                                        <p:cTn id="98"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9" grpId="0" animBg="1"/>
      <p:bldP spid="20" grpId="0" animBg="1"/>
      <p:bldP spid="24" grpId="0" animBg="1"/>
      <p:bldP spid="25" grpId="0" animBg="1"/>
      <p:bldP spid="29" grpId="0" animBg="1"/>
      <p:bldP spid="30" grpId="0" animBg="1"/>
      <p:bldP spid="34" grpId="0" animBg="1"/>
      <p:bldP spid="35" grpId="0" animBg="1"/>
      <p:bldP spid="3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8412480" y="822960"/>
            <a:ext cx="3566160" cy="3566160"/>
          </a:xfrm>
          <a:prstGeom prst="ellipse">
            <a:avLst/>
          </a:prstGeom>
          <a:solidFill>
            <a:schemeClr val="accent1">
              <a:alpha val="45000"/>
            </a:schemeClr>
          </a:solidFill>
          <a:ln w="12700">
            <a:solidFill>
              <a:schemeClr val="accent2">
                <a:alpha val="40000"/>
              </a:schemeClr>
            </a:solidFill>
            <a:prstDash val="solid"/>
          </a:ln>
        </p:spPr>
      </p:sp>
      <p:pic>
        <p:nvPicPr>
          <p:cNvPr id="3" name="anim1-548" descr="preencoded.png">    </p:cNvPr>
          <p:cNvPicPr>
            <a:picLocks noChangeAspect="1"/>
          </p:cNvPicPr>
          <p:nvPr/>
        </p:nvPicPr>
        <p:blipFill>
          <a:blip r:embed="rId1"/>
          <a:stretch>
            <a:fillRect/>
          </a:stretch>
        </p:blipFill>
        <p:spPr>
          <a:xfrm>
            <a:off x="9189720" y="1600200"/>
            <a:ext cx="2011680" cy="2011680"/>
          </a:xfrm>
          <a:prstGeom prst="rect">
            <a:avLst/>
          </a:prstGeom>
        </p:spPr>
      </p:pic>
      <p:sp>
        <p:nvSpPr>
          <p:cNvPr id="4" name="Text 0"/>
          <p:cNvSpPr/>
          <p:nvPr>
            <p:ph idx="100" type="title" hasCustomPrompt="1"/>
          </p:nvPr>
        </p:nvSpPr>
        <p:spPr>
          <a:xfrm>
            <a:off x="731520" y="1828800"/>
            <a:ext cx="6583680" cy="1737360"/>
          </a:xfrm>
          <a:prstGeom prst="rect">
            <a:avLst/>
          </a:prstGeom>
          <a:noFill/>
          <a:ln/>
        </p:spPr>
        <p:txBody>
          <a:bodyPr wrap="square" rtlCol="0" anchor="b"/>
          <a:lstStyle/>
          <a:p>
            <a:pPr algn="l" indent="0" marL="0">
              <a:buNone/>
            </a:pPr>
            <a:r>
              <a:rPr lang="en-US" sz="4000" b="1" dirty="0">
                <a:solidFill>
                  <a:schemeClr val="bg1"/>
                </a:solidFill>
              </a:rPr>
              <a:t>Questions et échanges</a:t>
            </a:r>
            <a:endParaRPr lang="en-US" sz="4000" dirty="0"/>
          </a:p>
        </p:txBody>
      </p:sp>
      <p:sp>
        <p:nvSpPr>
          <p:cNvPr id="5" name="anim2-549"/>
          <p:cNvSpPr txBox="1"/>
          <p:nvPr/>
        </p:nvSpPr>
        <p:spPr>
          <a:xfrm>
            <a:off x="731520" y="3703320"/>
            <a:ext cx="6583680" cy="548640"/>
          </a:xfrm>
          <a:prstGeom prst="rect">
            <a:avLst/>
          </a:prstGeom>
          <a:noFill/>
          <a:ln/>
        </p:spPr>
        <p:txBody>
          <a:bodyPr wrap="square" rtlCol="0" anchor="t"/>
          <a:lstStyle/>
          <a:p>
            <a:pPr indent="0" marL="0">
              <a:buNone/>
            </a:pPr>
            <a:r>
              <a:rPr lang="en-US" sz="2000" dirty="0">
                <a:solidFill>
                  <a:schemeClr val="accent2"/>
                </a:solidFill>
              </a:rPr>
              <a:t>Merci de votre attention</a:t>
            </a:r>
            <a:endParaRPr lang="en-US" sz="20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 fill="hold">
                      <p:stCondLst>
                        <p:cond delay="indefinite"/>
                        <p:cond evt="onBegin" delay="0">
                          <p:tn val="2"/>
                        </p:cond>
                      </p:stCondLst>
                      <p:childTnLst>
                        <p:par>
                          <p:cTn id="10"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500"/>
                                        <p:tgtEl>
                                          <p:spTgt spid="3"/>
                                        </p:tgtEl>
                                      </p:cBhvr>
                                    </p:animEffect>
                                  </p:childTnLst>
                                </p:cTn>
                              </p:par>
                              <p:par>
                                <p:cTn id="6" presetID="10" presetClass="entr" presetSubtype="0" fill="hold" nodeType="withEffect">
                                  <p:stCondLst>
                                    <p:cond delay="25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6.xml><?xml version="1.0" encoding="utf-8"?>
<p:sld xmlns:a="http://schemas.openxmlformats.org/drawingml/2006/main" xmlns:r="http://schemas.openxmlformats.org/officeDocument/2006/relationships" xmlns:p="http://schemas.openxmlformats.org/presentationml/2006/main" show="0">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1463040" y="566928"/>
            <a:ext cx="10149840" cy="640080"/>
          </a:xfrm>
          <a:prstGeom prst="rect">
            <a:avLst/>
          </a:prstGeom>
          <a:noFill/>
          <a:ln/>
        </p:spPr>
        <p:txBody>
          <a:bodyPr wrap="square" rtlCol="0" anchor="ctr"/>
          <a:lstStyle/>
          <a:p>
            <a:pPr algn="l" indent="0" marL="0">
              <a:buNone/>
            </a:pPr>
            <a:r>
              <a:rPr lang="en-US" sz="2800" b="1" dirty="0">
                <a:solidFill>
                  <a:schemeClr val="tx2"/>
                </a:solidFill>
              </a:rPr>
              <a:t>Coûts de fonctionnement</a:t>
            </a:r>
            <a:endParaRPr lang="en-US" sz="2800" dirty="0"/>
          </a:p>
        </p:txBody>
      </p:sp>
      <p:sp>
        <p:nvSpPr>
          <p:cNvPr id="3" name="Shape 1"/>
          <p:cNvSpPr/>
          <p:nvPr/>
        </p:nvSpPr>
        <p:spPr>
          <a:xfrm>
            <a:off x="548640" y="411480"/>
            <a:ext cx="731520" cy="731520"/>
          </a:xfrm>
          <a:prstGeom prst="roundRect">
            <a:avLst>
              <a:gd name="adj" fmla="val 18750"/>
            </a:avLst>
          </a:prstGeom>
          <a:solidFill>
            <a:schemeClr val="tx2"/>
          </a:solidFill>
          <a:ln w="12700">
            <a:solidFill>
              <a:schemeClr val="tx2"/>
            </a:solidFill>
            <a:prstDash val="solid"/>
          </a:ln>
        </p:spPr>
      </p:sp>
      <p:pic>
        <p:nvPicPr>
          <p:cNvPr id="4" name="Image 0" descr="preencoded.png">    </p:cNvPr>
          <p:cNvPicPr>
            <a:picLocks noChangeAspect="1"/>
          </p:cNvPicPr>
          <p:nvPr/>
        </p:nvPicPr>
        <p:blipFill>
          <a:blip r:embed="rId1"/>
          <a:stretch>
            <a:fillRect/>
          </a:stretch>
        </p:blipFill>
        <p:spPr>
          <a:xfrm>
            <a:off x="731520" y="594360"/>
            <a:ext cx="365760" cy="365760"/>
          </a:xfrm>
          <a:prstGeom prst="rect">
            <a:avLst/>
          </a:prstGeom>
        </p:spPr>
      </p:pic>
      <p:sp>
        <p:nvSpPr>
          <p:cNvPr id="5" name="Shape 2"/>
          <p:cNvSpPr/>
          <p:nvPr/>
        </p:nvSpPr>
        <p:spPr>
          <a:xfrm>
            <a:off x="1481328" y="384048"/>
            <a:ext cx="91440" cy="91440"/>
          </a:xfrm>
          <a:prstGeom prst="ellipse">
            <a:avLst/>
          </a:prstGeom>
          <a:solidFill>
            <a:schemeClr val="accent4"/>
          </a:solidFill>
          <a:ln w="12700">
            <a:solidFill>
              <a:schemeClr val="accent4"/>
            </a:solidFill>
            <a:prstDash val="solid"/>
          </a:ln>
        </p:spPr>
      </p:sp>
      <p:sp>
        <p:nvSpPr>
          <p:cNvPr id="6" name="Text 3"/>
          <p:cNvSpPr txBox="1"/>
          <p:nvPr/>
        </p:nvSpPr>
        <p:spPr>
          <a:xfrm>
            <a:off x="1645920" y="274320"/>
            <a:ext cx="7315200" cy="310896"/>
          </a:xfrm>
          <a:prstGeom prst="rect">
            <a:avLst/>
          </a:prstGeom>
          <a:noFill/>
          <a:ln/>
        </p:spPr>
        <p:txBody>
          <a:bodyPr wrap="square" lIns="0" tIns="0" rIns="0" bIns="0" rtlCol="0" anchor="ctr"/>
          <a:lstStyle/>
          <a:p>
            <a:pPr indent="0" marL="0">
              <a:buNone/>
            </a:pPr>
            <a:r>
              <a:rPr lang="en-US" sz="1000" b="1" spc="200" kern="0" dirty="0">
                <a:solidFill>
                  <a:schemeClr val="accent5"/>
                </a:solidFill>
              </a:rPr>
              <a:t>RÉSERVE</a:t>
            </a:r>
            <a:endParaRPr lang="en-US" sz="1000" dirty="0"/>
          </a:p>
        </p:txBody>
      </p:sp>
      <p:sp>
        <p:nvSpPr>
          <p:cNvPr id="7" name="anim1-550"/>
          <p:cNvSpPr/>
          <p:nvPr/>
        </p:nvSpPr>
        <p:spPr>
          <a:xfrm>
            <a:off x="548640" y="1463040"/>
            <a:ext cx="5120640" cy="2103120"/>
          </a:xfrm>
          <a:prstGeom prst="roundRect">
            <a:avLst>
              <a:gd name="adj" fmla="val 521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8" name="anim1-551"/>
          <p:cNvSpPr/>
          <p:nvPr/>
        </p:nvSpPr>
        <p:spPr>
          <a:xfrm>
            <a:off x="777240" y="1691640"/>
            <a:ext cx="548640" cy="548640"/>
          </a:xfrm>
          <a:prstGeom prst="roundRect">
            <a:avLst>
              <a:gd name="adj" fmla="val 22000"/>
            </a:avLst>
          </a:prstGeom>
          <a:solidFill>
            <a:schemeClr val="bg2"/>
          </a:solidFill>
          <a:ln w="12700">
            <a:solidFill>
              <a:schemeClr val="bg2"/>
            </a:solidFill>
            <a:prstDash val="solid"/>
          </a:ln>
        </p:spPr>
      </p:sp>
      <p:pic>
        <p:nvPicPr>
          <p:cNvPr id="9" name="anim1-552" descr="preencoded.png">    </p:cNvPr>
          <p:cNvPicPr>
            <a:picLocks noChangeAspect="1"/>
          </p:cNvPicPr>
          <p:nvPr/>
        </p:nvPicPr>
        <p:blipFill>
          <a:blip r:embed="rId2"/>
          <a:stretch>
            <a:fillRect/>
          </a:stretch>
        </p:blipFill>
        <p:spPr>
          <a:xfrm>
            <a:off x="919886" y="1834286"/>
            <a:ext cx="263347" cy="263347"/>
          </a:xfrm>
          <a:prstGeom prst="rect">
            <a:avLst/>
          </a:prstGeom>
        </p:spPr>
      </p:pic>
      <p:sp>
        <p:nvSpPr>
          <p:cNvPr id="10" name="anim1-553"/>
          <p:cNvSpPr txBox="1"/>
          <p:nvPr/>
        </p:nvSpPr>
        <p:spPr>
          <a:xfrm>
            <a:off x="1463040" y="1691640"/>
            <a:ext cx="4023360" cy="548640"/>
          </a:xfrm>
          <a:prstGeom prst="rect">
            <a:avLst/>
          </a:prstGeom>
          <a:noFill/>
          <a:ln/>
        </p:spPr>
        <p:txBody>
          <a:bodyPr wrap="square" rtlCol="0" anchor="ctr"/>
          <a:lstStyle/>
          <a:p>
            <a:pPr indent="0" marL="0">
              <a:buNone/>
            </a:pPr>
            <a:r>
              <a:rPr lang="en-US" sz="1600" b="1" dirty="0">
                <a:solidFill>
                  <a:schemeClr val="tx2"/>
                </a:solidFill>
              </a:rPr>
              <a:t>Hébergement du serveur</a:t>
            </a:r>
            <a:endParaRPr lang="en-US" sz="1600" dirty="0"/>
          </a:p>
        </p:txBody>
      </p:sp>
      <p:sp>
        <p:nvSpPr>
          <p:cNvPr id="11" name="anim1-554"/>
          <p:cNvSpPr txBox="1"/>
          <p:nvPr/>
        </p:nvSpPr>
        <p:spPr>
          <a:xfrm>
            <a:off x="777240" y="2377440"/>
            <a:ext cx="4754880" cy="1097280"/>
          </a:xfrm>
          <a:prstGeom prst="rect">
            <a:avLst/>
          </a:prstGeom>
          <a:noFill/>
          <a:ln/>
        </p:spPr>
        <p:txBody>
          <a:bodyPr wrap="square" rtlCol="0" anchor="t"/>
          <a:lstStyle/>
          <a:p>
            <a:pPr indent="0" marL="0">
              <a:buNone/>
            </a:pPr>
            <a:r>
              <a:rPr lang="en-US" sz="3200" b="1" dirty="0">
                <a:solidFill>
                  <a:schemeClr val="tx2"/>
                </a:solidFill>
              </a:rPr>
              <a:t>100 000 FCFA</a:t>
            </a:r>
            <a:endParaRPr lang="en-US" sz="1500" dirty="0"/>
          </a:p>
          <a:p>
            <a:pPr indent="0" marL="0">
              <a:buNone/>
            </a:pPr>
            <a:r>
              <a:rPr lang="en-US" sz="1600" dirty="0">
                <a:solidFill>
                  <a:schemeClr val="accent5"/>
                </a:solidFill>
              </a:rPr>
              <a:t>par an</a:t>
            </a:r>
            <a:endParaRPr lang="en-US" sz="1500" dirty="0"/>
          </a:p>
        </p:txBody>
      </p:sp>
      <p:sp>
        <p:nvSpPr>
          <p:cNvPr id="12" name="anim2-555"/>
          <p:cNvSpPr/>
          <p:nvPr/>
        </p:nvSpPr>
        <p:spPr>
          <a:xfrm>
            <a:off x="548640" y="3840480"/>
            <a:ext cx="5120640" cy="2103120"/>
          </a:xfrm>
          <a:prstGeom prst="roundRect">
            <a:avLst>
              <a:gd name="adj" fmla="val 521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13" name="anim2-556"/>
          <p:cNvSpPr/>
          <p:nvPr/>
        </p:nvSpPr>
        <p:spPr>
          <a:xfrm>
            <a:off x="777240" y="4069080"/>
            <a:ext cx="548640" cy="548640"/>
          </a:xfrm>
          <a:prstGeom prst="roundRect">
            <a:avLst>
              <a:gd name="adj" fmla="val 22000"/>
            </a:avLst>
          </a:prstGeom>
          <a:solidFill>
            <a:schemeClr val="bg2"/>
          </a:solidFill>
          <a:ln w="12700">
            <a:solidFill>
              <a:schemeClr val="bg2"/>
            </a:solidFill>
            <a:prstDash val="solid"/>
          </a:ln>
        </p:spPr>
      </p:sp>
      <p:pic>
        <p:nvPicPr>
          <p:cNvPr id="14" name="anim2-557" descr="preencoded.png">    </p:cNvPr>
          <p:cNvPicPr>
            <a:picLocks noChangeAspect="1"/>
          </p:cNvPicPr>
          <p:nvPr/>
        </p:nvPicPr>
        <p:blipFill>
          <a:blip r:embed="rId3"/>
          <a:stretch>
            <a:fillRect/>
          </a:stretch>
        </p:blipFill>
        <p:spPr>
          <a:xfrm>
            <a:off x="919886" y="4211726"/>
            <a:ext cx="263347" cy="263347"/>
          </a:xfrm>
          <a:prstGeom prst="rect">
            <a:avLst/>
          </a:prstGeom>
        </p:spPr>
      </p:pic>
      <p:sp>
        <p:nvSpPr>
          <p:cNvPr id="15" name="anim2-558"/>
          <p:cNvSpPr txBox="1"/>
          <p:nvPr/>
        </p:nvSpPr>
        <p:spPr>
          <a:xfrm>
            <a:off x="1463040" y="4069080"/>
            <a:ext cx="4023360" cy="548640"/>
          </a:xfrm>
          <a:prstGeom prst="rect">
            <a:avLst/>
          </a:prstGeom>
          <a:noFill/>
          <a:ln/>
        </p:spPr>
        <p:txBody>
          <a:bodyPr wrap="square" rtlCol="0" anchor="ctr"/>
          <a:lstStyle/>
          <a:p>
            <a:pPr indent="0" marL="0">
              <a:buNone/>
            </a:pPr>
            <a:r>
              <a:rPr lang="en-US" sz="1600" b="1" dirty="0">
                <a:solidFill>
                  <a:schemeClr val="tx2"/>
                </a:solidFill>
              </a:rPr>
              <a:t>Maintenance</a:t>
            </a:r>
            <a:endParaRPr lang="en-US" sz="1600" dirty="0"/>
          </a:p>
        </p:txBody>
      </p:sp>
      <p:sp>
        <p:nvSpPr>
          <p:cNvPr id="16" name="anim2-559"/>
          <p:cNvSpPr txBox="1"/>
          <p:nvPr/>
        </p:nvSpPr>
        <p:spPr>
          <a:xfrm>
            <a:off x="777240" y="4754880"/>
            <a:ext cx="4754880" cy="1097280"/>
          </a:xfrm>
          <a:prstGeom prst="rect">
            <a:avLst/>
          </a:prstGeom>
          <a:noFill/>
          <a:ln/>
        </p:spPr>
        <p:txBody>
          <a:bodyPr wrap="square" rtlCol="0" anchor="t"/>
          <a:lstStyle/>
          <a:p>
            <a:pPr indent="0" marL="0">
              <a:buNone/>
            </a:pPr>
            <a:r>
              <a:rPr lang="en-US" sz="3200" b="1" dirty="0">
                <a:solidFill>
                  <a:schemeClr val="tx2"/>
                </a:solidFill>
              </a:rPr>
              <a:t>100 000 FCFA</a:t>
            </a:r>
            <a:endParaRPr lang="en-US" sz="1500" dirty="0"/>
          </a:p>
          <a:p>
            <a:pPr indent="0" marL="0">
              <a:buNone/>
            </a:pPr>
            <a:r>
              <a:rPr lang="en-US" sz="1600" dirty="0">
                <a:solidFill>
                  <a:schemeClr val="accent5"/>
                </a:solidFill>
              </a:rPr>
              <a:t>par mois, formation des agents comprise</a:t>
            </a:r>
            <a:endParaRPr lang="en-US" sz="1500" dirty="0"/>
          </a:p>
        </p:txBody>
      </p:sp>
      <p:sp>
        <p:nvSpPr>
          <p:cNvPr id="17" name="anim3-560"/>
          <p:cNvSpPr txBox="1"/>
          <p:nvPr/>
        </p:nvSpPr>
        <p:spPr>
          <a:xfrm>
            <a:off x="6126480" y="1463040"/>
            <a:ext cx="5486400" cy="411480"/>
          </a:xfrm>
          <a:prstGeom prst="rect">
            <a:avLst/>
          </a:prstGeom>
          <a:noFill/>
          <a:ln/>
        </p:spPr>
        <p:txBody>
          <a:bodyPr wrap="square" rtlCol="0" anchor="t"/>
          <a:lstStyle/>
          <a:p>
            <a:pPr indent="0" marL="0">
              <a:buNone/>
            </a:pPr>
            <a:r>
              <a:rPr lang="en-US" sz="1700" b="1" dirty="0">
                <a:solidFill>
                  <a:schemeClr val="tx2"/>
                </a:solidFill>
              </a:rPr>
              <a:t>Calendrier de paiement de la maintenance</a:t>
            </a:r>
            <a:endParaRPr lang="en-US" sz="1700" dirty="0"/>
          </a:p>
        </p:txBody>
      </p:sp>
      <p:sp>
        <p:nvSpPr>
          <p:cNvPr id="18" name="anim3-561"/>
          <p:cNvSpPr/>
          <p:nvPr/>
        </p:nvSpPr>
        <p:spPr>
          <a:xfrm>
            <a:off x="6126480" y="2011680"/>
            <a:ext cx="5532120" cy="1737360"/>
          </a:xfrm>
          <a:prstGeom prst="roundRect">
            <a:avLst>
              <a:gd name="adj" fmla="val 6316"/>
            </a:avLst>
          </a:prstGeom>
          <a:solidFill>
            <a:schemeClr val="tx2"/>
          </a:solidFill>
          <a:ln w="9525">
            <a:solidFill>
              <a:schemeClr val="tx2"/>
            </a:solidFill>
            <a:prstDash val="solid"/>
          </a:ln>
          <a:effectLst>
            <a:outerShdw sx="100000" sy="100000" kx="0" ky="0" algn="bl" rotWithShape="0" blurRad="127000" dist="38100" dir="5400000">
              <a:srgbClr val="1E2340">
                <a:alpha val="8000"/>
              </a:srgbClr>
            </a:outerShdw>
          </a:effectLst>
        </p:spPr>
      </p:sp>
      <p:sp>
        <p:nvSpPr>
          <p:cNvPr id="19" name="anim3-562"/>
          <p:cNvSpPr txBox="1"/>
          <p:nvPr/>
        </p:nvSpPr>
        <p:spPr>
          <a:xfrm>
            <a:off x="6355080" y="2103120"/>
            <a:ext cx="5120640" cy="1554480"/>
          </a:xfrm>
          <a:prstGeom prst="rect">
            <a:avLst/>
          </a:prstGeom>
          <a:noFill/>
          <a:ln/>
        </p:spPr>
        <p:txBody>
          <a:bodyPr wrap="square" rtlCol="0" anchor="ctr"/>
          <a:lstStyle/>
          <a:p>
            <a:pPr indent="0" marL="0">
              <a:buNone/>
            </a:pPr>
            <a:r>
              <a:rPr lang="en-US" sz="2000" b="1" dirty="0">
                <a:solidFill>
                  <a:schemeClr val="bg1"/>
                </a:solidFill>
              </a:rPr>
              <a:t>Premier paiement : 300 000 FCFA</a:t>
            </a:r>
            <a:endParaRPr lang="en-US" sz="1500" dirty="0"/>
          </a:p>
          <a:p>
            <a:pPr indent="0" marL="0">
              <a:buNone/>
            </a:pPr>
            <a:r>
              <a:rPr lang="en-US" sz="1500" dirty="0">
                <a:solidFill>
                  <a:schemeClr val="accent2"/>
                </a:solidFill>
              </a:rPr>
              <a:t>1er mois de maintenance + 2 mois payés d'avance (mois 2 et 3)</a:t>
            </a:r>
            <a:endParaRPr lang="en-US" sz="1500" dirty="0"/>
          </a:p>
        </p:txBody>
      </p:sp>
      <p:sp>
        <p:nvSpPr>
          <p:cNvPr id="20" name="anim4-563"/>
          <p:cNvSpPr/>
          <p:nvPr/>
        </p:nvSpPr>
        <p:spPr>
          <a:xfrm>
            <a:off x="8686800" y="3840480"/>
            <a:ext cx="411480" cy="411480"/>
          </a:xfrm>
          <a:prstGeom prst="downArrow">
            <a:avLst/>
          </a:prstGeom>
          <a:solidFill>
            <a:schemeClr val="accent1"/>
          </a:solidFill>
          <a:ln w="12700">
            <a:solidFill>
              <a:schemeClr val="accent1"/>
            </a:solidFill>
            <a:prstDash val="solid"/>
          </a:ln>
        </p:spPr>
      </p:sp>
      <p:sp>
        <p:nvSpPr>
          <p:cNvPr id="21" name="anim4-564"/>
          <p:cNvSpPr/>
          <p:nvPr/>
        </p:nvSpPr>
        <p:spPr>
          <a:xfrm>
            <a:off x="6126480" y="4343400"/>
            <a:ext cx="5532120" cy="1600200"/>
          </a:xfrm>
          <a:prstGeom prst="roundRect">
            <a:avLst>
              <a:gd name="adj" fmla="val 6857"/>
            </a:avLst>
          </a:prstGeom>
          <a:solidFill>
            <a:schemeClr val="bg1"/>
          </a:solidFill>
          <a:ln w="9525">
            <a:solidFill>
              <a:schemeClr val="accent6"/>
            </a:solidFill>
            <a:prstDash val="solid"/>
          </a:ln>
          <a:effectLst>
            <a:outerShdw sx="100000" sy="100000" kx="0" ky="0" algn="bl" rotWithShape="0" blurRad="127000" dist="38100" dir="5400000">
              <a:srgbClr val="1E2340">
                <a:alpha val="8000"/>
              </a:srgbClr>
            </a:outerShdw>
          </a:effectLst>
        </p:spPr>
      </p:sp>
      <p:sp>
        <p:nvSpPr>
          <p:cNvPr id="22" name="anim4-565"/>
          <p:cNvSpPr txBox="1"/>
          <p:nvPr/>
        </p:nvSpPr>
        <p:spPr>
          <a:xfrm>
            <a:off x="6355080" y="4434840"/>
            <a:ext cx="5120640" cy="1417320"/>
          </a:xfrm>
          <a:prstGeom prst="rect">
            <a:avLst/>
          </a:prstGeom>
          <a:noFill/>
          <a:ln/>
        </p:spPr>
        <p:txBody>
          <a:bodyPr wrap="square" rtlCol="0" anchor="ctr"/>
          <a:lstStyle/>
          <a:p>
            <a:pPr indent="0" marL="0">
              <a:buNone/>
            </a:pPr>
            <a:r>
              <a:rPr lang="en-US" sz="2000" b="1" dirty="0">
                <a:solidFill>
                  <a:schemeClr val="tx2"/>
                </a:solidFill>
              </a:rPr>
              <a:t>À partir du 4ᵉ mois : 100 000 FCFA</a:t>
            </a:r>
            <a:endParaRPr lang="en-US" sz="1500" dirty="0"/>
          </a:p>
          <a:p>
            <a:pPr indent="0" marL="0">
              <a:buNone/>
            </a:pPr>
            <a:r>
              <a:rPr lang="en-US" sz="1500" dirty="0">
                <a:solidFill>
                  <a:schemeClr val="accent5"/>
                </a:solidFill>
              </a:rPr>
              <a:t>réglés chaque mois</a:t>
            </a:r>
            <a:endParaRPr lang="en-US" sz="1500" dirty="0"/>
          </a:p>
        </p:txBody>
      </p:sp>
      <p:sp>
        <p:nvSpPr>
          <p:cNvPr id="25" name="Slide Number Placeholder 0"/>
          <p:cNvSpPr>
            <a:spLocks noGrp="1"/>
          </p:cNvSpPr>
          <p:nvPr>
            <p:ph type="sldNum" sz="quarter" idx="4294967295"/>
          </p:nvPr>
        </p:nvSpPr>
        <p:spPr>
          <a:xfrm>
            <a:off x="112014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1" fill="hold">
                      <p:stCondLst>
                        <p:cond delay="indefinite"/>
                        <p:cond evt="onBegin" delay="0">
                          <p:tn val="2"/>
                        </p:cond>
                      </p:stCondLst>
                      <p:childTnLst>
                        <p:par>
                          <p:cTn id="52" fill="hold">
                            <p:stCondLst>
                              <p:cond delay="0"/>
                            </p:stCondLst>
                            <p:childTnLst>
                              <p:par>
                                <p:cTn id="3" presetID="10" presetClass="entr" presetSubtype="0" fill="hold" nodeType="with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500"/>
                                        <p:tgtEl>
                                          <p:spTgt spid="7"/>
                                        </p:tgtEl>
                                      </p:cBhvr>
                                    </p:animEffect>
                                  </p:childTnLst>
                                </p:cTn>
                              </p:par>
                              <p:par>
                                <p:cTn id="6" presetID="10" presetClass="entr" presetSubtype="0" fill="hold"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500"/>
                                        <p:tgtEl>
                                          <p:spTgt spid="8"/>
                                        </p:tgtEl>
                                      </p:cBhvr>
                                    </p:animEffect>
                                  </p:childTnLst>
                                </p:cTn>
                              </p:par>
                              <p:par>
                                <p:cTn id="9" presetID="10"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25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00"/>
                                        <p:tgtEl>
                                          <p:spTgt spid="12"/>
                                        </p:tgtEl>
                                      </p:cBhvr>
                                    </p:animEffect>
                                  </p:childTnLst>
                                </p:cTn>
                              </p:par>
                              <p:par>
                                <p:cTn id="21" presetID="10" presetClass="entr" presetSubtype="0" fill="hold" nodeType="withEffect">
                                  <p:stCondLst>
                                    <p:cond delay="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nodeType="withEffect">
                                  <p:stCondLst>
                                    <p:cond delay="25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par>
                                <p:cTn id="27" presetID="10" presetClass="entr" presetSubtype="0" fill="hold" nodeType="withEffect">
                                  <p:stCondLst>
                                    <p:cond delay="2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nodeType="withEffect">
                                  <p:stCondLst>
                                    <p:cond delay="25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par>
                                <p:cTn id="33" presetID="10" presetClass="entr" presetSubtype="0" fill="hold" nodeType="withEffect">
                                  <p:stCondLst>
                                    <p:cond delay="50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par>
                                <p:cTn id="36" presetID="10" presetClass="entr" presetSubtype="0" fill="hold" nodeType="withEffect">
                                  <p:stCondLst>
                                    <p:cond delay="50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500"/>
                                        <p:tgtEl>
                                          <p:spTgt spid="18"/>
                                        </p:tgtEl>
                                      </p:cBhvr>
                                    </p:animEffect>
                                  </p:childTnLst>
                                </p:cTn>
                              </p:par>
                              <p:par>
                                <p:cTn id="39" presetID="10" presetClass="entr" presetSubtype="0" fill="hold" nodeType="withEffect">
                                  <p:stCondLst>
                                    <p:cond delay="50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75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75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500"/>
                                        <p:tgtEl>
                                          <p:spTgt spid="21"/>
                                        </p:tgtEl>
                                      </p:cBhvr>
                                    </p:animEffect>
                                  </p:childTnLst>
                                </p:cTn>
                              </p:par>
                              <p:par>
                                <p:cTn id="48" presetID="10" presetClass="entr" presetSubtype="0" fill="hold" nodeType="withEffect">
                                  <p:stCondLst>
                                    <p:cond delay="75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animBg="1"/>
      <p:bldP spid="16" grpId="0" animBg="1"/>
      <p:bldP spid="17" grpId="0" animBg="1"/>
      <p:bldP spid="19" grpId="0" animBg="1"/>
      <p:bldP spid="22" grpId="0" animBg="1"/>
    </p:bldLst>
  </p:timing>
</p:sld>
</file>

<file path=ppt/theme/theme1.xml><?xml version="1.0" encoding="utf-8"?>
<a:theme xmlns:a="http://schemas.openxmlformats.org/drawingml/2006/main" name="DTI">
  <a:themeElements>
    <a:clrScheme name="DTI">
      <a:dk1>
        <a:srgbClr val="1B2430"/>
      </a:dk1>
      <a:lt1>
        <a:srgbClr val="FFFFFF"/>
      </a:lt1>
      <a:dk2>
        <a:srgbClr val="1E2340"/>
      </a:dk2>
      <a:lt2>
        <a:srgbClr val="EEF2FA"/>
      </a:lt2>
      <a:accent1>
        <a:srgbClr val="3B5BA9"/>
      </a:accent1>
      <a:accent2>
        <a:srgbClr val="A9BCEB"/>
      </a:accent2>
      <a:accent3>
        <a:srgbClr val="3F8A6A"/>
      </a:accent3>
      <a:accent4>
        <a:srgbClr val="C60007"/>
      </a:accent4>
      <a:accent5>
        <a:srgbClr val="6B7584"/>
      </a:accent5>
      <a:accent6>
        <a:srgbClr val="E1E6F0"/>
      </a:accent6>
      <a:hlink>
        <a:srgbClr val="3B5BA9"/>
      </a:hlink>
      <a:folHlink>
        <a:srgbClr val="6B7584"/>
      </a:folHlink>
    </a:clrScheme>
    <a:fontScheme name="DT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Division Terrestre Internationale</dc:title>
  <dc:subject>PptxGenJS Presentation</dc:subject>
  <dc:creator>PptxGenJS</dc:creator>
  <cp:lastModifiedBy>PptxGenJS</cp:lastModifiedBy>
  <cp:revision>1</cp:revision>
  <dcterms:created xsi:type="dcterms:W3CDTF">2026-10-30T03:08:04Z</dcterms:created>
  <dcterms:modified xsi:type="dcterms:W3CDTF">2026-10-30T03:08:04Z</dcterms:modified>
</cp:coreProperties>
</file>