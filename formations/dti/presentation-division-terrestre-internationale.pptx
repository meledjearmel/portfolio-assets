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702b781-1094-ca2d-2752-e488e8dd66ae}">
          <p14:sldIdLst>
            <p14:sldId id="256"/>
            <p14:sldId id="257"/>
            <p14:sldId id="258"/>
          </p14:sldIdLst>
        </p14:section>
        <p14:section name="Pilotage" id="{c16afa55-aae1-1ffa-4295-74463925cb9f}">
          <p14:sldIdLst>
            <p14:sldId id="259"/>
          </p14:sldIdLst>
        </p14:section>
        <p14:section name="Flotte" id="{ac58d9ea-9764-101f-928d-a03619bcaa12}">
          <p14:sldIdLst>
            <p14:sldId id="260"/>
            <p14:sldId id="261"/>
            <p14:sldId id="262"/>
          </p14:sldIdLst>
        </p14:section>
        <p14:section name="Activité commerciale" id="{96004e43-4de7-2bd1-ca94-147097cb88fd}">
          <p14:sldIdLst>
            <p14:sldId id="263"/>
          </p14:sldIdLst>
        </p14:section>
        <p14:section name="Exploitation" id="{1a8d350e-b91c-1f3a-55ae-939cfd7db614}">
          <p14:sldIdLst>
            <p14:sldId id="264"/>
            <p14:sldId id="265"/>
          </p14:sldIdLst>
        </p14:section>
        <p14:section name="Finances et pilotage" id="{c07681cf-034b-76ac-0b8b-dff78dd90f78}">
          <p14:sldIdLst>
            <p14:sldId id="266"/>
            <p14:sldId id="267"/>
          </p14:sldIdLst>
        </p14:section>
        <p14:section name="Administration" id="{551e5c01-124e-90a1-81e0-6056242d820a}">
          <p14:sldIdLst>
            <p14:sldId id="268"/>
            <p14:sldId id="269"/>
          </p14:sldIdLst>
        </p14:section>
        <p14:section name="Conclusion" id="{32c2d5e4-fbfb-4b02-347e-243215cbedd7}">
          <p14:sldIdLst>
            <p14:sldId id="270"/>
            <p14:sldId id="271"/>
            <p14:sldId id="272"/>
          </p14:sldIdLst>
        </p14:section>
        <p14:section name="Réserve" id="{65fbfcd9-21dd-17be-f6f1-bb41ac82a2ec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Accueillir les participants (agents et direction). Annoncer le déroulé : présentation du logiciel (ce qu'il sait faire, ses modules, comment et pourquoi l'utiliser), puis démonstration en direct d'un petit circuit de travail, puis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Partir du quotidien des participants : demander comment ils savent aujourd'hui quel camion est disponible, quand expire une assurance, ou combien a coûté un véhicule le mois dernier. Le logiciel répond à ces trois besoins : centraliser, alerter, chiffrer.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la carte du logiciel : 18 modules dans le menu latéral, regroupés ici en 6 familles pour faciliter la lecture. Les libellés restent en anglais dans l'application : on les garde tels quels pour que chacun s'y retrouve à l'écran. Chaque famille est détaillée dans les diapositives suivantes.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le tableau de bord en direct pendant la démonstration. Insister sur le calendrier Availability : c'est le premier réflexe avant de planifier un trajet.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Points à montrer : la colonne des dates d'expiration en rouge, l'import en masse (Bulk Import), et les boutons d'export présents sur toutes les listes du logiciel.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Faire le lien avec la sécurité et la conformité : un permis expiré est affiché en rouge dans la liste. Les fournisseurs de véhicules (Vehicle Vendor's) concernent les véhicules loués à des partenaires.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Préciser que le suivi GPS nécessite un boîtier GPS relié à chaque véhicule (synchronisation Traccar, visible sur le tableau de bord). Montrer la carte de l'historique si un véhicule est équipé.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 sur la souplesse de facturation (encart en bas). La réservation peut être envoyée au client par e-mail ou SMS. Ce module servira de point de départ à la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qu'un entretien consomme des pièces du stock et peut notifier des membres de l'équipe. Les rappels apparaissent aussi sur le tableau de bord.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compteur kilométrique saisi à chaque plein permet de comparer consommation et distance. Le rapport Fuel du module Reports reprend ces données.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la liste des transactions filtrée par période, avec le total des débits et des crédits. Les catégories sont personnalisables : à définir avec la direction financière.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la direction : les rapports Top véhicules et Top itinéraires montrent où l'entreprise gagne et perd de l'argent. Pour les agents : les rapports remplacent les synthèses faites à la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droits se règlent finement, module par module et action par action. Les profils (exploitation, finance, direction…) seront définis avec l'organisation avant la mise en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paramètres sont réservés à l'administrateur. Mentionner aussi la configuration de la carte (MAP API) et du GPS (Traccar Config).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Synthèse orientée bénéfices, avant la démonstration. Laisser la direction et les agents réagir : quel bénéfice compte le plus pour eux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DÉROULÉ : 1) créer un client fictif ; 2) créer un trajet pour ce client avec un véhicule et un chauffeur, choisir un mode de facturation ; 3) enregistrer un plein pour ce véhicule ; 4) enregistrer la transaction de revenu du trajet (catégorie Trip Income) ; 5) revenir au tableau de bord et générer un rapport sur la période. Utiliser uniquement des données de test, et les supprimer après la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Recueillir les questions et les besoins : modules prioritaires, profils de droits à créer, données à importer (véhicules, chauffeurs), formation des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DIAPOSITIVE MASQUÉE : elle ne s'affiche pas pendant le diaporama. Pour l'afficher si la direction pose la question, taper 18 puis Entrée pendant le diaporama. Ne présenter que ces montants, sans autres frais.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1E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Division Terrestre Internationale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417320" y="365760"/>
            <a:ext cx="102412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slideLayout" Target="../slideLayouts/slideLayout3.xml"/><Relationship Id="rId1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slideLayout" Target="../slideLayouts/slideLayout3.xml"/><Relationship Id="rId1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822960"/>
            <a:ext cx="6035040" cy="60350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4480560"/>
            <a:ext cx="3291840" cy="3291840"/>
          </a:xfrm>
          <a:prstGeom prst="ellipse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alpha val="70000"/>
              </a:schemeClr>
            </a:solidFill>
            <a:prstDash val="solid"/>
          </a:ln>
        </p:spPr>
      </p:sp>
      <p:pic>
        <p:nvPicPr>
          <p:cNvPr id="4" name="anim1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914400"/>
            <a:ext cx="3291840" cy="3291840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0" type="title" hasCustomPrompt="1"/>
          </p:nvPr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Division Terrestre Internationale</a:t>
            </a:r>
            <a:endParaRPr lang="en-US" sz="4000" dirty="0"/>
          </a:p>
        </p:txBody>
      </p:sp>
      <p:sp>
        <p:nvSpPr>
          <p:cNvPr id="6" name="anim2-2"/>
          <p:cNvSpPr txBox="1"/>
          <p:nvPr/>
        </p:nvSpPr>
        <p:spPr>
          <a:xfrm>
            <a:off x="731520" y="3703320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Le logiciel de gestion de la flotte, des chauffeurs, des trajets et des finances</a:t>
            </a:r>
            <a:endParaRPr lang="en-US" sz="2000" dirty="0"/>
          </a:p>
        </p:txBody>
      </p:sp>
      <p:sp>
        <p:nvSpPr>
          <p:cNvPr id="7" name="anim3-3"/>
          <p:cNvSpPr txBox="1"/>
          <p:nvPr/>
        </p:nvSpPr>
        <p:spPr>
          <a:xfrm>
            <a:off x="731520" y="512064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Présentation : [à compléter]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Date : [à compléter]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417320" y="36576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Pourquoi ce logiciel 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566928"/>
            <a:ext cx="329184" cy="329184"/>
          </a:xfrm>
          <a:prstGeom prst="rect">
            <a:avLst/>
          </a:prstGeom>
        </p:spPr>
      </p:pic>
      <p:sp>
        <p:nvSpPr>
          <p:cNvPr id="5" name="anim1-4"/>
          <p:cNvSpPr txBox="1"/>
          <p:nvPr/>
        </p:nvSpPr>
        <p:spPr>
          <a:xfrm>
            <a:off x="548640" y="132588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Aujourd'hui</a:t>
            </a:r>
            <a:endParaRPr lang="en-US" sz="2000" dirty="0"/>
          </a:p>
        </p:txBody>
      </p:sp>
      <p:sp>
        <p:nvSpPr>
          <p:cNvPr id="6" name="anim2-5"/>
          <p:cNvSpPr/>
          <p:nvPr/>
        </p:nvSpPr>
        <p:spPr>
          <a:xfrm>
            <a:off x="548640" y="1874520"/>
            <a:ext cx="512064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anim2-6"/>
          <p:cNvSpPr/>
          <p:nvPr/>
        </p:nvSpPr>
        <p:spPr>
          <a:xfrm>
            <a:off x="731520" y="2057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anim2-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2183130"/>
            <a:ext cx="251460" cy="251460"/>
          </a:xfrm>
          <a:prstGeom prst="rect">
            <a:avLst/>
          </a:prstGeom>
        </p:spPr>
      </p:pic>
      <p:sp>
        <p:nvSpPr>
          <p:cNvPr id="9" name="anim2-8"/>
          <p:cNvSpPr txBox="1"/>
          <p:nvPr/>
        </p:nvSpPr>
        <p:spPr>
          <a:xfrm>
            <a:off x="1371600" y="1984248"/>
            <a:ext cx="41605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Informations dispersées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Cahiers, tableurs, appels : difficile de savoir où est un camion et qui le conduit.</a:t>
            </a:r>
            <a:endParaRPr lang="en-US" sz="1500" dirty="0"/>
          </a:p>
        </p:txBody>
      </p:sp>
      <p:sp>
        <p:nvSpPr>
          <p:cNvPr id="10" name="anim3-9"/>
          <p:cNvSpPr/>
          <p:nvPr/>
        </p:nvSpPr>
        <p:spPr>
          <a:xfrm>
            <a:off x="548640" y="3337560"/>
            <a:ext cx="512064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anim3-10"/>
          <p:cNvSpPr/>
          <p:nvPr/>
        </p:nvSpPr>
        <p:spPr>
          <a:xfrm>
            <a:off x="731520" y="3520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anim3-1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3646170"/>
            <a:ext cx="251460" cy="251460"/>
          </a:xfrm>
          <a:prstGeom prst="rect">
            <a:avLst/>
          </a:prstGeom>
        </p:spPr>
      </p:pic>
      <p:sp>
        <p:nvSpPr>
          <p:cNvPr id="13" name="anim3-12"/>
          <p:cNvSpPr txBox="1"/>
          <p:nvPr/>
        </p:nvSpPr>
        <p:spPr>
          <a:xfrm>
            <a:off x="1371600" y="3447288"/>
            <a:ext cx="41605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Échéances oubliées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Assurances, immatriculations et permis expirés découverts trop tard.</a:t>
            </a:r>
            <a:endParaRPr lang="en-US" sz="1500" dirty="0"/>
          </a:p>
        </p:txBody>
      </p:sp>
      <p:sp>
        <p:nvSpPr>
          <p:cNvPr id="14" name="anim4-13"/>
          <p:cNvSpPr/>
          <p:nvPr/>
        </p:nvSpPr>
        <p:spPr>
          <a:xfrm>
            <a:off x="548640" y="4800600"/>
            <a:ext cx="512064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anim4-14"/>
          <p:cNvSpPr/>
          <p:nvPr/>
        </p:nvSpPr>
        <p:spPr>
          <a:xfrm>
            <a:off x="73152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anim4-1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5109210"/>
            <a:ext cx="251460" cy="251460"/>
          </a:xfrm>
          <a:prstGeom prst="rect">
            <a:avLst/>
          </a:prstGeom>
        </p:spPr>
      </p:pic>
      <p:sp>
        <p:nvSpPr>
          <p:cNvPr id="17" name="anim4-16"/>
          <p:cNvSpPr txBox="1"/>
          <p:nvPr/>
        </p:nvSpPr>
        <p:spPr>
          <a:xfrm>
            <a:off x="1371600" y="4910328"/>
            <a:ext cx="41605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Coûts mal suivis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Carburant, entretien et pièces difficiles à rattacher à chaque véhicule.</a:t>
            </a:r>
            <a:endParaRPr lang="en-US" sz="1500" dirty="0"/>
          </a:p>
        </p:txBody>
      </p:sp>
      <p:sp>
        <p:nvSpPr>
          <p:cNvPr id="18" name="anim5-17"/>
          <p:cNvSpPr/>
          <p:nvPr/>
        </p:nvSpPr>
        <p:spPr>
          <a:xfrm>
            <a:off x="5852160" y="3520440"/>
            <a:ext cx="548640" cy="54864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anim6-18"/>
          <p:cNvSpPr txBox="1"/>
          <p:nvPr/>
        </p:nvSpPr>
        <p:spPr>
          <a:xfrm>
            <a:off x="6583680" y="132588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Avec Division Terrestre Internationale</a:t>
            </a:r>
            <a:endParaRPr lang="en-US" sz="2000" dirty="0"/>
          </a:p>
        </p:txBody>
      </p:sp>
      <p:sp>
        <p:nvSpPr>
          <p:cNvPr id="20" name="anim7-19"/>
          <p:cNvSpPr/>
          <p:nvPr/>
        </p:nvSpPr>
        <p:spPr>
          <a:xfrm>
            <a:off x="6583680" y="1874520"/>
            <a:ext cx="50749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nim7-20"/>
          <p:cNvSpPr/>
          <p:nvPr/>
        </p:nvSpPr>
        <p:spPr>
          <a:xfrm>
            <a:off x="6766560" y="2057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anim7-2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2290" y="2183130"/>
            <a:ext cx="251460" cy="251460"/>
          </a:xfrm>
          <a:prstGeom prst="rect">
            <a:avLst/>
          </a:prstGeom>
        </p:spPr>
      </p:pic>
      <p:sp>
        <p:nvSpPr>
          <p:cNvPr id="23" name="anim7-22"/>
          <p:cNvSpPr txBox="1"/>
          <p:nvPr/>
        </p:nvSpPr>
        <p:spPr>
          <a:xfrm>
            <a:off x="7406640" y="1984248"/>
            <a:ext cx="411480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Tout au même endroit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Véhicules, chauffeurs, trajets, clients, carburant, entretien et finances.</a:t>
            </a:r>
            <a:endParaRPr lang="en-US" sz="1500" dirty="0"/>
          </a:p>
        </p:txBody>
      </p:sp>
      <p:sp>
        <p:nvSpPr>
          <p:cNvPr id="24" name="anim8-23"/>
          <p:cNvSpPr/>
          <p:nvPr/>
        </p:nvSpPr>
        <p:spPr>
          <a:xfrm>
            <a:off x="6583680" y="3337560"/>
            <a:ext cx="50749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anim8-24"/>
          <p:cNvSpPr/>
          <p:nvPr/>
        </p:nvSpPr>
        <p:spPr>
          <a:xfrm>
            <a:off x="6766560" y="3520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anim8-2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2290" y="3646170"/>
            <a:ext cx="251460" cy="251460"/>
          </a:xfrm>
          <a:prstGeom prst="rect">
            <a:avLst/>
          </a:prstGeom>
        </p:spPr>
      </p:pic>
      <p:sp>
        <p:nvSpPr>
          <p:cNvPr id="27" name="anim8-26"/>
          <p:cNvSpPr txBox="1"/>
          <p:nvPr/>
        </p:nvSpPr>
        <p:spPr>
          <a:xfrm>
            <a:off x="7406640" y="3447288"/>
            <a:ext cx="411480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Alertes et rappels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Documents expirés signalés, rappels d'entretien, tableau de bord du jour.</a:t>
            </a:r>
            <a:endParaRPr lang="en-US" sz="1500" dirty="0"/>
          </a:p>
        </p:txBody>
      </p:sp>
      <p:sp>
        <p:nvSpPr>
          <p:cNvPr id="28" name="anim9-27"/>
          <p:cNvSpPr/>
          <p:nvPr/>
        </p:nvSpPr>
        <p:spPr>
          <a:xfrm>
            <a:off x="6583680" y="4800600"/>
            <a:ext cx="50749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anim9-28"/>
          <p:cNvSpPr/>
          <p:nvPr/>
        </p:nvSpPr>
        <p:spPr>
          <a:xfrm>
            <a:off x="676656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anim9-29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2290" y="5109210"/>
            <a:ext cx="251460" cy="251460"/>
          </a:xfrm>
          <a:prstGeom prst="rect">
            <a:avLst/>
          </a:prstGeom>
        </p:spPr>
      </p:pic>
      <p:sp>
        <p:nvSpPr>
          <p:cNvPr id="31" name="anim9-30"/>
          <p:cNvSpPr txBox="1"/>
          <p:nvPr/>
        </p:nvSpPr>
        <p:spPr>
          <a:xfrm>
            <a:off x="7406640" y="4910328"/>
            <a:ext cx="411480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Décisions chiffrées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Revenus, dépenses et rapports par véhicule, chauffeur ou itinéraire.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3" grpId="0" animBg="1"/>
      <p:bldP spid="17" grpId="0" animBg="1"/>
      <p:bldP spid="19" grpId="0" animBg="1"/>
      <p:bldP spid="23" grpId="0" animBg="1"/>
      <p:bldP spid="27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417320" y="36576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18 modules, 6 grandes familles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566928"/>
            <a:ext cx="329184" cy="329184"/>
          </a:xfrm>
          <a:prstGeom prst="rect">
            <a:avLst/>
          </a:prstGeom>
        </p:spPr>
      </p:pic>
      <p:sp>
        <p:nvSpPr>
          <p:cNvPr id="5" name="anim1-31"/>
          <p:cNvSpPr/>
          <p:nvPr/>
        </p:nvSpPr>
        <p:spPr>
          <a:xfrm>
            <a:off x="548640" y="2240280"/>
            <a:ext cx="2468880" cy="24688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anim1-32"/>
          <p:cNvSpPr txBox="1"/>
          <p:nvPr/>
        </p:nvSpPr>
        <p:spPr>
          <a:xfrm>
            <a:off x="548640" y="2240280"/>
            <a:ext cx="24688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chemeClr val="bg1"/>
                </a:solidFill>
              </a:rPr>
              <a:t>18</a:t>
            </a:r>
            <a:endParaRPr lang="en-US" sz="15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modules</a:t>
            </a:r>
            <a:endParaRPr lang="en-US" sz="1500" dirty="0"/>
          </a:p>
        </p:txBody>
      </p:sp>
      <p:sp>
        <p:nvSpPr>
          <p:cNvPr id="7" name="anim2-33"/>
          <p:cNvSpPr/>
          <p:nvPr/>
        </p:nvSpPr>
        <p:spPr>
          <a:xfrm>
            <a:off x="34290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anim2-34"/>
          <p:cNvSpPr/>
          <p:nvPr/>
        </p:nvSpPr>
        <p:spPr>
          <a:xfrm>
            <a:off x="361188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anim2-3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7610" y="1680210"/>
            <a:ext cx="251460" cy="251460"/>
          </a:xfrm>
          <a:prstGeom prst="rect">
            <a:avLst/>
          </a:prstGeom>
        </p:spPr>
      </p:pic>
      <p:sp>
        <p:nvSpPr>
          <p:cNvPr id="10" name="anim2-36"/>
          <p:cNvSpPr txBox="1"/>
          <p:nvPr/>
        </p:nvSpPr>
        <p:spPr>
          <a:xfrm>
            <a:off x="4251960" y="1481328"/>
            <a:ext cx="301752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Pilotage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Dashboard · Availability · Reports</a:t>
            </a:r>
            <a:endParaRPr lang="en-US" sz="1500" dirty="0"/>
          </a:p>
        </p:txBody>
      </p:sp>
      <p:sp>
        <p:nvSpPr>
          <p:cNvPr id="11" name="anim3-37"/>
          <p:cNvSpPr/>
          <p:nvPr/>
        </p:nvSpPr>
        <p:spPr>
          <a:xfrm>
            <a:off x="758952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nim3-38"/>
          <p:cNvSpPr/>
          <p:nvPr/>
        </p:nvSpPr>
        <p:spPr>
          <a:xfrm>
            <a:off x="777240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anim3-3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130" y="1680210"/>
            <a:ext cx="251460" cy="251460"/>
          </a:xfrm>
          <a:prstGeom prst="rect">
            <a:avLst/>
          </a:prstGeom>
        </p:spPr>
      </p:pic>
      <p:sp>
        <p:nvSpPr>
          <p:cNvPr id="14" name="anim3-40"/>
          <p:cNvSpPr txBox="1"/>
          <p:nvPr/>
        </p:nvSpPr>
        <p:spPr>
          <a:xfrm>
            <a:off x="8412480" y="1481328"/>
            <a:ext cx="301752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Flotte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Vehicle's · Vehicle Vendor's · Tracking · Geofence</a:t>
            </a:r>
            <a:endParaRPr lang="en-US" sz="1500" dirty="0"/>
          </a:p>
        </p:txBody>
      </p:sp>
      <p:sp>
        <p:nvSpPr>
          <p:cNvPr id="15" name="anim4-41"/>
          <p:cNvSpPr/>
          <p:nvPr/>
        </p:nvSpPr>
        <p:spPr>
          <a:xfrm>
            <a:off x="3429000" y="3017520"/>
            <a:ext cx="397764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anim4-42"/>
          <p:cNvSpPr/>
          <p:nvPr/>
        </p:nvSpPr>
        <p:spPr>
          <a:xfrm>
            <a:off x="3611880" y="3200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anim4-4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7610" y="3326130"/>
            <a:ext cx="251460" cy="251460"/>
          </a:xfrm>
          <a:prstGeom prst="rect">
            <a:avLst/>
          </a:prstGeom>
        </p:spPr>
      </p:pic>
      <p:sp>
        <p:nvSpPr>
          <p:cNvPr id="18" name="anim4-44"/>
          <p:cNvSpPr txBox="1"/>
          <p:nvPr/>
        </p:nvSpPr>
        <p:spPr>
          <a:xfrm>
            <a:off x="4251960" y="3127248"/>
            <a:ext cx="301752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Personnes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Driver's · Employee</a:t>
            </a:r>
            <a:endParaRPr lang="en-US" sz="1500" dirty="0"/>
          </a:p>
        </p:txBody>
      </p:sp>
      <p:sp>
        <p:nvSpPr>
          <p:cNvPr id="19" name="anim5-45"/>
          <p:cNvSpPr/>
          <p:nvPr/>
        </p:nvSpPr>
        <p:spPr>
          <a:xfrm>
            <a:off x="7589520" y="3017520"/>
            <a:ext cx="397764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anim5-46"/>
          <p:cNvSpPr/>
          <p:nvPr/>
        </p:nvSpPr>
        <p:spPr>
          <a:xfrm>
            <a:off x="7772400" y="3200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anim5-4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98130" y="3326130"/>
            <a:ext cx="251460" cy="251460"/>
          </a:xfrm>
          <a:prstGeom prst="rect">
            <a:avLst/>
          </a:prstGeom>
        </p:spPr>
      </p:pic>
      <p:sp>
        <p:nvSpPr>
          <p:cNvPr id="22" name="anim5-48"/>
          <p:cNvSpPr txBox="1"/>
          <p:nvPr/>
        </p:nvSpPr>
        <p:spPr>
          <a:xfrm>
            <a:off x="8412480" y="3127248"/>
            <a:ext cx="301752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Activité commerciale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Trips · Customer · Coupon Management</a:t>
            </a:r>
            <a:endParaRPr lang="en-US" sz="1500" dirty="0"/>
          </a:p>
        </p:txBody>
      </p:sp>
      <p:sp>
        <p:nvSpPr>
          <p:cNvPr id="23" name="anim6-49"/>
          <p:cNvSpPr/>
          <p:nvPr/>
        </p:nvSpPr>
        <p:spPr>
          <a:xfrm>
            <a:off x="3429000" y="4663440"/>
            <a:ext cx="397764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anim6-50"/>
          <p:cNvSpPr/>
          <p:nvPr/>
        </p:nvSpPr>
        <p:spPr>
          <a:xfrm>
            <a:off x="3611880" y="48463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anim6-5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7610" y="4972050"/>
            <a:ext cx="251460" cy="251460"/>
          </a:xfrm>
          <a:prstGeom prst="rect">
            <a:avLst/>
          </a:prstGeom>
        </p:spPr>
      </p:pic>
      <p:sp>
        <p:nvSpPr>
          <p:cNvPr id="26" name="anim6-52"/>
          <p:cNvSpPr txBox="1"/>
          <p:nvPr/>
        </p:nvSpPr>
        <p:spPr>
          <a:xfrm>
            <a:off x="4251960" y="4773168"/>
            <a:ext cx="301752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Exploitation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Maintenance · Parts Stock · Fuel · Reminder</a:t>
            </a:r>
            <a:endParaRPr lang="en-US" sz="1500" dirty="0"/>
          </a:p>
        </p:txBody>
      </p:sp>
      <p:sp>
        <p:nvSpPr>
          <p:cNvPr id="27" name="anim7-53"/>
          <p:cNvSpPr/>
          <p:nvPr/>
        </p:nvSpPr>
        <p:spPr>
          <a:xfrm>
            <a:off x="7589520" y="4663440"/>
            <a:ext cx="397764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anim7-54"/>
          <p:cNvSpPr/>
          <p:nvPr/>
        </p:nvSpPr>
        <p:spPr>
          <a:xfrm>
            <a:off x="7772400" y="48463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anim7-5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98130" y="4972050"/>
            <a:ext cx="251460" cy="251460"/>
          </a:xfrm>
          <a:prstGeom prst="rect">
            <a:avLst/>
          </a:prstGeom>
        </p:spPr>
      </p:pic>
      <p:sp>
        <p:nvSpPr>
          <p:cNvPr id="30" name="anim7-56"/>
          <p:cNvSpPr txBox="1"/>
          <p:nvPr/>
        </p:nvSpPr>
        <p:spPr>
          <a:xfrm>
            <a:off x="8412480" y="4773168"/>
            <a:ext cx="301752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Finances et système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Accounts · Setting's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  <p:bldP spid="14" grpId="0" animBg="1"/>
      <p:bldP spid="18" grpId="0" animBg="1"/>
      <p:bldP spid="22" grpId="0" animBg="1"/>
      <p:bldP spid="26" grpId="0" animBg="1"/>
      <p:bldP spid="3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417320" y="36576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Le tableau de bord : la journée en un coup d'œil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566928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280160"/>
            <a:ext cx="768096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28016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Dashboard · Availability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83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2"/>
                </a:solidFill>
              </a:rPr>
              <a:t>Dès la connexion, l'essentiel de l'activité est affiché.</a:t>
            </a:r>
            <a:endParaRPr lang="en-US" sz="1700" dirty="0"/>
          </a:p>
        </p:txBody>
      </p:sp>
      <p:sp>
        <p:nvSpPr>
          <p:cNvPr id="8" name="anim1-57"/>
          <p:cNvSpPr/>
          <p:nvPr/>
        </p:nvSpPr>
        <p:spPr>
          <a:xfrm>
            <a:off x="548640" y="242316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nim1-58"/>
          <p:cNvSpPr/>
          <p:nvPr/>
        </p:nvSpPr>
        <p:spPr>
          <a:xfrm>
            <a:off x="731520" y="2606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anim1-5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2731770"/>
            <a:ext cx="251460" cy="251460"/>
          </a:xfrm>
          <a:prstGeom prst="rect">
            <a:avLst/>
          </a:prstGeom>
        </p:spPr>
      </p:pic>
      <p:sp>
        <p:nvSpPr>
          <p:cNvPr id="11" name="anim1-60"/>
          <p:cNvSpPr txBox="1"/>
          <p:nvPr/>
        </p:nvSpPr>
        <p:spPr>
          <a:xfrm>
            <a:off x="1371600" y="253288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Compteurs et transactions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Véhicules, chauffeurs, clients, trajets du jour ; revenus et dépenses.</a:t>
            </a:r>
            <a:endParaRPr lang="en-US" sz="1500" dirty="0"/>
          </a:p>
        </p:txBody>
      </p:sp>
      <p:sp>
        <p:nvSpPr>
          <p:cNvPr id="12" name="anim2-61"/>
          <p:cNvSpPr/>
          <p:nvPr/>
        </p:nvSpPr>
        <p:spPr>
          <a:xfrm>
            <a:off x="4480560" y="242316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anim2-62"/>
          <p:cNvSpPr/>
          <p:nvPr/>
        </p:nvSpPr>
        <p:spPr>
          <a:xfrm>
            <a:off x="4663440" y="2606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anim2-6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170" y="2731770"/>
            <a:ext cx="251460" cy="251460"/>
          </a:xfrm>
          <a:prstGeom prst="rect">
            <a:avLst/>
          </a:prstGeom>
        </p:spPr>
      </p:pic>
      <p:sp>
        <p:nvSpPr>
          <p:cNvPr id="15" name="anim2-64"/>
          <p:cNvSpPr txBox="1"/>
          <p:nvPr/>
        </p:nvSpPr>
        <p:spPr>
          <a:xfrm>
            <a:off x="5303520" y="253288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Statut de la flotte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Véhicules disponibles ou en trajet, et leur position actuelle.</a:t>
            </a:r>
            <a:endParaRPr lang="en-US" sz="1500" dirty="0"/>
          </a:p>
        </p:txBody>
      </p:sp>
      <p:sp>
        <p:nvSpPr>
          <p:cNvPr id="16" name="anim3-65"/>
          <p:cNvSpPr/>
          <p:nvPr/>
        </p:nvSpPr>
        <p:spPr>
          <a:xfrm>
            <a:off x="548640" y="429768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anim3-66"/>
          <p:cNvSpPr/>
          <p:nvPr/>
        </p:nvSpPr>
        <p:spPr>
          <a:xfrm>
            <a:off x="73152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anim3-6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606290"/>
            <a:ext cx="251460" cy="251460"/>
          </a:xfrm>
          <a:prstGeom prst="rect">
            <a:avLst/>
          </a:prstGeom>
        </p:spPr>
      </p:pic>
      <p:sp>
        <p:nvSpPr>
          <p:cNvPr id="19" name="anim3-68"/>
          <p:cNvSpPr txBox="1"/>
          <p:nvPr/>
        </p:nvSpPr>
        <p:spPr>
          <a:xfrm>
            <a:off x="1371600" y="440740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Rappels et tops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Entretiens à prévoir, principaux revenus et dépenses.</a:t>
            </a:r>
            <a:endParaRPr lang="en-US" sz="1500" dirty="0"/>
          </a:p>
        </p:txBody>
      </p:sp>
      <p:sp>
        <p:nvSpPr>
          <p:cNvPr id="20" name="anim4-69"/>
          <p:cNvSpPr/>
          <p:nvPr/>
        </p:nvSpPr>
        <p:spPr>
          <a:xfrm>
            <a:off x="4480560" y="429768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nim4-70"/>
          <p:cNvSpPr/>
          <p:nvPr/>
        </p:nvSpPr>
        <p:spPr>
          <a:xfrm>
            <a:off x="466344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anim4-7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9170" y="4606290"/>
            <a:ext cx="251460" cy="251460"/>
          </a:xfrm>
          <a:prstGeom prst="rect">
            <a:avLst/>
          </a:prstGeom>
        </p:spPr>
      </p:pic>
      <p:sp>
        <p:nvSpPr>
          <p:cNvPr id="23" name="anim4-72"/>
          <p:cNvSpPr txBox="1"/>
          <p:nvPr/>
        </p:nvSpPr>
        <p:spPr>
          <a:xfrm>
            <a:off x="5303520" y="440740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Calendrier de disponibilité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Occupation des véhicules par mois, semaine ou jour.</a:t>
            </a:r>
            <a:endParaRPr lang="en-US" sz="1500" dirty="0"/>
          </a:p>
        </p:txBody>
      </p:sp>
      <p:sp>
        <p:nvSpPr>
          <p:cNvPr id="24" name="anim5-73"/>
          <p:cNvSpPr/>
          <p:nvPr/>
        </p:nvSpPr>
        <p:spPr>
          <a:xfrm>
            <a:off x="8549640" y="1280160"/>
            <a:ext cx="3108960" cy="4846320"/>
          </a:xfrm>
          <a:prstGeom prst="roundRect">
            <a:avLst>
              <a:gd name="adj" fmla="val 294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anim5-74"/>
          <p:cNvSpPr txBox="1"/>
          <p:nvPr/>
        </p:nvSpPr>
        <p:spPr>
          <a:xfrm>
            <a:off x="8778240" y="1463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6" name="anim6-7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194560"/>
            <a:ext cx="292608" cy="292608"/>
          </a:xfrm>
          <a:prstGeom prst="rect">
            <a:avLst/>
          </a:prstGeom>
        </p:spPr>
      </p:pic>
      <p:sp>
        <p:nvSpPr>
          <p:cNvPr id="27" name="anim6-76"/>
          <p:cNvSpPr txBox="1"/>
          <p:nvPr/>
        </p:nvSpPr>
        <p:spPr>
          <a:xfrm>
            <a:off x="9189720" y="21488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La direction voit l'activité sans demander de rapport</a:t>
            </a:r>
            <a:endParaRPr lang="en-US" sz="1400" dirty="0"/>
          </a:p>
        </p:txBody>
      </p:sp>
      <p:pic>
        <p:nvPicPr>
          <p:cNvPr id="28" name="anim7-7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383280"/>
            <a:ext cx="292608" cy="292608"/>
          </a:xfrm>
          <a:prstGeom prst="rect">
            <a:avLst/>
          </a:prstGeom>
        </p:spPr>
      </p:pic>
      <p:sp>
        <p:nvSpPr>
          <p:cNvPr id="29" name="anim7-78"/>
          <p:cNvSpPr txBox="1"/>
          <p:nvPr/>
        </p:nvSpPr>
        <p:spPr>
          <a:xfrm>
            <a:off x="9189720" y="333756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Les agents savent tout de suite quels véhicules sont libres</a:t>
            </a:r>
            <a:endParaRPr lang="en-US" sz="1400" dirty="0"/>
          </a:p>
        </p:txBody>
      </p:sp>
      <p:pic>
        <p:nvPicPr>
          <p:cNvPr id="30" name="anim8-79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572000"/>
            <a:ext cx="292608" cy="292608"/>
          </a:xfrm>
          <a:prstGeom prst="rect">
            <a:avLst/>
          </a:prstGeom>
        </p:spPr>
      </p:pic>
      <p:sp>
        <p:nvSpPr>
          <p:cNvPr id="31" name="anim8-80"/>
          <p:cNvSpPr txBox="1"/>
          <p:nvPr/>
        </p:nvSpPr>
        <p:spPr>
          <a:xfrm>
            <a:off x="9189720" y="4526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Les urgences sont visibles dès l'ouverture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  <p:bldP spid="19" grpId="0" animBg="1"/>
      <p:bldP spid="23" grpId="0" animBg="1"/>
      <p:bldP spid="25" grpId="0" animBg="1"/>
      <p:bldP spid="27" grpId="0" animBg="1"/>
      <p:bldP spid="29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417320" y="36576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Gérer les véhicules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566928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280160"/>
            <a:ext cx="768096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28016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Vehicle's › Vehicle List · Add Vehicle · Vehicle Group · Route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83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2"/>
                </a:solidFill>
              </a:rPr>
              <a:t>Une fiche complète pour chaque véhicule, de l'immatriculation au GPS.</a:t>
            </a:r>
            <a:endParaRPr lang="en-US" sz="1700" dirty="0"/>
          </a:p>
        </p:txBody>
      </p:sp>
      <p:sp>
        <p:nvSpPr>
          <p:cNvPr id="8" name="anim1-81"/>
          <p:cNvSpPr/>
          <p:nvPr/>
        </p:nvSpPr>
        <p:spPr>
          <a:xfrm>
            <a:off x="548640" y="242316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nim1-82"/>
          <p:cNvSpPr/>
          <p:nvPr/>
        </p:nvSpPr>
        <p:spPr>
          <a:xfrm>
            <a:off x="731520" y="2606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anim1-8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2731770"/>
            <a:ext cx="251460" cy="251460"/>
          </a:xfrm>
          <a:prstGeom prst="rect">
            <a:avLst/>
          </a:prstGeom>
        </p:spPr>
      </p:pic>
      <p:sp>
        <p:nvSpPr>
          <p:cNvPr id="11" name="anim1-84"/>
          <p:cNvSpPr txBox="1"/>
          <p:nvPr/>
        </p:nvSpPr>
        <p:spPr>
          <a:xfrm>
            <a:off x="1371600" y="253288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Fiche véhicule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Immatriculation, modèle, châssis, moteur, compteur, photo et documents.</a:t>
            </a:r>
            <a:endParaRPr lang="en-US" sz="1500" dirty="0"/>
          </a:p>
        </p:txBody>
      </p:sp>
      <p:sp>
        <p:nvSpPr>
          <p:cNvPr id="12" name="anim2-85"/>
          <p:cNvSpPr/>
          <p:nvPr/>
        </p:nvSpPr>
        <p:spPr>
          <a:xfrm>
            <a:off x="4480560" y="242316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anim2-86"/>
          <p:cNvSpPr/>
          <p:nvPr/>
        </p:nvSpPr>
        <p:spPr>
          <a:xfrm>
            <a:off x="4663440" y="2606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anim2-8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170" y="2731770"/>
            <a:ext cx="251460" cy="251460"/>
          </a:xfrm>
          <a:prstGeom prst="rect">
            <a:avLst/>
          </a:prstGeom>
        </p:spPr>
      </p:pic>
      <p:sp>
        <p:nvSpPr>
          <p:cNvPr id="15" name="anim2-88"/>
          <p:cNvSpPr txBox="1"/>
          <p:nvPr/>
        </p:nvSpPr>
        <p:spPr>
          <a:xfrm>
            <a:off x="5303520" y="253288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Échéances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Expiration de l'immatriculation et de l'assurance, signalée en rouge.</a:t>
            </a:r>
            <a:endParaRPr lang="en-US" sz="1500" dirty="0"/>
          </a:p>
        </p:txBody>
      </p:sp>
      <p:sp>
        <p:nvSpPr>
          <p:cNvPr id="16" name="anim3-89"/>
          <p:cNvSpPr/>
          <p:nvPr/>
        </p:nvSpPr>
        <p:spPr>
          <a:xfrm>
            <a:off x="548640" y="429768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anim3-90"/>
          <p:cNvSpPr/>
          <p:nvPr/>
        </p:nvSpPr>
        <p:spPr>
          <a:xfrm>
            <a:off x="73152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anim3-9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606290"/>
            <a:ext cx="251460" cy="251460"/>
          </a:xfrm>
          <a:prstGeom prst="rect">
            <a:avLst/>
          </a:prstGeom>
        </p:spPr>
      </p:pic>
      <p:sp>
        <p:nvSpPr>
          <p:cNvPr id="19" name="anim3-92"/>
          <p:cNvSpPr txBox="1"/>
          <p:nvPr/>
        </p:nvSpPr>
        <p:spPr>
          <a:xfrm>
            <a:off x="1371600" y="440740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Types et itinéraires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Camion, bus, voiture… et liste des itinéraires.</a:t>
            </a:r>
            <a:endParaRPr lang="en-US" sz="1500" dirty="0"/>
          </a:p>
        </p:txBody>
      </p:sp>
      <p:sp>
        <p:nvSpPr>
          <p:cNvPr id="20" name="anim4-93"/>
          <p:cNvSpPr/>
          <p:nvPr/>
        </p:nvSpPr>
        <p:spPr>
          <a:xfrm>
            <a:off x="4480560" y="429768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nim4-94"/>
          <p:cNvSpPr/>
          <p:nvPr/>
        </p:nvSpPr>
        <p:spPr>
          <a:xfrm>
            <a:off x="466344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anim4-9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9170" y="4606290"/>
            <a:ext cx="251460" cy="251460"/>
          </a:xfrm>
          <a:prstGeom prst="rect">
            <a:avLst/>
          </a:prstGeom>
        </p:spPr>
      </p:pic>
      <p:sp>
        <p:nvSpPr>
          <p:cNvPr id="23" name="anim4-96"/>
          <p:cNvSpPr txBox="1"/>
          <p:nvPr/>
        </p:nvSpPr>
        <p:spPr>
          <a:xfrm>
            <a:off x="5303520" y="440740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Tarif et propriété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Facturation et coût par défaut, véhicule en propre ou loué, liaison GPS.</a:t>
            </a:r>
            <a:endParaRPr lang="en-US" sz="1500" dirty="0"/>
          </a:p>
        </p:txBody>
      </p:sp>
      <p:sp>
        <p:nvSpPr>
          <p:cNvPr id="24" name="anim5-97"/>
          <p:cNvSpPr/>
          <p:nvPr/>
        </p:nvSpPr>
        <p:spPr>
          <a:xfrm>
            <a:off x="8549640" y="1280160"/>
            <a:ext cx="3108960" cy="4846320"/>
          </a:xfrm>
          <a:prstGeom prst="roundRect">
            <a:avLst>
              <a:gd name="adj" fmla="val 294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anim5-98"/>
          <p:cNvSpPr txBox="1"/>
          <p:nvPr/>
        </p:nvSpPr>
        <p:spPr>
          <a:xfrm>
            <a:off x="8778240" y="1463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6" name="anim6-9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194560"/>
            <a:ext cx="292608" cy="292608"/>
          </a:xfrm>
          <a:prstGeom prst="rect">
            <a:avLst/>
          </a:prstGeom>
        </p:spPr>
      </p:pic>
      <p:sp>
        <p:nvSpPr>
          <p:cNvPr id="27" name="anim6-100"/>
          <p:cNvSpPr txBox="1"/>
          <p:nvPr/>
        </p:nvSpPr>
        <p:spPr>
          <a:xfrm>
            <a:off x="9189720" y="21488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Plus d'assurance expirée qui passe inaperçue</a:t>
            </a:r>
            <a:endParaRPr lang="en-US" sz="1400" dirty="0"/>
          </a:p>
        </p:txBody>
      </p:sp>
      <p:pic>
        <p:nvPicPr>
          <p:cNvPr id="28" name="anim7-10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383280"/>
            <a:ext cx="292608" cy="292608"/>
          </a:xfrm>
          <a:prstGeom prst="rect">
            <a:avLst/>
          </a:prstGeom>
        </p:spPr>
      </p:pic>
      <p:sp>
        <p:nvSpPr>
          <p:cNvPr id="29" name="anim7-102"/>
          <p:cNvSpPr txBox="1"/>
          <p:nvPr/>
        </p:nvSpPr>
        <p:spPr>
          <a:xfrm>
            <a:off x="9189720" y="333756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Toute la flotte saisie d'un coup par import CSV</a:t>
            </a:r>
            <a:endParaRPr lang="en-US" sz="1400" dirty="0"/>
          </a:p>
        </p:txBody>
      </p:sp>
      <p:pic>
        <p:nvPicPr>
          <p:cNvPr id="30" name="anim8-103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572000"/>
            <a:ext cx="292608" cy="292608"/>
          </a:xfrm>
          <a:prstGeom prst="rect">
            <a:avLst/>
          </a:prstGeom>
        </p:spPr>
      </p:pic>
      <p:sp>
        <p:nvSpPr>
          <p:cNvPr id="31" name="anim8-104"/>
          <p:cNvSpPr txBox="1"/>
          <p:nvPr/>
        </p:nvSpPr>
        <p:spPr>
          <a:xfrm>
            <a:off x="9189720" y="4526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Export Excel, CSV ou PDF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  <p:bldP spid="19" grpId="0" animBg="1"/>
      <p:bldP spid="23" grpId="0" animBg="1"/>
      <p:bldP spid="25" grpId="0" animBg="1"/>
      <p:bldP spid="27" grpId="0" animBg="1"/>
      <p:bldP spid="29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417320" y="36576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Chauffeurs et fournisseurs de véhicules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566928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280160"/>
            <a:ext cx="768096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28016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Driver's · Vehicle Vendor's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83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2"/>
                </a:solidFill>
              </a:rPr>
              <a:t>Savoir qui conduit, avec quel permis, et avec quels partenaires on travaille.</a:t>
            </a:r>
            <a:endParaRPr lang="en-US" sz="1700" dirty="0"/>
          </a:p>
        </p:txBody>
      </p:sp>
      <p:sp>
        <p:nvSpPr>
          <p:cNvPr id="8" name="anim1-105"/>
          <p:cNvSpPr/>
          <p:nvPr/>
        </p:nvSpPr>
        <p:spPr>
          <a:xfrm>
            <a:off x="548640" y="242316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nim1-106"/>
          <p:cNvSpPr/>
          <p:nvPr/>
        </p:nvSpPr>
        <p:spPr>
          <a:xfrm>
            <a:off x="731520" y="2606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anim1-10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2731770"/>
            <a:ext cx="251460" cy="251460"/>
          </a:xfrm>
          <a:prstGeom prst="rect">
            <a:avLst/>
          </a:prstGeom>
        </p:spPr>
      </p:pic>
      <p:sp>
        <p:nvSpPr>
          <p:cNvPr id="11" name="anim1-108"/>
          <p:cNvSpPr txBox="1"/>
          <p:nvPr/>
        </p:nvSpPr>
        <p:spPr>
          <a:xfrm>
            <a:off x="1371600" y="253288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Fiche chauffeur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Contact, âge, adresse, expérience, date d'entrée, photo et document.</a:t>
            </a:r>
            <a:endParaRPr lang="en-US" sz="1500" dirty="0"/>
          </a:p>
        </p:txBody>
      </p:sp>
      <p:sp>
        <p:nvSpPr>
          <p:cNvPr id="12" name="anim2-109"/>
          <p:cNvSpPr/>
          <p:nvPr/>
        </p:nvSpPr>
        <p:spPr>
          <a:xfrm>
            <a:off x="4480560" y="242316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anim2-110"/>
          <p:cNvSpPr/>
          <p:nvPr/>
        </p:nvSpPr>
        <p:spPr>
          <a:xfrm>
            <a:off x="4663440" y="2606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anim2-11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170" y="2731770"/>
            <a:ext cx="251460" cy="251460"/>
          </a:xfrm>
          <a:prstGeom prst="rect">
            <a:avLst/>
          </a:prstGeom>
        </p:spPr>
      </p:pic>
      <p:sp>
        <p:nvSpPr>
          <p:cNvPr id="15" name="anim2-112"/>
          <p:cNvSpPr txBox="1"/>
          <p:nvPr/>
        </p:nvSpPr>
        <p:spPr>
          <a:xfrm>
            <a:off x="5303520" y="253288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Permis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Numéro et date d'expiration, signalée quand elle est dépassée.</a:t>
            </a:r>
            <a:endParaRPr lang="en-US" sz="1500" dirty="0"/>
          </a:p>
        </p:txBody>
      </p:sp>
      <p:sp>
        <p:nvSpPr>
          <p:cNvPr id="16" name="anim3-113"/>
          <p:cNvSpPr/>
          <p:nvPr/>
        </p:nvSpPr>
        <p:spPr>
          <a:xfrm>
            <a:off x="548640" y="429768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anim3-114"/>
          <p:cNvSpPr/>
          <p:nvPr/>
        </p:nvSpPr>
        <p:spPr>
          <a:xfrm>
            <a:off x="73152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anim3-11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606290"/>
            <a:ext cx="251460" cy="251460"/>
          </a:xfrm>
          <a:prstGeom prst="rect">
            <a:avLst/>
          </a:prstGeom>
        </p:spPr>
      </p:pic>
      <p:sp>
        <p:nvSpPr>
          <p:cNvPr id="19" name="anim3-116"/>
          <p:cNvSpPr txBox="1"/>
          <p:nvPr/>
        </p:nvSpPr>
        <p:spPr>
          <a:xfrm>
            <a:off x="1371600" y="440740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Fournisseurs de véhicules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Société, contact, téléphone, adresse et statut.</a:t>
            </a:r>
            <a:endParaRPr lang="en-US" sz="1500" dirty="0"/>
          </a:p>
        </p:txBody>
      </p:sp>
      <p:sp>
        <p:nvSpPr>
          <p:cNvPr id="20" name="anim4-117"/>
          <p:cNvSpPr/>
          <p:nvPr/>
        </p:nvSpPr>
        <p:spPr>
          <a:xfrm>
            <a:off x="4480560" y="429768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nim4-118"/>
          <p:cNvSpPr/>
          <p:nvPr/>
        </p:nvSpPr>
        <p:spPr>
          <a:xfrm>
            <a:off x="466344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anim4-119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9170" y="4606290"/>
            <a:ext cx="251460" cy="251460"/>
          </a:xfrm>
          <a:prstGeom prst="rect">
            <a:avLst/>
          </a:prstGeom>
        </p:spPr>
      </p:pic>
      <p:sp>
        <p:nvSpPr>
          <p:cNvPr id="23" name="anim4-120"/>
          <p:cNvSpPr txBox="1"/>
          <p:nvPr/>
        </p:nvSpPr>
        <p:spPr>
          <a:xfrm>
            <a:off x="5303520" y="440740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Contrats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Date de contrat et document du contrat joint.</a:t>
            </a:r>
            <a:endParaRPr lang="en-US" sz="1500" dirty="0"/>
          </a:p>
        </p:txBody>
      </p:sp>
      <p:sp>
        <p:nvSpPr>
          <p:cNvPr id="24" name="anim5-121"/>
          <p:cNvSpPr/>
          <p:nvPr/>
        </p:nvSpPr>
        <p:spPr>
          <a:xfrm>
            <a:off x="8549640" y="1280160"/>
            <a:ext cx="3108960" cy="4846320"/>
          </a:xfrm>
          <a:prstGeom prst="roundRect">
            <a:avLst>
              <a:gd name="adj" fmla="val 294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anim5-122"/>
          <p:cNvSpPr txBox="1"/>
          <p:nvPr/>
        </p:nvSpPr>
        <p:spPr>
          <a:xfrm>
            <a:off x="8778240" y="1463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6" name="anim6-12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194560"/>
            <a:ext cx="292608" cy="292608"/>
          </a:xfrm>
          <a:prstGeom prst="rect">
            <a:avLst/>
          </a:prstGeom>
        </p:spPr>
      </p:pic>
      <p:sp>
        <p:nvSpPr>
          <p:cNvPr id="27" name="anim6-124"/>
          <p:cNvSpPr txBox="1"/>
          <p:nvPr/>
        </p:nvSpPr>
        <p:spPr>
          <a:xfrm>
            <a:off x="9189720" y="21488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Un permis expiré est repéré tout de suite</a:t>
            </a:r>
            <a:endParaRPr lang="en-US" sz="1400" dirty="0"/>
          </a:p>
        </p:txBody>
      </p:sp>
      <p:pic>
        <p:nvPicPr>
          <p:cNvPr id="28" name="anim7-12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383280"/>
            <a:ext cx="292608" cy="292608"/>
          </a:xfrm>
          <a:prstGeom prst="rect">
            <a:avLst/>
          </a:prstGeom>
        </p:spPr>
      </p:pic>
      <p:sp>
        <p:nvSpPr>
          <p:cNvPr id="29" name="anim7-126"/>
          <p:cNvSpPr txBox="1"/>
          <p:nvPr/>
        </p:nvSpPr>
        <p:spPr>
          <a:xfrm>
            <a:off x="9189720" y="333756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Les contrats des loueurs sont centralisés</a:t>
            </a:r>
            <a:endParaRPr lang="en-US" sz="1400" dirty="0"/>
          </a:p>
        </p:txBody>
      </p:sp>
      <p:pic>
        <p:nvPicPr>
          <p:cNvPr id="30" name="anim8-12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572000"/>
            <a:ext cx="292608" cy="292608"/>
          </a:xfrm>
          <a:prstGeom prst="rect">
            <a:avLst/>
          </a:prstGeom>
        </p:spPr>
      </p:pic>
      <p:sp>
        <p:nvSpPr>
          <p:cNvPr id="31" name="anim8-128"/>
          <p:cNvSpPr txBox="1"/>
          <p:nvPr/>
        </p:nvSpPr>
        <p:spPr>
          <a:xfrm>
            <a:off x="9189720" y="4526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Import des chauffeurs en masse par CSV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  <p:bldP spid="19" grpId="0" animBg="1"/>
      <p:bldP spid="23" grpId="0" animBg="1"/>
      <p:bldP spid="25" grpId="0" animBg="1"/>
      <p:bldP spid="27" grpId="0" animBg="1"/>
      <p:bldP spid="29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417320" y="36576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Suivi GPS et zones géographiques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566928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280160"/>
            <a:ext cx="768096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28016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Tracking › History Tracking · Live Location · Geofence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83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2"/>
                </a:solidFill>
              </a:rPr>
              <a:t>Savoir où sont les véhicules, et être prévenu quand ils entrent ou sortent d'une zone.</a:t>
            </a:r>
            <a:endParaRPr lang="en-US" sz="1700" dirty="0"/>
          </a:p>
        </p:txBody>
      </p:sp>
      <p:sp>
        <p:nvSpPr>
          <p:cNvPr id="8" name="anim1-129"/>
          <p:cNvSpPr/>
          <p:nvPr/>
        </p:nvSpPr>
        <p:spPr>
          <a:xfrm>
            <a:off x="548640" y="242316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nim1-130"/>
          <p:cNvSpPr/>
          <p:nvPr/>
        </p:nvSpPr>
        <p:spPr>
          <a:xfrm>
            <a:off x="731520" y="2606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anim1-13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2731770"/>
            <a:ext cx="251460" cy="251460"/>
          </a:xfrm>
          <a:prstGeom prst="rect">
            <a:avLst/>
          </a:prstGeom>
        </p:spPr>
      </p:pic>
      <p:sp>
        <p:nvSpPr>
          <p:cNvPr id="11" name="anim1-132"/>
          <p:cNvSpPr txBox="1"/>
          <p:nvPr/>
        </p:nvSpPr>
        <p:spPr>
          <a:xfrm>
            <a:off x="1371600" y="253288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Position en direct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Localisation actuelle des véhicules sur la carte.</a:t>
            </a:r>
            <a:endParaRPr lang="en-US" sz="1500" dirty="0"/>
          </a:p>
        </p:txBody>
      </p:sp>
      <p:sp>
        <p:nvSpPr>
          <p:cNvPr id="12" name="anim2-133"/>
          <p:cNvSpPr/>
          <p:nvPr/>
        </p:nvSpPr>
        <p:spPr>
          <a:xfrm>
            <a:off x="4480560" y="242316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anim2-134"/>
          <p:cNvSpPr/>
          <p:nvPr/>
        </p:nvSpPr>
        <p:spPr>
          <a:xfrm>
            <a:off x="4663440" y="2606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anim2-13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170" y="2731770"/>
            <a:ext cx="251460" cy="251460"/>
          </a:xfrm>
          <a:prstGeom prst="rect">
            <a:avLst/>
          </a:prstGeom>
        </p:spPr>
      </p:pic>
      <p:sp>
        <p:nvSpPr>
          <p:cNvPr id="15" name="anim2-136"/>
          <p:cNvSpPr txBox="1"/>
          <p:nvPr/>
        </p:nvSpPr>
        <p:spPr>
          <a:xfrm>
            <a:off x="5303520" y="253288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Historique des parcours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Trajet d'un véhicule sur une période choisie.</a:t>
            </a:r>
            <a:endParaRPr lang="en-US" sz="1500" dirty="0"/>
          </a:p>
        </p:txBody>
      </p:sp>
      <p:sp>
        <p:nvSpPr>
          <p:cNvPr id="16" name="anim3-137"/>
          <p:cNvSpPr/>
          <p:nvPr/>
        </p:nvSpPr>
        <p:spPr>
          <a:xfrm>
            <a:off x="548640" y="429768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anim3-138"/>
          <p:cNvSpPr/>
          <p:nvPr/>
        </p:nvSpPr>
        <p:spPr>
          <a:xfrm>
            <a:off x="73152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anim3-13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606290"/>
            <a:ext cx="251460" cy="251460"/>
          </a:xfrm>
          <a:prstGeom prst="rect">
            <a:avLst/>
          </a:prstGeom>
        </p:spPr>
      </p:pic>
      <p:sp>
        <p:nvSpPr>
          <p:cNvPr id="19" name="anim3-140"/>
          <p:cNvSpPr txBox="1"/>
          <p:nvPr/>
        </p:nvSpPr>
        <p:spPr>
          <a:xfrm>
            <a:off x="1371600" y="440740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Zones (geofences)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Zones dessinées sur la carte : cercle, rectangle, polygone…</a:t>
            </a:r>
            <a:endParaRPr lang="en-US" sz="1500" dirty="0"/>
          </a:p>
        </p:txBody>
      </p:sp>
      <p:sp>
        <p:nvSpPr>
          <p:cNvPr id="20" name="anim4-141"/>
          <p:cNvSpPr/>
          <p:nvPr/>
        </p:nvSpPr>
        <p:spPr>
          <a:xfrm>
            <a:off x="4480560" y="429768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nim4-142"/>
          <p:cNvSpPr/>
          <p:nvPr/>
        </p:nvSpPr>
        <p:spPr>
          <a:xfrm>
            <a:off x="466344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anim4-14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9170" y="4606290"/>
            <a:ext cx="251460" cy="251460"/>
          </a:xfrm>
          <a:prstGeom prst="rect">
            <a:avLst/>
          </a:prstGeom>
        </p:spPr>
      </p:pic>
      <p:sp>
        <p:nvSpPr>
          <p:cNvPr id="23" name="anim4-144"/>
          <p:cNvSpPr txBox="1"/>
          <p:nvPr/>
        </p:nvSpPr>
        <p:spPr>
          <a:xfrm>
            <a:off x="5303520" y="440740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Événements de zone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Entrées et sorties enregistrées, avec notification.</a:t>
            </a:r>
            <a:endParaRPr lang="en-US" sz="1500" dirty="0"/>
          </a:p>
        </p:txBody>
      </p:sp>
      <p:sp>
        <p:nvSpPr>
          <p:cNvPr id="24" name="anim5-145"/>
          <p:cNvSpPr/>
          <p:nvPr/>
        </p:nvSpPr>
        <p:spPr>
          <a:xfrm>
            <a:off x="8549640" y="1280160"/>
            <a:ext cx="3108960" cy="4846320"/>
          </a:xfrm>
          <a:prstGeom prst="roundRect">
            <a:avLst>
              <a:gd name="adj" fmla="val 294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anim5-146"/>
          <p:cNvSpPr txBox="1"/>
          <p:nvPr/>
        </p:nvSpPr>
        <p:spPr>
          <a:xfrm>
            <a:off x="8778240" y="1463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6" name="anim6-14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194560"/>
            <a:ext cx="292608" cy="292608"/>
          </a:xfrm>
          <a:prstGeom prst="rect">
            <a:avLst/>
          </a:prstGeom>
        </p:spPr>
      </p:pic>
      <p:sp>
        <p:nvSpPr>
          <p:cNvPr id="27" name="anim6-148"/>
          <p:cNvSpPr txBox="1"/>
          <p:nvPr/>
        </p:nvSpPr>
        <p:spPr>
          <a:xfrm>
            <a:off x="9189720" y="21488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Contrôler les itinéraires réellement suivis</a:t>
            </a:r>
            <a:endParaRPr lang="en-US" sz="1400" dirty="0"/>
          </a:p>
        </p:txBody>
      </p:sp>
      <p:pic>
        <p:nvPicPr>
          <p:cNvPr id="28" name="anim7-149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383280"/>
            <a:ext cx="292608" cy="292608"/>
          </a:xfrm>
          <a:prstGeom prst="rect">
            <a:avLst/>
          </a:prstGeom>
        </p:spPr>
      </p:pic>
      <p:sp>
        <p:nvSpPr>
          <p:cNvPr id="29" name="anim7-150"/>
          <p:cNvSpPr txBox="1"/>
          <p:nvPr/>
        </p:nvSpPr>
        <p:spPr>
          <a:xfrm>
            <a:off x="9189720" y="333756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Réagir vite en cas d'écart</a:t>
            </a:r>
            <a:endParaRPr lang="en-US" sz="1400" dirty="0"/>
          </a:p>
        </p:txBody>
      </p:sp>
      <p:pic>
        <p:nvPicPr>
          <p:cNvPr id="30" name="anim8-151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572000"/>
            <a:ext cx="292608" cy="292608"/>
          </a:xfrm>
          <a:prstGeom prst="rect">
            <a:avLst/>
          </a:prstGeom>
        </p:spPr>
      </p:pic>
      <p:sp>
        <p:nvSpPr>
          <p:cNvPr id="31" name="anim8-152"/>
          <p:cNvSpPr txBox="1"/>
          <p:nvPr/>
        </p:nvSpPr>
        <p:spPr>
          <a:xfrm>
            <a:off x="9189720" y="4526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Rassurer les clients sur leurs livraisons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  <p:bldP spid="19" grpId="0" animBg="1"/>
      <p:bldP spid="23" grpId="0" animBg="1"/>
      <p:bldP spid="25" grpId="0" animBg="1"/>
      <p:bldP spid="27" grpId="0" animBg="1"/>
      <p:bldP spid="29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417320" y="36576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Trajets, clients et coupons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566928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280160"/>
            <a:ext cx="768096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28016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Trips · Customer · Coupon Management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83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2"/>
                </a:solidFill>
              </a:rPr>
              <a:t>De la réservation à la facturation, chaque trajet est suivi.</a:t>
            </a:r>
            <a:endParaRPr lang="en-US" sz="1700" dirty="0"/>
          </a:p>
        </p:txBody>
      </p:sp>
      <p:sp>
        <p:nvSpPr>
          <p:cNvPr id="8" name="anim1-153"/>
          <p:cNvSpPr/>
          <p:nvPr/>
        </p:nvSpPr>
        <p:spPr>
          <a:xfrm>
            <a:off x="548640" y="242316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nim1-154"/>
          <p:cNvSpPr/>
          <p:nvPr/>
        </p:nvSpPr>
        <p:spPr>
          <a:xfrm>
            <a:off x="731520" y="2606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anim1-15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2731770"/>
            <a:ext cx="251460" cy="251460"/>
          </a:xfrm>
          <a:prstGeom prst="rect">
            <a:avLst/>
          </a:prstGeom>
        </p:spPr>
      </p:pic>
      <p:sp>
        <p:nvSpPr>
          <p:cNvPr id="11" name="anim1-156"/>
          <p:cNvSpPr txBox="1"/>
          <p:nvPr/>
        </p:nvSpPr>
        <p:spPr>
          <a:xfrm>
            <a:off x="1371600" y="253288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Réservation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Client, dates, véhicule, chauffeur, départ, arrivée, kilométrage, ramassages.</a:t>
            </a:r>
            <a:endParaRPr lang="en-US" sz="1500" dirty="0"/>
          </a:p>
        </p:txBody>
      </p:sp>
      <p:sp>
        <p:nvSpPr>
          <p:cNvPr id="12" name="anim2-157"/>
          <p:cNvSpPr/>
          <p:nvPr/>
        </p:nvSpPr>
        <p:spPr>
          <a:xfrm>
            <a:off x="4480560" y="242316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anim2-158"/>
          <p:cNvSpPr/>
          <p:nvPr/>
        </p:nvSpPr>
        <p:spPr>
          <a:xfrm>
            <a:off x="4663440" y="2606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anim2-15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170" y="2731770"/>
            <a:ext cx="251460" cy="251460"/>
          </a:xfrm>
          <a:prstGeom prst="rect">
            <a:avLst/>
          </a:prstGeom>
        </p:spPr>
      </p:pic>
      <p:sp>
        <p:nvSpPr>
          <p:cNvPr id="15" name="anim2-160"/>
          <p:cNvSpPr txBox="1"/>
          <p:nvPr/>
        </p:nvSpPr>
        <p:spPr>
          <a:xfrm>
            <a:off x="5303520" y="253288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Suivi du trajet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Statut (réservé, commencé…), distance et numéro de réservation.</a:t>
            </a:r>
            <a:endParaRPr lang="en-US" sz="1500" dirty="0"/>
          </a:p>
        </p:txBody>
      </p:sp>
      <p:sp>
        <p:nvSpPr>
          <p:cNvPr id="16" name="anim3-161"/>
          <p:cNvSpPr/>
          <p:nvPr/>
        </p:nvSpPr>
        <p:spPr>
          <a:xfrm>
            <a:off x="548640" y="429768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anim3-162"/>
          <p:cNvSpPr/>
          <p:nvPr/>
        </p:nvSpPr>
        <p:spPr>
          <a:xfrm>
            <a:off x="73152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anim3-16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606290"/>
            <a:ext cx="251460" cy="251460"/>
          </a:xfrm>
          <a:prstGeom prst="rect">
            <a:avLst/>
          </a:prstGeom>
        </p:spPr>
      </p:pic>
      <p:sp>
        <p:nvSpPr>
          <p:cNvPr id="19" name="anim3-164"/>
          <p:cNvSpPr txBox="1"/>
          <p:nvPr/>
        </p:nvSpPr>
        <p:spPr>
          <a:xfrm>
            <a:off x="1371600" y="440740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Clients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Coordonnées, solde impayé et statut actif ou inactif.</a:t>
            </a:r>
            <a:endParaRPr lang="en-US" sz="1500" dirty="0"/>
          </a:p>
        </p:txBody>
      </p:sp>
      <p:sp>
        <p:nvSpPr>
          <p:cNvPr id="20" name="anim4-165"/>
          <p:cNvSpPr/>
          <p:nvPr/>
        </p:nvSpPr>
        <p:spPr>
          <a:xfrm>
            <a:off x="4480560" y="429768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nim4-166"/>
          <p:cNvSpPr/>
          <p:nvPr/>
        </p:nvSpPr>
        <p:spPr>
          <a:xfrm>
            <a:off x="466344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anim4-16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9170" y="4606290"/>
            <a:ext cx="251460" cy="251460"/>
          </a:xfrm>
          <a:prstGeom prst="rect">
            <a:avLst/>
          </a:prstGeom>
        </p:spPr>
      </p:pic>
      <p:sp>
        <p:nvSpPr>
          <p:cNvPr id="23" name="anim4-168"/>
          <p:cNvSpPr txBox="1"/>
          <p:nvPr/>
        </p:nvSpPr>
        <p:spPr>
          <a:xfrm>
            <a:off x="5303520" y="440740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Coupons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Codes de réduction : montant, dates, limite d'utilisation.</a:t>
            </a:r>
            <a:endParaRPr lang="en-US" sz="1500" dirty="0"/>
          </a:p>
        </p:txBody>
      </p:sp>
      <p:sp>
        <p:nvSpPr>
          <p:cNvPr id="24" name="anim5-169"/>
          <p:cNvSpPr/>
          <p:nvPr/>
        </p:nvSpPr>
        <p:spPr>
          <a:xfrm>
            <a:off x="8549640" y="1280160"/>
            <a:ext cx="3108960" cy="4846320"/>
          </a:xfrm>
          <a:prstGeom prst="roundRect">
            <a:avLst>
              <a:gd name="adj" fmla="val 294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anim5-170"/>
          <p:cNvSpPr txBox="1"/>
          <p:nvPr/>
        </p:nvSpPr>
        <p:spPr>
          <a:xfrm>
            <a:off x="8778240" y="1463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6" name="anim6-17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194560"/>
            <a:ext cx="292608" cy="292608"/>
          </a:xfrm>
          <a:prstGeom prst="rect">
            <a:avLst/>
          </a:prstGeom>
        </p:spPr>
      </p:pic>
      <p:sp>
        <p:nvSpPr>
          <p:cNvPr id="27" name="anim6-172"/>
          <p:cNvSpPr txBox="1"/>
          <p:nvPr/>
        </p:nvSpPr>
        <p:spPr>
          <a:xfrm>
            <a:off x="9189720" y="21488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Chaque trajet lié à un client, un véhicule, un chauffeur</a:t>
            </a:r>
            <a:endParaRPr lang="en-US" sz="1400" dirty="0"/>
          </a:p>
        </p:txBody>
      </p:sp>
      <p:pic>
        <p:nvPicPr>
          <p:cNvPr id="28" name="anim7-17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383280"/>
            <a:ext cx="292608" cy="292608"/>
          </a:xfrm>
          <a:prstGeom prst="rect">
            <a:avLst/>
          </a:prstGeom>
        </p:spPr>
      </p:pic>
      <p:sp>
        <p:nvSpPr>
          <p:cNvPr id="29" name="anim7-174"/>
          <p:cNvSpPr txBox="1"/>
          <p:nvPr/>
        </p:nvSpPr>
        <p:spPr>
          <a:xfrm>
            <a:off x="9189720" y="333756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Les impayés clients sont visibles</a:t>
            </a:r>
            <a:endParaRPr lang="en-US" sz="1400" dirty="0"/>
          </a:p>
        </p:txBody>
      </p:sp>
      <p:pic>
        <p:nvPicPr>
          <p:cNvPr id="30" name="anim8-17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572000"/>
            <a:ext cx="292608" cy="292608"/>
          </a:xfrm>
          <a:prstGeom prst="rect">
            <a:avLst/>
          </a:prstGeom>
        </p:spPr>
      </p:pic>
      <p:sp>
        <p:nvSpPr>
          <p:cNvPr id="31" name="anim8-176"/>
          <p:cNvSpPr txBox="1"/>
          <p:nvPr/>
        </p:nvSpPr>
        <p:spPr>
          <a:xfrm>
            <a:off x="9189720" y="4526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Confirmation par e-mail ou SMS</a:t>
            </a:r>
            <a:endParaRPr lang="en-US" sz="1400" dirty="0"/>
          </a:p>
        </p:txBody>
      </p:sp>
      <p:sp>
        <p:nvSpPr>
          <p:cNvPr id="33" name="anim9-177"/>
          <p:cNvSpPr txBox="1"/>
          <p:nvPr/>
        </p:nvSpPr>
        <p:spPr>
          <a:xfrm>
            <a:off x="548640" y="60533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9 modes de facturation 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fixe · tonne · kg · km · trajet · jour · heure · litre · sac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  <p:bldP spid="19" grpId="0" animBg="1"/>
      <p:bldP spid="23" grpId="0" animBg="1"/>
      <p:bldP spid="25" grpId="0" animBg="1"/>
      <p:bldP spid="27" grpId="0" animBg="1"/>
      <p:bldP spid="29" grpId="0" animBg="1"/>
      <p:bldP spid="31" grpId="0" animBg="1"/>
      <p:bldP spid="3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417320" y="36576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Entretien, pièces et rappels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566928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280160"/>
            <a:ext cx="768096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28016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Maintenance · Parts Stock · Reminder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83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2"/>
                </a:solidFill>
              </a:rPr>
              <a:t>Anticiper les entretiens et maîtriser leur coût.</a:t>
            </a:r>
            <a:endParaRPr lang="en-US" sz="1700" dirty="0"/>
          </a:p>
        </p:txBody>
      </p:sp>
      <p:sp>
        <p:nvSpPr>
          <p:cNvPr id="8" name="anim1-178"/>
          <p:cNvSpPr/>
          <p:nvPr/>
        </p:nvSpPr>
        <p:spPr>
          <a:xfrm>
            <a:off x="548640" y="242316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nim1-179"/>
          <p:cNvSpPr/>
          <p:nvPr/>
        </p:nvSpPr>
        <p:spPr>
          <a:xfrm>
            <a:off x="731520" y="2606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anim1-18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2731770"/>
            <a:ext cx="251460" cy="251460"/>
          </a:xfrm>
          <a:prstGeom prst="rect">
            <a:avLst/>
          </a:prstGeom>
        </p:spPr>
      </p:pic>
      <p:sp>
        <p:nvSpPr>
          <p:cNvPr id="11" name="anim1-181"/>
          <p:cNvSpPr txBox="1"/>
          <p:nvPr/>
        </p:nvSpPr>
        <p:spPr>
          <a:xfrm>
            <a:off x="1371600" y="253288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Entretiens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Véhicule, dates, mécanicien, fournisseur, coût et pièces utilisées.</a:t>
            </a:r>
            <a:endParaRPr lang="en-US" sz="1500" dirty="0"/>
          </a:p>
        </p:txBody>
      </p:sp>
      <p:sp>
        <p:nvSpPr>
          <p:cNvPr id="12" name="anim2-182"/>
          <p:cNvSpPr/>
          <p:nvPr/>
        </p:nvSpPr>
        <p:spPr>
          <a:xfrm>
            <a:off x="4480560" y="242316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anim2-183"/>
          <p:cNvSpPr/>
          <p:nvPr/>
        </p:nvSpPr>
        <p:spPr>
          <a:xfrm>
            <a:off x="4663440" y="2606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anim2-18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170" y="2731770"/>
            <a:ext cx="251460" cy="251460"/>
          </a:xfrm>
          <a:prstGeom prst="rect">
            <a:avLst/>
          </a:prstGeom>
        </p:spPr>
      </p:pic>
      <p:sp>
        <p:nvSpPr>
          <p:cNvPr id="15" name="anim2-185"/>
          <p:cNvSpPr txBox="1"/>
          <p:nvPr/>
        </p:nvSpPr>
        <p:spPr>
          <a:xfrm>
            <a:off x="5303520" y="253288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Mécaniciens et fournisseurs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Annuaire des intervenants, avec catégorie.</a:t>
            </a:r>
            <a:endParaRPr lang="en-US" sz="1500" dirty="0"/>
          </a:p>
        </p:txBody>
      </p:sp>
      <p:sp>
        <p:nvSpPr>
          <p:cNvPr id="16" name="anim3-186"/>
          <p:cNvSpPr/>
          <p:nvPr/>
        </p:nvSpPr>
        <p:spPr>
          <a:xfrm>
            <a:off x="548640" y="429768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anim3-187"/>
          <p:cNvSpPr/>
          <p:nvPr/>
        </p:nvSpPr>
        <p:spPr>
          <a:xfrm>
            <a:off x="73152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anim3-18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606290"/>
            <a:ext cx="251460" cy="251460"/>
          </a:xfrm>
          <a:prstGeom prst="rect">
            <a:avLst/>
          </a:prstGeom>
        </p:spPr>
      </p:pic>
      <p:sp>
        <p:nvSpPr>
          <p:cNvPr id="19" name="anim3-189"/>
          <p:cNvSpPr txBox="1"/>
          <p:nvPr/>
        </p:nvSpPr>
        <p:spPr>
          <a:xfrm>
            <a:off x="1371600" y="440740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Stock de pièces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Inventaire, prix et historique des achats avec statut de paiement.</a:t>
            </a:r>
            <a:endParaRPr lang="en-US" sz="1500" dirty="0"/>
          </a:p>
        </p:txBody>
      </p:sp>
      <p:sp>
        <p:nvSpPr>
          <p:cNvPr id="20" name="anim4-190"/>
          <p:cNvSpPr/>
          <p:nvPr/>
        </p:nvSpPr>
        <p:spPr>
          <a:xfrm>
            <a:off x="4480560" y="429768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nim4-191"/>
          <p:cNvSpPr/>
          <p:nvPr/>
        </p:nvSpPr>
        <p:spPr>
          <a:xfrm>
            <a:off x="466344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anim4-19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9170" y="4606290"/>
            <a:ext cx="251460" cy="251460"/>
          </a:xfrm>
          <a:prstGeom prst="rect">
            <a:avLst/>
          </a:prstGeom>
        </p:spPr>
      </p:pic>
      <p:sp>
        <p:nvSpPr>
          <p:cNvPr id="23" name="anim4-193"/>
          <p:cNvSpPr txBox="1"/>
          <p:nvPr/>
        </p:nvSpPr>
        <p:spPr>
          <a:xfrm>
            <a:off x="5303520" y="440740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Rappels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Échéances par véhicule et service, marquées comme terminées.</a:t>
            </a:r>
            <a:endParaRPr lang="en-US" sz="1500" dirty="0"/>
          </a:p>
        </p:txBody>
      </p:sp>
      <p:sp>
        <p:nvSpPr>
          <p:cNvPr id="24" name="anim5-194"/>
          <p:cNvSpPr/>
          <p:nvPr/>
        </p:nvSpPr>
        <p:spPr>
          <a:xfrm>
            <a:off x="8549640" y="1280160"/>
            <a:ext cx="3108960" cy="4846320"/>
          </a:xfrm>
          <a:prstGeom prst="roundRect">
            <a:avLst>
              <a:gd name="adj" fmla="val 294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anim5-195"/>
          <p:cNvSpPr txBox="1"/>
          <p:nvPr/>
        </p:nvSpPr>
        <p:spPr>
          <a:xfrm>
            <a:off x="8778240" y="1463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6" name="anim6-19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194560"/>
            <a:ext cx="292608" cy="292608"/>
          </a:xfrm>
          <a:prstGeom prst="rect">
            <a:avLst/>
          </a:prstGeom>
        </p:spPr>
      </p:pic>
      <p:sp>
        <p:nvSpPr>
          <p:cNvPr id="27" name="anim6-197"/>
          <p:cNvSpPr txBox="1"/>
          <p:nvPr/>
        </p:nvSpPr>
        <p:spPr>
          <a:xfrm>
            <a:off x="9189720" y="21488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Moins de pannes grâce aux rappels</a:t>
            </a:r>
            <a:endParaRPr lang="en-US" sz="1400" dirty="0"/>
          </a:p>
        </p:txBody>
      </p:sp>
      <p:pic>
        <p:nvPicPr>
          <p:cNvPr id="28" name="anim7-198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383280"/>
            <a:ext cx="292608" cy="292608"/>
          </a:xfrm>
          <a:prstGeom prst="rect">
            <a:avLst/>
          </a:prstGeom>
        </p:spPr>
      </p:pic>
      <p:sp>
        <p:nvSpPr>
          <p:cNvPr id="29" name="anim7-199"/>
          <p:cNvSpPr txBox="1"/>
          <p:nvPr/>
        </p:nvSpPr>
        <p:spPr>
          <a:xfrm>
            <a:off x="9189720" y="333756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Coût réel de l'entretien par véhicule</a:t>
            </a:r>
            <a:endParaRPr lang="en-US" sz="1400" dirty="0"/>
          </a:p>
        </p:txBody>
      </p:sp>
      <p:pic>
        <p:nvPicPr>
          <p:cNvPr id="30" name="anim8-200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572000"/>
            <a:ext cx="292608" cy="292608"/>
          </a:xfrm>
          <a:prstGeom prst="rect">
            <a:avLst/>
          </a:prstGeom>
        </p:spPr>
      </p:pic>
      <p:sp>
        <p:nvSpPr>
          <p:cNvPr id="31" name="anim8-201"/>
          <p:cNvSpPr txBox="1"/>
          <p:nvPr/>
        </p:nvSpPr>
        <p:spPr>
          <a:xfrm>
            <a:off x="9189720" y="4526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Stock de pièces et achats tracés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  <p:bldP spid="19" grpId="0" animBg="1"/>
      <p:bldP spid="23" grpId="0" animBg="1"/>
      <p:bldP spid="25" grpId="0" animBg="1"/>
      <p:bldP spid="27" grpId="0" animBg="1"/>
      <p:bldP spid="29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417320" y="36576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Carburant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566928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280160"/>
            <a:ext cx="768096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28016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Fuel › Fuel Management · Add Fuel · Fuel Vendor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83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2"/>
                </a:solidFill>
              </a:rPr>
              <a:t>Chaque plein est enregistré et rattaché à un véhicule et un chauffeur.</a:t>
            </a:r>
            <a:endParaRPr lang="en-US" sz="1700" dirty="0"/>
          </a:p>
        </p:txBody>
      </p:sp>
      <p:sp>
        <p:nvSpPr>
          <p:cNvPr id="8" name="anim1-202"/>
          <p:cNvSpPr/>
          <p:nvPr/>
        </p:nvSpPr>
        <p:spPr>
          <a:xfrm>
            <a:off x="548640" y="242316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nim1-203"/>
          <p:cNvSpPr/>
          <p:nvPr/>
        </p:nvSpPr>
        <p:spPr>
          <a:xfrm>
            <a:off x="731520" y="2606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anim1-20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2731770"/>
            <a:ext cx="251460" cy="251460"/>
          </a:xfrm>
          <a:prstGeom prst="rect">
            <a:avLst/>
          </a:prstGeom>
        </p:spPr>
      </p:pic>
      <p:sp>
        <p:nvSpPr>
          <p:cNvPr id="11" name="anim1-205"/>
          <p:cNvSpPr txBox="1"/>
          <p:nvPr/>
        </p:nvSpPr>
        <p:spPr>
          <a:xfrm>
            <a:off x="1371600" y="253288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Pleins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Date, véhicule, chauffeur, quantité, montant, compteur et commentaire.</a:t>
            </a:r>
            <a:endParaRPr lang="en-US" sz="1500" dirty="0"/>
          </a:p>
        </p:txBody>
      </p:sp>
      <p:sp>
        <p:nvSpPr>
          <p:cNvPr id="12" name="anim2-206"/>
          <p:cNvSpPr/>
          <p:nvPr/>
        </p:nvSpPr>
        <p:spPr>
          <a:xfrm>
            <a:off x="4480560" y="242316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anim2-207"/>
          <p:cNvSpPr/>
          <p:nvPr/>
        </p:nvSpPr>
        <p:spPr>
          <a:xfrm>
            <a:off x="4663440" y="2606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anim2-20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170" y="2731770"/>
            <a:ext cx="251460" cy="251460"/>
          </a:xfrm>
          <a:prstGeom prst="rect">
            <a:avLst/>
          </a:prstGeom>
        </p:spPr>
      </p:pic>
      <p:sp>
        <p:nvSpPr>
          <p:cNvPr id="15" name="anim2-209"/>
          <p:cNvSpPr txBox="1"/>
          <p:nvPr/>
        </p:nvSpPr>
        <p:spPr>
          <a:xfrm>
            <a:off x="5303520" y="253288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Provenance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Cuve interne ou fournisseur extérieur.</a:t>
            </a:r>
            <a:endParaRPr lang="en-US" sz="1500" dirty="0"/>
          </a:p>
        </p:txBody>
      </p:sp>
      <p:sp>
        <p:nvSpPr>
          <p:cNvPr id="16" name="anim3-210"/>
          <p:cNvSpPr/>
          <p:nvPr/>
        </p:nvSpPr>
        <p:spPr>
          <a:xfrm>
            <a:off x="548640" y="429768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anim3-211"/>
          <p:cNvSpPr/>
          <p:nvPr/>
        </p:nvSpPr>
        <p:spPr>
          <a:xfrm>
            <a:off x="73152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anim3-21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606290"/>
            <a:ext cx="251460" cy="251460"/>
          </a:xfrm>
          <a:prstGeom prst="rect">
            <a:avLst/>
          </a:prstGeom>
        </p:spPr>
      </p:pic>
      <p:sp>
        <p:nvSpPr>
          <p:cNvPr id="19" name="anim3-213"/>
          <p:cNvSpPr txBox="1"/>
          <p:nvPr/>
        </p:nvSpPr>
        <p:spPr>
          <a:xfrm>
            <a:off x="1371600" y="440740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Cuve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Réapprovisionnement et stock disponible en litres.</a:t>
            </a:r>
            <a:endParaRPr lang="en-US" sz="1500" dirty="0"/>
          </a:p>
        </p:txBody>
      </p:sp>
      <p:sp>
        <p:nvSpPr>
          <p:cNvPr id="20" name="anim4-214"/>
          <p:cNvSpPr/>
          <p:nvPr/>
        </p:nvSpPr>
        <p:spPr>
          <a:xfrm>
            <a:off x="4480560" y="429768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nim4-215"/>
          <p:cNvSpPr/>
          <p:nvPr/>
        </p:nvSpPr>
        <p:spPr>
          <a:xfrm>
            <a:off x="466344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anim4-21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9170" y="4606290"/>
            <a:ext cx="251460" cy="251460"/>
          </a:xfrm>
          <a:prstGeom prst="rect">
            <a:avLst/>
          </a:prstGeom>
        </p:spPr>
      </p:pic>
      <p:sp>
        <p:nvSpPr>
          <p:cNvPr id="23" name="anim4-217"/>
          <p:cNvSpPr txBox="1"/>
          <p:nvPr/>
        </p:nvSpPr>
        <p:spPr>
          <a:xfrm>
            <a:off x="5303520" y="440740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Fournisseurs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Liste des stations ou fournisseurs de carburant.</a:t>
            </a:r>
            <a:endParaRPr lang="en-US" sz="1500" dirty="0"/>
          </a:p>
        </p:txBody>
      </p:sp>
      <p:sp>
        <p:nvSpPr>
          <p:cNvPr id="24" name="anim5-218"/>
          <p:cNvSpPr/>
          <p:nvPr/>
        </p:nvSpPr>
        <p:spPr>
          <a:xfrm>
            <a:off x="8549640" y="1280160"/>
            <a:ext cx="3108960" cy="4846320"/>
          </a:xfrm>
          <a:prstGeom prst="roundRect">
            <a:avLst>
              <a:gd name="adj" fmla="val 294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anim5-219"/>
          <p:cNvSpPr txBox="1"/>
          <p:nvPr/>
        </p:nvSpPr>
        <p:spPr>
          <a:xfrm>
            <a:off x="8778240" y="1463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6" name="anim6-22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194560"/>
            <a:ext cx="292608" cy="292608"/>
          </a:xfrm>
          <a:prstGeom prst="rect">
            <a:avLst/>
          </a:prstGeom>
        </p:spPr>
      </p:pic>
      <p:sp>
        <p:nvSpPr>
          <p:cNvPr id="27" name="anim6-221"/>
          <p:cNvSpPr txBox="1"/>
          <p:nvPr/>
        </p:nvSpPr>
        <p:spPr>
          <a:xfrm>
            <a:off x="9189720" y="21488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Repérer une consommation anormale</a:t>
            </a:r>
            <a:endParaRPr lang="en-US" sz="1400" dirty="0"/>
          </a:p>
        </p:txBody>
      </p:sp>
      <p:pic>
        <p:nvPicPr>
          <p:cNvPr id="28" name="anim7-22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383280"/>
            <a:ext cx="292608" cy="292608"/>
          </a:xfrm>
          <a:prstGeom prst="rect">
            <a:avLst/>
          </a:prstGeom>
        </p:spPr>
      </p:pic>
      <p:sp>
        <p:nvSpPr>
          <p:cNvPr id="29" name="anim7-223"/>
          <p:cNvSpPr txBox="1"/>
          <p:nvPr/>
        </p:nvSpPr>
        <p:spPr>
          <a:xfrm>
            <a:off x="9189720" y="333756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Contrôler le stock de la cuve</a:t>
            </a:r>
            <a:endParaRPr lang="en-US" sz="1400" dirty="0"/>
          </a:p>
        </p:txBody>
      </p:sp>
      <p:pic>
        <p:nvPicPr>
          <p:cNvPr id="30" name="anim8-22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572000"/>
            <a:ext cx="292608" cy="292608"/>
          </a:xfrm>
          <a:prstGeom prst="rect">
            <a:avLst/>
          </a:prstGeom>
        </p:spPr>
      </p:pic>
      <p:sp>
        <p:nvSpPr>
          <p:cNvPr id="31" name="anim8-225"/>
          <p:cNvSpPr txBox="1"/>
          <p:nvPr/>
        </p:nvSpPr>
        <p:spPr>
          <a:xfrm>
            <a:off x="9189720" y="4526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Rapport carburant par période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  <p:bldP spid="19" grpId="0" animBg="1"/>
      <p:bldP spid="23" grpId="0" animBg="1"/>
      <p:bldP spid="25" grpId="0" animBg="1"/>
      <p:bldP spid="27" grpId="0" animBg="1"/>
      <p:bldP spid="29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417320" y="36576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Finances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566928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280160"/>
            <a:ext cx="768096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28016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Accounts › Accounts · Add Transactions · Transactions · Ac Transfers / Deposit · Category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83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2"/>
                </a:solidFill>
              </a:rPr>
              <a:t>Revenus et dépenses enregistrés par compte, catégorie et véhicule.</a:t>
            </a:r>
            <a:endParaRPr lang="en-US" sz="1700" dirty="0"/>
          </a:p>
        </p:txBody>
      </p:sp>
      <p:sp>
        <p:nvSpPr>
          <p:cNvPr id="8" name="anim1-226"/>
          <p:cNvSpPr/>
          <p:nvPr/>
        </p:nvSpPr>
        <p:spPr>
          <a:xfrm>
            <a:off x="548640" y="242316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nim1-227"/>
          <p:cNvSpPr/>
          <p:nvPr/>
        </p:nvSpPr>
        <p:spPr>
          <a:xfrm>
            <a:off x="731520" y="2606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anim1-22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2731770"/>
            <a:ext cx="251460" cy="251460"/>
          </a:xfrm>
          <a:prstGeom prst="rect">
            <a:avLst/>
          </a:prstGeom>
        </p:spPr>
      </p:pic>
      <p:sp>
        <p:nvSpPr>
          <p:cNvPr id="11" name="anim1-229"/>
          <p:cNvSpPr txBox="1"/>
          <p:nvPr/>
        </p:nvSpPr>
        <p:spPr>
          <a:xfrm>
            <a:off x="1371600" y="253288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Comptes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Comptes financiers avec leur solde.</a:t>
            </a:r>
            <a:endParaRPr lang="en-US" sz="1500" dirty="0"/>
          </a:p>
        </p:txBody>
      </p:sp>
      <p:sp>
        <p:nvSpPr>
          <p:cNvPr id="12" name="anim2-230"/>
          <p:cNvSpPr/>
          <p:nvPr/>
        </p:nvSpPr>
        <p:spPr>
          <a:xfrm>
            <a:off x="4480560" y="242316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anim2-231"/>
          <p:cNvSpPr/>
          <p:nvPr/>
        </p:nvSpPr>
        <p:spPr>
          <a:xfrm>
            <a:off x="4663440" y="2606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anim2-23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170" y="2731770"/>
            <a:ext cx="251460" cy="251460"/>
          </a:xfrm>
          <a:prstGeom prst="rect">
            <a:avLst/>
          </a:prstGeom>
        </p:spPr>
      </p:pic>
      <p:sp>
        <p:nvSpPr>
          <p:cNvPr id="15" name="anim2-233"/>
          <p:cNvSpPr txBox="1"/>
          <p:nvPr/>
        </p:nvSpPr>
        <p:spPr>
          <a:xfrm>
            <a:off x="5303520" y="253288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Transactions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Revenu ou dépense : compte, catégorie, véhicule, montant, référence.</a:t>
            </a:r>
            <a:endParaRPr lang="en-US" sz="1500" dirty="0"/>
          </a:p>
        </p:txBody>
      </p:sp>
      <p:sp>
        <p:nvSpPr>
          <p:cNvPr id="16" name="anim3-234"/>
          <p:cNvSpPr/>
          <p:nvPr/>
        </p:nvSpPr>
        <p:spPr>
          <a:xfrm>
            <a:off x="548640" y="429768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anim3-235"/>
          <p:cNvSpPr/>
          <p:nvPr/>
        </p:nvSpPr>
        <p:spPr>
          <a:xfrm>
            <a:off x="73152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anim3-23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606290"/>
            <a:ext cx="251460" cy="251460"/>
          </a:xfrm>
          <a:prstGeom prst="rect">
            <a:avLst/>
          </a:prstGeom>
        </p:spPr>
      </p:pic>
      <p:sp>
        <p:nvSpPr>
          <p:cNvPr id="19" name="anim3-237"/>
          <p:cNvSpPr txBox="1"/>
          <p:nvPr/>
        </p:nvSpPr>
        <p:spPr>
          <a:xfrm>
            <a:off x="1371600" y="440740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Virements et dépôts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Mouvements d'un compte à un autre.</a:t>
            </a:r>
            <a:endParaRPr lang="en-US" sz="1500" dirty="0"/>
          </a:p>
        </p:txBody>
      </p:sp>
      <p:sp>
        <p:nvSpPr>
          <p:cNvPr id="20" name="anim4-238"/>
          <p:cNvSpPr/>
          <p:nvPr/>
        </p:nvSpPr>
        <p:spPr>
          <a:xfrm>
            <a:off x="4480560" y="429768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nim4-239"/>
          <p:cNvSpPr/>
          <p:nvPr/>
        </p:nvSpPr>
        <p:spPr>
          <a:xfrm>
            <a:off x="466344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anim4-24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9170" y="4606290"/>
            <a:ext cx="251460" cy="251460"/>
          </a:xfrm>
          <a:prstGeom prst="rect">
            <a:avLst/>
          </a:prstGeom>
        </p:spPr>
      </p:pic>
      <p:sp>
        <p:nvSpPr>
          <p:cNvPr id="23" name="anim4-241"/>
          <p:cNvSpPr txBox="1"/>
          <p:nvPr/>
        </p:nvSpPr>
        <p:spPr>
          <a:xfrm>
            <a:off x="5303520" y="440740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Catégories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Revenus de trajet, carburant, salaires, transfrontalier…</a:t>
            </a:r>
            <a:endParaRPr lang="en-US" sz="1500" dirty="0"/>
          </a:p>
        </p:txBody>
      </p:sp>
      <p:sp>
        <p:nvSpPr>
          <p:cNvPr id="24" name="anim5-242"/>
          <p:cNvSpPr/>
          <p:nvPr/>
        </p:nvSpPr>
        <p:spPr>
          <a:xfrm>
            <a:off x="8549640" y="1280160"/>
            <a:ext cx="3108960" cy="4846320"/>
          </a:xfrm>
          <a:prstGeom prst="roundRect">
            <a:avLst>
              <a:gd name="adj" fmla="val 294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anim5-243"/>
          <p:cNvSpPr txBox="1"/>
          <p:nvPr/>
        </p:nvSpPr>
        <p:spPr>
          <a:xfrm>
            <a:off x="8778240" y="1463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6" name="anim6-24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194560"/>
            <a:ext cx="292608" cy="292608"/>
          </a:xfrm>
          <a:prstGeom prst="rect">
            <a:avLst/>
          </a:prstGeom>
        </p:spPr>
      </p:pic>
      <p:sp>
        <p:nvSpPr>
          <p:cNvPr id="27" name="anim6-245"/>
          <p:cNvSpPr txBox="1"/>
          <p:nvPr/>
        </p:nvSpPr>
        <p:spPr>
          <a:xfrm>
            <a:off x="9189720" y="21488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Rentabilité visible par véhicule</a:t>
            </a:r>
            <a:endParaRPr lang="en-US" sz="1400" dirty="0"/>
          </a:p>
        </p:txBody>
      </p:sp>
      <p:pic>
        <p:nvPicPr>
          <p:cNvPr id="28" name="anim7-24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383280"/>
            <a:ext cx="292608" cy="292608"/>
          </a:xfrm>
          <a:prstGeom prst="rect">
            <a:avLst/>
          </a:prstGeom>
        </p:spPr>
      </p:pic>
      <p:sp>
        <p:nvSpPr>
          <p:cNvPr id="29" name="anim7-247"/>
          <p:cNvSpPr txBox="1"/>
          <p:nvPr/>
        </p:nvSpPr>
        <p:spPr>
          <a:xfrm>
            <a:off x="9189720" y="333756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Historique filtrable avec totaux</a:t>
            </a:r>
            <a:endParaRPr lang="en-US" sz="1400" dirty="0"/>
          </a:p>
        </p:txBody>
      </p:sp>
      <p:pic>
        <p:nvPicPr>
          <p:cNvPr id="30" name="anim8-24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572000"/>
            <a:ext cx="292608" cy="292608"/>
          </a:xfrm>
          <a:prstGeom prst="rect">
            <a:avLst/>
          </a:prstGeom>
        </p:spPr>
      </p:pic>
      <p:sp>
        <p:nvSpPr>
          <p:cNvPr id="31" name="anim8-249"/>
          <p:cNvSpPr txBox="1"/>
          <p:nvPr/>
        </p:nvSpPr>
        <p:spPr>
          <a:xfrm>
            <a:off x="9189720" y="4526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Catégories adaptées à l'entreprise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  <p:bldP spid="19" grpId="0" animBg="1"/>
      <p:bldP spid="23" grpId="0" animBg="1"/>
      <p:bldP spid="25" grpId="0" animBg="1"/>
      <p:bldP spid="27" grpId="0" animBg="1"/>
      <p:bldP spid="29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417320" y="36576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11 rapports prêts à l'emploi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566928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2801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2"/>
                </a:solidFill>
              </a:rPr>
              <a:t>Choisir une période, un filtre, puis « Generate Report ».</a:t>
            </a:r>
            <a:endParaRPr lang="en-US" sz="1700" dirty="0"/>
          </a:p>
        </p:txBody>
      </p:sp>
      <p:sp>
        <p:nvSpPr>
          <p:cNvPr id="6" name="anim1-250"/>
          <p:cNvSpPr/>
          <p:nvPr/>
        </p:nvSpPr>
        <p:spPr>
          <a:xfrm>
            <a:off x="548640" y="1874520"/>
            <a:ext cx="265176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anim1-251"/>
          <p:cNvSpPr/>
          <p:nvPr/>
        </p:nvSpPr>
        <p:spPr>
          <a:xfrm>
            <a:off x="731520" y="21488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anim1-25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110" y="2297430"/>
            <a:ext cx="297180" cy="297180"/>
          </a:xfrm>
          <a:prstGeom prst="rect">
            <a:avLst/>
          </a:prstGeom>
        </p:spPr>
      </p:pic>
      <p:sp>
        <p:nvSpPr>
          <p:cNvPr id="9" name="anim1-253"/>
          <p:cNvSpPr txBox="1"/>
          <p:nvPr/>
        </p:nvSpPr>
        <p:spPr>
          <a:xfrm>
            <a:off x="1463040" y="187452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Réservations</a:t>
            </a:r>
            <a:endParaRPr lang="en-US" sz="1500" dirty="0"/>
          </a:p>
        </p:txBody>
      </p:sp>
      <p:sp>
        <p:nvSpPr>
          <p:cNvPr id="10" name="anim2-254"/>
          <p:cNvSpPr/>
          <p:nvPr/>
        </p:nvSpPr>
        <p:spPr>
          <a:xfrm>
            <a:off x="3383280" y="1874520"/>
            <a:ext cx="265176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anim2-255"/>
          <p:cNvSpPr/>
          <p:nvPr/>
        </p:nvSpPr>
        <p:spPr>
          <a:xfrm>
            <a:off x="3566160" y="21488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anim2-25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2297430"/>
            <a:ext cx="297180" cy="297180"/>
          </a:xfrm>
          <a:prstGeom prst="rect">
            <a:avLst/>
          </a:prstGeom>
        </p:spPr>
      </p:pic>
      <p:sp>
        <p:nvSpPr>
          <p:cNvPr id="13" name="anim2-257"/>
          <p:cNvSpPr txBox="1"/>
          <p:nvPr/>
        </p:nvSpPr>
        <p:spPr>
          <a:xfrm>
            <a:off x="4297680" y="187452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Revenus et dépenses</a:t>
            </a:r>
            <a:endParaRPr lang="en-US" sz="1500" dirty="0"/>
          </a:p>
        </p:txBody>
      </p:sp>
      <p:sp>
        <p:nvSpPr>
          <p:cNvPr id="14" name="anim3-258"/>
          <p:cNvSpPr/>
          <p:nvPr/>
        </p:nvSpPr>
        <p:spPr>
          <a:xfrm>
            <a:off x="6217920" y="1874520"/>
            <a:ext cx="265176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anim3-259"/>
          <p:cNvSpPr/>
          <p:nvPr/>
        </p:nvSpPr>
        <p:spPr>
          <a:xfrm>
            <a:off x="6400800" y="21488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anim3-26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9390" y="2297430"/>
            <a:ext cx="297180" cy="297180"/>
          </a:xfrm>
          <a:prstGeom prst="rect">
            <a:avLst/>
          </a:prstGeom>
        </p:spPr>
      </p:pic>
      <p:sp>
        <p:nvSpPr>
          <p:cNvPr id="17" name="anim3-261"/>
          <p:cNvSpPr txBox="1"/>
          <p:nvPr/>
        </p:nvSpPr>
        <p:spPr>
          <a:xfrm>
            <a:off x="7132320" y="187452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Carburant</a:t>
            </a:r>
            <a:endParaRPr lang="en-US" sz="1500" dirty="0"/>
          </a:p>
        </p:txBody>
      </p:sp>
      <p:sp>
        <p:nvSpPr>
          <p:cNvPr id="18" name="anim4-262"/>
          <p:cNvSpPr/>
          <p:nvPr/>
        </p:nvSpPr>
        <p:spPr>
          <a:xfrm>
            <a:off x="9052560" y="1874520"/>
            <a:ext cx="265176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anim4-263"/>
          <p:cNvSpPr/>
          <p:nvPr/>
        </p:nvSpPr>
        <p:spPr>
          <a:xfrm>
            <a:off x="9235440" y="21488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anim4-26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4030" y="2297430"/>
            <a:ext cx="297180" cy="297180"/>
          </a:xfrm>
          <a:prstGeom prst="rect">
            <a:avLst/>
          </a:prstGeom>
        </p:spPr>
      </p:pic>
      <p:sp>
        <p:nvSpPr>
          <p:cNvPr id="21" name="anim4-265"/>
          <p:cNvSpPr txBox="1"/>
          <p:nvPr/>
        </p:nvSpPr>
        <p:spPr>
          <a:xfrm>
            <a:off x="9966960" y="187452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Chauffeurs</a:t>
            </a:r>
            <a:endParaRPr lang="en-US" sz="1500" dirty="0"/>
          </a:p>
        </p:txBody>
      </p:sp>
      <p:sp>
        <p:nvSpPr>
          <p:cNvPr id="22" name="anim5-266"/>
          <p:cNvSpPr/>
          <p:nvPr/>
        </p:nvSpPr>
        <p:spPr>
          <a:xfrm>
            <a:off x="548640" y="3246120"/>
            <a:ext cx="265176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anim5-267"/>
          <p:cNvSpPr/>
          <p:nvPr/>
        </p:nvSpPr>
        <p:spPr>
          <a:xfrm>
            <a:off x="731520" y="35204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anim5-26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0110" y="3669030"/>
            <a:ext cx="297180" cy="297180"/>
          </a:xfrm>
          <a:prstGeom prst="rect">
            <a:avLst/>
          </a:prstGeom>
        </p:spPr>
      </p:pic>
      <p:sp>
        <p:nvSpPr>
          <p:cNvPr id="25" name="anim5-269"/>
          <p:cNvSpPr txBox="1"/>
          <p:nvPr/>
        </p:nvSpPr>
        <p:spPr>
          <a:xfrm>
            <a:off x="1463040" y="324612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Coupons</a:t>
            </a:r>
            <a:endParaRPr lang="en-US" sz="1500" dirty="0"/>
          </a:p>
        </p:txBody>
      </p:sp>
      <p:sp>
        <p:nvSpPr>
          <p:cNvPr id="26" name="anim6-270"/>
          <p:cNvSpPr/>
          <p:nvPr/>
        </p:nvSpPr>
        <p:spPr>
          <a:xfrm>
            <a:off x="3383280" y="3246120"/>
            <a:ext cx="265176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anim6-271"/>
          <p:cNvSpPr/>
          <p:nvPr/>
        </p:nvSpPr>
        <p:spPr>
          <a:xfrm>
            <a:off x="3566160" y="35204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8" name="anim6-27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4750" y="3669030"/>
            <a:ext cx="297180" cy="297180"/>
          </a:xfrm>
          <a:prstGeom prst="rect">
            <a:avLst/>
          </a:prstGeom>
        </p:spPr>
      </p:pic>
      <p:sp>
        <p:nvSpPr>
          <p:cNvPr id="29" name="anim6-273"/>
          <p:cNvSpPr txBox="1"/>
          <p:nvPr/>
        </p:nvSpPr>
        <p:spPr>
          <a:xfrm>
            <a:off x="4297680" y="324612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Rappels</a:t>
            </a:r>
            <a:endParaRPr lang="en-US" sz="1500" dirty="0"/>
          </a:p>
        </p:txBody>
      </p:sp>
      <p:sp>
        <p:nvSpPr>
          <p:cNvPr id="30" name="anim7-274"/>
          <p:cNvSpPr/>
          <p:nvPr/>
        </p:nvSpPr>
        <p:spPr>
          <a:xfrm>
            <a:off x="6217920" y="3246120"/>
            <a:ext cx="265176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anim7-275"/>
          <p:cNvSpPr/>
          <p:nvPr/>
        </p:nvSpPr>
        <p:spPr>
          <a:xfrm>
            <a:off x="6400800" y="35204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anim7-27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9390" y="3669030"/>
            <a:ext cx="297180" cy="297180"/>
          </a:xfrm>
          <a:prstGeom prst="rect">
            <a:avLst/>
          </a:prstGeom>
        </p:spPr>
      </p:pic>
      <p:sp>
        <p:nvSpPr>
          <p:cNvPr id="33" name="anim7-277"/>
          <p:cNvSpPr txBox="1"/>
          <p:nvPr/>
        </p:nvSpPr>
        <p:spPr>
          <a:xfrm>
            <a:off x="7132320" y="324612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Entretien</a:t>
            </a:r>
            <a:endParaRPr lang="en-US" sz="1500" dirty="0"/>
          </a:p>
        </p:txBody>
      </p:sp>
      <p:sp>
        <p:nvSpPr>
          <p:cNvPr id="34" name="anim8-278"/>
          <p:cNvSpPr/>
          <p:nvPr/>
        </p:nvSpPr>
        <p:spPr>
          <a:xfrm>
            <a:off x="9052560" y="3246120"/>
            <a:ext cx="2651760" cy="11430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5" name="anim8-279"/>
          <p:cNvSpPr/>
          <p:nvPr/>
        </p:nvSpPr>
        <p:spPr>
          <a:xfrm>
            <a:off x="9235440" y="3520440"/>
            <a:ext cx="594360" cy="5943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36" name="anim8-280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84030" y="3669030"/>
            <a:ext cx="297180" cy="297180"/>
          </a:xfrm>
          <a:prstGeom prst="rect">
            <a:avLst/>
          </a:prstGeom>
        </p:spPr>
      </p:pic>
      <p:sp>
        <p:nvSpPr>
          <p:cNvPr id="37" name="anim8-281"/>
          <p:cNvSpPr txBox="1"/>
          <p:nvPr/>
        </p:nvSpPr>
        <p:spPr>
          <a:xfrm>
            <a:off x="9966960" y="324612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Top revenus</a:t>
            </a:r>
            <a:endParaRPr lang="en-US" sz="1500" dirty="0"/>
          </a:p>
        </p:txBody>
      </p:sp>
      <p:sp>
        <p:nvSpPr>
          <p:cNvPr id="38" name="anim9-282"/>
          <p:cNvSpPr/>
          <p:nvPr/>
        </p:nvSpPr>
        <p:spPr>
          <a:xfrm>
            <a:off x="548640" y="4617720"/>
            <a:ext cx="2651760" cy="11430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9" name="anim9-283"/>
          <p:cNvSpPr/>
          <p:nvPr/>
        </p:nvSpPr>
        <p:spPr>
          <a:xfrm>
            <a:off x="731520" y="4892040"/>
            <a:ext cx="594360" cy="5943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40" name="anim9-284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0110" y="5040630"/>
            <a:ext cx="297180" cy="297180"/>
          </a:xfrm>
          <a:prstGeom prst="rect">
            <a:avLst/>
          </a:prstGeom>
        </p:spPr>
      </p:pic>
      <p:sp>
        <p:nvSpPr>
          <p:cNvPr id="41" name="anim9-285"/>
          <p:cNvSpPr txBox="1"/>
          <p:nvPr/>
        </p:nvSpPr>
        <p:spPr>
          <a:xfrm>
            <a:off x="1463040" y="461772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Top dépenses</a:t>
            </a:r>
            <a:endParaRPr lang="en-US" sz="1500" dirty="0"/>
          </a:p>
        </p:txBody>
      </p:sp>
      <p:sp>
        <p:nvSpPr>
          <p:cNvPr id="42" name="anim10-286"/>
          <p:cNvSpPr/>
          <p:nvPr/>
        </p:nvSpPr>
        <p:spPr>
          <a:xfrm>
            <a:off x="3383280" y="4617720"/>
            <a:ext cx="2651760" cy="11430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3" name="anim10-287"/>
          <p:cNvSpPr/>
          <p:nvPr/>
        </p:nvSpPr>
        <p:spPr>
          <a:xfrm>
            <a:off x="3566160" y="4892040"/>
            <a:ext cx="594360" cy="5943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44" name="anim10-288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14750" y="5040630"/>
            <a:ext cx="297180" cy="297180"/>
          </a:xfrm>
          <a:prstGeom prst="rect">
            <a:avLst/>
          </a:prstGeom>
        </p:spPr>
      </p:pic>
      <p:sp>
        <p:nvSpPr>
          <p:cNvPr id="45" name="anim10-289"/>
          <p:cNvSpPr txBox="1"/>
          <p:nvPr/>
        </p:nvSpPr>
        <p:spPr>
          <a:xfrm>
            <a:off x="4297680" y="461772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Top véhicules</a:t>
            </a:r>
            <a:endParaRPr lang="en-US" sz="1500" dirty="0"/>
          </a:p>
        </p:txBody>
      </p:sp>
      <p:sp>
        <p:nvSpPr>
          <p:cNvPr id="46" name="anim11-290"/>
          <p:cNvSpPr/>
          <p:nvPr/>
        </p:nvSpPr>
        <p:spPr>
          <a:xfrm>
            <a:off x="6217920" y="4617720"/>
            <a:ext cx="2651760" cy="11430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7" name="anim11-291"/>
          <p:cNvSpPr/>
          <p:nvPr/>
        </p:nvSpPr>
        <p:spPr>
          <a:xfrm>
            <a:off x="6400800" y="4892040"/>
            <a:ext cx="594360" cy="5943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48" name="anim11-292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49390" y="5040630"/>
            <a:ext cx="297180" cy="297180"/>
          </a:xfrm>
          <a:prstGeom prst="rect">
            <a:avLst/>
          </a:prstGeom>
        </p:spPr>
      </p:pic>
      <p:sp>
        <p:nvSpPr>
          <p:cNvPr id="49" name="anim11-293"/>
          <p:cNvSpPr txBox="1"/>
          <p:nvPr/>
        </p:nvSpPr>
        <p:spPr>
          <a:xfrm>
            <a:off x="7132320" y="461772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Top itinéraires</a:t>
            </a:r>
            <a:endParaRPr lang="en-US" sz="1500" dirty="0"/>
          </a:p>
        </p:txBody>
      </p:sp>
      <p:sp>
        <p:nvSpPr>
          <p:cNvPr id="50" name="Text 36"/>
          <p:cNvSpPr txBox="1"/>
          <p:nvPr/>
        </p:nvSpPr>
        <p:spPr>
          <a:xfrm>
            <a:off x="9052560" y="4617720"/>
            <a:ext cx="2606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Les « Top » classent les postes qui rapportent ou coûtent le plus.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 animBg="1"/>
      <p:bldP spid="17" grpId="0" animBg="1"/>
      <p:bldP spid="21" grpId="0" animBg="1"/>
      <p:bldP spid="25" grpId="0" animBg="1"/>
      <p:bldP spid="29" grpId="0" animBg="1"/>
      <p:bldP spid="33" grpId="0" animBg="1"/>
      <p:bldP spid="37" grpId="0" animBg="1"/>
      <p:bldP spid="41" grpId="0" animBg="1"/>
      <p:bldP spid="45" grpId="0" animBg="1"/>
      <p:bldP spid="4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417320" y="36576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Employés et droits d'accès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566928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280160"/>
            <a:ext cx="768096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28016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Employee › Employee Management · Add Employee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83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2"/>
                </a:solidFill>
              </a:rPr>
              <a:t>Chaque utilisateur a son compte et ne voit que ce qu'il doit voir.</a:t>
            </a:r>
            <a:endParaRPr lang="en-US" sz="1700" dirty="0"/>
          </a:p>
        </p:txBody>
      </p:sp>
      <p:sp>
        <p:nvSpPr>
          <p:cNvPr id="8" name="anim1-294"/>
          <p:cNvSpPr/>
          <p:nvPr/>
        </p:nvSpPr>
        <p:spPr>
          <a:xfrm>
            <a:off x="548640" y="242316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nim1-295"/>
          <p:cNvSpPr/>
          <p:nvPr/>
        </p:nvSpPr>
        <p:spPr>
          <a:xfrm>
            <a:off x="731520" y="2606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anim1-29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2731770"/>
            <a:ext cx="251460" cy="251460"/>
          </a:xfrm>
          <a:prstGeom prst="rect">
            <a:avLst/>
          </a:prstGeom>
        </p:spPr>
      </p:pic>
      <p:sp>
        <p:nvSpPr>
          <p:cNvPr id="11" name="anim1-297"/>
          <p:cNvSpPr txBox="1"/>
          <p:nvPr/>
        </p:nvSpPr>
        <p:spPr>
          <a:xfrm>
            <a:off x="1371600" y="253288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Comptes utilisateurs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Nom, téléphone, e-mail, identifiant, mot de passe, dernière connexion.</a:t>
            </a:r>
            <a:endParaRPr lang="en-US" sz="1500" dirty="0"/>
          </a:p>
        </p:txBody>
      </p:sp>
      <p:sp>
        <p:nvSpPr>
          <p:cNvPr id="12" name="anim2-298"/>
          <p:cNvSpPr/>
          <p:nvPr/>
        </p:nvSpPr>
        <p:spPr>
          <a:xfrm>
            <a:off x="4480560" y="242316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anim2-299"/>
          <p:cNvSpPr/>
          <p:nvPr/>
        </p:nvSpPr>
        <p:spPr>
          <a:xfrm>
            <a:off x="4663440" y="2606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anim2-30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170" y="2731770"/>
            <a:ext cx="251460" cy="251460"/>
          </a:xfrm>
          <a:prstGeom prst="rect">
            <a:avLst/>
          </a:prstGeom>
        </p:spPr>
      </p:pic>
      <p:sp>
        <p:nvSpPr>
          <p:cNvPr id="15" name="anim2-301"/>
          <p:cNvSpPr txBox="1"/>
          <p:nvPr/>
        </p:nvSpPr>
        <p:spPr>
          <a:xfrm>
            <a:off x="5303520" y="253288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Permissions par module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Cases à cocher : voir, ajouter, modifier, supprimer…</a:t>
            </a:r>
            <a:endParaRPr lang="en-US" sz="1500" dirty="0"/>
          </a:p>
        </p:txBody>
      </p:sp>
      <p:sp>
        <p:nvSpPr>
          <p:cNvPr id="16" name="anim3-302"/>
          <p:cNvSpPr/>
          <p:nvPr/>
        </p:nvSpPr>
        <p:spPr>
          <a:xfrm>
            <a:off x="548640" y="429768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anim3-303"/>
          <p:cNvSpPr/>
          <p:nvPr/>
        </p:nvSpPr>
        <p:spPr>
          <a:xfrm>
            <a:off x="73152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anim3-30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606290"/>
            <a:ext cx="251460" cy="251460"/>
          </a:xfrm>
          <a:prstGeom prst="rect">
            <a:avLst/>
          </a:prstGeom>
        </p:spPr>
      </p:pic>
      <p:sp>
        <p:nvSpPr>
          <p:cNvPr id="19" name="anim3-305"/>
          <p:cNvSpPr txBox="1"/>
          <p:nvPr/>
        </p:nvSpPr>
        <p:spPr>
          <a:xfrm>
            <a:off x="1371600" y="440740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Modules concernés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Véhicules, chauffeurs, transactions, clients, carburant, entretien, GPS…</a:t>
            </a:r>
            <a:endParaRPr lang="en-US" sz="1500" dirty="0"/>
          </a:p>
        </p:txBody>
      </p:sp>
      <p:sp>
        <p:nvSpPr>
          <p:cNvPr id="20" name="anim4-306"/>
          <p:cNvSpPr/>
          <p:nvPr/>
        </p:nvSpPr>
        <p:spPr>
          <a:xfrm>
            <a:off x="4480560" y="429768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nim4-307"/>
          <p:cNvSpPr/>
          <p:nvPr/>
        </p:nvSpPr>
        <p:spPr>
          <a:xfrm>
            <a:off x="466344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anim4-30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9170" y="4606290"/>
            <a:ext cx="251460" cy="251460"/>
          </a:xfrm>
          <a:prstGeom prst="rect">
            <a:avLst/>
          </a:prstGeom>
        </p:spPr>
      </p:pic>
      <p:sp>
        <p:nvSpPr>
          <p:cNvPr id="23" name="anim4-309"/>
          <p:cNvSpPr txBox="1"/>
          <p:nvPr/>
        </p:nvSpPr>
        <p:spPr>
          <a:xfrm>
            <a:off x="5303520" y="440740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Statut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Compte actif ou désactivé.</a:t>
            </a:r>
            <a:endParaRPr lang="en-US" sz="1500" dirty="0"/>
          </a:p>
        </p:txBody>
      </p:sp>
      <p:sp>
        <p:nvSpPr>
          <p:cNvPr id="24" name="anim5-310"/>
          <p:cNvSpPr/>
          <p:nvPr/>
        </p:nvSpPr>
        <p:spPr>
          <a:xfrm>
            <a:off x="8549640" y="1280160"/>
            <a:ext cx="3108960" cy="4846320"/>
          </a:xfrm>
          <a:prstGeom prst="roundRect">
            <a:avLst>
              <a:gd name="adj" fmla="val 294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anim5-311"/>
          <p:cNvSpPr txBox="1"/>
          <p:nvPr/>
        </p:nvSpPr>
        <p:spPr>
          <a:xfrm>
            <a:off x="8778240" y="1463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6" name="anim6-31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194560"/>
            <a:ext cx="292608" cy="292608"/>
          </a:xfrm>
          <a:prstGeom prst="rect">
            <a:avLst/>
          </a:prstGeom>
        </p:spPr>
      </p:pic>
      <p:sp>
        <p:nvSpPr>
          <p:cNvPr id="27" name="anim6-313"/>
          <p:cNvSpPr txBox="1"/>
          <p:nvPr/>
        </p:nvSpPr>
        <p:spPr>
          <a:xfrm>
            <a:off x="9189720" y="21488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Chacun travaille dans son périmètre</a:t>
            </a:r>
            <a:endParaRPr lang="en-US" sz="1400" dirty="0"/>
          </a:p>
        </p:txBody>
      </p:sp>
      <p:pic>
        <p:nvPicPr>
          <p:cNvPr id="28" name="anim7-31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383280"/>
            <a:ext cx="292608" cy="292608"/>
          </a:xfrm>
          <a:prstGeom prst="rect">
            <a:avLst/>
          </a:prstGeom>
        </p:spPr>
      </p:pic>
      <p:sp>
        <p:nvSpPr>
          <p:cNvPr id="29" name="anim7-315"/>
          <p:cNvSpPr txBox="1"/>
          <p:nvPr/>
        </p:nvSpPr>
        <p:spPr>
          <a:xfrm>
            <a:off x="9189720" y="333756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Les données financières restent protégées</a:t>
            </a:r>
            <a:endParaRPr lang="en-US" sz="1400" dirty="0"/>
          </a:p>
        </p:txBody>
      </p:sp>
      <p:pic>
        <p:nvPicPr>
          <p:cNvPr id="30" name="anim8-31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572000"/>
            <a:ext cx="292608" cy="292608"/>
          </a:xfrm>
          <a:prstGeom prst="rect">
            <a:avLst/>
          </a:prstGeom>
        </p:spPr>
      </p:pic>
      <p:sp>
        <p:nvSpPr>
          <p:cNvPr id="31" name="anim8-317"/>
          <p:cNvSpPr txBox="1"/>
          <p:nvPr/>
        </p:nvSpPr>
        <p:spPr>
          <a:xfrm>
            <a:off x="9189720" y="4526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On sait qui a créé chaque transaction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  <p:bldP spid="19" grpId="0" animBg="1"/>
      <p:bldP spid="23" grpId="0" animBg="1"/>
      <p:bldP spid="25" grpId="0" animBg="1"/>
      <p:bldP spid="27" grpId="0" animBg="1"/>
      <p:bldP spid="29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417320" y="36576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Paramètres et sécurité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566928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280160"/>
            <a:ext cx="768096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28016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Setting's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83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2"/>
                </a:solidFill>
              </a:rPr>
              <a:t>Le logiciel s'adapte à l'entreprise et protège ses données.</a:t>
            </a:r>
            <a:endParaRPr lang="en-US" sz="1700" dirty="0"/>
          </a:p>
        </p:txBody>
      </p:sp>
      <p:sp>
        <p:nvSpPr>
          <p:cNvPr id="8" name="anim1-318"/>
          <p:cNvSpPr/>
          <p:nvPr/>
        </p:nvSpPr>
        <p:spPr>
          <a:xfrm>
            <a:off x="548640" y="242316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nim1-319"/>
          <p:cNvSpPr/>
          <p:nvPr/>
        </p:nvSpPr>
        <p:spPr>
          <a:xfrm>
            <a:off x="731520" y="2606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anim1-32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2731770"/>
            <a:ext cx="251460" cy="251460"/>
          </a:xfrm>
          <a:prstGeom prst="rect">
            <a:avLst/>
          </a:prstGeom>
        </p:spPr>
      </p:pic>
      <p:sp>
        <p:nvSpPr>
          <p:cNvPr id="11" name="anim1-321"/>
          <p:cNvSpPr txBox="1"/>
          <p:nvPr/>
        </p:nvSpPr>
        <p:spPr>
          <a:xfrm>
            <a:off x="1371600" y="253288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Identité de l'entreprise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Nom, adresse, contacts, logo, couleurs, fuseau horaire.</a:t>
            </a:r>
            <a:endParaRPr lang="en-US" sz="1500" dirty="0"/>
          </a:p>
        </p:txBody>
      </p:sp>
      <p:sp>
        <p:nvSpPr>
          <p:cNvPr id="12" name="anim2-322"/>
          <p:cNvSpPr/>
          <p:nvPr/>
        </p:nvSpPr>
        <p:spPr>
          <a:xfrm>
            <a:off x="4480560" y="242316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anim2-323"/>
          <p:cNvSpPr/>
          <p:nvPr/>
        </p:nvSpPr>
        <p:spPr>
          <a:xfrm>
            <a:off x="4663440" y="2606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anim2-32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170" y="2731770"/>
            <a:ext cx="251460" cy="251460"/>
          </a:xfrm>
          <a:prstGeom prst="rect">
            <a:avLst/>
          </a:prstGeom>
        </p:spPr>
      </p:pic>
      <p:sp>
        <p:nvSpPr>
          <p:cNvPr id="15" name="anim2-325"/>
          <p:cNvSpPr txBox="1"/>
          <p:nvPr/>
        </p:nvSpPr>
        <p:spPr>
          <a:xfrm>
            <a:off x="5303520" y="253288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Communication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Envoi d'e-mails et de SMS, avec modèles de messages.</a:t>
            </a:r>
            <a:endParaRPr lang="en-US" sz="1500" dirty="0"/>
          </a:p>
        </p:txBody>
      </p:sp>
      <p:sp>
        <p:nvSpPr>
          <p:cNvPr id="16" name="anim3-326"/>
          <p:cNvSpPr/>
          <p:nvPr/>
        </p:nvSpPr>
        <p:spPr>
          <a:xfrm>
            <a:off x="548640" y="429768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anim3-327"/>
          <p:cNvSpPr/>
          <p:nvPr/>
        </p:nvSpPr>
        <p:spPr>
          <a:xfrm>
            <a:off x="73152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anim3-32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606290"/>
            <a:ext cx="251460" cy="251460"/>
          </a:xfrm>
          <a:prstGeom prst="rect">
            <a:avLst/>
          </a:prstGeom>
        </p:spPr>
      </p:pic>
      <p:sp>
        <p:nvSpPr>
          <p:cNvPr id="19" name="anim3-329"/>
          <p:cNvSpPr txBox="1"/>
          <p:nvPr/>
        </p:nvSpPr>
        <p:spPr>
          <a:xfrm>
            <a:off x="1371600" y="440740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Réservations et factures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Préfixe des numéros de réservation, réglages des factures.</a:t>
            </a:r>
            <a:endParaRPr lang="en-US" sz="1500" dirty="0"/>
          </a:p>
        </p:txBody>
      </p:sp>
      <p:sp>
        <p:nvSpPr>
          <p:cNvPr id="20" name="anim4-330"/>
          <p:cNvSpPr/>
          <p:nvPr/>
        </p:nvSpPr>
        <p:spPr>
          <a:xfrm>
            <a:off x="4480560" y="4297680"/>
            <a:ext cx="374904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nim4-331"/>
          <p:cNvSpPr/>
          <p:nvPr/>
        </p:nvSpPr>
        <p:spPr>
          <a:xfrm>
            <a:off x="466344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anim4-33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9170" y="4606290"/>
            <a:ext cx="251460" cy="251460"/>
          </a:xfrm>
          <a:prstGeom prst="rect">
            <a:avLst/>
          </a:prstGeom>
        </p:spPr>
      </p:pic>
      <p:sp>
        <p:nvSpPr>
          <p:cNvPr id="23" name="anim4-333"/>
          <p:cNvSpPr txBox="1"/>
          <p:nvPr/>
        </p:nvSpPr>
        <p:spPr>
          <a:xfrm>
            <a:off x="5303520" y="4407408"/>
            <a:ext cx="278892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Sauvegardes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Sauvegarde de la base de données en un clic.</a:t>
            </a:r>
            <a:endParaRPr lang="en-US" sz="1500" dirty="0"/>
          </a:p>
        </p:txBody>
      </p:sp>
      <p:sp>
        <p:nvSpPr>
          <p:cNvPr id="24" name="anim5-334"/>
          <p:cNvSpPr/>
          <p:nvPr/>
        </p:nvSpPr>
        <p:spPr>
          <a:xfrm>
            <a:off x="8549640" y="1280160"/>
            <a:ext cx="3108960" cy="4846320"/>
          </a:xfrm>
          <a:prstGeom prst="roundRect">
            <a:avLst>
              <a:gd name="adj" fmla="val 294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anim5-335"/>
          <p:cNvSpPr txBox="1"/>
          <p:nvPr/>
        </p:nvSpPr>
        <p:spPr>
          <a:xfrm>
            <a:off x="8778240" y="1463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6" name="anim6-33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194560"/>
            <a:ext cx="292608" cy="292608"/>
          </a:xfrm>
          <a:prstGeom prst="rect">
            <a:avLst/>
          </a:prstGeom>
        </p:spPr>
      </p:pic>
      <p:sp>
        <p:nvSpPr>
          <p:cNvPr id="27" name="anim6-337"/>
          <p:cNvSpPr txBox="1"/>
          <p:nvPr/>
        </p:nvSpPr>
        <p:spPr>
          <a:xfrm>
            <a:off x="9189720" y="21488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Documents aux couleurs de l'entreprise</a:t>
            </a:r>
            <a:endParaRPr lang="en-US" sz="1400" dirty="0"/>
          </a:p>
        </p:txBody>
      </p:sp>
      <p:pic>
        <p:nvPicPr>
          <p:cNvPr id="28" name="anim7-338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383280"/>
            <a:ext cx="292608" cy="292608"/>
          </a:xfrm>
          <a:prstGeom prst="rect">
            <a:avLst/>
          </a:prstGeom>
        </p:spPr>
      </p:pic>
      <p:sp>
        <p:nvSpPr>
          <p:cNvPr id="29" name="anim7-339"/>
          <p:cNvSpPr txBox="1"/>
          <p:nvPr/>
        </p:nvSpPr>
        <p:spPr>
          <a:xfrm>
            <a:off x="9189720" y="333756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Clients informés automatiquement</a:t>
            </a:r>
            <a:endParaRPr lang="en-US" sz="1400" dirty="0"/>
          </a:p>
        </p:txBody>
      </p:sp>
      <p:pic>
        <p:nvPicPr>
          <p:cNvPr id="30" name="anim8-340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572000"/>
            <a:ext cx="292608" cy="292608"/>
          </a:xfrm>
          <a:prstGeom prst="rect">
            <a:avLst/>
          </a:prstGeom>
        </p:spPr>
      </p:pic>
      <p:sp>
        <p:nvSpPr>
          <p:cNvPr id="31" name="anim8-341"/>
          <p:cNvSpPr txBox="1"/>
          <p:nvPr/>
        </p:nvSpPr>
        <p:spPr>
          <a:xfrm>
            <a:off x="9189720" y="4526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Données protégées par des sauvegardes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  <p:bldP spid="19" grpId="0" animBg="1"/>
      <p:bldP spid="23" grpId="0" animBg="1"/>
      <p:bldP spid="25" grpId="0" animBg="1"/>
      <p:bldP spid="27" grpId="0" animBg="1"/>
      <p:bldP spid="29" grpId="0" animBg="1"/>
      <p:bldP spid="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417320" y="36576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Ce que ça change pour chacun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566928"/>
            <a:ext cx="329184" cy="329184"/>
          </a:xfrm>
          <a:prstGeom prst="rect">
            <a:avLst/>
          </a:prstGeom>
        </p:spPr>
      </p:pic>
      <p:sp>
        <p:nvSpPr>
          <p:cNvPr id="5" name="anim1-342"/>
          <p:cNvSpPr/>
          <p:nvPr/>
        </p:nvSpPr>
        <p:spPr>
          <a:xfrm>
            <a:off x="548640" y="1371600"/>
            <a:ext cx="5394960" cy="4754880"/>
          </a:xfrm>
          <a:prstGeom prst="roundRect">
            <a:avLst>
              <a:gd name="adj" fmla="val 192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anim1-343"/>
          <p:cNvSpPr/>
          <p:nvPr/>
        </p:nvSpPr>
        <p:spPr>
          <a:xfrm>
            <a:off x="822960" y="160020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anim1-34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270" y="1794510"/>
            <a:ext cx="388620" cy="388620"/>
          </a:xfrm>
          <a:prstGeom prst="rect">
            <a:avLst/>
          </a:prstGeom>
        </p:spPr>
      </p:pic>
      <p:sp>
        <p:nvSpPr>
          <p:cNvPr id="8" name="anim1-345"/>
          <p:cNvSpPr txBox="1"/>
          <p:nvPr/>
        </p:nvSpPr>
        <p:spPr>
          <a:xfrm>
            <a:off x="1783080" y="160020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Pour la direction</a:t>
            </a:r>
            <a:endParaRPr lang="en-US" sz="2200" dirty="0"/>
          </a:p>
        </p:txBody>
      </p:sp>
      <p:pic>
        <p:nvPicPr>
          <p:cNvPr id="9" name="anim2-34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752344"/>
            <a:ext cx="310896" cy="310896"/>
          </a:xfrm>
          <a:prstGeom prst="rect">
            <a:avLst/>
          </a:prstGeom>
        </p:spPr>
      </p:pic>
      <p:sp>
        <p:nvSpPr>
          <p:cNvPr id="10" name="anim2-347"/>
          <p:cNvSpPr txBox="1"/>
          <p:nvPr/>
        </p:nvSpPr>
        <p:spPr>
          <a:xfrm>
            <a:off x="1325880" y="2697480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Vision en temps réel de l'activité</a:t>
            </a:r>
            <a:endParaRPr lang="en-US" sz="1700" dirty="0"/>
          </a:p>
        </p:txBody>
      </p:sp>
      <p:pic>
        <p:nvPicPr>
          <p:cNvPr id="11" name="anim3-34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557016"/>
            <a:ext cx="310896" cy="310896"/>
          </a:xfrm>
          <a:prstGeom prst="rect">
            <a:avLst/>
          </a:prstGeom>
        </p:spPr>
      </p:pic>
      <p:sp>
        <p:nvSpPr>
          <p:cNvPr id="12" name="anim3-349"/>
          <p:cNvSpPr txBox="1"/>
          <p:nvPr/>
        </p:nvSpPr>
        <p:spPr>
          <a:xfrm>
            <a:off x="1325880" y="3502152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Rentabilité par véhicule, chauffeur et itinéraire</a:t>
            </a:r>
            <a:endParaRPr lang="en-US" sz="1700" dirty="0"/>
          </a:p>
        </p:txBody>
      </p:sp>
      <p:pic>
        <p:nvPicPr>
          <p:cNvPr id="13" name="anim4-35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361688"/>
            <a:ext cx="310896" cy="310896"/>
          </a:xfrm>
          <a:prstGeom prst="rect">
            <a:avLst/>
          </a:prstGeom>
        </p:spPr>
      </p:pic>
      <p:sp>
        <p:nvSpPr>
          <p:cNvPr id="14" name="anim4-351"/>
          <p:cNvSpPr txBox="1"/>
          <p:nvPr/>
        </p:nvSpPr>
        <p:spPr>
          <a:xfrm>
            <a:off x="1325880" y="4306824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Coûts de carburant et d'entretien maîtrisés</a:t>
            </a:r>
            <a:endParaRPr lang="en-US" sz="1700" dirty="0"/>
          </a:p>
        </p:txBody>
      </p:sp>
      <p:pic>
        <p:nvPicPr>
          <p:cNvPr id="15" name="anim5-35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166360"/>
            <a:ext cx="310896" cy="310896"/>
          </a:xfrm>
          <a:prstGeom prst="rect">
            <a:avLst/>
          </a:prstGeom>
        </p:spPr>
      </p:pic>
      <p:sp>
        <p:nvSpPr>
          <p:cNvPr id="16" name="anim5-353"/>
          <p:cNvSpPr txBox="1"/>
          <p:nvPr/>
        </p:nvSpPr>
        <p:spPr>
          <a:xfrm>
            <a:off x="1325880" y="5111496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Décisions appuyées sur des rapports</a:t>
            </a:r>
            <a:endParaRPr lang="en-US" sz="1700" dirty="0"/>
          </a:p>
        </p:txBody>
      </p:sp>
      <p:sp>
        <p:nvSpPr>
          <p:cNvPr id="17" name="anim6-354"/>
          <p:cNvSpPr/>
          <p:nvPr/>
        </p:nvSpPr>
        <p:spPr>
          <a:xfrm>
            <a:off x="6217920" y="1371600"/>
            <a:ext cx="5394960" cy="4754880"/>
          </a:xfrm>
          <a:prstGeom prst="roundRect">
            <a:avLst>
              <a:gd name="adj" fmla="val 192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anim6-355"/>
          <p:cNvSpPr/>
          <p:nvPr/>
        </p:nvSpPr>
        <p:spPr>
          <a:xfrm>
            <a:off x="6492240" y="160020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anim6-35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6550" y="1794510"/>
            <a:ext cx="388620" cy="388620"/>
          </a:xfrm>
          <a:prstGeom prst="rect">
            <a:avLst/>
          </a:prstGeom>
        </p:spPr>
      </p:pic>
      <p:sp>
        <p:nvSpPr>
          <p:cNvPr id="20" name="anim6-357"/>
          <p:cNvSpPr txBox="1"/>
          <p:nvPr/>
        </p:nvSpPr>
        <p:spPr>
          <a:xfrm>
            <a:off x="7452360" y="160020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Pour les agents</a:t>
            </a:r>
            <a:endParaRPr lang="en-US" sz="2200" dirty="0"/>
          </a:p>
        </p:txBody>
      </p:sp>
      <p:pic>
        <p:nvPicPr>
          <p:cNvPr id="21" name="anim7-35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7960" y="2752344"/>
            <a:ext cx="310896" cy="310896"/>
          </a:xfrm>
          <a:prstGeom prst="rect">
            <a:avLst/>
          </a:prstGeom>
        </p:spPr>
      </p:pic>
      <p:sp>
        <p:nvSpPr>
          <p:cNvPr id="22" name="anim7-359"/>
          <p:cNvSpPr txBox="1"/>
          <p:nvPr/>
        </p:nvSpPr>
        <p:spPr>
          <a:xfrm>
            <a:off x="6995160" y="2697480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Une seule application au lieu de plusieurs outils</a:t>
            </a:r>
            <a:endParaRPr lang="en-US" sz="1700" dirty="0"/>
          </a:p>
        </p:txBody>
      </p:sp>
      <p:pic>
        <p:nvPicPr>
          <p:cNvPr id="23" name="anim8-360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7960" y="3557016"/>
            <a:ext cx="310896" cy="310896"/>
          </a:xfrm>
          <a:prstGeom prst="rect">
            <a:avLst/>
          </a:prstGeom>
        </p:spPr>
      </p:pic>
      <p:sp>
        <p:nvSpPr>
          <p:cNvPr id="24" name="anim8-361"/>
          <p:cNvSpPr txBox="1"/>
          <p:nvPr/>
        </p:nvSpPr>
        <p:spPr>
          <a:xfrm>
            <a:off x="6995160" y="3502152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Informations retrouvées en quelques secondes</a:t>
            </a:r>
            <a:endParaRPr lang="en-US" sz="1700" dirty="0"/>
          </a:p>
        </p:txBody>
      </p:sp>
      <p:pic>
        <p:nvPicPr>
          <p:cNvPr id="25" name="anim9-362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7960" y="4361688"/>
            <a:ext cx="310896" cy="310896"/>
          </a:xfrm>
          <a:prstGeom prst="rect">
            <a:avLst/>
          </a:prstGeom>
        </p:spPr>
      </p:pic>
      <p:sp>
        <p:nvSpPr>
          <p:cNvPr id="26" name="anim9-363"/>
          <p:cNvSpPr txBox="1"/>
          <p:nvPr/>
        </p:nvSpPr>
        <p:spPr>
          <a:xfrm>
            <a:off x="6995160" y="4306824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Rappels automatiques des échéances</a:t>
            </a:r>
            <a:endParaRPr lang="en-US" sz="1700" dirty="0"/>
          </a:p>
        </p:txBody>
      </p:sp>
      <p:pic>
        <p:nvPicPr>
          <p:cNvPr id="27" name="anim10-364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37960" y="5166360"/>
            <a:ext cx="310896" cy="310896"/>
          </a:xfrm>
          <a:prstGeom prst="rect">
            <a:avLst/>
          </a:prstGeom>
        </p:spPr>
      </p:pic>
      <p:sp>
        <p:nvSpPr>
          <p:cNvPr id="28" name="anim10-365"/>
          <p:cNvSpPr txBox="1"/>
          <p:nvPr/>
        </p:nvSpPr>
        <p:spPr>
          <a:xfrm>
            <a:off x="6995160" y="5111496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Moins de saisie grâce aux imports et exports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2" grpId="0" animBg="1"/>
      <p:bldP spid="14" grpId="0" animBg="1"/>
      <p:bldP spid="16" grpId="0" animBg="1"/>
      <p:bldP spid="20" grpId="0" animBg="1"/>
      <p:bldP spid="22" grpId="0" animBg="1"/>
      <p:bldP spid="24" grpId="0" animBg="1"/>
      <p:bldP spid="26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417320" y="36576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Démonstration : un circuit de travail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566928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2801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2"/>
                </a:solidFill>
              </a:rPr>
              <a:t>En direct dans l'application</a:t>
            </a:r>
            <a:endParaRPr lang="en-US" sz="1700" dirty="0"/>
          </a:p>
        </p:txBody>
      </p:sp>
      <p:sp>
        <p:nvSpPr>
          <p:cNvPr id="6" name="anim1-366"/>
          <p:cNvSpPr/>
          <p:nvPr/>
        </p:nvSpPr>
        <p:spPr>
          <a:xfrm>
            <a:off x="1005840" y="1965960"/>
            <a:ext cx="118872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anim1-36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3020" y="2263140"/>
            <a:ext cx="594360" cy="594360"/>
          </a:xfrm>
          <a:prstGeom prst="rect">
            <a:avLst/>
          </a:prstGeom>
        </p:spPr>
      </p:pic>
      <p:sp>
        <p:nvSpPr>
          <p:cNvPr id="8" name="anim1-368"/>
          <p:cNvSpPr/>
          <p:nvPr/>
        </p:nvSpPr>
        <p:spPr>
          <a:xfrm>
            <a:off x="1920240" y="1874520"/>
            <a:ext cx="411480" cy="411480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anim1-369"/>
          <p:cNvSpPr txBox="1"/>
          <p:nvPr/>
        </p:nvSpPr>
        <p:spPr>
          <a:xfrm>
            <a:off x="19202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anim1-370"/>
          <p:cNvSpPr txBox="1"/>
          <p:nvPr/>
        </p:nvSpPr>
        <p:spPr>
          <a:xfrm>
            <a:off x="548640" y="329184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Client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Customer › Add Customer</a:t>
            </a:r>
            <a:endParaRPr lang="en-US" sz="1500" dirty="0"/>
          </a:p>
        </p:txBody>
      </p:sp>
      <p:sp>
        <p:nvSpPr>
          <p:cNvPr id="11" name="anim2-371"/>
          <p:cNvSpPr/>
          <p:nvPr/>
        </p:nvSpPr>
        <p:spPr>
          <a:xfrm>
            <a:off x="2377440" y="2377440"/>
            <a:ext cx="384048" cy="36576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anim3-372"/>
          <p:cNvSpPr/>
          <p:nvPr/>
        </p:nvSpPr>
        <p:spPr>
          <a:xfrm>
            <a:off x="3291840" y="1965960"/>
            <a:ext cx="118872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anim3-37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9020" y="2263140"/>
            <a:ext cx="594360" cy="594360"/>
          </a:xfrm>
          <a:prstGeom prst="rect">
            <a:avLst/>
          </a:prstGeom>
        </p:spPr>
      </p:pic>
      <p:sp>
        <p:nvSpPr>
          <p:cNvPr id="14" name="anim3-374"/>
          <p:cNvSpPr/>
          <p:nvPr/>
        </p:nvSpPr>
        <p:spPr>
          <a:xfrm>
            <a:off x="4206240" y="1874520"/>
            <a:ext cx="411480" cy="411480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5" name="anim3-375"/>
          <p:cNvSpPr txBox="1"/>
          <p:nvPr/>
        </p:nvSpPr>
        <p:spPr>
          <a:xfrm>
            <a:off x="42062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anim3-376"/>
          <p:cNvSpPr txBox="1"/>
          <p:nvPr/>
        </p:nvSpPr>
        <p:spPr>
          <a:xfrm>
            <a:off x="2834640" y="329184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Trajet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Trips › Add Trips</a:t>
            </a:r>
            <a:endParaRPr lang="en-US" sz="1500" dirty="0"/>
          </a:p>
        </p:txBody>
      </p:sp>
      <p:sp>
        <p:nvSpPr>
          <p:cNvPr id="17" name="anim4-377"/>
          <p:cNvSpPr/>
          <p:nvPr/>
        </p:nvSpPr>
        <p:spPr>
          <a:xfrm>
            <a:off x="4663440" y="2377440"/>
            <a:ext cx="384048" cy="36576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anim5-378"/>
          <p:cNvSpPr/>
          <p:nvPr/>
        </p:nvSpPr>
        <p:spPr>
          <a:xfrm>
            <a:off x="5577840" y="1965960"/>
            <a:ext cx="118872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anim5-37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5020" y="2263140"/>
            <a:ext cx="594360" cy="594360"/>
          </a:xfrm>
          <a:prstGeom prst="rect">
            <a:avLst/>
          </a:prstGeom>
        </p:spPr>
      </p:pic>
      <p:sp>
        <p:nvSpPr>
          <p:cNvPr id="20" name="anim5-380"/>
          <p:cNvSpPr/>
          <p:nvPr/>
        </p:nvSpPr>
        <p:spPr>
          <a:xfrm>
            <a:off x="6492240" y="1874520"/>
            <a:ext cx="411480" cy="411480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1" name="anim5-381"/>
          <p:cNvSpPr txBox="1"/>
          <p:nvPr/>
        </p:nvSpPr>
        <p:spPr>
          <a:xfrm>
            <a:off x="64922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anim5-382"/>
          <p:cNvSpPr txBox="1"/>
          <p:nvPr/>
        </p:nvSpPr>
        <p:spPr>
          <a:xfrm>
            <a:off x="5120640" y="329184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Carburant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Fuel › Add Fuel</a:t>
            </a:r>
            <a:endParaRPr lang="en-US" sz="1500" dirty="0"/>
          </a:p>
        </p:txBody>
      </p:sp>
      <p:sp>
        <p:nvSpPr>
          <p:cNvPr id="23" name="anim6-383"/>
          <p:cNvSpPr/>
          <p:nvPr/>
        </p:nvSpPr>
        <p:spPr>
          <a:xfrm>
            <a:off x="6949440" y="2377440"/>
            <a:ext cx="384048" cy="36576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anim7-384"/>
          <p:cNvSpPr/>
          <p:nvPr/>
        </p:nvSpPr>
        <p:spPr>
          <a:xfrm>
            <a:off x="7863840" y="1965960"/>
            <a:ext cx="118872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anim7-38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020" y="2263140"/>
            <a:ext cx="594360" cy="594360"/>
          </a:xfrm>
          <a:prstGeom prst="rect">
            <a:avLst/>
          </a:prstGeom>
        </p:spPr>
      </p:pic>
      <p:sp>
        <p:nvSpPr>
          <p:cNvPr id="26" name="anim7-386"/>
          <p:cNvSpPr/>
          <p:nvPr/>
        </p:nvSpPr>
        <p:spPr>
          <a:xfrm>
            <a:off x="8778240" y="1874520"/>
            <a:ext cx="411480" cy="411480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7" name="anim7-387"/>
          <p:cNvSpPr txBox="1"/>
          <p:nvPr/>
        </p:nvSpPr>
        <p:spPr>
          <a:xfrm>
            <a:off x="87782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anim7-388"/>
          <p:cNvSpPr txBox="1"/>
          <p:nvPr/>
        </p:nvSpPr>
        <p:spPr>
          <a:xfrm>
            <a:off x="7406640" y="329184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Transaction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Accounts › Add Transactions</a:t>
            </a:r>
            <a:endParaRPr lang="en-US" sz="1500" dirty="0"/>
          </a:p>
        </p:txBody>
      </p:sp>
      <p:sp>
        <p:nvSpPr>
          <p:cNvPr id="29" name="anim8-389"/>
          <p:cNvSpPr/>
          <p:nvPr/>
        </p:nvSpPr>
        <p:spPr>
          <a:xfrm>
            <a:off x="9235440" y="2377440"/>
            <a:ext cx="384048" cy="36576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anim9-390"/>
          <p:cNvSpPr/>
          <p:nvPr/>
        </p:nvSpPr>
        <p:spPr>
          <a:xfrm>
            <a:off x="10149840" y="1965960"/>
            <a:ext cx="118872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anim9-39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47020" y="2263140"/>
            <a:ext cx="594360" cy="594360"/>
          </a:xfrm>
          <a:prstGeom prst="rect">
            <a:avLst/>
          </a:prstGeom>
        </p:spPr>
      </p:pic>
      <p:sp>
        <p:nvSpPr>
          <p:cNvPr id="32" name="anim9-392"/>
          <p:cNvSpPr/>
          <p:nvPr/>
        </p:nvSpPr>
        <p:spPr>
          <a:xfrm>
            <a:off x="11064240" y="1874520"/>
            <a:ext cx="411480" cy="411480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33" name="anim9-393"/>
          <p:cNvSpPr txBox="1"/>
          <p:nvPr/>
        </p:nvSpPr>
        <p:spPr>
          <a:xfrm>
            <a:off x="110642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anim9-394"/>
          <p:cNvSpPr txBox="1"/>
          <p:nvPr/>
        </p:nvSpPr>
        <p:spPr>
          <a:xfrm>
            <a:off x="9692640" y="329184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Tableau de bord et rapport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Dashboard · Reports</a:t>
            </a:r>
            <a:endParaRPr lang="en-US" sz="1500" dirty="0"/>
          </a:p>
        </p:txBody>
      </p:sp>
      <p:sp>
        <p:nvSpPr>
          <p:cNvPr id="35" name="anim10-395"/>
          <p:cNvSpPr/>
          <p:nvPr/>
        </p:nvSpPr>
        <p:spPr>
          <a:xfrm>
            <a:off x="548640" y="4754880"/>
            <a:ext cx="11064240" cy="128016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6" name="anim10-396"/>
          <p:cNvSpPr/>
          <p:nvPr/>
        </p:nvSpPr>
        <p:spPr>
          <a:xfrm>
            <a:off x="777240" y="502920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37" name="anim10-39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212080"/>
            <a:ext cx="365760" cy="365760"/>
          </a:xfrm>
          <a:prstGeom prst="rect">
            <a:avLst/>
          </a:prstGeom>
        </p:spPr>
      </p:pic>
      <p:sp>
        <p:nvSpPr>
          <p:cNvPr id="38" name="anim10-398"/>
          <p:cNvSpPr txBox="1"/>
          <p:nvPr/>
        </p:nvSpPr>
        <p:spPr>
          <a:xfrm>
            <a:off x="1737360" y="4754880"/>
            <a:ext cx="9692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Objectif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montrer qu'une seule saisie alimente tout le reste : le trajet apparaît dans le calendrier, le carburant et la transaction dans les finances, puis dans le tableau de bord et les rapports.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5" grpId="0" animBg="1"/>
      <p:bldP spid="16" grpId="0" animBg="1"/>
      <p:bldP spid="21" grpId="0" animBg="1"/>
      <p:bldP spid="22" grpId="0" animBg="1"/>
      <p:bldP spid="27" grpId="0" animBg="1"/>
      <p:bldP spid="28" grpId="0" animBg="1"/>
      <p:bldP spid="33" grpId="0" animBg="1"/>
      <p:bldP spid="34" grpId="0" animBg="1"/>
      <p:bldP spid="3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822960"/>
            <a:ext cx="6035040" cy="60350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4480560"/>
            <a:ext cx="3291840" cy="3291840"/>
          </a:xfrm>
          <a:prstGeom prst="ellipse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alpha val="70000"/>
              </a:schemeClr>
            </a:solidFill>
            <a:prstDash val="solid"/>
          </a:ln>
        </p:spPr>
      </p:sp>
      <p:pic>
        <p:nvPicPr>
          <p:cNvPr id="4" name="anim1-39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005840"/>
            <a:ext cx="3108960" cy="3108960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0" type="title" hasCustomPrompt="1"/>
          </p:nvPr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Questions et échanges</a:t>
            </a:r>
            <a:endParaRPr lang="en-US" sz="4000" dirty="0"/>
          </a:p>
        </p:txBody>
      </p:sp>
      <p:sp>
        <p:nvSpPr>
          <p:cNvPr id="6" name="anim2-400"/>
          <p:cNvSpPr txBox="1"/>
          <p:nvPr/>
        </p:nvSpPr>
        <p:spPr>
          <a:xfrm>
            <a:off x="731520" y="3703320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Merci de votre attention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417320" y="36576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Coûts de fonctionnement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566928"/>
            <a:ext cx="329184" cy="329184"/>
          </a:xfrm>
          <a:prstGeom prst="rect">
            <a:avLst/>
          </a:prstGeom>
        </p:spPr>
      </p:pic>
      <p:sp>
        <p:nvSpPr>
          <p:cNvPr id="5" name="anim1-401"/>
          <p:cNvSpPr/>
          <p:nvPr/>
        </p:nvSpPr>
        <p:spPr>
          <a:xfrm>
            <a:off x="548640" y="1371600"/>
            <a:ext cx="512064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anim1-402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anim1-40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737360"/>
            <a:ext cx="274320" cy="274320"/>
          </a:xfrm>
          <a:prstGeom prst="rect">
            <a:avLst/>
          </a:prstGeom>
        </p:spPr>
      </p:pic>
      <p:sp>
        <p:nvSpPr>
          <p:cNvPr id="8" name="anim1-404"/>
          <p:cNvSpPr txBox="1"/>
          <p:nvPr/>
        </p:nvSpPr>
        <p:spPr>
          <a:xfrm>
            <a:off x="1463040" y="160020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Hébergement du serveur</a:t>
            </a:r>
            <a:endParaRPr lang="en-US" sz="1600" dirty="0"/>
          </a:p>
        </p:txBody>
      </p:sp>
      <p:sp>
        <p:nvSpPr>
          <p:cNvPr id="9" name="anim1-405"/>
          <p:cNvSpPr txBox="1"/>
          <p:nvPr/>
        </p:nvSpPr>
        <p:spPr>
          <a:xfrm>
            <a:off x="777240" y="228600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100 000 FCFA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par an</a:t>
            </a:r>
            <a:endParaRPr lang="en-US" sz="1500" dirty="0"/>
          </a:p>
        </p:txBody>
      </p:sp>
      <p:sp>
        <p:nvSpPr>
          <p:cNvPr id="10" name="anim2-406"/>
          <p:cNvSpPr/>
          <p:nvPr/>
        </p:nvSpPr>
        <p:spPr>
          <a:xfrm>
            <a:off x="548640" y="3749040"/>
            <a:ext cx="512064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anim2-407"/>
          <p:cNvSpPr/>
          <p:nvPr/>
        </p:nvSpPr>
        <p:spPr>
          <a:xfrm>
            <a:off x="77724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anim2-40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114800"/>
            <a:ext cx="274320" cy="274320"/>
          </a:xfrm>
          <a:prstGeom prst="rect">
            <a:avLst/>
          </a:prstGeom>
        </p:spPr>
      </p:pic>
      <p:sp>
        <p:nvSpPr>
          <p:cNvPr id="13" name="anim2-409"/>
          <p:cNvSpPr txBox="1"/>
          <p:nvPr/>
        </p:nvSpPr>
        <p:spPr>
          <a:xfrm>
            <a:off x="1463040" y="397764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Maintenance</a:t>
            </a:r>
            <a:endParaRPr lang="en-US" sz="1600" dirty="0"/>
          </a:p>
        </p:txBody>
      </p:sp>
      <p:sp>
        <p:nvSpPr>
          <p:cNvPr id="14" name="anim2-410"/>
          <p:cNvSpPr txBox="1"/>
          <p:nvPr/>
        </p:nvSpPr>
        <p:spPr>
          <a:xfrm>
            <a:off x="777240" y="466344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100 000 FCFA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par mois, formation des agents comprise</a:t>
            </a:r>
            <a:endParaRPr lang="en-US" sz="1500" dirty="0"/>
          </a:p>
        </p:txBody>
      </p:sp>
      <p:sp>
        <p:nvSpPr>
          <p:cNvPr id="15" name="anim3-411"/>
          <p:cNvSpPr txBox="1"/>
          <p:nvPr/>
        </p:nvSpPr>
        <p:spPr>
          <a:xfrm>
            <a:off x="6126480" y="137160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Calendrier de paiement de la maintenance</a:t>
            </a:r>
            <a:endParaRPr lang="en-US" sz="1700" dirty="0"/>
          </a:p>
        </p:txBody>
      </p:sp>
      <p:sp>
        <p:nvSpPr>
          <p:cNvPr id="16" name="anim3-412"/>
          <p:cNvSpPr/>
          <p:nvPr/>
        </p:nvSpPr>
        <p:spPr>
          <a:xfrm>
            <a:off x="6126480" y="1965960"/>
            <a:ext cx="5532120" cy="173736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anim3-413"/>
          <p:cNvSpPr txBox="1"/>
          <p:nvPr/>
        </p:nvSpPr>
        <p:spPr>
          <a:xfrm>
            <a:off x="6309360" y="2057400"/>
            <a:ext cx="5212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Premier paiement : 300 000 FCFA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1er mois de maintenance + 2 mois payés d'avance (mois 2 et 3)</a:t>
            </a:r>
            <a:endParaRPr lang="en-US" sz="1500" dirty="0"/>
          </a:p>
        </p:txBody>
      </p:sp>
      <p:sp>
        <p:nvSpPr>
          <p:cNvPr id="18" name="anim4-414"/>
          <p:cNvSpPr/>
          <p:nvPr/>
        </p:nvSpPr>
        <p:spPr>
          <a:xfrm>
            <a:off x="8686800" y="3794760"/>
            <a:ext cx="411480" cy="411480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anim4-415"/>
          <p:cNvSpPr/>
          <p:nvPr/>
        </p:nvSpPr>
        <p:spPr>
          <a:xfrm>
            <a:off x="6126480" y="4297680"/>
            <a:ext cx="553212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anim4-416"/>
          <p:cNvSpPr txBox="1"/>
          <p:nvPr/>
        </p:nvSpPr>
        <p:spPr>
          <a:xfrm>
            <a:off x="6309360" y="4389120"/>
            <a:ext cx="5212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À partir du 4ᵉ mois : 100 000 FCFA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réglés chaque mois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4" grpId="0" animBg="1"/>
      <p:bldP spid="15" grpId="0" animBg="1"/>
      <p:bldP spid="17" grpId="0" animBg="1"/>
      <p:bldP spid="20" grpId="0" animBg="1"/>
    </p:bldLst>
  </p:timing>
</p:sld>
</file>

<file path=ppt/theme/theme1.xml><?xml version="1.0" encoding="utf-8"?>
<a:theme xmlns:a="http://schemas.openxmlformats.org/drawingml/2006/main" name="DTI">
  <a:themeElements>
    <a:clrScheme name="DTI">
      <a:dk1>
        <a:srgbClr val="1B2430"/>
      </a:dk1>
      <a:lt1>
        <a:srgbClr val="FFFFFF"/>
      </a:lt1>
      <a:dk2>
        <a:srgbClr val="1E2340"/>
      </a:dk2>
      <a:lt2>
        <a:srgbClr val="EEF1F5"/>
      </a:lt2>
      <a:accent1>
        <a:srgbClr val="C60007"/>
      </a:accent1>
      <a:accent2>
        <a:srgbClr val="2E6F8E"/>
      </a:accent2>
      <a:accent3>
        <a:srgbClr val="4E8A5B"/>
      </a:accent3>
      <a:accent4>
        <a:srgbClr val="E8A317"/>
      </a:accent4>
      <a:accent5>
        <a:srgbClr val="6B7584"/>
      </a:accent5>
      <a:accent6>
        <a:srgbClr val="C9D3DD"/>
      </a:accent6>
      <a:hlink>
        <a:srgbClr val="2E6F8E"/>
      </a:hlink>
      <a:folHlink>
        <a:srgbClr val="6B7584"/>
      </a:folHlink>
    </a:clrScheme>
    <a:fontScheme name="DT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Division Terrestre Internationale</dc:title>
  <dc:subject>PptxGenJS Presentation</dc:subject>
  <dc:creator>PptxGenJS</dc:creator>
  <cp:lastModifiedBy>PptxGenJS</cp:lastModifiedBy>
  <cp:revision>1</cp:revision>
  <dcterms:created xsi:type="dcterms:W3CDTF">2026-10-30T02:07:55Z</dcterms:created>
  <dcterms:modified xsi:type="dcterms:W3CDTF">2026-10-30T02:07:55Z</dcterms:modified>
</cp:coreProperties>
</file>