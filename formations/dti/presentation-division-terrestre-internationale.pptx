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b617b56-124b-767e-98f0-9b405e1c7b27}">
          <p14:sldIdLst>
            <p14:sldId id="256"/>
            <p14:sldId id="257"/>
            <p14:sldId id="258"/>
            <p14:sldId id="259"/>
            <p14:sldId id="260"/>
          </p14:sldIdLst>
        </p14:section>
        <p14:section name="Suivre l'activité" id="{fb9511ad-70a4-738b-3403-0ac6e6a9e4ab}">
          <p14:sldIdLst>
            <p14:sldId id="261"/>
          </p14:sldIdLst>
        </p14:section>
        <p14:section name="Les camions" id="{b9f31368-b6ed-4124-1ba8-5716f911f494}">
          <p14:sldIdLst>
            <p14:sldId id="262"/>
            <p14:sldId id="263"/>
            <p14:sldId id="264"/>
          </p14:sldIdLst>
        </p14:section>
        <p14:section name="Clients et trajets" id="{b1d0d82f-e0c2-d26d-dacc-e0ad3c8cbd42}">
          <p14:sldIdLst>
            <p14:sldId id="265"/>
          </p14:sldIdLst>
        </p14:section>
        <p14:section name="Entretien et carburant" id="{92ac5777-6e3d-de00-18e4-95b1a5568bc7}">
          <p14:sldIdLst>
            <p14:sldId id="266"/>
            <p14:sldId id="267"/>
          </p14:sldIdLst>
        </p14:section>
        <p14:section name="Argent et rapports" id="{de2ac348-438c-940e-7e27-7af3f0f677e4}">
          <p14:sldIdLst>
            <p14:sldId id="268"/>
            <p14:sldId id="269"/>
          </p14:sldIdLst>
        </p14:section>
        <p14:section name="Comptes et réglages" id="{6d39bf5f-75a3-c8be-6f5a-f14bac9306af}">
          <p14:sldIdLst>
            <p14:sldId id="270"/>
            <p14:sldId id="271"/>
          </p14:sldIdLst>
        </p14:section>
        <p14:section name="Les bons réflexes" id="{79a858cd-e39e-ce5b-ffe8-5d7ab81d44fc}">
          <p14:sldIdLst>
            <p14:sldId id="272"/>
            <p14:sldId id="273"/>
            <p14:sldId id="274"/>
            <p14:sldId id="275"/>
            <p14:sldId id="276"/>
            <p14:sldId id="277"/>
          </p14:sldIdLst>
        </p14:section>
        <p14:section name="Pour finir" id="{9cd06b67-c09e-3cc0-03de-4bcf43b6263e}">
          <p14:sldIdLst>
            <p14:sldId id="278"/>
            <p14:sldId id="279"/>
            <p14:sldId id="280"/>
            <p14:sldId id="281"/>
          </p14:sldIdLst>
        </p14:section>
        <p14:section name="Réserve" id="{e1e41c07-7d1f-cfdd-9ddc-ae254427e989}">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Vous utilisez déjà le logiciel Division Terrestre Internationale. Aujourd'hui, on va voir ensemble comment bien l'utiliser, tous les jours. D'abord, on fait le tour des rubriques. Ensuite, on parle des bons réflexes. Puis je vous montre un exemple en direct. À la fin, vous pourrez poser toutes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logiciel est déjà là. Mais il nous aide seulement si on y note bien les choses. Si on oublie de noter une date ou un plein, le logiciel ne peut pas nous prévenir, et les chiffres sont faux. Si chacun note bien, on retrouve tout vite, les alertes marchent et les chiffres sont justes. Question à la salle : aujourd'hui, est-ce que tout est bien noté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le menu à gauche de l'écran, il y a 18 rubriques. Pour s'y retrouver, je les ai rangées en 6 familles. Les noms dans le menu sont en anglais : sur la page suivante, je vous donne leur traduction.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logiciel affiche ses menus en anglais. Voici la traduction des mots que vous verrez le plus souvent. Pas besoin de tout retenir : gardez cette page sous la main au début.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Prenons l'histoire d'un trajet. Un client appelle. On réserve un camion libre et un chauffeur. Le camion roule, et on le voit sur la carte. Il fait le plein. Il passe à l'entretien. Le client paie. À la fin, on regarde ce que ce trajet a rapporté. Chaque étape a sa place dans le logiciel : on va les voir une par 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tableau de bord, c'est la première page quand on se connecte. On y voit les chiffres du jour, les camions libres ou en route, et ce qui est urgent. Avant de réserver un trajet, regardez toujours le calendrier (Availability) pour voir quels camions sont libres.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camion a sa fiche, comme une carte d'identité. Regardez les dates de fin de l'assurance et de l'immatriculation : quand la date est passée, elle s'affiche en rouge. Sur toutes les listes, les petits boutons Excel et PDF permettent de sortir la liste. On peut aussi ajouter beaucoup de camions d'un coup avec un fichier tableur.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chaque chauffeur, on note son permis et sa date de fin. Quand un permis est périmé, il s'affiche en rouge : il ne faut pas lui confier de camion. Les loueurs, ce sont les entreprises qui nous louent des camions ; on garde leurs contrats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Ici, on voit les camions sur une carte. Attention : il faut qu'un petit boîtier GPS soit installé dans le camion. On peut voir où est le camion maintenant, ou le chemin qu'il a pris avant. On peut aussi dessiner un lieu sur la carte, comme le dépôt, et être prévenu quand un camion y entre ou en 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ici qu'on crée les trajets. On choisit le client, le camion, le chauffeur, le départ et l'arrivée. On peut faire payer de 9 façons : un prix fixe, à la tonne, au kilo, au kilomètre, au trajet, au jour, à l'heure, au litre ou au sac. Le client peut recevoir sa réservation par e-mail ou par SMS. On voit aussi ce que chaque client doit encore payer.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Ici, on note chaque entretien : quel camion, quel mécanicien, combien ça a coûté et quelles pièces on a utilisées. Les rappels servent à ne pas oublier une vidange ou une révision. Ils apparaissent aussi sur le tableau de 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chaque plein, on note les litres, le prix et le kilométrage du camion. Grâce au kilométrage, on peut voir si un camion consomme trop. Le carburant peut venir de notre cuve ou d'une station : pour la cuve, le logiciel compte combien de litres il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Ici, on note tout l'argent qui entre et qui sort : les recettes des trajets, le carburant, les salaires… Chaque opération est liée à un camion. Comme ça, on voit ce que chaque camion rapporte. On peut chercher par dates, et le logiciel fait les totaux tout seul.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rapports sont des bilans tout prêts. On choisit les dates, on clique, et le logiciel fait le travail. Les rapports « Top » montrent ce qui rapporte le plus et ce qui coûte le plus. Plus besoin de faire les calculs à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personne a son propre compte, avec son mot de passe. Pour chaque compte, on coche ce que la personne peut faire : voir, ajouter, modifier ou supprimer. Comme ça, chacun voit seulement ce dont il a besoin. Quand quelqu'un quitte l'entreprise, on bloque son compte.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réglages, c'est l'administrateur qui s'en occupe. On y met le nom et le logo de l'entreprise, les messages envoyés aux clients, et on fait des copies de sécurité de toutes les informations.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logiciel protège nos informations, mais il ne peut pas tout faire seul. La plupart des problèmes viennent de petits gestes : un mot de passe prêté, une liste envoyée sur WhatsApp, un plein pas noté. On va voir les bons réflexes, très simples.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Votre compte, c'est comme votre signature. Tout ce qui est fait avec votre compte est noté à votre nom. Si vous prêtez votre mot de passe, on ne sait plus qui a fait quoi. Et attention : personne ne vous demandera jamais votre mot de passe par téléphone, par e-mail ou par WhatsApp. Question à la salle : qui a déjà prêté son mot de passe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numéros des clients, les permis des chauffeurs, les salaires : ce sont des informations privées. Dans le logiciel, elles sont protégées. Mais dès qu'on les sort, en fichier ou en photo de l'écran, elles ne sont plus protégées. Exemple : une liste de clients envoyée par erreur dans un groupe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logiciel donne des chiffres justes seulement si on note juste. Notez les choses tout de suite, pas en fin de mois. Vérifiez avant d'enregistrer. Avant de créer un client, cherchez s'il existe déjà, pour ne pas le créer deux fois. Exemple : dans notre logiciel, le type « Trip Income » existe deux fois, et les recettes sont coupées en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vous avez un problème, prévenez vite. Ce n'est jamais une faute de prévenir. Si votre mot de passe a pu être vu, changez-le tout de suite. Si un message vous demande votre mot de passe, ne répondez pas. Si vous voyez une erreur, corrigez-la ou prévenez votre responsable. Dites bien à qui s'adresser dans l'entreprise.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Lisez chaque phrase, faites voter à main levée, puis donnez la réponse. RÉPONSES : 1) FAUX : tout ce qui est fait avec votre compte est noté à votre nom. 2) FAUX : ce sont des informations privées, elles ne doivent pas sortir. 3) VRAI : on note tout de suite pour avoir des chiffres justes. 4) VRAI : le jour même de son départ.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résumer en chiffres : 18 rubriques, 11 rapports, 9 façons de faire payer un trajet, et une seule application pour tout le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Chacun a son rôle. La direction regarde le tableau de bord et les rapports, et décide qui peut faire quoi. Les agents notent tout de suite les trajets, les pleins et les dépenses, et préviennent en cas de problème. Question : quelle est la première chose que vous ferez demain dans le logiciel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fait un exemple ensemble, en direct. 1) On crée un client pour l'essai. 2) On crée un trajet pour ce client, avec un camion et un chauffeur. 3) On note un plein pour ce camion. 4) On note l'argent reçu pour le trajet. 5) On regarde le tableau de bord et un rapport : tout s'est mis à jour tout seul. À la fin, supprimer les données de l'essai.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pour votre attention. Avez-vous des questions ? Dites-moi aussi ce qui vous semble difficile, pour qu'on puisse vous accompagner.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MASQUÉE : elle ne s'affiche pas pendant le diaporama. Pour l'afficher si la direction pose la question, taper 27 puis Entrée pendant le diaporama. Ne présenter que ces montants, sans autres frais.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OMBR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PACT-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CONTENU-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OMB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58368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MPAC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446520"/>
            <a:ext cx="201168" cy="201168"/>
          </a:xfrm>
          <a:prstGeom prst="rect">
            <a:avLst/>
          </a:prstGeom>
        </p:spPr>
      </p:pic>
      <p:sp>
        <p:nvSpPr>
          <p:cNvPr id="3" name="Text 0"/>
          <p:cNvSpPr/>
          <p:nvPr/>
        </p:nvSpPr>
        <p:spPr>
          <a:xfrm>
            <a:off x="822960" y="6400800"/>
            <a:ext cx="7315200" cy="274320"/>
          </a:xfrm>
          <a:prstGeom prst="rect">
            <a:avLst/>
          </a:prstGeom>
          <a:noFill/>
          <a:ln/>
        </p:spPr>
        <p:txBody>
          <a:bodyPr wrap="square" rtlCol="0" anchor="ctr"/>
          <a:lstStyle/>
          <a:p>
            <a:pPr indent="0" marL="0">
              <a:buNone/>
            </a:pPr>
            <a:r>
              <a:rPr lang="en-US" sz="1000" dirty="0">
                <a:solidFill>
                  <a:schemeClr val="accent5"/>
                </a:solidFill>
              </a:rPr>
              <a:t>Division Terrestre Internationale</a:t>
            </a:r>
            <a:endParaRPr lang="en-US" sz="1000" dirty="0"/>
          </a:p>
        </p:txBody>
      </p:sp>
      <p:sp>
        <p:nvSpPr>
          <p:cNvPr id="4" name="Text 1"/>
          <p:cNvSpPr/>
          <p:nvPr>
            <p:ph idx="102" type="title" hasCustomPrompt="1"/>
          </p:nvPr>
        </p:nvSpPr>
        <p:spPr>
          <a:xfrm>
            <a:off x="1463040" y="566928"/>
            <a:ext cx="10149840" cy="6400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4.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4.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4.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4.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4.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4.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4.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4.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4.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4.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slideLayout" Target="../slideLayouts/slideLayout4.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4.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4.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slideLayout" Target="../slideLayouts/slideLayout4.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4.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4.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4.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image" Target="../media/image-24-10.png"/><Relationship Id="rId11" Type="http://schemas.openxmlformats.org/officeDocument/2006/relationships/image" Target="../media/image-24-11.png"/><Relationship Id="rId12" Type="http://schemas.openxmlformats.org/officeDocument/2006/relationships/slideLayout" Target="../slideLayouts/slideLayout4.xml"/><Relationship Id="rId1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4.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4.xml"/><Relationship Id="rId5"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412480" y="822960"/>
            <a:ext cx="3566160" cy="3566160"/>
          </a:xfrm>
          <a:prstGeom prst="ellipse">
            <a:avLst/>
          </a:prstGeom>
          <a:solidFill>
            <a:schemeClr val="accent1">
              <a:alpha val="45000"/>
            </a:schemeClr>
          </a:solidFill>
          <a:ln w="12700">
            <a:solidFill>
              <a:schemeClr val="accent2">
                <a:alpha val="40000"/>
              </a:schemeClr>
            </a:solidFill>
            <a:prstDash val="solid"/>
          </a:ln>
        </p:spPr>
      </p:sp>
      <p:pic>
        <p:nvPicPr>
          <p:cNvPr id="3" name="anim1-1" descr="preencoded.png">    </p:cNvPr>
          <p:cNvPicPr>
            <a:picLocks noChangeAspect="1"/>
          </p:cNvPicPr>
          <p:nvPr/>
        </p:nvPicPr>
        <p:blipFill>
          <a:blip r:embed="rId1"/>
          <a:stretch>
            <a:fillRect/>
          </a:stretch>
        </p:blipFill>
        <p:spPr>
          <a:xfrm>
            <a:off x="9189720" y="1600200"/>
            <a:ext cx="2011680" cy="2011680"/>
          </a:xfrm>
          <a:prstGeom prst="rect">
            <a:avLst/>
          </a:prstGeom>
        </p:spPr>
      </p:pic>
      <p:sp>
        <p:nvSpPr>
          <p:cNvPr id="4" name="Shape 1"/>
          <p:cNvSpPr/>
          <p:nvPr/>
        </p:nvSpPr>
        <p:spPr>
          <a:xfrm>
            <a:off x="731520" y="1417320"/>
            <a:ext cx="109728" cy="109728"/>
          </a:xfrm>
          <a:prstGeom prst="ellipse">
            <a:avLst/>
          </a:prstGeom>
          <a:solidFill>
            <a:schemeClr val="accent4"/>
          </a:solidFill>
          <a:ln w="12700">
            <a:solidFill>
              <a:schemeClr val="accent4"/>
            </a:solidFill>
            <a:prstDash val="solid"/>
          </a:ln>
        </p:spPr>
      </p:sp>
      <p:sp>
        <p:nvSpPr>
          <p:cNvPr id="5" name="Text 2"/>
          <p:cNvSpPr txBox="1"/>
          <p:nvPr/>
        </p:nvSpPr>
        <p:spPr>
          <a:xfrm>
            <a:off x="914400" y="1325880"/>
            <a:ext cx="5486400" cy="292608"/>
          </a:xfrm>
          <a:prstGeom prst="rect">
            <a:avLst/>
          </a:prstGeom>
          <a:noFill/>
          <a:ln/>
        </p:spPr>
        <p:txBody>
          <a:bodyPr wrap="square" lIns="0" tIns="0" rIns="0" bIns="0" rtlCol="0" anchor="ctr"/>
          <a:lstStyle/>
          <a:p>
            <a:pPr indent="0" marL="0">
              <a:buNone/>
            </a:pPr>
            <a:r>
              <a:rPr lang="en-US" sz="1200" b="1" spc="300" kern="0" dirty="0">
                <a:solidFill>
                  <a:schemeClr val="accent2"/>
                </a:solidFill>
              </a:rPr>
              <a:t>PRISE EN MAIN DU LOGICIEL</a:t>
            </a:r>
            <a:endParaRPr lang="en-US" sz="1200" dirty="0"/>
          </a:p>
        </p:txBody>
      </p:sp>
      <p:sp>
        <p:nvSpPr>
          <p:cNvPr id="6" name="Text 0"/>
          <p:cNvSpPr/>
          <p:nvPr>
            <p:ph idx="100" type="title" hasCustomPrompt="1"/>
          </p:nvPr>
        </p:nvSpPr>
        <p:spPr>
          <a:xfrm>
            <a:off x="731520" y="1828800"/>
            <a:ext cx="6583680" cy="1737360"/>
          </a:xfrm>
          <a:prstGeom prst="rect">
            <a:avLst/>
          </a:prstGeom>
          <a:noFill/>
          <a:ln/>
        </p:spPr>
        <p:txBody>
          <a:bodyPr wrap="square" rtlCol="0" anchor="b"/>
          <a:lstStyle/>
          <a:p>
            <a:pPr algn="l" indent="0" marL="0">
              <a:buNone/>
            </a:pPr>
            <a:r>
              <a:rPr lang="en-US" sz="4000" b="1" dirty="0">
                <a:solidFill>
                  <a:schemeClr val="bg1"/>
                </a:solidFill>
              </a:rPr>
              <a:t>Division Terrestre Internationale</a:t>
            </a:r>
            <a:endParaRPr lang="en-US" sz="4000" dirty="0"/>
          </a:p>
        </p:txBody>
      </p:sp>
      <p:sp>
        <p:nvSpPr>
          <p:cNvPr id="7" name="anim2-2"/>
          <p:cNvSpPr txBox="1"/>
          <p:nvPr/>
        </p:nvSpPr>
        <p:spPr>
          <a:xfrm>
            <a:off x="731520" y="3703320"/>
            <a:ext cx="6583680" cy="822960"/>
          </a:xfrm>
          <a:prstGeom prst="rect">
            <a:avLst/>
          </a:prstGeom>
          <a:noFill/>
          <a:ln/>
        </p:spPr>
        <p:txBody>
          <a:bodyPr wrap="square" rtlCol="0" anchor="t"/>
          <a:lstStyle/>
          <a:p>
            <a:pPr indent="0" marL="0">
              <a:buNone/>
            </a:pPr>
            <a:r>
              <a:rPr lang="en-US" sz="2000" dirty="0">
                <a:solidFill>
                  <a:schemeClr val="accent2"/>
                </a:solidFill>
              </a:rPr>
              <a:t>Gérer les camions, les chauffeurs, les trajets et l'argent de l'entreprise</a:t>
            </a:r>
            <a:endParaRPr lang="en-US" sz="2000" dirty="0"/>
          </a:p>
        </p:txBody>
      </p:sp>
      <p:sp>
        <p:nvSpPr>
          <p:cNvPr id="8" name="anim3-3"/>
          <p:cNvSpPr/>
          <p:nvPr/>
        </p:nvSpPr>
        <p:spPr>
          <a:xfrm>
            <a:off x="731520" y="4937760"/>
            <a:ext cx="640080" cy="640080"/>
          </a:xfrm>
          <a:prstGeom prst="roundRect">
            <a:avLst>
              <a:gd name="adj" fmla="val 22000"/>
            </a:avLst>
          </a:prstGeom>
          <a:solidFill>
            <a:schemeClr val="accent1"/>
          </a:solidFill>
          <a:ln w="12700">
            <a:solidFill>
              <a:schemeClr val="accent1"/>
            </a:solidFill>
            <a:prstDash val="solid"/>
          </a:ln>
        </p:spPr>
      </p:sp>
      <p:pic>
        <p:nvPicPr>
          <p:cNvPr id="9" name="anim3-4" descr="preencoded.png">    </p:cNvPr>
          <p:cNvPicPr>
            <a:picLocks noChangeAspect="1"/>
          </p:cNvPicPr>
          <p:nvPr/>
        </p:nvPicPr>
        <p:blipFill>
          <a:blip r:embed="rId2"/>
          <a:stretch>
            <a:fillRect/>
          </a:stretch>
        </p:blipFill>
        <p:spPr>
          <a:xfrm>
            <a:off x="897941" y="5104181"/>
            <a:ext cx="307238" cy="307238"/>
          </a:xfrm>
          <a:prstGeom prst="rect">
            <a:avLst/>
          </a:prstGeom>
        </p:spPr>
      </p:pic>
      <p:sp>
        <p:nvSpPr>
          <p:cNvPr id="10" name="anim3-5"/>
          <p:cNvSpPr txBox="1"/>
          <p:nvPr/>
        </p:nvSpPr>
        <p:spPr>
          <a:xfrm>
            <a:off x="1554480" y="4846320"/>
            <a:ext cx="4206240" cy="1005840"/>
          </a:xfrm>
          <a:prstGeom prst="rect">
            <a:avLst/>
          </a:prstGeom>
          <a:noFill/>
          <a:ln/>
        </p:spPr>
        <p:txBody>
          <a:bodyPr wrap="square" lIns="0" tIns="0" rIns="0" bIns="0" rtlCol="0" anchor="ctr"/>
          <a:lstStyle/>
          <a:p>
            <a:pPr indent="0" marL="0">
              <a:buNone/>
            </a:pPr>
            <a:r>
              <a:rPr lang="en-US" sz="1000" b="1" spc="200" kern="0" dirty="0">
                <a:solidFill>
                  <a:schemeClr val="accent2"/>
                </a:solidFill>
              </a:rPr>
              <a:t>PRÉSENTÉ PAR</a:t>
            </a:r>
            <a:endParaRPr lang="en-US" sz="1500" dirty="0"/>
          </a:p>
          <a:p>
            <a:pPr indent="0" marL="0">
              <a:buNone/>
            </a:pPr>
            <a:r>
              <a:rPr lang="en-US" sz="1900" b="1" dirty="0">
                <a:solidFill>
                  <a:schemeClr val="bg1"/>
                </a:solidFill>
              </a:rPr>
              <a:t>Armel Meledje</a:t>
            </a:r>
            <a:endParaRPr lang="en-US" sz="1500" dirty="0"/>
          </a:p>
          <a:p>
            <a:pPr indent="0" marL="0">
              <a:buNone/>
            </a:pPr>
            <a:r>
              <a:rPr lang="en-US" sz="1300" dirty="0">
                <a:solidFill>
                  <a:schemeClr val="accent2"/>
                </a:solidFill>
              </a:rPr>
              <a:t>Développeur Senior – Ingénieur de conception</a:t>
            </a:r>
            <a:endParaRPr lang="en-US" sz="1500" dirty="0"/>
          </a:p>
        </p:txBody>
      </p:sp>
      <p:sp>
        <p:nvSpPr>
          <p:cNvPr id="11" name="anim4-6"/>
          <p:cNvSpPr/>
          <p:nvPr/>
        </p:nvSpPr>
        <p:spPr>
          <a:xfrm>
            <a:off x="5623560" y="4937760"/>
            <a:ext cx="0" cy="822960"/>
          </a:xfrm>
          <a:prstGeom prst="line">
            <a:avLst/>
          </a:prstGeom>
          <a:noFill/>
          <a:ln w="12700">
            <a:solidFill>
              <a:srgbClr val="A9BCEB">
                <a:alpha val="50000"/>
              </a:srgbClr>
            </a:solidFill>
            <a:prstDash val="solid"/>
          </a:ln>
        </p:spPr>
      </p:sp>
      <p:sp>
        <p:nvSpPr>
          <p:cNvPr id="12" name="anim4-7"/>
          <p:cNvSpPr/>
          <p:nvPr/>
        </p:nvSpPr>
        <p:spPr>
          <a:xfrm>
            <a:off x="5852160" y="4937760"/>
            <a:ext cx="640080" cy="640080"/>
          </a:xfrm>
          <a:prstGeom prst="roundRect">
            <a:avLst>
              <a:gd name="adj" fmla="val 22000"/>
            </a:avLst>
          </a:prstGeom>
          <a:solidFill>
            <a:schemeClr val="accent1"/>
          </a:solidFill>
          <a:ln w="12700">
            <a:solidFill>
              <a:schemeClr val="accent1"/>
            </a:solidFill>
            <a:prstDash val="solid"/>
          </a:ln>
        </p:spPr>
      </p:sp>
      <p:pic>
        <p:nvPicPr>
          <p:cNvPr id="13" name="anim4-8" descr="preencoded.png">    </p:cNvPr>
          <p:cNvPicPr>
            <a:picLocks noChangeAspect="1"/>
          </p:cNvPicPr>
          <p:nvPr/>
        </p:nvPicPr>
        <p:blipFill>
          <a:blip r:embed="rId3"/>
          <a:stretch>
            <a:fillRect/>
          </a:stretch>
        </p:blipFill>
        <p:spPr>
          <a:xfrm>
            <a:off x="6018581" y="5104181"/>
            <a:ext cx="307238" cy="307238"/>
          </a:xfrm>
          <a:prstGeom prst="rect">
            <a:avLst/>
          </a:prstGeom>
        </p:spPr>
      </p:pic>
      <p:sp>
        <p:nvSpPr>
          <p:cNvPr id="14" name="anim4-9"/>
          <p:cNvSpPr txBox="1"/>
          <p:nvPr/>
        </p:nvSpPr>
        <p:spPr>
          <a:xfrm>
            <a:off x="6675120" y="4846320"/>
            <a:ext cx="2743200" cy="1005840"/>
          </a:xfrm>
          <a:prstGeom prst="rect">
            <a:avLst/>
          </a:prstGeom>
          <a:noFill/>
          <a:ln/>
        </p:spPr>
        <p:txBody>
          <a:bodyPr wrap="square" lIns="0" tIns="0" rIns="0" bIns="0" rtlCol="0" anchor="ctr"/>
          <a:lstStyle/>
          <a:p>
            <a:pPr indent="0" marL="0">
              <a:buNone/>
            </a:pPr>
            <a:r>
              <a:rPr lang="en-US" sz="1000" b="1" spc="200" kern="0" dirty="0">
                <a:solidFill>
                  <a:schemeClr val="accent2"/>
                </a:solidFill>
              </a:rPr>
              <a:t>DATE</a:t>
            </a:r>
            <a:endParaRPr lang="en-US" sz="1500" dirty="0"/>
          </a:p>
          <a:p>
            <a:pPr indent="0" marL="0">
              <a:buNone/>
            </a:pPr>
            <a:r>
              <a:rPr lang="en-US" sz="1700" b="1" dirty="0">
                <a:solidFill>
                  <a:schemeClr val="bg1"/>
                </a:solidFill>
              </a:rPr>
              <a:t>Vendredi 30 octobre 2026</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1"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25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500"/>
                                        <p:tgtEl>
                                          <p:spTgt spid="7"/>
                                        </p:tgtEl>
                                      </p:cBhvr>
                                    </p:animEffect>
                                  </p:childTnLst>
                                </p:cTn>
                              </p:par>
                              <p:par>
                                <p:cTn id="9" presetID="10" presetClass="entr" presetSubtype="0" fill="hold" nodeType="withEffect">
                                  <p:stCondLst>
                                    <p:cond delay="50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par>
                                <p:cTn id="12" presetID="10" presetClass="entr" presetSubtype="0" fill="hold" nodeType="withEffect">
                                  <p:stCondLst>
                                    <p:cond delay="5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par>
                                <p:cTn id="15" presetID="10" presetClass="entr" presetSubtype="0" fill="hold" nodeType="withEffect">
                                  <p:stCondLst>
                                    <p:cond delay="5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par>
                                <p:cTn id="18" presetID="10" presetClass="entr" presetSubtype="0" fill="hold" nodeType="withEffect">
                                  <p:stCondLst>
                                    <p:cond delay="7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10" presetClass="entr" presetSubtype="0" fill="hold" nodeType="withEffect">
                                  <p:stCondLst>
                                    <p:cond delay="75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par>
                                <p:cTn id="24" presetID="10" presetClass="entr" presetSubtype="0" fill="hold" nodeType="withEffect">
                                  <p:stCondLst>
                                    <p:cond delay="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00"/>
                                        <p:tgtEl>
                                          <p:spTgt spid="13"/>
                                        </p:tgtEl>
                                      </p:cBhvr>
                                    </p:animEffect>
                                  </p:childTnLst>
                                </p:cTn>
                              </p:par>
                              <p:par>
                                <p:cTn id="27" presetID="10" presetClass="entr" presetSubtype="0" fill="hold" nodeType="withEffect">
                                  <p:stCondLst>
                                    <p:cond delay="75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Pourquoi bien l'utiliser au quotidien ?</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INTRODUCTION</a:t>
            </a:r>
            <a:endParaRPr lang="en-US" sz="1000" dirty="0"/>
          </a:p>
        </p:txBody>
      </p:sp>
      <p:sp>
        <p:nvSpPr>
          <p:cNvPr id="7" name="anim1-10"/>
          <p:cNvSpPr txBox="1"/>
          <p:nvPr/>
        </p:nvSpPr>
        <p:spPr>
          <a:xfrm>
            <a:off x="548640" y="1371600"/>
            <a:ext cx="5120640" cy="411480"/>
          </a:xfrm>
          <a:prstGeom prst="rect">
            <a:avLst/>
          </a:prstGeom>
          <a:noFill/>
          <a:ln/>
        </p:spPr>
        <p:txBody>
          <a:bodyPr wrap="square" rtlCol="0" anchor="t"/>
          <a:lstStyle/>
          <a:p>
            <a:pPr indent="0" marL="0">
              <a:buNone/>
            </a:pPr>
            <a:r>
              <a:rPr lang="en-US" sz="1900" b="1" dirty="0">
                <a:solidFill>
                  <a:schemeClr val="accent5"/>
                </a:solidFill>
              </a:rPr>
              <a:t>Quand on oublie de noter</a:t>
            </a:r>
            <a:endParaRPr lang="en-US" sz="1900" dirty="0"/>
          </a:p>
        </p:txBody>
      </p:sp>
      <p:sp>
        <p:nvSpPr>
          <p:cNvPr id="8" name="anim2-11"/>
          <p:cNvSpPr/>
          <p:nvPr/>
        </p:nvSpPr>
        <p:spPr>
          <a:xfrm>
            <a:off x="548640" y="1874520"/>
            <a:ext cx="512064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2-12"/>
          <p:cNvSpPr/>
          <p:nvPr/>
        </p:nvSpPr>
        <p:spPr>
          <a:xfrm>
            <a:off x="749808" y="2075688"/>
            <a:ext cx="548640" cy="548640"/>
          </a:xfrm>
          <a:prstGeom prst="roundRect">
            <a:avLst>
              <a:gd name="adj" fmla="val 22000"/>
            </a:avLst>
          </a:prstGeom>
          <a:solidFill>
            <a:schemeClr val="bg2"/>
          </a:solidFill>
          <a:ln w="12700">
            <a:solidFill>
              <a:schemeClr val="bg2"/>
            </a:solidFill>
            <a:prstDash val="solid"/>
          </a:ln>
        </p:spPr>
      </p:sp>
      <p:pic>
        <p:nvPicPr>
          <p:cNvPr id="10" name="anim2-13" descr="preencoded.png">    </p:cNvPr>
          <p:cNvPicPr>
            <a:picLocks noChangeAspect="1"/>
          </p:cNvPicPr>
          <p:nvPr/>
        </p:nvPicPr>
        <p:blipFill>
          <a:blip r:embed="rId2"/>
          <a:stretch>
            <a:fillRect/>
          </a:stretch>
        </p:blipFill>
        <p:spPr>
          <a:xfrm>
            <a:off x="892454" y="2218334"/>
            <a:ext cx="263347" cy="263347"/>
          </a:xfrm>
          <a:prstGeom prst="rect">
            <a:avLst/>
          </a:prstGeom>
        </p:spPr>
      </p:pic>
      <p:sp>
        <p:nvSpPr>
          <p:cNvPr id="11" name="anim2-14"/>
          <p:cNvSpPr txBox="1"/>
          <p:nvPr/>
        </p:nvSpPr>
        <p:spPr>
          <a:xfrm>
            <a:off x="1444752" y="2002536"/>
            <a:ext cx="4069080" cy="1024128"/>
          </a:xfrm>
          <a:prstGeom prst="rect">
            <a:avLst/>
          </a:prstGeom>
          <a:noFill/>
          <a:ln/>
        </p:spPr>
        <p:txBody>
          <a:bodyPr wrap="square" rtlCol="0" anchor="t"/>
          <a:lstStyle/>
          <a:p>
            <a:pPr indent="0" marL="0">
              <a:spcAft>
                <a:spcPts val="400"/>
              </a:spcAft>
              <a:buNone/>
            </a:pPr>
            <a:r>
              <a:rPr lang="en-US" sz="1600" b="1" dirty="0">
                <a:solidFill>
                  <a:schemeClr val="tx2"/>
                </a:solidFill>
              </a:rPr>
              <a:t>Informations introuvables</a:t>
            </a:r>
            <a:endParaRPr lang="en-US" sz="1500" dirty="0"/>
          </a:p>
          <a:p>
            <a:pPr indent="0" marL="0">
              <a:buNone/>
            </a:pPr>
            <a:r>
              <a:rPr lang="en-US" sz="1400" dirty="0">
                <a:solidFill>
                  <a:schemeClr val="tx1"/>
                </a:solidFill>
              </a:rPr>
              <a:t>Une information restée dans un cahier, les autres ne peuvent pas la voir.</a:t>
            </a:r>
            <a:endParaRPr lang="en-US" sz="1500" dirty="0"/>
          </a:p>
        </p:txBody>
      </p:sp>
      <p:sp>
        <p:nvSpPr>
          <p:cNvPr id="12" name="anim3-15"/>
          <p:cNvSpPr/>
          <p:nvPr/>
        </p:nvSpPr>
        <p:spPr>
          <a:xfrm>
            <a:off x="548640" y="3337560"/>
            <a:ext cx="512064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3" name="anim3-16"/>
          <p:cNvSpPr/>
          <p:nvPr/>
        </p:nvSpPr>
        <p:spPr>
          <a:xfrm>
            <a:off x="749808" y="3538728"/>
            <a:ext cx="548640" cy="548640"/>
          </a:xfrm>
          <a:prstGeom prst="roundRect">
            <a:avLst>
              <a:gd name="adj" fmla="val 22000"/>
            </a:avLst>
          </a:prstGeom>
          <a:solidFill>
            <a:schemeClr val="bg2"/>
          </a:solidFill>
          <a:ln w="12700">
            <a:solidFill>
              <a:schemeClr val="bg2"/>
            </a:solidFill>
            <a:prstDash val="solid"/>
          </a:ln>
        </p:spPr>
      </p:sp>
      <p:pic>
        <p:nvPicPr>
          <p:cNvPr id="14" name="anim3-17" descr="preencoded.png">    </p:cNvPr>
          <p:cNvPicPr>
            <a:picLocks noChangeAspect="1"/>
          </p:cNvPicPr>
          <p:nvPr/>
        </p:nvPicPr>
        <p:blipFill>
          <a:blip r:embed="rId3"/>
          <a:stretch>
            <a:fillRect/>
          </a:stretch>
        </p:blipFill>
        <p:spPr>
          <a:xfrm>
            <a:off x="892454" y="3681374"/>
            <a:ext cx="263347" cy="263347"/>
          </a:xfrm>
          <a:prstGeom prst="rect">
            <a:avLst/>
          </a:prstGeom>
        </p:spPr>
      </p:pic>
      <p:sp>
        <p:nvSpPr>
          <p:cNvPr id="15" name="anim3-18"/>
          <p:cNvSpPr txBox="1"/>
          <p:nvPr/>
        </p:nvSpPr>
        <p:spPr>
          <a:xfrm>
            <a:off x="1444752" y="3465576"/>
            <a:ext cx="4069080" cy="1024128"/>
          </a:xfrm>
          <a:prstGeom prst="rect">
            <a:avLst/>
          </a:prstGeom>
          <a:noFill/>
          <a:ln/>
        </p:spPr>
        <p:txBody>
          <a:bodyPr wrap="square" rtlCol="0" anchor="t"/>
          <a:lstStyle/>
          <a:p>
            <a:pPr indent="0" marL="0">
              <a:spcAft>
                <a:spcPts val="400"/>
              </a:spcAft>
              <a:buNone/>
            </a:pPr>
            <a:r>
              <a:rPr lang="en-US" sz="1600" b="1" dirty="0">
                <a:solidFill>
                  <a:schemeClr val="tx2"/>
                </a:solidFill>
              </a:rPr>
              <a:t>Aucune alerte</a:t>
            </a:r>
            <a:endParaRPr lang="en-US" sz="1500" dirty="0"/>
          </a:p>
          <a:p>
            <a:pPr indent="0" marL="0">
              <a:buNone/>
            </a:pPr>
            <a:r>
              <a:rPr lang="en-US" sz="1400" dirty="0">
                <a:solidFill>
                  <a:schemeClr val="tx1"/>
                </a:solidFill>
              </a:rPr>
              <a:t>Une date de fin pas notée, c'est une assurance ou un permis qui expire sans prévenir.</a:t>
            </a:r>
            <a:endParaRPr lang="en-US" sz="1500" dirty="0"/>
          </a:p>
        </p:txBody>
      </p:sp>
      <p:sp>
        <p:nvSpPr>
          <p:cNvPr id="16" name="anim4-19"/>
          <p:cNvSpPr/>
          <p:nvPr/>
        </p:nvSpPr>
        <p:spPr>
          <a:xfrm>
            <a:off x="548640" y="4800600"/>
            <a:ext cx="512064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7" name="anim4-20"/>
          <p:cNvSpPr/>
          <p:nvPr/>
        </p:nvSpPr>
        <p:spPr>
          <a:xfrm>
            <a:off x="749808" y="5001768"/>
            <a:ext cx="548640" cy="548640"/>
          </a:xfrm>
          <a:prstGeom prst="roundRect">
            <a:avLst>
              <a:gd name="adj" fmla="val 22000"/>
            </a:avLst>
          </a:prstGeom>
          <a:solidFill>
            <a:schemeClr val="bg2"/>
          </a:solidFill>
          <a:ln w="12700">
            <a:solidFill>
              <a:schemeClr val="bg2"/>
            </a:solidFill>
            <a:prstDash val="solid"/>
          </a:ln>
        </p:spPr>
      </p:sp>
      <p:pic>
        <p:nvPicPr>
          <p:cNvPr id="18" name="anim4-21" descr="preencoded.png">    </p:cNvPr>
          <p:cNvPicPr>
            <a:picLocks noChangeAspect="1"/>
          </p:cNvPicPr>
          <p:nvPr/>
        </p:nvPicPr>
        <p:blipFill>
          <a:blip r:embed="rId4"/>
          <a:stretch>
            <a:fillRect/>
          </a:stretch>
        </p:blipFill>
        <p:spPr>
          <a:xfrm>
            <a:off x="892454" y="5144414"/>
            <a:ext cx="263347" cy="263347"/>
          </a:xfrm>
          <a:prstGeom prst="rect">
            <a:avLst/>
          </a:prstGeom>
        </p:spPr>
      </p:pic>
      <p:sp>
        <p:nvSpPr>
          <p:cNvPr id="19" name="anim4-22"/>
          <p:cNvSpPr txBox="1"/>
          <p:nvPr/>
        </p:nvSpPr>
        <p:spPr>
          <a:xfrm>
            <a:off x="1444752" y="4928616"/>
            <a:ext cx="4069080" cy="1024128"/>
          </a:xfrm>
          <a:prstGeom prst="rect">
            <a:avLst/>
          </a:prstGeom>
          <a:noFill/>
          <a:ln/>
        </p:spPr>
        <p:txBody>
          <a:bodyPr wrap="square" rtlCol="0" anchor="t"/>
          <a:lstStyle/>
          <a:p>
            <a:pPr indent="0" marL="0">
              <a:spcAft>
                <a:spcPts val="400"/>
              </a:spcAft>
              <a:buNone/>
            </a:pPr>
            <a:r>
              <a:rPr lang="en-US" sz="1600" b="1" dirty="0">
                <a:solidFill>
                  <a:schemeClr val="tx2"/>
                </a:solidFill>
              </a:rPr>
              <a:t>Chiffres faux</a:t>
            </a:r>
            <a:endParaRPr lang="en-US" sz="1500" dirty="0"/>
          </a:p>
          <a:p>
            <a:pPr indent="0" marL="0">
              <a:buNone/>
            </a:pPr>
            <a:r>
              <a:rPr lang="en-US" sz="1400" dirty="0">
                <a:solidFill>
                  <a:schemeClr val="tx1"/>
                </a:solidFill>
              </a:rPr>
              <a:t>Un plein ou une dépense oubliés, et les chiffres du logiciel sont faux.</a:t>
            </a:r>
            <a:endParaRPr lang="en-US" sz="1500" dirty="0"/>
          </a:p>
        </p:txBody>
      </p:sp>
      <p:sp>
        <p:nvSpPr>
          <p:cNvPr id="20" name="anim5-23"/>
          <p:cNvSpPr/>
          <p:nvPr/>
        </p:nvSpPr>
        <p:spPr>
          <a:xfrm>
            <a:off x="5870448" y="3520440"/>
            <a:ext cx="502920" cy="502920"/>
          </a:xfrm>
          <a:prstGeom prst="rightArrow">
            <a:avLst/>
          </a:prstGeom>
          <a:solidFill>
            <a:schemeClr val="accent1"/>
          </a:solidFill>
          <a:ln w="12700">
            <a:solidFill>
              <a:schemeClr val="accent1"/>
            </a:solidFill>
            <a:prstDash val="solid"/>
          </a:ln>
        </p:spPr>
      </p:sp>
      <p:sp>
        <p:nvSpPr>
          <p:cNvPr id="21" name="anim6-24"/>
          <p:cNvSpPr txBox="1"/>
          <p:nvPr/>
        </p:nvSpPr>
        <p:spPr>
          <a:xfrm>
            <a:off x="6583680" y="1371600"/>
            <a:ext cx="5120640" cy="411480"/>
          </a:xfrm>
          <a:prstGeom prst="rect">
            <a:avLst/>
          </a:prstGeom>
          <a:noFill/>
          <a:ln/>
        </p:spPr>
        <p:txBody>
          <a:bodyPr wrap="square" rtlCol="0" anchor="t"/>
          <a:lstStyle/>
          <a:p>
            <a:pPr indent="0" marL="0">
              <a:buNone/>
            </a:pPr>
            <a:r>
              <a:rPr lang="en-US" sz="1900" b="1" dirty="0">
                <a:solidFill>
                  <a:schemeClr val="accent1"/>
                </a:solidFill>
              </a:rPr>
              <a:t>Quand chacun l'utilise bien</a:t>
            </a:r>
            <a:endParaRPr lang="en-US" sz="1900" dirty="0"/>
          </a:p>
        </p:txBody>
      </p:sp>
      <p:sp>
        <p:nvSpPr>
          <p:cNvPr id="22" name="anim7-25"/>
          <p:cNvSpPr/>
          <p:nvPr/>
        </p:nvSpPr>
        <p:spPr>
          <a:xfrm>
            <a:off x="6583680" y="1874520"/>
            <a:ext cx="507492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3" name="anim7-26"/>
          <p:cNvSpPr/>
          <p:nvPr/>
        </p:nvSpPr>
        <p:spPr>
          <a:xfrm>
            <a:off x="6784848" y="2075688"/>
            <a:ext cx="548640" cy="548640"/>
          </a:xfrm>
          <a:prstGeom prst="roundRect">
            <a:avLst>
              <a:gd name="adj" fmla="val 22000"/>
            </a:avLst>
          </a:prstGeom>
          <a:solidFill>
            <a:schemeClr val="bg2"/>
          </a:solidFill>
          <a:ln w="12700">
            <a:solidFill>
              <a:schemeClr val="bg2"/>
            </a:solidFill>
            <a:prstDash val="solid"/>
          </a:ln>
        </p:spPr>
      </p:sp>
      <p:pic>
        <p:nvPicPr>
          <p:cNvPr id="24" name="anim7-27" descr="preencoded.png">    </p:cNvPr>
          <p:cNvPicPr>
            <a:picLocks noChangeAspect="1"/>
          </p:cNvPicPr>
          <p:nvPr/>
        </p:nvPicPr>
        <p:blipFill>
          <a:blip r:embed="rId5"/>
          <a:stretch>
            <a:fillRect/>
          </a:stretch>
        </p:blipFill>
        <p:spPr>
          <a:xfrm>
            <a:off x="6927494" y="2218334"/>
            <a:ext cx="263347" cy="263347"/>
          </a:xfrm>
          <a:prstGeom prst="rect">
            <a:avLst/>
          </a:prstGeom>
        </p:spPr>
      </p:pic>
      <p:sp>
        <p:nvSpPr>
          <p:cNvPr id="25" name="anim7-28"/>
          <p:cNvSpPr txBox="1"/>
          <p:nvPr/>
        </p:nvSpPr>
        <p:spPr>
          <a:xfrm>
            <a:off x="7479792" y="2002536"/>
            <a:ext cx="4023360" cy="1024128"/>
          </a:xfrm>
          <a:prstGeom prst="rect">
            <a:avLst/>
          </a:prstGeom>
          <a:noFill/>
          <a:ln/>
        </p:spPr>
        <p:txBody>
          <a:bodyPr wrap="square" rtlCol="0" anchor="t"/>
          <a:lstStyle/>
          <a:p>
            <a:pPr indent="0" marL="0">
              <a:spcAft>
                <a:spcPts val="400"/>
              </a:spcAft>
              <a:buNone/>
            </a:pPr>
            <a:r>
              <a:rPr lang="en-US" sz="1600" b="1" dirty="0">
                <a:solidFill>
                  <a:schemeClr val="tx2"/>
                </a:solidFill>
              </a:rPr>
              <a:t>Tout est retrouvé en quelques secondes</a:t>
            </a:r>
            <a:endParaRPr lang="en-US" sz="1500" dirty="0"/>
          </a:p>
          <a:p>
            <a:pPr indent="0" marL="0">
              <a:buNone/>
            </a:pPr>
            <a:r>
              <a:rPr lang="en-US" sz="1400" dirty="0">
                <a:solidFill>
                  <a:schemeClr val="tx1"/>
                </a:solidFill>
              </a:rPr>
              <a:t>Véhicules, chauffeurs, trajets, clients, carburant, entretien et finances.</a:t>
            </a:r>
            <a:endParaRPr lang="en-US" sz="1500" dirty="0"/>
          </a:p>
        </p:txBody>
      </p:sp>
      <p:sp>
        <p:nvSpPr>
          <p:cNvPr id="26" name="anim8-29"/>
          <p:cNvSpPr/>
          <p:nvPr/>
        </p:nvSpPr>
        <p:spPr>
          <a:xfrm>
            <a:off x="6583680" y="3337560"/>
            <a:ext cx="507492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7" name="anim8-30"/>
          <p:cNvSpPr/>
          <p:nvPr/>
        </p:nvSpPr>
        <p:spPr>
          <a:xfrm>
            <a:off x="6784848" y="3538728"/>
            <a:ext cx="548640" cy="548640"/>
          </a:xfrm>
          <a:prstGeom prst="roundRect">
            <a:avLst>
              <a:gd name="adj" fmla="val 22000"/>
            </a:avLst>
          </a:prstGeom>
          <a:solidFill>
            <a:schemeClr val="bg2"/>
          </a:solidFill>
          <a:ln w="12700">
            <a:solidFill>
              <a:schemeClr val="bg2"/>
            </a:solidFill>
            <a:prstDash val="solid"/>
          </a:ln>
        </p:spPr>
      </p:sp>
      <p:pic>
        <p:nvPicPr>
          <p:cNvPr id="28" name="anim8-31" descr="preencoded.png">    </p:cNvPr>
          <p:cNvPicPr>
            <a:picLocks noChangeAspect="1"/>
          </p:cNvPicPr>
          <p:nvPr/>
        </p:nvPicPr>
        <p:blipFill>
          <a:blip r:embed="rId6"/>
          <a:stretch>
            <a:fillRect/>
          </a:stretch>
        </p:blipFill>
        <p:spPr>
          <a:xfrm>
            <a:off x="6927494" y="3681374"/>
            <a:ext cx="263347" cy="263347"/>
          </a:xfrm>
          <a:prstGeom prst="rect">
            <a:avLst/>
          </a:prstGeom>
        </p:spPr>
      </p:pic>
      <p:sp>
        <p:nvSpPr>
          <p:cNvPr id="29" name="anim8-32"/>
          <p:cNvSpPr txBox="1"/>
          <p:nvPr/>
        </p:nvSpPr>
        <p:spPr>
          <a:xfrm>
            <a:off x="7479792" y="3465576"/>
            <a:ext cx="4023360" cy="1024128"/>
          </a:xfrm>
          <a:prstGeom prst="rect">
            <a:avLst/>
          </a:prstGeom>
          <a:noFill/>
          <a:ln/>
        </p:spPr>
        <p:txBody>
          <a:bodyPr wrap="square" rtlCol="0" anchor="t"/>
          <a:lstStyle/>
          <a:p>
            <a:pPr indent="0" marL="0">
              <a:spcAft>
                <a:spcPts val="400"/>
              </a:spcAft>
              <a:buNone/>
            </a:pPr>
            <a:r>
              <a:rPr lang="en-US" sz="1600" b="1" dirty="0">
                <a:solidFill>
                  <a:schemeClr val="tx2"/>
                </a:solidFill>
              </a:rPr>
              <a:t>Les alertes marchent</a:t>
            </a:r>
            <a:endParaRPr lang="en-US" sz="1500" dirty="0"/>
          </a:p>
          <a:p>
            <a:pPr indent="0" marL="0">
              <a:buNone/>
            </a:pPr>
            <a:r>
              <a:rPr lang="en-US" sz="1400" dirty="0">
                <a:solidFill>
                  <a:schemeClr val="tx1"/>
                </a:solidFill>
              </a:rPr>
              <a:t>Papiers périmés signalés, entretiens rappelés au bon moment.</a:t>
            </a:r>
            <a:endParaRPr lang="en-US" sz="1500" dirty="0"/>
          </a:p>
        </p:txBody>
      </p:sp>
      <p:sp>
        <p:nvSpPr>
          <p:cNvPr id="30" name="anim9-33"/>
          <p:cNvSpPr/>
          <p:nvPr/>
        </p:nvSpPr>
        <p:spPr>
          <a:xfrm>
            <a:off x="6583680" y="4800600"/>
            <a:ext cx="507492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31" name="anim9-34"/>
          <p:cNvSpPr/>
          <p:nvPr/>
        </p:nvSpPr>
        <p:spPr>
          <a:xfrm>
            <a:off x="6784848" y="5001768"/>
            <a:ext cx="548640" cy="548640"/>
          </a:xfrm>
          <a:prstGeom prst="roundRect">
            <a:avLst>
              <a:gd name="adj" fmla="val 22000"/>
            </a:avLst>
          </a:prstGeom>
          <a:solidFill>
            <a:schemeClr val="bg2"/>
          </a:solidFill>
          <a:ln w="12700">
            <a:solidFill>
              <a:schemeClr val="bg2"/>
            </a:solidFill>
            <a:prstDash val="solid"/>
          </a:ln>
        </p:spPr>
      </p:sp>
      <p:pic>
        <p:nvPicPr>
          <p:cNvPr id="32" name="anim9-35" descr="preencoded.png">    </p:cNvPr>
          <p:cNvPicPr>
            <a:picLocks noChangeAspect="1"/>
          </p:cNvPicPr>
          <p:nvPr/>
        </p:nvPicPr>
        <p:blipFill>
          <a:blip r:embed="rId7"/>
          <a:stretch>
            <a:fillRect/>
          </a:stretch>
        </p:blipFill>
        <p:spPr>
          <a:xfrm>
            <a:off x="6927494" y="5144414"/>
            <a:ext cx="263347" cy="263347"/>
          </a:xfrm>
          <a:prstGeom prst="rect">
            <a:avLst/>
          </a:prstGeom>
        </p:spPr>
      </p:pic>
      <p:sp>
        <p:nvSpPr>
          <p:cNvPr id="33" name="anim9-36"/>
          <p:cNvSpPr txBox="1"/>
          <p:nvPr/>
        </p:nvSpPr>
        <p:spPr>
          <a:xfrm>
            <a:off x="7479792" y="4928616"/>
            <a:ext cx="4023360" cy="1024128"/>
          </a:xfrm>
          <a:prstGeom prst="rect">
            <a:avLst/>
          </a:prstGeom>
          <a:noFill/>
          <a:ln/>
        </p:spPr>
        <p:txBody>
          <a:bodyPr wrap="square" rtlCol="0" anchor="t"/>
          <a:lstStyle/>
          <a:p>
            <a:pPr indent="0" marL="0">
              <a:spcAft>
                <a:spcPts val="400"/>
              </a:spcAft>
              <a:buNone/>
            </a:pPr>
            <a:r>
              <a:rPr lang="en-US" sz="1600" b="1" dirty="0">
                <a:solidFill>
                  <a:schemeClr val="tx2"/>
                </a:solidFill>
              </a:rPr>
              <a:t>Des chiffres justes</a:t>
            </a:r>
            <a:endParaRPr lang="en-US" sz="1500" dirty="0"/>
          </a:p>
          <a:p>
            <a:pPr indent="0" marL="0">
              <a:buNone/>
            </a:pPr>
            <a:r>
              <a:rPr lang="en-US" sz="1400" dirty="0">
                <a:solidFill>
                  <a:schemeClr val="tx1"/>
                </a:solidFill>
              </a:rPr>
              <a:t>On sait ce que rapporte et ce que coûte chaque camion.</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85"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nodeType="withEffect">
                                  <p:stCondLst>
                                    <p:cond delay="25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500"/>
                                        <p:tgtEl>
                                          <p:spTgt spid="8"/>
                                        </p:tgtEl>
                                      </p:cBhvr>
                                    </p:animEffect>
                                  </p:childTnLst>
                                </p:cTn>
                              </p:par>
                              <p:par>
                                <p:cTn id="9" presetID="10" presetClass="entr" presetSubtype="0" fill="hold" nodeType="withEffect">
                                  <p:stCondLst>
                                    <p:cond delay="25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nodeType="withEffect">
                                  <p:stCondLst>
                                    <p:cond delay="25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nodeType="withEffect">
                                  <p:stCondLst>
                                    <p:cond delay="25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50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nodeType="withEffect">
                                  <p:stCondLst>
                                    <p:cond delay="50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50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par>
                                <p:cTn id="27" presetID="10" presetClass="entr" presetSubtype="0" fill="hold" nodeType="withEffect">
                                  <p:stCondLst>
                                    <p:cond delay="50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7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75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nodeType="withEffect">
                                  <p:stCondLst>
                                    <p:cond delay="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7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100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12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150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par>
                                <p:cTn id="51" presetID="10" presetClass="entr" presetSubtype="0" fill="hold" nodeType="withEffect">
                                  <p:stCondLst>
                                    <p:cond delay="150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par>
                                <p:cTn id="54" presetID="10" presetClass="entr" presetSubtype="0" fill="hold" nodeType="withEffect">
                                  <p:stCondLst>
                                    <p:cond delay="150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00"/>
                                        <p:tgtEl>
                                          <p:spTgt spid="24"/>
                                        </p:tgtEl>
                                      </p:cBhvr>
                                    </p:animEffect>
                                  </p:childTnLst>
                                </p:cTn>
                              </p:par>
                              <p:par>
                                <p:cTn id="57" presetID="10" presetClass="entr" presetSubtype="0" fill="hold" nodeType="withEffect">
                                  <p:stCondLst>
                                    <p:cond delay="150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par>
                                <p:cTn id="60" presetID="10" presetClass="entr" presetSubtype="0" fill="hold" nodeType="withEffect">
                                  <p:stCondLst>
                                    <p:cond delay="175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nodeType="withEffect">
                                  <p:stCondLst>
                                    <p:cond delay="175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par>
                                <p:cTn id="66" presetID="10" presetClass="entr" presetSubtype="0" fill="hold" nodeType="withEffect">
                                  <p:stCondLst>
                                    <p:cond delay="175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500"/>
                                        <p:tgtEl>
                                          <p:spTgt spid="28"/>
                                        </p:tgtEl>
                                      </p:cBhvr>
                                    </p:animEffect>
                                  </p:childTnLst>
                                </p:cTn>
                              </p:par>
                              <p:par>
                                <p:cTn id="69" presetID="10" presetClass="entr" presetSubtype="0" fill="hold" nodeType="withEffect">
                                  <p:stCondLst>
                                    <p:cond delay="175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500"/>
                                        <p:tgtEl>
                                          <p:spTgt spid="29"/>
                                        </p:tgtEl>
                                      </p:cBhvr>
                                    </p:animEffect>
                                  </p:childTnLst>
                                </p:cTn>
                              </p:par>
                              <p:par>
                                <p:cTn id="72" presetID="10" presetClass="entr" presetSubtype="0" fill="hold" nodeType="withEffect">
                                  <p:stCondLst>
                                    <p:cond delay="200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500"/>
                                        <p:tgtEl>
                                          <p:spTgt spid="30"/>
                                        </p:tgtEl>
                                      </p:cBhvr>
                                    </p:animEffect>
                                  </p:childTnLst>
                                </p:cTn>
                              </p:par>
                              <p:par>
                                <p:cTn id="75" presetID="10" presetClass="entr" presetSubtype="0" fill="hold" nodeType="withEffect">
                                  <p:stCondLst>
                                    <p:cond delay="200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00"/>
                                        <p:tgtEl>
                                          <p:spTgt spid="31"/>
                                        </p:tgtEl>
                                      </p:cBhvr>
                                    </p:animEffect>
                                  </p:childTnLst>
                                </p:cTn>
                              </p:par>
                              <p:par>
                                <p:cTn id="78" presetID="10" presetClass="entr" presetSubtype="0" fill="hold" nodeType="withEffect">
                                  <p:stCondLst>
                                    <p:cond delay="2000"/>
                                  </p:stCondLst>
                                  <p:childTnLst>
                                    <p:set>
                                      <p:cBhvr>
                                        <p:cTn id="79" dur="1" fill="hold">
                                          <p:stCondLst>
                                            <p:cond delay="0"/>
                                          </p:stCondLst>
                                        </p:cTn>
                                        <p:tgtEl>
                                          <p:spTgt spid="32"/>
                                        </p:tgtEl>
                                        <p:attrNameLst>
                                          <p:attrName>style.visibility</p:attrName>
                                        </p:attrNameLst>
                                      </p:cBhvr>
                                      <p:to>
                                        <p:strVal val="visible"/>
                                      </p:to>
                                    </p:set>
                                    <p:animEffect transition="in" filter="fade">
                                      <p:cBhvr>
                                        <p:cTn id="80" dur="500"/>
                                        <p:tgtEl>
                                          <p:spTgt spid="32"/>
                                        </p:tgtEl>
                                      </p:cBhvr>
                                    </p:animEffect>
                                  </p:childTnLst>
                                </p:cTn>
                              </p:par>
                              <p:par>
                                <p:cTn id="81" presetID="10" presetClass="entr" presetSubtype="0" fill="hold" nodeType="withEffect">
                                  <p:stCondLst>
                                    <p:cond delay="200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1" grpId="0" animBg="1"/>
      <p:bldP spid="15" grpId="0" animBg="1"/>
      <p:bldP spid="19" grpId="0" animBg="1"/>
      <p:bldP spid="21" grpId="0" animBg="1"/>
      <p:bldP spid="25" grpId="0" animBg="1"/>
      <p:bldP spid="29" grpId="0" animBg="1"/>
      <p:bldP spid="3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18 rubriques, 6 grandes familles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INTRODUCTION</a:t>
            </a:r>
            <a:endParaRPr lang="en-US" sz="1000" dirty="0"/>
          </a:p>
        </p:txBody>
      </p:sp>
      <p:sp>
        <p:nvSpPr>
          <p:cNvPr id="7" name="anim1-37"/>
          <p:cNvSpPr/>
          <p:nvPr/>
        </p:nvSpPr>
        <p:spPr>
          <a:xfrm>
            <a:off x="411480" y="2057400"/>
            <a:ext cx="2743200" cy="2743200"/>
          </a:xfrm>
          <a:prstGeom prst="ellipse">
            <a:avLst/>
          </a:prstGeom>
          <a:solidFill>
            <a:schemeClr val="bg2"/>
          </a:solidFill>
          <a:ln w="12700">
            <a:solidFill>
              <a:schemeClr val="accent6"/>
            </a:solidFill>
            <a:prstDash val="solid"/>
          </a:ln>
        </p:spPr>
      </p:sp>
      <p:sp>
        <p:nvSpPr>
          <p:cNvPr id="8" name="anim1-38"/>
          <p:cNvSpPr/>
          <p:nvPr/>
        </p:nvSpPr>
        <p:spPr>
          <a:xfrm>
            <a:off x="685800" y="2331720"/>
            <a:ext cx="2194560" cy="2194560"/>
          </a:xfrm>
          <a:prstGeom prst="ellipse">
            <a:avLst/>
          </a:prstGeom>
          <a:solidFill>
            <a:schemeClr val="tx2"/>
          </a:solidFill>
          <a:ln w="12700">
            <a:solidFill>
              <a:schemeClr val="tx2"/>
            </a:solidFill>
            <a:prstDash val="solid"/>
          </a:ln>
        </p:spPr>
      </p:sp>
      <p:sp>
        <p:nvSpPr>
          <p:cNvPr id="9" name="anim1-39"/>
          <p:cNvSpPr txBox="1"/>
          <p:nvPr/>
        </p:nvSpPr>
        <p:spPr>
          <a:xfrm>
            <a:off x="685800" y="2331720"/>
            <a:ext cx="2194560" cy="2194560"/>
          </a:xfrm>
          <a:prstGeom prst="rect">
            <a:avLst/>
          </a:prstGeom>
          <a:noFill/>
          <a:ln/>
        </p:spPr>
        <p:txBody>
          <a:bodyPr wrap="square" rtlCol="0" anchor="ctr"/>
          <a:lstStyle/>
          <a:p>
            <a:pPr algn="ctr" indent="0" marL="0">
              <a:buNone/>
            </a:pPr>
            <a:r>
              <a:rPr lang="en-US" sz="6000" b="1" dirty="0">
                <a:solidFill>
                  <a:schemeClr val="bg1"/>
                </a:solidFill>
              </a:rPr>
              <a:t>18</a:t>
            </a:r>
            <a:endParaRPr lang="en-US" sz="1500" dirty="0"/>
          </a:p>
          <a:p>
            <a:pPr algn="ctr" indent="0" marL="0">
              <a:buNone/>
            </a:pPr>
            <a:r>
              <a:rPr lang="en-US" sz="1700" dirty="0">
                <a:solidFill>
                  <a:schemeClr val="accent2"/>
                </a:solidFill>
              </a:rPr>
              <a:t>rubriques</a:t>
            </a:r>
            <a:endParaRPr lang="en-US" sz="1500" dirty="0"/>
          </a:p>
        </p:txBody>
      </p:sp>
      <p:sp>
        <p:nvSpPr>
          <p:cNvPr id="10" name="anim2-40"/>
          <p:cNvSpPr/>
          <p:nvPr/>
        </p:nvSpPr>
        <p:spPr>
          <a:xfrm>
            <a:off x="3474720" y="14630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1" name="anim2-41"/>
          <p:cNvSpPr/>
          <p:nvPr/>
        </p:nvSpPr>
        <p:spPr>
          <a:xfrm>
            <a:off x="3675888" y="1664208"/>
            <a:ext cx="548640" cy="548640"/>
          </a:xfrm>
          <a:prstGeom prst="roundRect">
            <a:avLst>
              <a:gd name="adj" fmla="val 22000"/>
            </a:avLst>
          </a:prstGeom>
          <a:solidFill>
            <a:schemeClr val="bg2"/>
          </a:solidFill>
          <a:ln w="12700">
            <a:solidFill>
              <a:schemeClr val="bg2"/>
            </a:solidFill>
            <a:prstDash val="solid"/>
          </a:ln>
        </p:spPr>
      </p:sp>
      <p:pic>
        <p:nvPicPr>
          <p:cNvPr id="12" name="anim2-42" descr="preencoded.png">    </p:cNvPr>
          <p:cNvPicPr>
            <a:picLocks noChangeAspect="1"/>
          </p:cNvPicPr>
          <p:nvPr/>
        </p:nvPicPr>
        <p:blipFill>
          <a:blip r:embed="rId2"/>
          <a:stretch>
            <a:fillRect/>
          </a:stretch>
        </p:blipFill>
        <p:spPr>
          <a:xfrm>
            <a:off x="3818534" y="1806854"/>
            <a:ext cx="263347" cy="263347"/>
          </a:xfrm>
          <a:prstGeom prst="rect">
            <a:avLst/>
          </a:prstGeom>
        </p:spPr>
      </p:pic>
      <p:sp>
        <p:nvSpPr>
          <p:cNvPr id="13" name="anim2-43"/>
          <p:cNvSpPr txBox="1"/>
          <p:nvPr/>
        </p:nvSpPr>
        <p:spPr>
          <a:xfrm>
            <a:off x="4370832" y="15910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Suivre l'activité</a:t>
            </a:r>
            <a:endParaRPr lang="en-US" sz="1500" dirty="0"/>
          </a:p>
          <a:p>
            <a:pPr indent="0" marL="0">
              <a:buNone/>
            </a:pPr>
            <a:r>
              <a:rPr lang="en-US" sz="1400" dirty="0">
                <a:solidFill>
                  <a:schemeClr val="tx1"/>
                </a:solidFill>
              </a:rPr>
              <a:t>Dashboard · Availability · Reports</a:t>
            </a:r>
            <a:endParaRPr lang="en-US" sz="1500" dirty="0"/>
          </a:p>
        </p:txBody>
      </p:sp>
      <p:sp>
        <p:nvSpPr>
          <p:cNvPr id="14" name="anim3-44"/>
          <p:cNvSpPr/>
          <p:nvPr/>
        </p:nvSpPr>
        <p:spPr>
          <a:xfrm>
            <a:off x="7589520" y="14630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5" name="anim3-45"/>
          <p:cNvSpPr/>
          <p:nvPr/>
        </p:nvSpPr>
        <p:spPr>
          <a:xfrm>
            <a:off x="7790688" y="1664208"/>
            <a:ext cx="548640" cy="548640"/>
          </a:xfrm>
          <a:prstGeom prst="roundRect">
            <a:avLst>
              <a:gd name="adj" fmla="val 22000"/>
            </a:avLst>
          </a:prstGeom>
          <a:solidFill>
            <a:schemeClr val="bg2"/>
          </a:solidFill>
          <a:ln w="12700">
            <a:solidFill>
              <a:schemeClr val="bg2"/>
            </a:solidFill>
            <a:prstDash val="solid"/>
          </a:ln>
        </p:spPr>
      </p:sp>
      <p:pic>
        <p:nvPicPr>
          <p:cNvPr id="16" name="anim3-46" descr="preencoded.png">    </p:cNvPr>
          <p:cNvPicPr>
            <a:picLocks noChangeAspect="1"/>
          </p:cNvPicPr>
          <p:nvPr/>
        </p:nvPicPr>
        <p:blipFill>
          <a:blip r:embed="rId3"/>
          <a:stretch>
            <a:fillRect/>
          </a:stretch>
        </p:blipFill>
        <p:spPr>
          <a:xfrm>
            <a:off x="7933334" y="1806854"/>
            <a:ext cx="263347" cy="263347"/>
          </a:xfrm>
          <a:prstGeom prst="rect">
            <a:avLst/>
          </a:prstGeom>
        </p:spPr>
      </p:pic>
      <p:sp>
        <p:nvSpPr>
          <p:cNvPr id="17" name="anim3-47"/>
          <p:cNvSpPr txBox="1"/>
          <p:nvPr/>
        </p:nvSpPr>
        <p:spPr>
          <a:xfrm>
            <a:off x="8485632" y="15910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Les camions</a:t>
            </a:r>
            <a:endParaRPr lang="en-US" sz="1500" dirty="0"/>
          </a:p>
          <a:p>
            <a:pPr indent="0" marL="0">
              <a:buNone/>
            </a:pPr>
            <a:r>
              <a:rPr lang="en-US" sz="1400" dirty="0">
                <a:solidFill>
                  <a:schemeClr val="tx1"/>
                </a:solidFill>
              </a:rPr>
              <a:t>Vehicle's · Vehicle Vendor's · Tracking · Geofence</a:t>
            </a:r>
            <a:endParaRPr lang="en-US" sz="1500" dirty="0"/>
          </a:p>
        </p:txBody>
      </p:sp>
      <p:sp>
        <p:nvSpPr>
          <p:cNvPr id="18" name="anim4-48"/>
          <p:cNvSpPr/>
          <p:nvPr/>
        </p:nvSpPr>
        <p:spPr>
          <a:xfrm>
            <a:off x="3474720" y="30632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9" name="anim4-49"/>
          <p:cNvSpPr/>
          <p:nvPr/>
        </p:nvSpPr>
        <p:spPr>
          <a:xfrm>
            <a:off x="3675888" y="3264408"/>
            <a:ext cx="548640" cy="548640"/>
          </a:xfrm>
          <a:prstGeom prst="roundRect">
            <a:avLst>
              <a:gd name="adj" fmla="val 22000"/>
            </a:avLst>
          </a:prstGeom>
          <a:solidFill>
            <a:schemeClr val="bg2"/>
          </a:solidFill>
          <a:ln w="12700">
            <a:solidFill>
              <a:schemeClr val="bg2"/>
            </a:solidFill>
            <a:prstDash val="solid"/>
          </a:ln>
        </p:spPr>
      </p:sp>
      <p:pic>
        <p:nvPicPr>
          <p:cNvPr id="20" name="anim4-50" descr="preencoded.png">    </p:cNvPr>
          <p:cNvPicPr>
            <a:picLocks noChangeAspect="1"/>
          </p:cNvPicPr>
          <p:nvPr/>
        </p:nvPicPr>
        <p:blipFill>
          <a:blip r:embed="rId4"/>
          <a:stretch>
            <a:fillRect/>
          </a:stretch>
        </p:blipFill>
        <p:spPr>
          <a:xfrm>
            <a:off x="3818534" y="3407054"/>
            <a:ext cx="263347" cy="263347"/>
          </a:xfrm>
          <a:prstGeom prst="rect">
            <a:avLst/>
          </a:prstGeom>
        </p:spPr>
      </p:pic>
      <p:sp>
        <p:nvSpPr>
          <p:cNvPr id="21" name="anim4-51"/>
          <p:cNvSpPr txBox="1"/>
          <p:nvPr/>
        </p:nvSpPr>
        <p:spPr>
          <a:xfrm>
            <a:off x="4370832" y="31912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Les personnes</a:t>
            </a:r>
            <a:endParaRPr lang="en-US" sz="1500" dirty="0"/>
          </a:p>
          <a:p>
            <a:pPr indent="0" marL="0">
              <a:buNone/>
            </a:pPr>
            <a:r>
              <a:rPr lang="en-US" sz="1400" dirty="0">
                <a:solidFill>
                  <a:schemeClr val="tx1"/>
                </a:solidFill>
              </a:rPr>
              <a:t>Driver's · Employee</a:t>
            </a:r>
            <a:endParaRPr lang="en-US" sz="1500" dirty="0"/>
          </a:p>
        </p:txBody>
      </p:sp>
      <p:sp>
        <p:nvSpPr>
          <p:cNvPr id="22" name="anim5-52"/>
          <p:cNvSpPr/>
          <p:nvPr/>
        </p:nvSpPr>
        <p:spPr>
          <a:xfrm>
            <a:off x="7589520" y="30632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3" name="anim5-53"/>
          <p:cNvSpPr/>
          <p:nvPr/>
        </p:nvSpPr>
        <p:spPr>
          <a:xfrm>
            <a:off x="7790688" y="3264408"/>
            <a:ext cx="548640" cy="548640"/>
          </a:xfrm>
          <a:prstGeom prst="roundRect">
            <a:avLst>
              <a:gd name="adj" fmla="val 22000"/>
            </a:avLst>
          </a:prstGeom>
          <a:solidFill>
            <a:schemeClr val="bg2"/>
          </a:solidFill>
          <a:ln w="12700">
            <a:solidFill>
              <a:schemeClr val="bg2"/>
            </a:solidFill>
            <a:prstDash val="solid"/>
          </a:ln>
        </p:spPr>
      </p:sp>
      <p:pic>
        <p:nvPicPr>
          <p:cNvPr id="24" name="anim5-54" descr="preencoded.png">    </p:cNvPr>
          <p:cNvPicPr>
            <a:picLocks noChangeAspect="1"/>
          </p:cNvPicPr>
          <p:nvPr/>
        </p:nvPicPr>
        <p:blipFill>
          <a:blip r:embed="rId5"/>
          <a:stretch>
            <a:fillRect/>
          </a:stretch>
        </p:blipFill>
        <p:spPr>
          <a:xfrm>
            <a:off x="7933334" y="3407054"/>
            <a:ext cx="263347" cy="263347"/>
          </a:xfrm>
          <a:prstGeom prst="rect">
            <a:avLst/>
          </a:prstGeom>
        </p:spPr>
      </p:pic>
      <p:sp>
        <p:nvSpPr>
          <p:cNvPr id="25" name="anim5-55"/>
          <p:cNvSpPr txBox="1"/>
          <p:nvPr/>
        </p:nvSpPr>
        <p:spPr>
          <a:xfrm>
            <a:off x="8485632" y="31912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Clients et trajets</a:t>
            </a:r>
            <a:endParaRPr lang="en-US" sz="1500" dirty="0"/>
          </a:p>
          <a:p>
            <a:pPr indent="0" marL="0">
              <a:buNone/>
            </a:pPr>
            <a:r>
              <a:rPr lang="en-US" sz="1400" dirty="0">
                <a:solidFill>
                  <a:schemeClr val="tx1"/>
                </a:solidFill>
              </a:rPr>
              <a:t>Trips · Customer · Coupon Management</a:t>
            </a:r>
            <a:endParaRPr lang="en-US" sz="1500" dirty="0"/>
          </a:p>
        </p:txBody>
      </p:sp>
      <p:sp>
        <p:nvSpPr>
          <p:cNvPr id="26" name="anim6-56"/>
          <p:cNvSpPr/>
          <p:nvPr/>
        </p:nvSpPr>
        <p:spPr>
          <a:xfrm>
            <a:off x="3474720" y="46634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7" name="anim6-57"/>
          <p:cNvSpPr/>
          <p:nvPr/>
        </p:nvSpPr>
        <p:spPr>
          <a:xfrm>
            <a:off x="3675888" y="4864608"/>
            <a:ext cx="548640" cy="548640"/>
          </a:xfrm>
          <a:prstGeom prst="roundRect">
            <a:avLst>
              <a:gd name="adj" fmla="val 22000"/>
            </a:avLst>
          </a:prstGeom>
          <a:solidFill>
            <a:schemeClr val="bg2"/>
          </a:solidFill>
          <a:ln w="12700">
            <a:solidFill>
              <a:schemeClr val="bg2"/>
            </a:solidFill>
            <a:prstDash val="solid"/>
          </a:ln>
        </p:spPr>
      </p:sp>
      <p:pic>
        <p:nvPicPr>
          <p:cNvPr id="28" name="anim6-58" descr="preencoded.png">    </p:cNvPr>
          <p:cNvPicPr>
            <a:picLocks noChangeAspect="1"/>
          </p:cNvPicPr>
          <p:nvPr/>
        </p:nvPicPr>
        <p:blipFill>
          <a:blip r:embed="rId6"/>
          <a:stretch>
            <a:fillRect/>
          </a:stretch>
        </p:blipFill>
        <p:spPr>
          <a:xfrm>
            <a:off x="3818534" y="5007254"/>
            <a:ext cx="263347" cy="263347"/>
          </a:xfrm>
          <a:prstGeom prst="rect">
            <a:avLst/>
          </a:prstGeom>
        </p:spPr>
      </p:pic>
      <p:sp>
        <p:nvSpPr>
          <p:cNvPr id="29" name="anim6-59"/>
          <p:cNvSpPr txBox="1"/>
          <p:nvPr/>
        </p:nvSpPr>
        <p:spPr>
          <a:xfrm>
            <a:off x="4370832" y="47914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Entretien et carburant</a:t>
            </a:r>
            <a:endParaRPr lang="en-US" sz="1500" dirty="0"/>
          </a:p>
          <a:p>
            <a:pPr indent="0" marL="0">
              <a:buNone/>
            </a:pPr>
            <a:r>
              <a:rPr lang="en-US" sz="1400" dirty="0">
                <a:solidFill>
                  <a:schemeClr val="tx1"/>
                </a:solidFill>
              </a:rPr>
              <a:t>Maintenance · Parts Stock · Fuel · Reminder</a:t>
            </a:r>
            <a:endParaRPr lang="en-US" sz="1500" dirty="0"/>
          </a:p>
        </p:txBody>
      </p:sp>
      <p:sp>
        <p:nvSpPr>
          <p:cNvPr id="30" name="anim7-60"/>
          <p:cNvSpPr/>
          <p:nvPr/>
        </p:nvSpPr>
        <p:spPr>
          <a:xfrm>
            <a:off x="7589520" y="46634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31" name="anim7-61"/>
          <p:cNvSpPr/>
          <p:nvPr/>
        </p:nvSpPr>
        <p:spPr>
          <a:xfrm>
            <a:off x="7790688" y="4864608"/>
            <a:ext cx="548640" cy="548640"/>
          </a:xfrm>
          <a:prstGeom prst="roundRect">
            <a:avLst>
              <a:gd name="adj" fmla="val 22000"/>
            </a:avLst>
          </a:prstGeom>
          <a:solidFill>
            <a:schemeClr val="bg2"/>
          </a:solidFill>
          <a:ln w="12700">
            <a:solidFill>
              <a:schemeClr val="bg2"/>
            </a:solidFill>
            <a:prstDash val="solid"/>
          </a:ln>
        </p:spPr>
      </p:sp>
      <p:pic>
        <p:nvPicPr>
          <p:cNvPr id="32" name="anim7-62" descr="preencoded.png">    </p:cNvPr>
          <p:cNvPicPr>
            <a:picLocks noChangeAspect="1"/>
          </p:cNvPicPr>
          <p:nvPr/>
        </p:nvPicPr>
        <p:blipFill>
          <a:blip r:embed="rId7"/>
          <a:stretch>
            <a:fillRect/>
          </a:stretch>
        </p:blipFill>
        <p:spPr>
          <a:xfrm>
            <a:off x="7933334" y="5007254"/>
            <a:ext cx="263347" cy="263347"/>
          </a:xfrm>
          <a:prstGeom prst="rect">
            <a:avLst/>
          </a:prstGeom>
        </p:spPr>
      </p:pic>
      <p:sp>
        <p:nvSpPr>
          <p:cNvPr id="33" name="anim7-63"/>
          <p:cNvSpPr txBox="1"/>
          <p:nvPr/>
        </p:nvSpPr>
        <p:spPr>
          <a:xfrm>
            <a:off x="8485632" y="47914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Argent et réglages</a:t>
            </a:r>
            <a:endParaRPr lang="en-US" sz="1500" dirty="0"/>
          </a:p>
          <a:p>
            <a:pPr indent="0" marL="0">
              <a:buNone/>
            </a:pPr>
            <a:r>
              <a:rPr lang="en-US" sz="1400" dirty="0">
                <a:solidFill>
                  <a:schemeClr val="tx1"/>
                </a:solidFill>
              </a:rPr>
              <a:t>Accounts · Setting's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85"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500"/>
                                        <p:tgtEl>
                                          <p:spTgt spid="8"/>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nodeType="withEffect">
                                  <p:stCondLst>
                                    <p:cond delay="25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nodeType="withEffect">
                                  <p:stCondLst>
                                    <p:cond delay="25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25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nodeType="withEffect">
                                  <p:stCondLst>
                                    <p:cond delay="25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50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par>
                                <p:cTn id="27" presetID="10" presetClass="entr" presetSubtype="0" fill="hold" nodeType="withEffect">
                                  <p:stCondLst>
                                    <p:cond delay="50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50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nodeType="withEffect">
                                  <p:stCondLst>
                                    <p:cond delay="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7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75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7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100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par>
                                <p:cTn id="51" presetID="10" presetClass="entr" presetSubtype="0" fill="hold" nodeType="withEffect">
                                  <p:stCondLst>
                                    <p:cond delay="100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par>
                                <p:cTn id="54" presetID="10" presetClass="entr" presetSubtype="0" fill="hold" nodeType="withEffect">
                                  <p:stCondLst>
                                    <p:cond delay="100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00"/>
                                        <p:tgtEl>
                                          <p:spTgt spid="24"/>
                                        </p:tgtEl>
                                      </p:cBhvr>
                                    </p:animEffect>
                                  </p:childTnLst>
                                </p:cTn>
                              </p:par>
                              <p:par>
                                <p:cTn id="57" presetID="10" presetClass="entr" presetSubtype="0" fill="hold" nodeType="withEffect">
                                  <p:stCondLst>
                                    <p:cond delay="100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par>
                                <p:cTn id="60" presetID="10" presetClass="entr" presetSubtype="0" fill="hold" nodeType="withEffect">
                                  <p:stCondLst>
                                    <p:cond delay="125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nodeType="withEffect">
                                  <p:stCondLst>
                                    <p:cond delay="125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par>
                                <p:cTn id="66" presetID="10" presetClass="entr" presetSubtype="0" fill="hold" nodeType="withEffect">
                                  <p:stCondLst>
                                    <p:cond delay="125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500"/>
                                        <p:tgtEl>
                                          <p:spTgt spid="28"/>
                                        </p:tgtEl>
                                      </p:cBhvr>
                                    </p:animEffect>
                                  </p:childTnLst>
                                </p:cTn>
                              </p:par>
                              <p:par>
                                <p:cTn id="69" presetID="10" presetClass="entr" presetSubtype="0" fill="hold" nodeType="withEffect">
                                  <p:stCondLst>
                                    <p:cond delay="125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500"/>
                                        <p:tgtEl>
                                          <p:spTgt spid="29"/>
                                        </p:tgtEl>
                                      </p:cBhvr>
                                    </p:animEffect>
                                  </p:childTnLst>
                                </p:cTn>
                              </p:par>
                              <p:par>
                                <p:cTn id="72" presetID="10" presetClass="entr" presetSubtype="0" fill="hold" nodeType="withEffect">
                                  <p:stCondLst>
                                    <p:cond delay="150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500"/>
                                        <p:tgtEl>
                                          <p:spTgt spid="30"/>
                                        </p:tgtEl>
                                      </p:cBhvr>
                                    </p:animEffect>
                                  </p:childTnLst>
                                </p:cTn>
                              </p:par>
                              <p:par>
                                <p:cTn id="75" presetID="10" presetClass="entr" presetSubtype="0" fill="hold" nodeType="withEffect">
                                  <p:stCondLst>
                                    <p:cond delay="150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00"/>
                                        <p:tgtEl>
                                          <p:spTgt spid="31"/>
                                        </p:tgtEl>
                                      </p:cBhvr>
                                    </p:animEffect>
                                  </p:childTnLst>
                                </p:cTn>
                              </p:par>
                              <p:par>
                                <p:cTn id="78" presetID="10" presetClass="entr" presetSubtype="0" fill="hold" nodeType="withEffect">
                                  <p:stCondLst>
                                    <p:cond delay="1500"/>
                                  </p:stCondLst>
                                  <p:childTnLst>
                                    <p:set>
                                      <p:cBhvr>
                                        <p:cTn id="79" dur="1" fill="hold">
                                          <p:stCondLst>
                                            <p:cond delay="0"/>
                                          </p:stCondLst>
                                        </p:cTn>
                                        <p:tgtEl>
                                          <p:spTgt spid="32"/>
                                        </p:tgtEl>
                                        <p:attrNameLst>
                                          <p:attrName>style.visibility</p:attrName>
                                        </p:attrNameLst>
                                      </p:cBhvr>
                                      <p:to>
                                        <p:strVal val="visible"/>
                                      </p:to>
                                    </p:set>
                                    <p:animEffect transition="in" filter="fade">
                                      <p:cBhvr>
                                        <p:cTn id="80" dur="500"/>
                                        <p:tgtEl>
                                          <p:spTgt spid="32"/>
                                        </p:tgtEl>
                                      </p:cBhvr>
                                    </p:animEffect>
                                  </p:childTnLst>
                                </p:cTn>
                              </p:par>
                              <p:par>
                                <p:cTn id="81" presetID="10" presetClass="entr" presetSubtype="0" fill="hold" nodeType="withEffect">
                                  <p:stCondLst>
                                    <p:cond delay="150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P spid="17" grpId="0" animBg="1"/>
      <p:bldP spid="21" grpId="0" animBg="1"/>
      <p:bldP spid="25" grpId="0" animBg="1"/>
      <p:bldP spid="29" grpId="0" animBg="1"/>
      <p:bldP spid="3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Petit lexique : les mots anglais du menu</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INTRODUCTION</a:t>
            </a:r>
            <a:endParaRPr lang="en-US" sz="1000" dirty="0"/>
          </a:p>
        </p:txBody>
      </p:sp>
      <p:sp>
        <p:nvSpPr>
          <p:cNvPr id="7" name="anim1-64"/>
          <p:cNvSpPr/>
          <p:nvPr/>
        </p:nvSpPr>
        <p:spPr>
          <a:xfrm>
            <a:off x="548640" y="1417320"/>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8" name="anim1-65"/>
          <p:cNvSpPr txBox="1"/>
          <p:nvPr/>
        </p:nvSpPr>
        <p:spPr>
          <a:xfrm>
            <a:off x="731520" y="1417320"/>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Dashboard</a:t>
            </a:r>
            <a:endParaRPr lang="en-US" sz="1500" dirty="0"/>
          </a:p>
          <a:p>
            <a:pPr indent="0" marL="0">
              <a:buNone/>
            </a:pPr>
            <a:r>
              <a:rPr lang="en-US" sz="1400" dirty="0">
                <a:solidFill>
                  <a:schemeClr val="tx2"/>
                </a:solidFill>
              </a:rPr>
              <a:t>Tableau de bord</a:t>
            </a:r>
            <a:endParaRPr lang="en-US" sz="1500" dirty="0"/>
          </a:p>
        </p:txBody>
      </p:sp>
      <p:sp>
        <p:nvSpPr>
          <p:cNvPr id="9" name="anim1-66"/>
          <p:cNvSpPr/>
          <p:nvPr/>
        </p:nvSpPr>
        <p:spPr>
          <a:xfrm>
            <a:off x="3337560" y="1417320"/>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67"/>
          <p:cNvSpPr txBox="1"/>
          <p:nvPr/>
        </p:nvSpPr>
        <p:spPr>
          <a:xfrm>
            <a:off x="3520440" y="1417320"/>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Availability</a:t>
            </a:r>
            <a:endParaRPr lang="en-US" sz="1500" dirty="0"/>
          </a:p>
          <a:p>
            <a:pPr indent="0" marL="0">
              <a:buNone/>
            </a:pPr>
            <a:r>
              <a:rPr lang="en-US" sz="1400" dirty="0">
                <a:solidFill>
                  <a:schemeClr val="tx2"/>
                </a:solidFill>
              </a:rPr>
              <a:t>Disponibilité des camions</a:t>
            </a:r>
            <a:endParaRPr lang="en-US" sz="1500" dirty="0"/>
          </a:p>
        </p:txBody>
      </p:sp>
      <p:sp>
        <p:nvSpPr>
          <p:cNvPr id="11" name="anim1-68"/>
          <p:cNvSpPr/>
          <p:nvPr/>
        </p:nvSpPr>
        <p:spPr>
          <a:xfrm>
            <a:off x="6126480" y="1417320"/>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2" name="anim1-69"/>
          <p:cNvSpPr txBox="1"/>
          <p:nvPr/>
        </p:nvSpPr>
        <p:spPr>
          <a:xfrm>
            <a:off x="6309360" y="1417320"/>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Vehicle's</a:t>
            </a:r>
            <a:endParaRPr lang="en-US" sz="1500" dirty="0"/>
          </a:p>
          <a:p>
            <a:pPr indent="0" marL="0">
              <a:buNone/>
            </a:pPr>
            <a:r>
              <a:rPr lang="en-US" sz="1400" dirty="0">
                <a:solidFill>
                  <a:schemeClr val="tx2"/>
                </a:solidFill>
              </a:rPr>
              <a:t>Véhicules</a:t>
            </a:r>
            <a:endParaRPr lang="en-US" sz="1500" dirty="0"/>
          </a:p>
        </p:txBody>
      </p:sp>
      <p:sp>
        <p:nvSpPr>
          <p:cNvPr id="13" name="anim1-70"/>
          <p:cNvSpPr/>
          <p:nvPr/>
        </p:nvSpPr>
        <p:spPr>
          <a:xfrm>
            <a:off x="8915400" y="1417320"/>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1-71"/>
          <p:cNvSpPr txBox="1"/>
          <p:nvPr/>
        </p:nvSpPr>
        <p:spPr>
          <a:xfrm>
            <a:off x="9098280" y="1417320"/>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Driver's</a:t>
            </a:r>
            <a:endParaRPr lang="en-US" sz="1500" dirty="0"/>
          </a:p>
          <a:p>
            <a:pPr indent="0" marL="0">
              <a:buNone/>
            </a:pPr>
            <a:r>
              <a:rPr lang="en-US" sz="1400" dirty="0">
                <a:solidFill>
                  <a:schemeClr val="tx2"/>
                </a:solidFill>
              </a:rPr>
              <a:t>Chauffeurs</a:t>
            </a:r>
            <a:endParaRPr lang="en-US" sz="1500" dirty="0"/>
          </a:p>
        </p:txBody>
      </p:sp>
      <p:sp>
        <p:nvSpPr>
          <p:cNvPr id="15" name="anim2-72"/>
          <p:cNvSpPr/>
          <p:nvPr/>
        </p:nvSpPr>
        <p:spPr>
          <a:xfrm>
            <a:off x="548640" y="2359152"/>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6" name="anim2-73"/>
          <p:cNvSpPr txBox="1"/>
          <p:nvPr/>
        </p:nvSpPr>
        <p:spPr>
          <a:xfrm>
            <a:off x="731520" y="2359152"/>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Vehicle Vendor's</a:t>
            </a:r>
            <a:endParaRPr lang="en-US" sz="1500" dirty="0"/>
          </a:p>
          <a:p>
            <a:pPr indent="0" marL="0">
              <a:buNone/>
            </a:pPr>
            <a:r>
              <a:rPr lang="en-US" sz="1400" dirty="0">
                <a:solidFill>
                  <a:schemeClr val="tx2"/>
                </a:solidFill>
              </a:rPr>
              <a:t>Loueurs de véhicules</a:t>
            </a:r>
            <a:endParaRPr lang="en-US" sz="1500" dirty="0"/>
          </a:p>
        </p:txBody>
      </p:sp>
      <p:sp>
        <p:nvSpPr>
          <p:cNvPr id="17" name="anim2-74"/>
          <p:cNvSpPr/>
          <p:nvPr/>
        </p:nvSpPr>
        <p:spPr>
          <a:xfrm>
            <a:off x="3337560" y="2359152"/>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2-75"/>
          <p:cNvSpPr txBox="1"/>
          <p:nvPr/>
        </p:nvSpPr>
        <p:spPr>
          <a:xfrm>
            <a:off x="3520440" y="2359152"/>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Trips</a:t>
            </a:r>
            <a:endParaRPr lang="en-US" sz="1500" dirty="0"/>
          </a:p>
          <a:p>
            <a:pPr indent="0" marL="0">
              <a:buNone/>
            </a:pPr>
            <a:r>
              <a:rPr lang="en-US" sz="1400" dirty="0">
                <a:solidFill>
                  <a:schemeClr val="tx2"/>
                </a:solidFill>
              </a:rPr>
              <a:t>Trajets</a:t>
            </a:r>
            <a:endParaRPr lang="en-US" sz="1500" dirty="0"/>
          </a:p>
        </p:txBody>
      </p:sp>
      <p:sp>
        <p:nvSpPr>
          <p:cNvPr id="19" name="anim2-76"/>
          <p:cNvSpPr/>
          <p:nvPr/>
        </p:nvSpPr>
        <p:spPr>
          <a:xfrm>
            <a:off x="6126480" y="2359152"/>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0" name="anim2-77"/>
          <p:cNvSpPr txBox="1"/>
          <p:nvPr/>
        </p:nvSpPr>
        <p:spPr>
          <a:xfrm>
            <a:off x="6309360" y="2359152"/>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Customer</a:t>
            </a:r>
            <a:endParaRPr lang="en-US" sz="1500" dirty="0"/>
          </a:p>
          <a:p>
            <a:pPr indent="0" marL="0">
              <a:buNone/>
            </a:pPr>
            <a:r>
              <a:rPr lang="en-US" sz="1400" dirty="0">
                <a:solidFill>
                  <a:schemeClr val="tx2"/>
                </a:solidFill>
              </a:rPr>
              <a:t>Clients</a:t>
            </a:r>
            <a:endParaRPr lang="en-US" sz="1500" dirty="0"/>
          </a:p>
        </p:txBody>
      </p:sp>
      <p:sp>
        <p:nvSpPr>
          <p:cNvPr id="21" name="anim2-78"/>
          <p:cNvSpPr/>
          <p:nvPr/>
        </p:nvSpPr>
        <p:spPr>
          <a:xfrm>
            <a:off x="8915400" y="2359152"/>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2-79"/>
          <p:cNvSpPr txBox="1"/>
          <p:nvPr/>
        </p:nvSpPr>
        <p:spPr>
          <a:xfrm>
            <a:off x="9098280" y="2359152"/>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Coupon</a:t>
            </a:r>
            <a:endParaRPr lang="en-US" sz="1500" dirty="0"/>
          </a:p>
          <a:p>
            <a:pPr indent="0" marL="0">
              <a:buNone/>
            </a:pPr>
            <a:r>
              <a:rPr lang="en-US" sz="1400" dirty="0">
                <a:solidFill>
                  <a:schemeClr val="tx2"/>
                </a:solidFill>
              </a:rPr>
              <a:t>Code de réduction</a:t>
            </a:r>
            <a:endParaRPr lang="en-US" sz="1500" dirty="0"/>
          </a:p>
        </p:txBody>
      </p:sp>
      <p:sp>
        <p:nvSpPr>
          <p:cNvPr id="23" name="anim3-80"/>
          <p:cNvSpPr/>
          <p:nvPr/>
        </p:nvSpPr>
        <p:spPr>
          <a:xfrm>
            <a:off x="548640" y="3300984"/>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4" name="anim3-81"/>
          <p:cNvSpPr txBox="1"/>
          <p:nvPr/>
        </p:nvSpPr>
        <p:spPr>
          <a:xfrm>
            <a:off x="731520" y="3300984"/>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Maintenance</a:t>
            </a:r>
            <a:endParaRPr lang="en-US" sz="1500" dirty="0"/>
          </a:p>
          <a:p>
            <a:pPr indent="0" marL="0">
              <a:buNone/>
            </a:pPr>
            <a:r>
              <a:rPr lang="en-US" sz="1400" dirty="0">
                <a:solidFill>
                  <a:schemeClr val="tx2"/>
                </a:solidFill>
              </a:rPr>
              <a:t>Entretien</a:t>
            </a:r>
            <a:endParaRPr lang="en-US" sz="1500" dirty="0"/>
          </a:p>
        </p:txBody>
      </p:sp>
      <p:sp>
        <p:nvSpPr>
          <p:cNvPr id="25" name="anim3-82"/>
          <p:cNvSpPr/>
          <p:nvPr/>
        </p:nvSpPr>
        <p:spPr>
          <a:xfrm>
            <a:off x="3337560" y="3300984"/>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6" name="anim3-83"/>
          <p:cNvSpPr txBox="1"/>
          <p:nvPr/>
        </p:nvSpPr>
        <p:spPr>
          <a:xfrm>
            <a:off x="3520440" y="3300984"/>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Parts Stock</a:t>
            </a:r>
            <a:endParaRPr lang="en-US" sz="1500" dirty="0"/>
          </a:p>
          <a:p>
            <a:pPr indent="0" marL="0">
              <a:buNone/>
            </a:pPr>
            <a:r>
              <a:rPr lang="en-US" sz="1400" dirty="0">
                <a:solidFill>
                  <a:schemeClr val="tx2"/>
                </a:solidFill>
              </a:rPr>
              <a:t>Stock de pièces</a:t>
            </a:r>
            <a:endParaRPr lang="en-US" sz="1500" dirty="0"/>
          </a:p>
        </p:txBody>
      </p:sp>
      <p:sp>
        <p:nvSpPr>
          <p:cNvPr id="27" name="anim3-84"/>
          <p:cNvSpPr/>
          <p:nvPr/>
        </p:nvSpPr>
        <p:spPr>
          <a:xfrm>
            <a:off x="6126480" y="3300984"/>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8" name="anim3-85"/>
          <p:cNvSpPr txBox="1"/>
          <p:nvPr/>
        </p:nvSpPr>
        <p:spPr>
          <a:xfrm>
            <a:off x="6309360" y="3300984"/>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Fuel</a:t>
            </a:r>
            <a:endParaRPr lang="en-US" sz="1500" dirty="0"/>
          </a:p>
          <a:p>
            <a:pPr indent="0" marL="0">
              <a:buNone/>
            </a:pPr>
            <a:r>
              <a:rPr lang="en-US" sz="1400" dirty="0">
                <a:solidFill>
                  <a:schemeClr val="tx2"/>
                </a:solidFill>
              </a:rPr>
              <a:t>Carburant</a:t>
            </a:r>
            <a:endParaRPr lang="en-US" sz="1500" dirty="0"/>
          </a:p>
        </p:txBody>
      </p:sp>
      <p:sp>
        <p:nvSpPr>
          <p:cNvPr id="29" name="anim3-86"/>
          <p:cNvSpPr/>
          <p:nvPr/>
        </p:nvSpPr>
        <p:spPr>
          <a:xfrm>
            <a:off x="8915400" y="3300984"/>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30" name="anim3-87"/>
          <p:cNvSpPr txBox="1"/>
          <p:nvPr/>
        </p:nvSpPr>
        <p:spPr>
          <a:xfrm>
            <a:off x="9098280" y="3300984"/>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Reminder</a:t>
            </a:r>
            <a:endParaRPr lang="en-US" sz="1500" dirty="0"/>
          </a:p>
          <a:p>
            <a:pPr indent="0" marL="0">
              <a:buNone/>
            </a:pPr>
            <a:r>
              <a:rPr lang="en-US" sz="1400" dirty="0">
                <a:solidFill>
                  <a:schemeClr val="tx2"/>
                </a:solidFill>
              </a:rPr>
              <a:t>Rappel</a:t>
            </a:r>
            <a:endParaRPr lang="en-US" sz="1500" dirty="0"/>
          </a:p>
        </p:txBody>
      </p:sp>
      <p:sp>
        <p:nvSpPr>
          <p:cNvPr id="31" name="anim4-88"/>
          <p:cNvSpPr/>
          <p:nvPr/>
        </p:nvSpPr>
        <p:spPr>
          <a:xfrm>
            <a:off x="548640" y="4242816"/>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32" name="anim4-89"/>
          <p:cNvSpPr txBox="1"/>
          <p:nvPr/>
        </p:nvSpPr>
        <p:spPr>
          <a:xfrm>
            <a:off x="731520" y="4242816"/>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Accounts</a:t>
            </a:r>
            <a:endParaRPr lang="en-US" sz="1500" dirty="0"/>
          </a:p>
          <a:p>
            <a:pPr indent="0" marL="0">
              <a:buNone/>
            </a:pPr>
            <a:r>
              <a:rPr lang="en-US" sz="1400" dirty="0">
                <a:solidFill>
                  <a:schemeClr val="tx2"/>
                </a:solidFill>
              </a:rPr>
              <a:t>Comptes (argent)</a:t>
            </a:r>
            <a:endParaRPr lang="en-US" sz="1500" dirty="0"/>
          </a:p>
        </p:txBody>
      </p:sp>
      <p:sp>
        <p:nvSpPr>
          <p:cNvPr id="33" name="anim4-90"/>
          <p:cNvSpPr/>
          <p:nvPr/>
        </p:nvSpPr>
        <p:spPr>
          <a:xfrm>
            <a:off x="3337560" y="4242816"/>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34" name="anim4-91"/>
          <p:cNvSpPr txBox="1"/>
          <p:nvPr/>
        </p:nvSpPr>
        <p:spPr>
          <a:xfrm>
            <a:off x="3520440" y="4242816"/>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Tracking</a:t>
            </a:r>
            <a:endParaRPr lang="en-US" sz="1500" dirty="0"/>
          </a:p>
          <a:p>
            <a:pPr indent="0" marL="0">
              <a:buNone/>
            </a:pPr>
            <a:r>
              <a:rPr lang="en-US" sz="1400" dirty="0">
                <a:solidFill>
                  <a:schemeClr val="tx2"/>
                </a:solidFill>
              </a:rPr>
              <a:t>Suivi sur la carte</a:t>
            </a:r>
            <a:endParaRPr lang="en-US" sz="1500" dirty="0"/>
          </a:p>
        </p:txBody>
      </p:sp>
      <p:sp>
        <p:nvSpPr>
          <p:cNvPr id="35" name="anim4-92"/>
          <p:cNvSpPr/>
          <p:nvPr/>
        </p:nvSpPr>
        <p:spPr>
          <a:xfrm>
            <a:off x="6126480" y="4242816"/>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36" name="anim4-93"/>
          <p:cNvSpPr txBox="1"/>
          <p:nvPr/>
        </p:nvSpPr>
        <p:spPr>
          <a:xfrm>
            <a:off x="6309360" y="4242816"/>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Geofence</a:t>
            </a:r>
            <a:endParaRPr lang="en-US" sz="1500" dirty="0"/>
          </a:p>
          <a:p>
            <a:pPr indent="0" marL="0">
              <a:buNone/>
            </a:pPr>
            <a:r>
              <a:rPr lang="en-US" sz="1400" dirty="0">
                <a:solidFill>
                  <a:schemeClr val="tx2"/>
                </a:solidFill>
              </a:rPr>
              <a:t>Zone sur la carte</a:t>
            </a:r>
            <a:endParaRPr lang="en-US" sz="1500" dirty="0"/>
          </a:p>
        </p:txBody>
      </p:sp>
      <p:sp>
        <p:nvSpPr>
          <p:cNvPr id="37" name="anim4-94"/>
          <p:cNvSpPr/>
          <p:nvPr/>
        </p:nvSpPr>
        <p:spPr>
          <a:xfrm>
            <a:off x="8915400" y="4242816"/>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38" name="anim4-95"/>
          <p:cNvSpPr txBox="1"/>
          <p:nvPr/>
        </p:nvSpPr>
        <p:spPr>
          <a:xfrm>
            <a:off x="9098280" y="4242816"/>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Reports</a:t>
            </a:r>
            <a:endParaRPr lang="en-US" sz="1500" dirty="0"/>
          </a:p>
          <a:p>
            <a:pPr indent="0" marL="0">
              <a:buNone/>
            </a:pPr>
            <a:r>
              <a:rPr lang="en-US" sz="1400" dirty="0">
                <a:solidFill>
                  <a:schemeClr val="tx2"/>
                </a:solidFill>
              </a:rPr>
              <a:t>Rapports</a:t>
            </a:r>
            <a:endParaRPr lang="en-US" sz="1500" dirty="0"/>
          </a:p>
        </p:txBody>
      </p:sp>
      <p:sp>
        <p:nvSpPr>
          <p:cNvPr id="39" name="anim5-96"/>
          <p:cNvSpPr/>
          <p:nvPr/>
        </p:nvSpPr>
        <p:spPr>
          <a:xfrm>
            <a:off x="548640" y="5184648"/>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40" name="anim5-97"/>
          <p:cNvSpPr txBox="1"/>
          <p:nvPr/>
        </p:nvSpPr>
        <p:spPr>
          <a:xfrm>
            <a:off x="731520" y="5184648"/>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Employee</a:t>
            </a:r>
            <a:endParaRPr lang="en-US" sz="1500" dirty="0"/>
          </a:p>
          <a:p>
            <a:pPr indent="0" marL="0">
              <a:buNone/>
            </a:pPr>
            <a:r>
              <a:rPr lang="en-US" sz="1400" dirty="0">
                <a:solidFill>
                  <a:schemeClr val="tx2"/>
                </a:solidFill>
              </a:rPr>
              <a:t>Employés</a:t>
            </a:r>
            <a:endParaRPr lang="en-US" sz="1500" dirty="0"/>
          </a:p>
        </p:txBody>
      </p:sp>
      <p:sp>
        <p:nvSpPr>
          <p:cNvPr id="41" name="anim5-98"/>
          <p:cNvSpPr/>
          <p:nvPr/>
        </p:nvSpPr>
        <p:spPr>
          <a:xfrm>
            <a:off x="3337560" y="5184648"/>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42" name="anim5-99"/>
          <p:cNvSpPr txBox="1"/>
          <p:nvPr/>
        </p:nvSpPr>
        <p:spPr>
          <a:xfrm>
            <a:off x="3520440" y="5184648"/>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Setting's</a:t>
            </a:r>
            <a:endParaRPr lang="en-US" sz="1500" dirty="0"/>
          </a:p>
          <a:p>
            <a:pPr indent="0" marL="0">
              <a:buNone/>
            </a:pPr>
            <a:r>
              <a:rPr lang="en-US" sz="1400" dirty="0">
                <a:solidFill>
                  <a:schemeClr val="tx2"/>
                </a:solidFill>
              </a:rPr>
              <a:t>Réglages</a:t>
            </a:r>
            <a:endParaRPr lang="en-US" sz="1500" dirty="0"/>
          </a:p>
        </p:txBody>
      </p:sp>
      <p:sp>
        <p:nvSpPr>
          <p:cNvPr id="43" name="anim5-100"/>
          <p:cNvSpPr/>
          <p:nvPr/>
        </p:nvSpPr>
        <p:spPr>
          <a:xfrm>
            <a:off x="6126480" y="5184648"/>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44" name="anim5-101"/>
          <p:cNvSpPr txBox="1"/>
          <p:nvPr/>
        </p:nvSpPr>
        <p:spPr>
          <a:xfrm>
            <a:off x="6309360" y="5184648"/>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Add / Save</a:t>
            </a:r>
            <a:endParaRPr lang="en-US" sz="1500" dirty="0"/>
          </a:p>
          <a:p>
            <a:pPr indent="0" marL="0">
              <a:buNone/>
            </a:pPr>
            <a:r>
              <a:rPr lang="en-US" sz="1400" dirty="0">
                <a:solidFill>
                  <a:schemeClr val="tx2"/>
                </a:solidFill>
              </a:rPr>
              <a:t>Ajouter / Enregistrer</a:t>
            </a:r>
            <a:endParaRPr lang="en-US" sz="1500" dirty="0"/>
          </a:p>
        </p:txBody>
      </p:sp>
      <p:sp>
        <p:nvSpPr>
          <p:cNvPr id="45" name="anim5-102"/>
          <p:cNvSpPr/>
          <p:nvPr/>
        </p:nvSpPr>
        <p:spPr>
          <a:xfrm>
            <a:off x="8915400" y="5184648"/>
            <a:ext cx="2651760" cy="804672"/>
          </a:xfrm>
          <a:prstGeom prst="roundRect">
            <a:avLst>
              <a:gd name="adj" fmla="val 1363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46" name="anim5-103"/>
          <p:cNvSpPr txBox="1"/>
          <p:nvPr/>
        </p:nvSpPr>
        <p:spPr>
          <a:xfrm>
            <a:off x="9098280" y="5184648"/>
            <a:ext cx="2377440" cy="804672"/>
          </a:xfrm>
          <a:prstGeom prst="rect">
            <a:avLst/>
          </a:prstGeom>
          <a:noFill/>
          <a:ln/>
        </p:spPr>
        <p:txBody>
          <a:bodyPr wrap="square" lIns="0" tIns="0" rIns="0" bIns="0" rtlCol="0" anchor="ctr"/>
          <a:lstStyle/>
          <a:p>
            <a:pPr indent="0" marL="0">
              <a:buNone/>
            </a:pPr>
            <a:r>
              <a:rPr lang="en-US" sz="1400" b="1" dirty="0">
                <a:solidFill>
                  <a:schemeClr val="accent1"/>
                </a:solidFill>
              </a:rPr>
              <a:t>Edit / Delete</a:t>
            </a:r>
            <a:endParaRPr lang="en-US" sz="1500" dirty="0"/>
          </a:p>
          <a:p>
            <a:pPr indent="0" marL="0">
              <a:buNone/>
            </a:pPr>
            <a:r>
              <a:rPr lang="en-US" sz="1400" dirty="0">
                <a:solidFill>
                  <a:schemeClr val="tx2"/>
                </a:solidFill>
              </a:rPr>
              <a:t>Modifier / Supprimer</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3" fill="hold">
                      <p:stCondLst>
                        <p:cond delay="indefinite"/>
                        <p:cond evt="onBegin" delay="0">
                          <p:tn val="2"/>
                        </p:cond>
                      </p:stCondLst>
                      <p:childTnLst>
                        <p:par>
                          <p:cTn id="124"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500"/>
                                        <p:tgtEl>
                                          <p:spTgt spid="8"/>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par>
                                <p:cTn id="27" presetID="10" presetClass="entr" presetSubtype="0" fill="hold" nodeType="withEffect">
                                  <p:stCondLst>
                                    <p:cond delay="25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25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nodeType="withEffect">
                                  <p:stCondLst>
                                    <p:cond delay="2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2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25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2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25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par>
                                <p:cTn id="51" presetID="10" presetClass="entr" presetSubtype="0" fill="hold" nodeType="withEffect">
                                  <p:stCondLst>
                                    <p:cond delay="50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par>
                                <p:cTn id="54" presetID="10" presetClass="entr" presetSubtype="0" fill="hold" nodeType="withEffect">
                                  <p:stCondLst>
                                    <p:cond delay="50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00"/>
                                        <p:tgtEl>
                                          <p:spTgt spid="24"/>
                                        </p:tgtEl>
                                      </p:cBhvr>
                                    </p:animEffect>
                                  </p:childTnLst>
                                </p:cTn>
                              </p:par>
                              <p:par>
                                <p:cTn id="57" presetID="10" presetClass="entr" presetSubtype="0" fill="hold" nodeType="withEffect">
                                  <p:stCondLst>
                                    <p:cond delay="50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par>
                                <p:cTn id="60" presetID="10" presetClass="entr" presetSubtype="0" fill="hold" nodeType="withEffect">
                                  <p:stCondLst>
                                    <p:cond delay="50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nodeType="withEffect">
                                  <p:stCondLst>
                                    <p:cond delay="50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par>
                                <p:cTn id="66" presetID="10" presetClass="entr" presetSubtype="0" fill="hold" nodeType="withEffect">
                                  <p:stCondLst>
                                    <p:cond delay="50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500"/>
                                        <p:tgtEl>
                                          <p:spTgt spid="28"/>
                                        </p:tgtEl>
                                      </p:cBhvr>
                                    </p:animEffect>
                                  </p:childTnLst>
                                </p:cTn>
                              </p:par>
                              <p:par>
                                <p:cTn id="69" presetID="10" presetClass="entr" presetSubtype="0" fill="hold" nodeType="withEffect">
                                  <p:stCondLst>
                                    <p:cond delay="50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500"/>
                                        <p:tgtEl>
                                          <p:spTgt spid="29"/>
                                        </p:tgtEl>
                                      </p:cBhvr>
                                    </p:animEffect>
                                  </p:childTnLst>
                                </p:cTn>
                              </p:par>
                              <p:par>
                                <p:cTn id="72" presetID="10" presetClass="entr" presetSubtype="0" fill="hold" nodeType="withEffect">
                                  <p:stCondLst>
                                    <p:cond delay="50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500"/>
                                        <p:tgtEl>
                                          <p:spTgt spid="30"/>
                                        </p:tgtEl>
                                      </p:cBhvr>
                                    </p:animEffect>
                                  </p:childTnLst>
                                </p:cTn>
                              </p:par>
                              <p:par>
                                <p:cTn id="75" presetID="10" presetClass="entr" presetSubtype="0" fill="hold" nodeType="withEffect">
                                  <p:stCondLst>
                                    <p:cond delay="75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00"/>
                                        <p:tgtEl>
                                          <p:spTgt spid="31"/>
                                        </p:tgtEl>
                                      </p:cBhvr>
                                    </p:animEffect>
                                  </p:childTnLst>
                                </p:cTn>
                              </p:par>
                              <p:par>
                                <p:cTn id="78" presetID="10" presetClass="entr" presetSubtype="0" fill="hold" nodeType="withEffect">
                                  <p:stCondLst>
                                    <p:cond delay="750"/>
                                  </p:stCondLst>
                                  <p:childTnLst>
                                    <p:set>
                                      <p:cBhvr>
                                        <p:cTn id="79" dur="1" fill="hold">
                                          <p:stCondLst>
                                            <p:cond delay="0"/>
                                          </p:stCondLst>
                                        </p:cTn>
                                        <p:tgtEl>
                                          <p:spTgt spid="32"/>
                                        </p:tgtEl>
                                        <p:attrNameLst>
                                          <p:attrName>style.visibility</p:attrName>
                                        </p:attrNameLst>
                                      </p:cBhvr>
                                      <p:to>
                                        <p:strVal val="visible"/>
                                      </p:to>
                                    </p:set>
                                    <p:animEffect transition="in" filter="fade">
                                      <p:cBhvr>
                                        <p:cTn id="80" dur="500"/>
                                        <p:tgtEl>
                                          <p:spTgt spid="32"/>
                                        </p:tgtEl>
                                      </p:cBhvr>
                                    </p:animEffect>
                                  </p:childTnLst>
                                </p:cTn>
                              </p:par>
                              <p:par>
                                <p:cTn id="81" presetID="10" presetClass="entr" presetSubtype="0" fill="hold" nodeType="withEffect">
                                  <p:stCondLst>
                                    <p:cond delay="75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500"/>
                                        <p:tgtEl>
                                          <p:spTgt spid="33"/>
                                        </p:tgtEl>
                                      </p:cBhvr>
                                    </p:animEffect>
                                  </p:childTnLst>
                                </p:cTn>
                              </p:par>
                              <p:par>
                                <p:cTn id="84" presetID="10" presetClass="entr" presetSubtype="0" fill="hold" nodeType="withEffect">
                                  <p:stCondLst>
                                    <p:cond delay="750"/>
                                  </p:stCondLst>
                                  <p:childTnLst>
                                    <p:set>
                                      <p:cBhvr>
                                        <p:cTn id="85" dur="1" fill="hold">
                                          <p:stCondLst>
                                            <p:cond delay="0"/>
                                          </p:stCondLst>
                                        </p:cTn>
                                        <p:tgtEl>
                                          <p:spTgt spid="34"/>
                                        </p:tgtEl>
                                        <p:attrNameLst>
                                          <p:attrName>style.visibility</p:attrName>
                                        </p:attrNameLst>
                                      </p:cBhvr>
                                      <p:to>
                                        <p:strVal val="visible"/>
                                      </p:to>
                                    </p:set>
                                    <p:animEffect transition="in" filter="fade">
                                      <p:cBhvr>
                                        <p:cTn id="86" dur="500"/>
                                        <p:tgtEl>
                                          <p:spTgt spid="34"/>
                                        </p:tgtEl>
                                      </p:cBhvr>
                                    </p:animEffect>
                                  </p:childTnLst>
                                </p:cTn>
                              </p:par>
                              <p:par>
                                <p:cTn id="87" presetID="10" presetClass="entr" presetSubtype="0" fill="hold" nodeType="withEffect">
                                  <p:stCondLst>
                                    <p:cond delay="750"/>
                                  </p:stCondLst>
                                  <p:childTnLst>
                                    <p:set>
                                      <p:cBhvr>
                                        <p:cTn id="88" dur="1" fill="hold">
                                          <p:stCondLst>
                                            <p:cond delay="0"/>
                                          </p:stCondLst>
                                        </p:cTn>
                                        <p:tgtEl>
                                          <p:spTgt spid="35"/>
                                        </p:tgtEl>
                                        <p:attrNameLst>
                                          <p:attrName>style.visibility</p:attrName>
                                        </p:attrNameLst>
                                      </p:cBhvr>
                                      <p:to>
                                        <p:strVal val="visible"/>
                                      </p:to>
                                    </p:set>
                                    <p:animEffect transition="in" filter="fade">
                                      <p:cBhvr>
                                        <p:cTn id="89" dur="500"/>
                                        <p:tgtEl>
                                          <p:spTgt spid="35"/>
                                        </p:tgtEl>
                                      </p:cBhvr>
                                    </p:animEffect>
                                  </p:childTnLst>
                                </p:cTn>
                              </p:par>
                              <p:par>
                                <p:cTn id="90" presetID="10" presetClass="entr" presetSubtype="0" fill="hold" nodeType="withEffect">
                                  <p:stCondLst>
                                    <p:cond delay="750"/>
                                  </p:stCondLst>
                                  <p:childTnLst>
                                    <p:set>
                                      <p:cBhvr>
                                        <p:cTn id="91" dur="1" fill="hold">
                                          <p:stCondLst>
                                            <p:cond delay="0"/>
                                          </p:stCondLst>
                                        </p:cTn>
                                        <p:tgtEl>
                                          <p:spTgt spid="36"/>
                                        </p:tgtEl>
                                        <p:attrNameLst>
                                          <p:attrName>style.visibility</p:attrName>
                                        </p:attrNameLst>
                                      </p:cBhvr>
                                      <p:to>
                                        <p:strVal val="visible"/>
                                      </p:to>
                                    </p:set>
                                    <p:animEffect transition="in" filter="fade">
                                      <p:cBhvr>
                                        <p:cTn id="92" dur="500"/>
                                        <p:tgtEl>
                                          <p:spTgt spid="36"/>
                                        </p:tgtEl>
                                      </p:cBhvr>
                                    </p:animEffect>
                                  </p:childTnLst>
                                </p:cTn>
                              </p:par>
                              <p:par>
                                <p:cTn id="93" presetID="10" presetClass="entr" presetSubtype="0" fill="hold" nodeType="withEffect">
                                  <p:stCondLst>
                                    <p:cond delay="75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00"/>
                                        <p:tgtEl>
                                          <p:spTgt spid="37"/>
                                        </p:tgtEl>
                                      </p:cBhvr>
                                    </p:animEffect>
                                  </p:childTnLst>
                                </p:cTn>
                              </p:par>
                              <p:par>
                                <p:cTn id="96" presetID="10" presetClass="entr" presetSubtype="0" fill="hold" nodeType="withEffect">
                                  <p:stCondLst>
                                    <p:cond delay="750"/>
                                  </p:stCondLst>
                                  <p:childTnLst>
                                    <p:set>
                                      <p:cBhvr>
                                        <p:cTn id="97" dur="1" fill="hold">
                                          <p:stCondLst>
                                            <p:cond delay="0"/>
                                          </p:stCondLst>
                                        </p:cTn>
                                        <p:tgtEl>
                                          <p:spTgt spid="38"/>
                                        </p:tgtEl>
                                        <p:attrNameLst>
                                          <p:attrName>style.visibility</p:attrName>
                                        </p:attrNameLst>
                                      </p:cBhvr>
                                      <p:to>
                                        <p:strVal val="visible"/>
                                      </p:to>
                                    </p:set>
                                    <p:animEffect transition="in" filter="fade">
                                      <p:cBhvr>
                                        <p:cTn id="98" dur="500"/>
                                        <p:tgtEl>
                                          <p:spTgt spid="38"/>
                                        </p:tgtEl>
                                      </p:cBhvr>
                                    </p:animEffect>
                                  </p:childTnLst>
                                </p:cTn>
                              </p:par>
                              <p:par>
                                <p:cTn id="99" presetID="10" presetClass="entr" presetSubtype="0" fill="hold" nodeType="withEffect">
                                  <p:stCondLst>
                                    <p:cond delay="100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00"/>
                                        <p:tgtEl>
                                          <p:spTgt spid="39"/>
                                        </p:tgtEl>
                                      </p:cBhvr>
                                    </p:animEffect>
                                  </p:childTnLst>
                                </p:cTn>
                              </p:par>
                              <p:par>
                                <p:cTn id="102" presetID="10" presetClass="entr" presetSubtype="0" fill="hold" nodeType="withEffect">
                                  <p:stCondLst>
                                    <p:cond delay="1000"/>
                                  </p:stCondLst>
                                  <p:childTnLst>
                                    <p:set>
                                      <p:cBhvr>
                                        <p:cTn id="103" dur="1" fill="hold">
                                          <p:stCondLst>
                                            <p:cond delay="0"/>
                                          </p:stCondLst>
                                        </p:cTn>
                                        <p:tgtEl>
                                          <p:spTgt spid="40"/>
                                        </p:tgtEl>
                                        <p:attrNameLst>
                                          <p:attrName>style.visibility</p:attrName>
                                        </p:attrNameLst>
                                      </p:cBhvr>
                                      <p:to>
                                        <p:strVal val="visible"/>
                                      </p:to>
                                    </p:set>
                                    <p:animEffect transition="in" filter="fade">
                                      <p:cBhvr>
                                        <p:cTn id="104" dur="500"/>
                                        <p:tgtEl>
                                          <p:spTgt spid="40"/>
                                        </p:tgtEl>
                                      </p:cBhvr>
                                    </p:animEffect>
                                  </p:childTnLst>
                                </p:cTn>
                              </p:par>
                              <p:par>
                                <p:cTn id="105" presetID="10" presetClass="entr" presetSubtype="0" fill="hold" nodeType="withEffect">
                                  <p:stCondLst>
                                    <p:cond delay="1000"/>
                                  </p:stCondLst>
                                  <p:childTnLst>
                                    <p:set>
                                      <p:cBhvr>
                                        <p:cTn id="106" dur="1" fill="hold">
                                          <p:stCondLst>
                                            <p:cond delay="0"/>
                                          </p:stCondLst>
                                        </p:cTn>
                                        <p:tgtEl>
                                          <p:spTgt spid="41"/>
                                        </p:tgtEl>
                                        <p:attrNameLst>
                                          <p:attrName>style.visibility</p:attrName>
                                        </p:attrNameLst>
                                      </p:cBhvr>
                                      <p:to>
                                        <p:strVal val="visible"/>
                                      </p:to>
                                    </p:set>
                                    <p:animEffect transition="in" filter="fade">
                                      <p:cBhvr>
                                        <p:cTn id="107" dur="500"/>
                                        <p:tgtEl>
                                          <p:spTgt spid="41"/>
                                        </p:tgtEl>
                                      </p:cBhvr>
                                    </p:animEffect>
                                  </p:childTnLst>
                                </p:cTn>
                              </p:par>
                              <p:par>
                                <p:cTn id="108" presetID="10" presetClass="entr" presetSubtype="0" fill="hold" nodeType="withEffect">
                                  <p:stCondLst>
                                    <p:cond delay="1000"/>
                                  </p:stCondLst>
                                  <p:childTnLst>
                                    <p:set>
                                      <p:cBhvr>
                                        <p:cTn id="109" dur="1" fill="hold">
                                          <p:stCondLst>
                                            <p:cond delay="0"/>
                                          </p:stCondLst>
                                        </p:cTn>
                                        <p:tgtEl>
                                          <p:spTgt spid="42"/>
                                        </p:tgtEl>
                                        <p:attrNameLst>
                                          <p:attrName>style.visibility</p:attrName>
                                        </p:attrNameLst>
                                      </p:cBhvr>
                                      <p:to>
                                        <p:strVal val="visible"/>
                                      </p:to>
                                    </p:set>
                                    <p:animEffect transition="in" filter="fade">
                                      <p:cBhvr>
                                        <p:cTn id="110" dur="500"/>
                                        <p:tgtEl>
                                          <p:spTgt spid="42"/>
                                        </p:tgtEl>
                                      </p:cBhvr>
                                    </p:animEffect>
                                  </p:childTnLst>
                                </p:cTn>
                              </p:par>
                              <p:par>
                                <p:cTn id="111" presetID="10" presetClass="entr" presetSubtype="0" fill="hold" nodeType="withEffect">
                                  <p:stCondLst>
                                    <p:cond delay="1000"/>
                                  </p:stCondLst>
                                  <p:childTnLst>
                                    <p:set>
                                      <p:cBhvr>
                                        <p:cTn id="112" dur="1" fill="hold">
                                          <p:stCondLst>
                                            <p:cond delay="0"/>
                                          </p:stCondLst>
                                        </p:cTn>
                                        <p:tgtEl>
                                          <p:spTgt spid="43"/>
                                        </p:tgtEl>
                                        <p:attrNameLst>
                                          <p:attrName>style.visibility</p:attrName>
                                        </p:attrNameLst>
                                      </p:cBhvr>
                                      <p:to>
                                        <p:strVal val="visible"/>
                                      </p:to>
                                    </p:set>
                                    <p:animEffect transition="in" filter="fade">
                                      <p:cBhvr>
                                        <p:cTn id="113" dur="500"/>
                                        <p:tgtEl>
                                          <p:spTgt spid="43"/>
                                        </p:tgtEl>
                                      </p:cBhvr>
                                    </p:animEffect>
                                  </p:childTnLst>
                                </p:cTn>
                              </p:par>
                              <p:par>
                                <p:cTn id="114" presetID="10" presetClass="entr" presetSubtype="0" fill="hold" nodeType="withEffect">
                                  <p:stCondLst>
                                    <p:cond delay="1000"/>
                                  </p:stCondLst>
                                  <p:childTnLst>
                                    <p:set>
                                      <p:cBhvr>
                                        <p:cTn id="115" dur="1" fill="hold">
                                          <p:stCondLst>
                                            <p:cond delay="0"/>
                                          </p:stCondLst>
                                        </p:cTn>
                                        <p:tgtEl>
                                          <p:spTgt spid="44"/>
                                        </p:tgtEl>
                                        <p:attrNameLst>
                                          <p:attrName>style.visibility</p:attrName>
                                        </p:attrNameLst>
                                      </p:cBhvr>
                                      <p:to>
                                        <p:strVal val="visible"/>
                                      </p:to>
                                    </p:set>
                                    <p:animEffect transition="in" filter="fade">
                                      <p:cBhvr>
                                        <p:cTn id="116" dur="500"/>
                                        <p:tgtEl>
                                          <p:spTgt spid="44"/>
                                        </p:tgtEl>
                                      </p:cBhvr>
                                    </p:animEffect>
                                  </p:childTnLst>
                                </p:cTn>
                              </p:par>
                              <p:par>
                                <p:cTn id="117" presetID="10" presetClass="entr" presetSubtype="0" fill="hold" nodeType="withEffect">
                                  <p:stCondLst>
                                    <p:cond delay="1000"/>
                                  </p:stCondLst>
                                  <p:childTnLst>
                                    <p:set>
                                      <p:cBhvr>
                                        <p:cTn id="118" dur="1" fill="hold">
                                          <p:stCondLst>
                                            <p:cond delay="0"/>
                                          </p:stCondLst>
                                        </p:cTn>
                                        <p:tgtEl>
                                          <p:spTgt spid="45"/>
                                        </p:tgtEl>
                                        <p:attrNameLst>
                                          <p:attrName>style.visibility</p:attrName>
                                        </p:attrNameLst>
                                      </p:cBhvr>
                                      <p:to>
                                        <p:strVal val="visible"/>
                                      </p:to>
                                    </p:set>
                                    <p:animEffect transition="in" filter="fade">
                                      <p:cBhvr>
                                        <p:cTn id="119" dur="500"/>
                                        <p:tgtEl>
                                          <p:spTgt spid="45"/>
                                        </p:tgtEl>
                                      </p:cBhvr>
                                    </p:animEffect>
                                  </p:childTnLst>
                                </p:cTn>
                              </p:par>
                              <p:par>
                                <p:cTn id="120" presetID="10" presetClass="entr" presetSubtype="0" fill="hold" nodeType="withEffect">
                                  <p:stCondLst>
                                    <p:cond delay="1000"/>
                                  </p:stCondLst>
                                  <p:childTnLst>
                                    <p:set>
                                      <p:cBhvr>
                                        <p:cTn id="121" dur="1" fill="hold">
                                          <p:stCondLst>
                                            <p:cond delay="0"/>
                                          </p:stCondLst>
                                        </p:cTn>
                                        <p:tgtEl>
                                          <p:spTgt spid="46"/>
                                        </p:tgtEl>
                                        <p:attrNameLst>
                                          <p:attrName>style.visibility</p:attrName>
                                        </p:attrNameLst>
                                      </p:cBhvr>
                                      <p:to>
                                        <p:strVal val="visible"/>
                                      </p:to>
                                    </p:set>
                                    <p:animEffect transition="in" filter="fade">
                                      <p:cBhvr>
                                        <p:cTn id="122"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P spid="14" grpId="0" animBg="1"/>
      <p:bldP spid="16" grpId="0" animBg="1"/>
      <p:bldP spid="18" grpId="0" animBg="1"/>
      <p:bldP spid="20" grpId="0" animBg="1"/>
      <p:bldP spid="22" grpId="0" animBg="1"/>
      <p:bldP spid="24" grpId="0" animBg="1"/>
      <p:bldP spid="26" grpId="0" animBg="1"/>
      <p:bldP spid="28" grpId="0" animBg="1"/>
      <p:bldP spid="30" grpId="0" animBg="1"/>
      <p:bldP spid="32" grpId="0" animBg="1"/>
      <p:bldP spid="34" grpId="0" animBg="1"/>
      <p:bldP spid="36" grpId="0" animBg="1"/>
      <p:bldP spid="38" grpId="0" animBg="1"/>
      <p:bldP spid="40" grpId="0" animBg="1"/>
      <p:bldP spid="42" grpId="0" animBg="1"/>
      <p:bldP spid="44" grpId="0" animBg="1"/>
      <p:bldP spid="4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nchor="ctr"/>
          <a:lstStyle/>
          <a:p>
            <a:pPr algn="l" indent="0" marL="0">
              <a:buNone/>
            </a:pPr>
            <a:r>
              <a:rPr lang="en-US" sz="3200" b="1" dirty="0">
                <a:solidFill>
                  <a:schemeClr val="bg1"/>
                </a:solidFill>
              </a:rPr>
              <a:t>Un trajet, du premier appel au dernier franc</a:t>
            </a:r>
            <a:endParaRPr lang="en-US" sz="3200" dirty="0"/>
          </a:p>
        </p:txBody>
      </p:sp>
      <p:sp>
        <p:nvSpPr>
          <p:cNvPr id="3" name="anim1-104"/>
          <p:cNvSpPr txBox="1"/>
          <p:nvPr/>
        </p:nvSpPr>
        <p:spPr>
          <a:xfrm>
            <a:off x="731520" y="1508760"/>
            <a:ext cx="10058400" cy="457200"/>
          </a:xfrm>
          <a:prstGeom prst="rect">
            <a:avLst/>
          </a:prstGeom>
          <a:noFill/>
          <a:ln/>
        </p:spPr>
        <p:txBody>
          <a:bodyPr wrap="square" rtlCol="0" anchor="t"/>
          <a:lstStyle/>
          <a:p>
            <a:pPr indent="0" marL="0">
              <a:buNone/>
            </a:pPr>
            <a:r>
              <a:rPr lang="en-US" sz="1800" dirty="0">
                <a:solidFill>
                  <a:schemeClr val="accent2"/>
                </a:solidFill>
              </a:rPr>
              <a:t>Chaque étape du parcours d'un camion a sa place dans le logiciel.</a:t>
            </a:r>
            <a:endParaRPr lang="en-US" sz="1800" dirty="0"/>
          </a:p>
        </p:txBody>
      </p:sp>
      <p:sp>
        <p:nvSpPr>
          <p:cNvPr id="4" name="anim1-105"/>
          <p:cNvSpPr/>
          <p:nvPr/>
        </p:nvSpPr>
        <p:spPr>
          <a:xfrm>
            <a:off x="822960" y="3520440"/>
            <a:ext cx="10607040" cy="0"/>
          </a:xfrm>
          <a:prstGeom prst="line">
            <a:avLst/>
          </a:prstGeom>
          <a:noFill/>
          <a:ln w="381000">
            <a:solidFill>
              <a:srgbClr val="3A4A82"/>
            </a:solidFill>
            <a:prstDash val="solid"/>
          </a:ln>
        </p:spPr>
      </p:sp>
      <p:sp>
        <p:nvSpPr>
          <p:cNvPr id="5" name="anim1-106"/>
          <p:cNvSpPr/>
          <p:nvPr/>
        </p:nvSpPr>
        <p:spPr>
          <a:xfrm>
            <a:off x="914400" y="3520440"/>
            <a:ext cx="10424160" cy="0"/>
          </a:xfrm>
          <a:prstGeom prst="line">
            <a:avLst/>
          </a:prstGeom>
          <a:noFill/>
          <a:ln w="25400">
            <a:solidFill>
              <a:srgbClr val="A9BCEB"/>
            </a:solidFill>
            <a:prstDash val="dash"/>
          </a:ln>
        </p:spPr>
      </p:sp>
      <p:sp>
        <p:nvSpPr>
          <p:cNvPr id="6" name="anim2-107"/>
          <p:cNvSpPr/>
          <p:nvPr/>
        </p:nvSpPr>
        <p:spPr>
          <a:xfrm>
            <a:off x="758952" y="2953512"/>
            <a:ext cx="1133856" cy="1133856"/>
          </a:xfrm>
          <a:prstGeom prst="ellipse">
            <a:avLst/>
          </a:prstGeom>
          <a:solidFill>
            <a:schemeClr val="bg1"/>
          </a:solidFill>
          <a:ln w="50800">
            <a:solidFill>
              <a:srgbClr val="3A4A82"/>
            </a:solidFill>
            <a:prstDash val="solid"/>
          </a:ln>
        </p:spPr>
      </p:sp>
      <p:pic>
        <p:nvPicPr>
          <p:cNvPr id="7" name="anim2-108" descr="preencoded.png">    </p:cNvPr>
          <p:cNvPicPr>
            <a:picLocks noChangeAspect="1"/>
          </p:cNvPicPr>
          <p:nvPr/>
        </p:nvPicPr>
        <p:blipFill>
          <a:blip r:embed="rId1"/>
          <a:stretch>
            <a:fillRect/>
          </a:stretch>
        </p:blipFill>
        <p:spPr>
          <a:xfrm>
            <a:off x="1060704" y="3255264"/>
            <a:ext cx="530352" cy="530352"/>
          </a:xfrm>
          <a:prstGeom prst="rect">
            <a:avLst/>
          </a:prstGeom>
        </p:spPr>
      </p:pic>
      <p:sp>
        <p:nvSpPr>
          <p:cNvPr id="8" name="anim2-109"/>
          <p:cNvSpPr txBox="1"/>
          <p:nvPr/>
        </p:nvSpPr>
        <p:spPr>
          <a:xfrm>
            <a:off x="411480"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Réserver</a:t>
            </a:r>
            <a:endParaRPr lang="en-US" sz="1500" dirty="0"/>
          </a:p>
          <a:p>
            <a:pPr algn="ctr" indent="0" marL="0">
              <a:buNone/>
            </a:pPr>
            <a:r>
              <a:rPr lang="en-US" sz="1300" dirty="0">
                <a:solidFill>
                  <a:schemeClr val="accent2"/>
                </a:solidFill>
              </a:rPr>
              <a:t>Client, véhicule disponible, chauffeur</a:t>
            </a:r>
            <a:endParaRPr lang="en-US" sz="1500" dirty="0"/>
          </a:p>
        </p:txBody>
      </p:sp>
      <p:sp>
        <p:nvSpPr>
          <p:cNvPr id="9" name="anim3-110"/>
          <p:cNvSpPr/>
          <p:nvPr/>
        </p:nvSpPr>
        <p:spPr>
          <a:xfrm>
            <a:off x="2660904" y="2953512"/>
            <a:ext cx="1133856" cy="1133856"/>
          </a:xfrm>
          <a:prstGeom prst="ellipse">
            <a:avLst/>
          </a:prstGeom>
          <a:solidFill>
            <a:schemeClr val="accent1"/>
          </a:solidFill>
          <a:ln w="50800">
            <a:solidFill>
              <a:srgbClr val="3A4A82"/>
            </a:solidFill>
            <a:prstDash val="solid"/>
          </a:ln>
        </p:spPr>
      </p:sp>
      <p:pic>
        <p:nvPicPr>
          <p:cNvPr id="10" name="anim3-111" descr="preencoded.png">    </p:cNvPr>
          <p:cNvPicPr>
            <a:picLocks noChangeAspect="1"/>
          </p:cNvPicPr>
          <p:nvPr/>
        </p:nvPicPr>
        <p:blipFill>
          <a:blip r:embed="rId2"/>
          <a:stretch>
            <a:fillRect/>
          </a:stretch>
        </p:blipFill>
        <p:spPr>
          <a:xfrm>
            <a:off x="2962656" y="3255264"/>
            <a:ext cx="530352" cy="530352"/>
          </a:xfrm>
          <a:prstGeom prst="rect">
            <a:avLst/>
          </a:prstGeom>
        </p:spPr>
      </p:pic>
      <p:sp>
        <p:nvSpPr>
          <p:cNvPr id="11" name="anim3-112"/>
          <p:cNvSpPr txBox="1"/>
          <p:nvPr/>
        </p:nvSpPr>
        <p:spPr>
          <a:xfrm>
            <a:off x="2313432"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Rouler</a:t>
            </a:r>
            <a:endParaRPr lang="en-US" sz="1500" dirty="0"/>
          </a:p>
          <a:p>
            <a:pPr algn="ctr" indent="0" marL="0">
              <a:buNone/>
            </a:pPr>
            <a:r>
              <a:rPr lang="en-US" sz="1300" dirty="0">
                <a:solidFill>
                  <a:schemeClr val="accent2"/>
                </a:solidFill>
              </a:rPr>
              <a:t>Voir où est le camion sur la carte</a:t>
            </a:r>
            <a:endParaRPr lang="en-US" sz="1500" dirty="0"/>
          </a:p>
        </p:txBody>
      </p:sp>
      <p:sp>
        <p:nvSpPr>
          <p:cNvPr id="12" name="anim4-113"/>
          <p:cNvSpPr/>
          <p:nvPr/>
        </p:nvSpPr>
        <p:spPr>
          <a:xfrm>
            <a:off x="4562856" y="2953512"/>
            <a:ext cx="1133856" cy="1133856"/>
          </a:xfrm>
          <a:prstGeom prst="ellipse">
            <a:avLst/>
          </a:prstGeom>
          <a:solidFill>
            <a:schemeClr val="bg1"/>
          </a:solidFill>
          <a:ln w="50800">
            <a:solidFill>
              <a:srgbClr val="3A4A82"/>
            </a:solidFill>
            <a:prstDash val="solid"/>
          </a:ln>
        </p:spPr>
      </p:sp>
      <p:pic>
        <p:nvPicPr>
          <p:cNvPr id="13" name="anim4-114" descr="preencoded.png">    </p:cNvPr>
          <p:cNvPicPr>
            <a:picLocks noChangeAspect="1"/>
          </p:cNvPicPr>
          <p:nvPr/>
        </p:nvPicPr>
        <p:blipFill>
          <a:blip r:embed="rId3"/>
          <a:stretch>
            <a:fillRect/>
          </a:stretch>
        </p:blipFill>
        <p:spPr>
          <a:xfrm>
            <a:off x="4864608" y="3255264"/>
            <a:ext cx="530352" cy="530352"/>
          </a:xfrm>
          <a:prstGeom prst="rect">
            <a:avLst/>
          </a:prstGeom>
        </p:spPr>
      </p:pic>
      <p:sp>
        <p:nvSpPr>
          <p:cNvPr id="14" name="anim4-115"/>
          <p:cNvSpPr txBox="1"/>
          <p:nvPr/>
        </p:nvSpPr>
        <p:spPr>
          <a:xfrm>
            <a:off x="4215384"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Faire le plein</a:t>
            </a:r>
            <a:endParaRPr lang="en-US" sz="1500" dirty="0"/>
          </a:p>
          <a:p>
            <a:pPr algn="ctr" indent="0" marL="0">
              <a:buNone/>
            </a:pPr>
            <a:r>
              <a:rPr lang="en-US" sz="1300" dirty="0">
                <a:solidFill>
                  <a:schemeClr val="accent2"/>
                </a:solidFill>
              </a:rPr>
              <a:t>Chaque plein noté pour son camion</a:t>
            </a:r>
            <a:endParaRPr lang="en-US" sz="1500" dirty="0"/>
          </a:p>
        </p:txBody>
      </p:sp>
      <p:sp>
        <p:nvSpPr>
          <p:cNvPr id="15" name="anim5-116"/>
          <p:cNvSpPr/>
          <p:nvPr/>
        </p:nvSpPr>
        <p:spPr>
          <a:xfrm>
            <a:off x="6464808" y="2953512"/>
            <a:ext cx="1133856" cy="1133856"/>
          </a:xfrm>
          <a:prstGeom prst="ellipse">
            <a:avLst/>
          </a:prstGeom>
          <a:solidFill>
            <a:schemeClr val="bg1"/>
          </a:solidFill>
          <a:ln w="50800">
            <a:solidFill>
              <a:srgbClr val="3A4A82"/>
            </a:solidFill>
            <a:prstDash val="solid"/>
          </a:ln>
        </p:spPr>
      </p:sp>
      <p:pic>
        <p:nvPicPr>
          <p:cNvPr id="16" name="anim5-117" descr="preencoded.png">    </p:cNvPr>
          <p:cNvPicPr>
            <a:picLocks noChangeAspect="1"/>
          </p:cNvPicPr>
          <p:nvPr/>
        </p:nvPicPr>
        <p:blipFill>
          <a:blip r:embed="rId4"/>
          <a:stretch>
            <a:fillRect/>
          </a:stretch>
        </p:blipFill>
        <p:spPr>
          <a:xfrm>
            <a:off x="6766560" y="3255264"/>
            <a:ext cx="530352" cy="530352"/>
          </a:xfrm>
          <a:prstGeom prst="rect">
            <a:avLst/>
          </a:prstGeom>
        </p:spPr>
      </p:pic>
      <p:sp>
        <p:nvSpPr>
          <p:cNvPr id="17" name="anim5-118"/>
          <p:cNvSpPr txBox="1"/>
          <p:nvPr/>
        </p:nvSpPr>
        <p:spPr>
          <a:xfrm>
            <a:off x="6117336"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Entretenir</a:t>
            </a:r>
            <a:endParaRPr lang="en-US" sz="1500" dirty="0"/>
          </a:p>
          <a:p>
            <a:pPr algn="ctr" indent="0" marL="0">
              <a:buNone/>
            </a:pPr>
            <a:r>
              <a:rPr lang="en-US" sz="1300" dirty="0">
                <a:solidFill>
                  <a:schemeClr val="accent2"/>
                </a:solidFill>
              </a:rPr>
              <a:t>Ne pas oublier l'entretien, suivre les pièces</a:t>
            </a:r>
            <a:endParaRPr lang="en-US" sz="1500" dirty="0"/>
          </a:p>
        </p:txBody>
      </p:sp>
      <p:sp>
        <p:nvSpPr>
          <p:cNvPr id="18" name="anim6-119"/>
          <p:cNvSpPr/>
          <p:nvPr/>
        </p:nvSpPr>
        <p:spPr>
          <a:xfrm>
            <a:off x="8366760" y="2953512"/>
            <a:ext cx="1133856" cy="1133856"/>
          </a:xfrm>
          <a:prstGeom prst="ellipse">
            <a:avLst/>
          </a:prstGeom>
          <a:solidFill>
            <a:schemeClr val="bg1"/>
          </a:solidFill>
          <a:ln w="50800">
            <a:solidFill>
              <a:srgbClr val="3A4A82"/>
            </a:solidFill>
            <a:prstDash val="solid"/>
          </a:ln>
        </p:spPr>
      </p:sp>
      <p:pic>
        <p:nvPicPr>
          <p:cNvPr id="19" name="anim6-120" descr="preencoded.png">    </p:cNvPr>
          <p:cNvPicPr>
            <a:picLocks noChangeAspect="1"/>
          </p:cNvPicPr>
          <p:nvPr/>
        </p:nvPicPr>
        <p:blipFill>
          <a:blip r:embed="rId5"/>
          <a:stretch>
            <a:fillRect/>
          </a:stretch>
        </p:blipFill>
        <p:spPr>
          <a:xfrm>
            <a:off x="8668512" y="3255264"/>
            <a:ext cx="530352" cy="530352"/>
          </a:xfrm>
          <a:prstGeom prst="rect">
            <a:avLst/>
          </a:prstGeom>
        </p:spPr>
      </p:pic>
      <p:sp>
        <p:nvSpPr>
          <p:cNvPr id="20" name="anim6-121"/>
          <p:cNvSpPr txBox="1"/>
          <p:nvPr/>
        </p:nvSpPr>
        <p:spPr>
          <a:xfrm>
            <a:off x="8019288"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Encaisser</a:t>
            </a:r>
            <a:endParaRPr lang="en-US" sz="1500" dirty="0"/>
          </a:p>
          <a:p>
            <a:pPr algn="ctr" indent="0" marL="0">
              <a:buNone/>
            </a:pPr>
            <a:r>
              <a:rPr lang="en-US" sz="1300" dirty="0">
                <a:solidFill>
                  <a:schemeClr val="accent2"/>
                </a:solidFill>
              </a:rPr>
              <a:t>Noter l'argent qui entre et qui sort</a:t>
            </a:r>
            <a:endParaRPr lang="en-US" sz="1500" dirty="0"/>
          </a:p>
        </p:txBody>
      </p:sp>
      <p:sp>
        <p:nvSpPr>
          <p:cNvPr id="21" name="anim7-122"/>
          <p:cNvSpPr/>
          <p:nvPr/>
        </p:nvSpPr>
        <p:spPr>
          <a:xfrm>
            <a:off x="10268712" y="2953512"/>
            <a:ext cx="1133856" cy="1133856"/>
          </a:xfrm>
          <a:prstGeom prst="ellipse">
            <a:avLst/>
          </a:prstGeom>
          <a:solidFill>
            <a:schemeClr val="bg1"/>
          </a:solidFill>
          <a:ln w="50800">
            <a:solidFill>
              <a:srgbClr val="3A4A82"/>
            </a:solidFill>
            <a:prstDash val="solid"/>
          </a:ln>
        </p:spPr>
      </p:sp>
      <p:pic>
        <p:nvPicPr>
          <p:cNvPr id="22" name="anim7-123" descr="preencoded.png">    </p:cNvPr>
          <p:cNvPicPr>
            <a:picLocks noChangeAspect="1"/>
          </p:cNvPicPr>
          <p:nvPr/>
        </p:nvPicPr>
        <p:blipFill>
          <a:blip r:embed="rId6"/>
          <a:stretch>
            <a:fillRect/>
          </a:stretch>
        </p:blipFill>
        <p:spPr>
          <a:xfrm>
            <a:off x="10570464" y="3255264"/>
            <a:ext cx="530352" cy="530352"/>
          </a:xfrm>
          <a:prstGeom prst="rect">
            <a:avLst/>
          </a:prstGeom>
        </p:spPr>
      </p:pic>
      <p:sp>
        <p:nvSpPr>
          <p:cNvPr id="23" name="anim7-124"/>
          <p:cNvSpPr txBox="1"/>
          <p:nvPr/>
        </p:nvSpPr>
        <p:spPr>
          <a:xfrm>
            <a:off x="9921240"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Faire le point</a:t>
            </a:r>
            <a:endParaRPr lang="en-US" sz="1500" dirty="0"/>
          </a:p>
          <a:p>
            <a:pPr algn="ctr" indent="0" marL="0">
              <a:buNone/>
            </a:pPr>
            <a:r>
              <a:rPr lang="en-US" sz="1300" dirty="0">
                <a:solidFill>
                  <a:schemeClr val="accent2"/>
                </a:solidFill>
              </a:rPr>
              <a:t>Voir ce qui rapporte et ce qui coûte</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nodeType="withEffect">
                                  <p:stCondLst>
                                    <p:cond delay="2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nodeType="withEffect">
                                  <p:stCondLst>
                                    <p:cond delay="2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nodeType="withEffect">
                                  <p:stCondLst>
                                    <p:cond delay="5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nodeType="withEffect">
                                  <p:stCondLst>
                                    <p:cond delay="5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nodeType="withEffect">
                                  <p:stCondLst>
                                    <p:cond delay="5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nodeType="withEffect">
                                  <p:stCondLst>
                                    <p:cond delay="7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nodeType="withEffect">
                                  <p:stCondLst>
                                    <p:cond delay="7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nodeType="withEffect">
                                  <p:stCondLst>
                                    <p:cond delay="7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nodeType="withEffect">
                                  <p:stCondLst>
                                    <p:cond delay="10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nodeType="withEffect">
                                  <p:stCondLst>
                                    <p:cond delay="10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nodeType="withEffect">
                                  <p:stCondLst>
                                    <p:cond delay="100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nodeType="withEffect">
                                  <p:stCondLst>
                                    <p:cond delay="125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nodeType="withEffect">
                                  <p:stCondLst>
                                    <p:cond delay="125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nodeType="withEffect">
                                  <p:stCondLst>
                                    <p:cond delay="125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10" presetClass="entr" presetSubtype="0" fill="hold" nodeType="withEffect">
                                  <p:stCondLst>
                                    <p:cond delay="150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0" presetID="10" presetClass="entr" presetSubtype="0" fill="hold" nodeType="withEffect">
                                  <p:stCondLst>
                                    <p:cond delay="150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par>
                                <p:cTn id="63" presetID="10" presetClass="entr" presetSubtype="0" fill="hold" nodeType="withEffect">
                                  <p:stCondLst>
                                    <p:cond delay="150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11" grpId="0" animBg="1"/>
      <p:bldP spid="14" grpId="0" animBg="1"/>
      <p:bldP spid="17" grpId="0" animBg="1"/>
      <p:bldP spid="20" grpId="0" animBg="1"/>
      <p:bldP spid="2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Le tableau de bord : la journée en un coup d'œil</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SUIVRE L'ACTIVITÉ</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Dashboard · Availability</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Dès qu'on se connecte, on voit l'essentiel de la journée.</a:t>
            </a:r>
            <a:endParaRPr lang="en-US" sz="1700" dirty="0"/>
          </a:p>
        </p:txBody>
      </p:sp>
      <p:sp>
        <p:nvSpPr>
          <p:cNvPr id="9" name="anim1-125"/>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126"/>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127"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128"/>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Les chiffres du jour</a:t>
            </a:r>
            <a:endParaRPr lang="en-US" sz="1500" dirty="0"/>
          </a:p>
          <a:p>
            <a:pPr indent="0" marL="0">
              <a:buNone/>
            </a:pPr>
            <a:r>
              <a:rPr lang="en-US" sz="1400" dirty="0">
                <a:solidFill>
                  <a:schemeClr val="tx1"/>
                </a:solidFill>
              </a:rPr>
              <a:t>Nombre de camions, chauffeurs, clients, trajets ; argent entré et sorti.</a:t>
            </a:r>
            <a:endParaRPr lang="en-US" sz="1500" dirty="0"/>
          </a:p>
        </p:txBody>
      </p:sp>
      <p:sp>
        <p:nvSpPr>
          <p:cNvPr id="13" name="anim2-129"/>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130"/>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131"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132"/>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Où sont les camions</a:t>
            </a:r>
            <a:endParaRPr lang="en-US" sz="1500" dirty="0"/>
          </a:p>
          <a:p>
            <a:pPr indent="0" marL="0">
              <a:buNone/>
            </a:pPr>
            <a:r>
              <a:rPr lang="en-US" sz="1400" dirty="0">
                <a:solidFill>
                  <a:schemeClr val="tx1"/>
                </a:solidFill>
              </a:rPr>
              <a:t>Camions libres ou en route, et leur position.</a:t>
            </a:r>
            <a:endParaRPr lang="en-US" sz="1500" dirty="0"/>
          </a:p>
        </p:txBody>
      </p:sp>
      <p:sp>
        <p:nvSpPr>
          <p:cNvPr id="17" name="anim3-133"/>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134"/>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135"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136"/>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Rappels et classements</a:t>
            </a:r>
            <a:endParaRPr lang="en-US" sz="1500" dirty="0"/>
          </a:p>
          <a:p>
            <a:pPr indent="0" marL="0">
              <a:buNone/>
            </a:pPr>
            <a:r>
              <a:rPr lang="en-US" sz="1400" dirty="0">
                <a:solidFill>
                  <a:schemeClr val="tx1"/>
                </a:solidFill>
              </a:rPr>
              <a:t>Entretiens à faire ; ce qui rapporte et ce qui coûte le plus.</a:t>
            </a:r>
            <a:endParaRPr lang="en-US" sz="1500" dirty="0"/>
          </a:p>
        </p:txBody>
      </p:sp>
      <p:sp>
        <p:nvSpPr>
          <p:cNvPr id="21" name="anim4-137"/>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138"/>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139"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140"/>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Calendrier des camions</a:t>
            </a:r>
            <a:endParaRPr lang="en-US" sz="1500" dirty="0"/>
          </a:p>
          <a:p>
            <a:pPr indent="0" marL="0">
              <a:buNone/>
            </a:pPr>
            <a:r>
              <a:rPr lang="en-US" sz="1400" dirty="0">
                <a:solidFill>
                  <a:schemeClr val="tx1"/>
                </a:solidFill>
              </a:rPr>
              <a:t>Quels camions sont pris, par mois, semaine ou jour.</a:t>
            </a:r>
            <a:endParaRPr lang="en-US" sz="1500" dirty="0"/>
          </a:p>
        </p:txBody>
      </p:sp>
      <p:sp>
        <p:nvSpPr>
          <p:cNvPr id="25" name="anim5-141"/>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142"/>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À quoi ça sert</a:t>
            </a:r>
            <a:endParaRPr lang="en-US" sz="1800" dirty="0"/>
          </a:p>
        </p:txBody>
      </p:sp>
      <p:pic>
        <p:nvPicPr>
          <p:cNvPr id="27" name="anim6-143"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144"/>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La direction voit l'activité sans attendre</a:t>
            </a:r>
            <a:endParaRPr lang="en-US" sz="1400" dirty="0"/>
          </a:p>
        </p:txBody>
      </p:sp>
      <p:pic>
        <p:nvPicPr>
          <p:cNvPr id="29" name="anim7-145"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146"/>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Les agents voient tout de suite les camions libres</a:t>
            </a:r>
            <a:endParaRPr lang="en-US" sz="1400" dirty="0"/>
          </a:p>
        </p:txBody>
      </p:sp>
      <p:pic>
        <p:nvPicPr>
          <p:cNvPr id="31" name="anim8-147"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148"/>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On voit tout de suite ce qui est urgent</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Gérer les véhicules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LES CAMIONS</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Vehicle's › Vehicle List · Add Vehicle · Vehicle Group · Route</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Chaque camion a sa fiche, comme une carte d'identité.</a:t>
            </a:r>
            <a:endParaRPr lang="en-US" sz="1700" dirty="0"/>
          </a:p>
        </p:txBody>
      </p:sp>
      <p:sp>
        <p:nvSpPr>
          <p:cNvPr id="9" name="anim1-149"/>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150"/>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151"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152"/>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Fiche du camion</a:t>
            </a:r>
            <a:endParaRPr lang="en-US" sz="1500" dirty="0"/>
          </a:p>
          <a:p>
            <a:pPr indent="0" marL="0">
              <a:buNone/>
            </a:pPr>
            <a:r>
              <a:rPr lang="en-US" sz="1400" dirty="0">
                <a:solidFill>
                  <a:schemeClr val="tx1"/>
                </a:solidFill>
              </a:rPr>
              <a:t>Immatriculation, modèle, kilométrage, photo et papiers.</a:t>
            </a:r>
            <a:endParaRPr lang="en-US" sz="1500" dirty="0"/>
          </a:p>
        </p:txBody>
      </p:sp>
      <p:sp>
        <p:nvSpPr>
          <p:cNvPr id="13" name="anim2-153"/>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154"/>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155"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156"/>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Dates de fin</a:t>
            </a:r>
            <a:endParaRPr lang="en-US" sz="1500" dirty="0"/>
          </a:p>
          <a:p>
            <a:pPr indent="0" marL="0">
              <a:buNone/>
            </a:pPr>
            <a:r>
              <a:rPr lang="en-US" sz="1400" dirty="0">
                <a:solidFill>
                  <a:schemeClr val="tx1"/>
                </a:solidFill>
              </a:rPr>
              <a:t>Immatriculation et assurance : en rouge quand la date est passée.</a:t>
            </a:r>
            <a:endParaRPr lang="en-US" sz="1500" dirty="0"/>
          </a:p>
        </p:txBody>
      </p:sp>
      <p:sp>
        <p:nvSpPr>
          <p:cNvPr id="17" name="anim3-157"/>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158"/>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159"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160"/>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Types et routes</a:t>
            </a:r>
            <a:endParaRPr lang="en-US" sz="1500" dirty="0"/>
          </a:p>
          <a:p>
            <a:pPr indent="0" marL="0">
              <a:buNone/>
            </a:pPr>
            <a:r>
              <a:rPr lang="en-US" sz="1400" dirty="0">
                <a:solidFill>
                  <a:schemeClr val="tx1"/>
                </a:solidFill>
              </a:rPr>
              <a:t>Camion, bus, voiture… et la liste des routes habituelles.</a:t>
            </a:r>
            <a:endParaRPr lang="en-US" sz="1500" dirty="0"/>
          </a:p>
        </p:txBody>
      </p:sp>
      <p:sp>
        <p:nvSpPr>
          <p:cNvPr id="21" name="anim4-161"/>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162"/>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163"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164"/>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Prix et propriétaire</a:t>
            </a:r>
            <a:endParaRPr lang="en-US" sz="1500" dirty="0"/>
          </a:p>
          <a:p>
            <a:pPr indent="0" marL="0">
              <a:buNone/>
            </a:pPr>
            <a:r>
              <a:rPr lang="en-US" sz="1400" dirty="0">
                <a:solidFill>
                  <a:schemeClr val="tx1"/>
                </a:solidFill>
              </a:rPr>
              <a:t>Prix habituel, camion à nous ou loué, boîtier GPS.</a:t>
            </a:r>
            <a:endParaRPr lang="en-US" sz="1500" dirty="0"/>
          </a:p>
        </p:txBody>
      </p:sp>
      <p:sp>
        <p:nvSpPr>
          <p:cNvPr id="25" name="anim5-165"/>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166"/>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À quoi ça sert</a:t>
            </a:r>
            <a:endParaRPr lang="en-US" sz="1800" dirty="0"/>
          </a:p>
        </p:txBody>
      </p:sp>
      <p:pic>
        <p:nvPicPr>
          <p:cNvPr id="27" name="anim6-167"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168"/>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On ne roule plus avec une assurance périmée</a:t>
            </a:r>
            <a:endParaRPr lang="en-US" sz="1400" dirty="0"/>
          </a:p>
        </p:txBody>
      </p:sp>
      <p:pic>
        <p:nvPicPr>
          <p:cNvPr id="29" name="anim7-169"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170"/>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Ajouter beaucoup de camions d'un coup avec un fichier tableur</a:t>
            </a:r>
            <a:endParaRPr lang="en-US" sz="1400" dirty="0"/>
          </a:p>
        </p:txBody>
      </p:sp>
      <p:pic>
        <p:nvPicPr>
          <p:cNvPr id="31" name="anim8-171"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172"/>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Sortir la liste en Excel ou en PDF</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Chauffeurs et loueurs de camions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LES CAMIONS</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Driver's · Vehicle Vendor's</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Savoir qui conduit, avec quel permis, et à qui on loue des camions.</a:t>
            </a:r>
            <a:endParaRPr lang="en-US" sz="1700" dirty="0"/>
          </a:p>
        </p:txBody>
      </p:sp>
      <p:sp>
        <p:nvSpPr>
          <p:cNvPr id="9" name="anim1-173"/>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174"/>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175"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176"/>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Fiche chauffeur</a:t>
            </a:r>
            <a:endParaRPr lang="en-US" sz="1500" dirty="0"/>
          </a:p>
          <a:p>
            <a:pPr indent="0" marL="0">
              <a:buNone/>
            </a:pPr>
            <a:r>
              <a:rPr lang="en-US" sz="1400" dirty="0">
                <a:solidFill>
                  <a:schemeClr val="tx1"/>
                </a:solidFill>
              </a:rPr>
              <a:t>Contact, âge, adresse, expérience, date d'entrée, photo et document.</a:t>
            </a:r>
            <a:endParaRPr lang="en-US" sz="1500" dirty="0"/>
          </a:p>
        </p:txBody>
      </p:sp>
      <p:sp>
        <p:nvSpPr>
          <p:cNvPr id="13" name="anim2-177"/>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178"/>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179"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180"/>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Permis</a:t>
            </a:r>
            <a:endParaRPr lang="en-US" sz="1500" dirty="0"/>
          </a:p>
          <a:p>
            <a:pPr indent="0" marL="0">
              <a:buNone/>
            </a:pPr>
            <a:r>
              <a:rPr lang="en-US" sz="1400" dirty="0">
                <a:solidFill>
                  <a:schemeClr val="tx1"/>
                </a:solidFill>
              </a:rPr>
              <a:t>Numéro et date de fin, en rouge quand elle est passée.</a:t>
            </a:r>
            <a:endParaRPr lang="en-US" sz="1500" dirty="0"/>
          </a:p>
        </p:txBody>
      </p:sp>
      <p:sp>
        <p:nvSpPr>
          <p:cNvPr id="17" name="anim3-181"/>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182"/>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183"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184"/>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Loueurs de camions</a:t>
            </a:r>
            <a:endParaRPr lang="en-US" sz="1500" dirty="0"/>
          </a:p>
          <a:p>
            <a:pPr indent="0" marL="0">
              <a:buNone/>
            </a:pPr>
            <a:r>
              <a:rPr lang="en-US" sz="1400" dirty="0">
                <a:solidFill>
                  <a:schemeClr val="tx1"/>
                </a:solidFill>
              </a:rPr>
              <a:t>Société, personne à appeler, téléphone, adresse.</a:t>
            </a:r>
            <a:endParaRPr lang="en-US" sz="1500" dirty="0"/>
          </a:p>
        </p:txBody>
      </p:sp>
      <p:sp>
        <p:nvSpPr>
          <p:cNvPr id="21" name="anim4-185"/>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186"/>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187"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188"/>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Contrats</a:t>
            </a:r>
            <a:endParaRPr lang="en-US" sz="1500" dirty="0"/>
          </a:p>
          <a:p>
            <a:pPr indent="0" marL="0">
              <a:buNone/>
            </a:pPr>
            <a:r>
              <a:rPr lang="en-US" sz="1400" dirty="0">
                <a:solidFill>
                  <a:schemeClr val="tx1"/>
                </a:solidFill>
              </a:rPr>
              <a:t>Date et copie du contrat.</a:t>
            </a:r>
            <a:endParaRPr lang="en-US" sz="1500" dirty="0"/>
          </a:p>
        </p:txBody>
      </p:sp>
      <p:sp>
        <p:nvSpPr>
          <p:cNvPr id="25" name="anim5-189"/>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190"/>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À quoi ça sert</a:t>
            </a:r>
            <a:endParaRPr lang="en-US" sz="1800" dirty="0"/>
          </a:p>
        </p:txBody>
      </p:sp>
      <p:pic>
        <p:nvPicPr>
          <p:cNvPr id="27" name="anim6-191"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192"/>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Un permis périmé se voit tout de suite</a:t>
            </a:r>
            <a:endParaRPr lang="en-US" sz="1400" dirty="0"/>
          </a:p>
        </p:txBody>
      </p:sp>
      <p:pic>
        <p:nvPicPr>
          <p:cNvPr id="29" name="anim7-193"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194"/>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Tous les contrats des loueurs au même endroit</a:t>
            </a:r>
            <a:endParaRPr lang="en-US" sz="1400" dirty="0"/>
          </a:p>
        </p:txBody>
      </p:sp>
      <p:pic>
        <p:nvPicPr>
          <p:cNvPr id="31" name="anim8-195"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196"/>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Ajouter beaucoup de chauffeurs d'un coup avec un fichier tableur</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Voir où sont les camions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LES CAMIONS</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Tracking › History Tracking · Live Location · Geofence</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Voir les camions sur une carte, et être prévenu quand ils entrent ou sortent d'un lieu.</a:t>
            </a:r>
            <a:endParaRPr lang="en-US" sz="1700" dirty="0"/>
          </a:p>
        </p:txBody>
      </p:sp>
      <p:sp>
        <p:nvSpPr>
          <p:cNvPr id="9" name="anim1-197"/>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198"/>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199"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200"/>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En ce moment</a:t>
            </a:r>
            <a:endParaRPr lang="en-US" sz="1500" dirty="0"/>
          </a:p>
          <a:p>
            <a:pPr indent="0" marL="0">
              <a:buNone/>
            </a:pPr>
            <a:r>
              <a:rPr lang="en-US" sz="1400" dirty="0">
                <a:solidFill>
                  <a:schemeClr val="tx1"/>
                </a:solidFill>
              </a:rPr>
              <a:t>Où se trouve chaque camion, sur la carte.</a:t>
            </a:r>
            <a:endParaRPr lang="en-US" sz="1500" dirty="0"/>
          </a:p>
        </p:txBody>
      </p:sp>
      <p:sp>
        <p:nvSpPr>
          <p:cNvPr id="13" name="anim2-201"/>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202"/>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203"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204"/>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Les trajets passés</a:t>
            </a:r>
            <a:endParaRPr lang="en-US" sz="1500" dirty="0"/>
          </a:p>
          <a:p>
            <a:pPr indent="0" marL="0">
              <a:buNone/>
            </a:pPr>
            <a:r>
              <a:rPr lang="en-US" sz="1400" dirty="0">
                <a:solidFill>
                  <a:schemeClr val="tx1"/>
                </a:solidFill>
              </a:rPr>
              <a:t>Le chemin pris par un camion, sur les dates choisies.</a:t>
            </a:r>
            <a:endParaRPr lang="en-US" sz="1500" dirty="0"/>
          </a:p>
        </p:txBody>
      </p:sp>
      <p:sp>
        <p:nvSpPr>
          <p:cNvPr id="17" name="anim3-205"/>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206"/>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207"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208"/>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Zones sur la carte</a:t>
            </a:r>
            <a:endParaRPr lang="en-US" sz="1500" dirty="0"/>
          </a:p>
          <a:p>
            <a:pPr indent="0" marL="0">
              <a:buNone/>
            </a:pPr>
            <a:r>
              <a:rPr lang="en-US" sz="1400" dirty="0">
                <a:solidFill>
                  <a:schemeClr val="tx1"/>
                </a:solidFill>
              </a:rPr>
              <a:t>On dessine un lieu sur la carte : dépôt, port, client…</a:t>
            </a:r>
            <a:endParaRPr lang="en-US" sz="1500" dirty="0"/>
          </a:p>
        </p:txBody>
      </p:sp>
      <p:sp>
        <p:nvSpPr>
          <p:cNvPr id="21" name="anim4-209"/>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210"/>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211"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212"/>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Alertes de zone</a:t>
            </a:r>
            <a:endParaRPr lang="en-US" sz="1500" dirty="0"/>
          </a:p>
          <a:p>
            <a:pPr indent="0" marL="0">
              <a:buNone/>
            </a:pPr>
            <a:r>
              <a:rPr lang="en-US" sz="1400" dirty="0">
                <a:solidFill>
                  <a:schemeClr val="tx1"/>
                </a:solidFill>
              </a:rPr>
              <a:t>On est prévenu quand un camion entre ou sort de ce lieu.</a:t>
            </a:r>
            <a:endParaRPr lang="en-US" sz="1500" dirty="0"/>
          </a:p>
        </p:txBody>
      </p:sp>
      <p:sp>
        <p:nvSpPr>
          <p:cNvPr id="25" name="anim5-213"/>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214"/>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À quoi ça sert</a:t>
            </a:r>
            <a:endParaRPr lang="en-US" sz="1800" dirty="0"/>
          </a:p>
        </p:txBody>
      </p:sp>
      <p:pic>
        <p:nvPicPr>
          <p:cNvPr id="27" name="anim6-215"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216"/>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Vérifier la route vraiment prise</a:t>
            </a:r>
            <a:endParaRPr lang="en-US" sz="1400" dirty="0"/>
          </a:p>
        </p:txBody>
      </p:sp>
      <p:pic>
        <p:nvPicPr>
          <p:cNvPr id="29" name="anim7-217"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218"/>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Réagir vite si un camion sort de sa route</a:t>
            </a:r>
            <a:endParaRPr lang="en-US" sz="1400" dirty="0"/>
          </a:p>
        </p:txBody>
      </p:sp>
      <p:pic>
        <p:nvPicPr>
          <p:cNvPr id="31" name="anim8-219"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220"/>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Dire au client où en est sa livraison</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Trajets, clients et réductions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CLIENTS ET TRAJETS</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Trips · Customer · Coupon Management</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De la réservation à la facture, chaque trajet est suivi.</a:t>
            </a:r>
            <a:endParaRPr lang="en-US" sz="1700" dirty="0"/>
          </a:p>
        </p:txBody>
      </p:sp>
      <p:sp>
        <p:nvSpPr>
          <p:cNvPr id="9" name="anim1-221"/>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222"/>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223"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224"/>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Réservation</a:t>
            </a:r>
            <a:endParaRPr lang="en-US" sz="1500" dirty="0"/>
          </a:p>
          <a:p>
            <a:pPr indent="0" marL="0">
              <a:buNone/>
            </a:pPr>
            <a:r>
              <a:rPr lang="en-US" sz="1400" dirty="0">
                <a:solidFill>
                  <a:schemeClr val="tx1"/>
                </a:solidFill>
              </a:rPr>
              <a:t>Client, dates, camion, chauffeur, départ, arrivée, kilomètres, arrêts.</a:t>
            </a:r>
            <a:endParaRPr lang="en-US" sz="1500" dirty="0"/>
          </a:p>
        </p:txBody>
      </p:sp>
      <p:sp>
        <p:nvSpPr>
          <p:cNvPr id="13" name="anim2-225"/>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226"/>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227"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228"/>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Suivi du trajet</a:t>
            </a:r>
            <a:endParaRPr lang="en-US" sz="1500" dirty="0"/>
          </a:p>
          <a:p>
            <a:pPr indent="0" marL="0">
              <a:buNone/>
            </a:pPr>
            <a:r>
              <a:rPr lang="en-US" sz="1400" dirty="0">
                <a:solidFill>
                  <a:schemeClr val="tx1"/>
                </a:solidFill>
              </a:rPr>
              <a:t>Où en est le trajet (réservé, commencé…), distance, numéro.</a:t>
            </a:r>
            <a:endParaRPr lang="en-US" sz="1500" dirty="0"/>
          </a:p>
        </p:txBody>
      </p:sp>
      <p:sp>
        <p:nvSpPr>
          <p:cNvPr id="17" name="anim3-229"/>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230"/>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231"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232"/>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Clients</a:t>
            </a:r>
            <a:endParaRPr lang="en-US" sz="1500" dirty="0"/>
          </a:p>
          <a:p>
            <a:pPr indent="0" marL="0">
              <a:buNone/>
            </a:pPr>
            <a:r>
              <a:rPr lang="en-US" sz="1400" dirty="0">
                <a:solidFill>
                  <a:schemeClr val="tx1"/>
                </a:solidFill>
              </a:rPr>
              <a:t>Coordonnées, ce qu'il reste à payer, client actif ou non.</a:t>
            </a:r>
            <a:endParaRPr lang="en-US" sz="1500" dirty="0"/>
          </a:p>
        </p:txBody>
      </p:sp>
      <p:sp>
        <p:nvSpPr>
          <p:cNvPr id="21" name="anim4-233"/>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234"/>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235"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236"/>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Codes de réduction</a:t>
            </a:r>
            <a:endParaRPr lang="en-US" sz="1500" dirty="0"/>
          </a:p>
          <a:p>
            <a:pPr indent="0" marL="0">
              <a:buNone/>
            </a:pPr>
            <a:r>
              <a:rPr lang="en-US" sz="1400" dirty="0">
                <a:solidFill>
                  <a:schemeClr val="tx1"/>
                </a:solidFill>
              </a:rPr>
              <a:t>Montant de la réduction, dates, nombre d'utilisations.</a:t>
            </a:r>
            <a:endParaRPr lang="en-US" sz="1500" dirty="0"/>
          </a:p>
        </p:txBody>
      </p:sp>
      <p:sp>
        <p:nvSpPr>
          <p:cNvPr id="25" name="anim5-237"/>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238"/>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À quoi ça sert</a:t>
            </a:r>
            <a:endParaRPr lang="en-US" sz="1800" dirty="0"/>
          </a:p>
        </p:txBody>
      </p:sp>
      <p:pic>
        <p:nvPicPr>
          <p:cNvPr id="27" name="anim6-239"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240"/>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Chaque trajet lié à un client, un camion, un chauffeur</a:t>
            </a:r>
            <a:endParaRPr lang="en-US" sz="1400" dirty="0"/>
          </a:p>
        </p:txBody>
      </p:sp>
      <p:pic>
        <p:nvPicPr>
          <p:cNvPr id="29" name="anim7-241"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242"/>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On voit qui n'a pas encore payé</a:t>
            </a:r>
            <a:endParaRPr lang="en-US" sz="1400" dirty="0"/>
          </a:p>
        </p:txBody>
      </p:sp>
      <p:pic>
        <p:nvPicPr>
          <p:cNvPr id="31" name="anim8-243"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244"/>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Le client reçoit sa réservation par e-mail ou SMS</a:t>
            </a:r>
            <a:endParaRPr lang="en-US" sz="1400" dirty="0"/>
          </a:p>
        </p:txBody>
      </p:sp>
      <p:sp>
        <p:nvSpPr>
          <p:cNvPr id="34" name="anim9-245"/>
          <p:cNvSpPr txBox="1"/>
          <p:nvPr/>
        </p:nvSpPr>
        <p:spPr>
          <a:xfrm>
            <a:off x="548640" y="6053328"/>
            <a:ext cx="7863840" cy="274320"/>
          </a:xfrm>
          <a:prstGeom prst="rect">
            <a:avLst/>
          </a:prstGeom>
          <a:noFill/>
          <a:ln/>
        </p:spPr>
        <p:txBody>
          <a:bodyPr wrap="square" lIns="0" tIns="0" rIns="0" bIns="0" rtlCol="0" anchor="t"/>
          <a:lstStyle/>
          <a:p>
            <a:pPr indent="0" marL="0">
              <a:buNone/>
            </a:pPr>
            <a:r>
              <a:rPr lang="en-US" sz="1300" b="1" dirty="0">
                <a:solidFill>
                  <a:schemeClr val="accent1"/>
                </a:solidFill>
              </a:rPr>
              <a:t>9 façons de faire payer : </a:t>
            </a:r>
            <a:pPr indent="0" marL="0">
              <a:buNone/>
            </a:pPr>
            <a:r>
              <a:rPr lang="en-US" sz="1300" dirty="0">
                <a:solidFill>
                  <a:schemeClr val="tx2"/>
                </a:solidFill>
              </a:rPr>
              <a:t>fixe · tonne · kg · km · trajet · jour · heure · litre · sac</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8" fill="hold">
                      <p:stCondLst>
                        <p:cond delay="indefinite"/>
                        <p:cond evt="onBegin" delay="0">
                          <p:tn val="2"/>
                        </p:cond>
                      </p:stCondLst>
                      <p:childTnLst>
                        <p:par>
                          <p:cTn id="79"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par>
                                <p:cTn id="75" presetID="10" presetClass="entr" presetSubtype="0" fill="hold" nodeType="withEffect">
                                  <p:stCondLst>
                                    <p:cond delay="200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P spid="3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Entretien, pièces et rappels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ENTRETIEN ET CARBURANT</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Maintenance · Parts Stock · Reminder</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Prévoir l'entretien avant la panne, et connaître son coût.</a:t>
            </a:r>
            <a:endParaRPr lang="en-US" sz="1700" dirty="0"/>
          </a:p>
        </p:txBody>
      </p:sp>
      <p:sp>
        <p:nvSpPr>
          <p:cNvPr id="9" name="anim1-246"/>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247"/>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248"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249"/>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Entretiens</a:t>
            </a:r>
            <a:endParaRPr lang="en-US" sz="1500" dirty="0"/>
          </a:p>
          <a:p>
            <a:pPr indent="0" marL="0">
              <a:buNone/>
            </a:pPr>
            <a:r>
              <a:rPr lang="en-US" sz="1400" dirty="0">
                <a:solidFill>
                  <a:schemeClr val="tx1"/>
                </a:solidFill>
              </a:rPr>
              <a:t>Camion, dates, mécanicien, garage, coût et pièces utilisées.</a:t>
            </a:r>
            <a:endParaRPr lang="en-US" sz="1500" dirty="0"/>
          </a:p>
        </p:txBody>
      </p:sp>
      <p:sp>
        <p:nvSpPr>
          <p:cNvPr id="13" name="anim2-250"/>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251"/>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252"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253"/>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Mécaniciens et garages</a:t>
            </a:r>
            <a:endParaRPr lang="en-US" sz="1500" dirty="0"/>
          </a:p>
          <a:p>
            <a:pPr indent="0" marL="0">
              <a:buNone/>
            </a:pPr>
            <a:r>
              <a:rPr lang="en-US" sz="1400" dirty="0">
                <a:solidFill>
                  <a:schemeClr val="tx1"/>
                </a:solidFill>
              </a:rPr>
              <a:t>La liste des personnes et garages qui réparent.</a:t>
            </a:r>
            <a:endParaRPr lang="en-US" sz="1500" dirty="0"/>
          </a:p>
        </p:txBody>
      </p:sp>
      <p:sp>
        <p:nvSpPr>
          <p:cNvPr id="17" name="anim3-254"/>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255"/>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256"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257"/>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Stock de pièces</a:t>
            </a:r>
            <a:endParaRPr lang="en-US" sz="1500" dirty="0"/>
          </a:p>
          <a:p>
            <a:pPr indent="0" marL="0">
              <a:buNone/>
            </a:pPr>
            <a:r>
              <a:rPr lang="en-US" sz="1400" dirty="0">
                <a:solidFill>
                  <a:schemeClr val="tx1"/>
                </a:solidFill>
              </a:rPr>
              <a:t>Pièces en réserve, prix, achats payés ou non.</a:t>
            </a:r>
            <a:endParaRPr lang="en-US" sz="1500" dirty="0"/>
          </a:p>
        </p:txBody>
      </p:sp>
      <p:sp>
        <p:nvSpPr>
          <p:cNvPr id="21" name="anim4-258"/>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259"/>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260"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261"/>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Rappels</a:t>
            </a:r>
            <a:endParaRPr lang="en-US" sz="1500" dirty="0"/>
          </a:p>
          <a:p>
            <a:pPr indent="0" marL="0">
              <a:buNone/>
            </a:pPr>
            <a:r>
              <a:rPr lang="en-US" sz="1400" dirty="0">
                <a:solidFill>
                  <a:schemeClr val="tx1"/>
                </a:solidFill>
              </a:rPr>
              <a:t>Ce qu'il faut faire et quand ; on coche une fois fait.</a:t>
            </a:r>
            <a:endParaRPr lang="en-US" sz="1500" dirty="0"/>
          </a:p>
        </p:txBody>
      </p:sp>
      <p:sp>
        <p:nvSpPr>
          <p:cNvPr id="25" name="anim5-262"/>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263"/>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À quoi ça sert</a:t>
            </a:r>
            <a:endParaRPr lang="en-US" sz="1800" dirty="0"/>
          </a:p>
        </p:txBody>
      </p:sp>
      <p:pic>
        <p:nvPicPr>
          <p:cNvPr id="27" name="anim6-264"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265"/>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Moins de pannes grâce aux rappels</a:t>
            </a:r>
            <a:endParaRPr lang="en-US" sz="1400" dirty="0"/>
          </a:p>
        </p:txBody>
      </p:sp>
      <p:pic>
        <p:nvPicPr>
          <p:cNvPr id="29" name="anim7-266"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267"/>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On sait combien coûte l'entretien de chaque camion</a:t>
            </a:r>
            <a:endParaRPr lang="en-US" sz="1400" dirty="0"/>
          </a:p>
        </p:txBody>
      </p:sp>
      <p:pic>
        <p:nvPicPr>
          <p:cNvPr id="31" name="anim8-268"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269"/>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On sait quelles pièces on a et ce qu'on a acheté</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Carburant</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ENTRETIEN ET CARBURANT</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Fuel › Fuel Management · Add Fuel · Fuel Vendor</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Chaque plein est noté, avec le camion et le chauffeur.</a:t>
            </a:r>
            <a:endParaRPr lang="en-US" sz="1700" dirty="0"/>
          </a:p>
        </p:txBody>
      </p:sp>
      <p:sp>
        <p:nvSpPr>
          <p:cNvPr id="9" name="anim1-270"/>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271"/>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272"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273"/>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Pleins</a:t>
            </a:r>
            <a:endParaRPr lang="en-US" sz="1500" dirty="0"/>
          </a:p>
          <a:p>
            <a:pPr indent="0" marL="0">
              <a:buNone/>
            </a:pPr>
            <a:r>
              <a:rPr lang="en-US" sz="1400" dirty="0">
                <a:solidFill>
                  <a:schemeClr val="tx1"/>
                </a:solidFill>
              </a:rPr>
              <a:t>Date, camion, chauffeur, litres, prix, kilométrage, remarque.</a:t>
            </a:r>
            <a:endParaRPr lang="en-US" sz="1500" dirty="0"/>
          </a:p>
        </p:txBody>
      </p:sp>
      <p:sp>
        <p:nvSpPr>
          <p:cNvPr id="13" name="anim2-274"/>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275"/>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276"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277"/>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D'où vient le carburant</a:t>
            </a:r>
            <a:endParaRPr lang="en-US" sz="1500" dirty="0"/>
          </a:p>
          <a:p>
            <a:pPr indent="0" marL="0">
              <a:buNone/>
            </a:pPr>
            <a:r>
              <a:rPr lang="en-US" sz="1400" dirty="0">
                <a:solidFill>
                  <a:schemeClr val="tx1"/>
                </a:solidFill>
              </a:rPr>
              <a:t>Notre cuve ou une station.</a:t>
            </a:r>
            <a:endParaRPr lang="en-US" sz="1500" dirty="0"/>
          </a:p>
        </p:txBody>
      </p:sp>
      <p:sp>
        <p:nvSpPr>
          <p:cNvPr id="17" name="anim3-278"/>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279"/>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280"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281"/>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Cuve</a:t>
            </a:r>
            <a:endParaRPr lang="en-US" sz="1500" dirty="0"/>
          </a:p>
          <a:p>
            <a:pPr indent="0" marL="0">
              <a:buNone/>
            </a:pPr>
            <a:r>
              <a:rPr lang="en-US" sz="1400" dirty="0">
                <a:solidFill>
                  <a:schemeClr val="tx1"/>
                </a:solidFill>
              </a:rPr>
              <a:t>Remplir la cuve et voir combien de litres il reste.</a:t>
            </a:r>
            <a:endParaRPr lang="en-US" sz="1500" dirty="0"/>
          </a:p>
        </p:txBody>
      </p:sp>
      <p:sp>
        <p:nvSpPr>
          <p:cNvPr id="21" name="anim4-282"/>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283"/>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284"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285"/>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Stations</a:t>
            </a:r>
            <a:endParaRPr lang="en-US" sz="1500" dirty="0"/>
          </a:p>
          <a:p>
            <a:pPr indent="0" marL="0">
              <a:buNone/>
            </a:pPr>
            <a:r>
              <a:rPr lang="en-US" sz="1400" dirty="0">
                <a:solidFill>
                  <a:schemeClr val="tx1"/>
                </a:solidFill>
              </a:rPr>
              <a:t>La liste des stations et vendeurs de carburant.</a:t>
            </a:r>
            <a:endParaRPr lang="en-US" sz="1500" dirty="0"/>
          </a:p>
        </p:txBody>
      </p:sp>
      <p:sp>
        <p:nvSpPr>
          <p:cNvPr id="25" name="anim5-286"/>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287"/>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À quoi ça sert</a:t>
            </a:r>
            <a:endParaRPr lang="en-US" sz="1800" dirty="0"/>
          </a:p>
        </p:txBody>
      </p:sp>
      <p:pic>
        <p:nvPicPr>
          <p:cNvPr id="27" name="anim6-288"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289"/>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Voir si un camion consomme trop</a:t>
            </a:r>
            <a:endParaRPr lang="en-US" sz="1400" dirty="0"/>
          </a:p>
        </p:txBody>
      </p:sp>
      <p:pic>
        <p:nvPicPr>
          <p:cNvPr id="29" name="anim7-290"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291"/>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Savoir combien il reste dans la cuve</a:t>
            </a:r>
            <a:endParaRPr lang="en-US" sz="1400" dirty="0"/>
          </a:p>
        </p:txBody>
      </p:sp>
      <p:pic>
        <p:nvPicPr>
          <p:cNvPr id="31" name="anim8-292"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293"/>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Un bilan du carburant sur les dates choisies</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L'argent : entrées et sorties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ARGENT ET RAPPORTS</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Accounts › Accounts · Add Transactions · Transactions · Ac Transfers / Deposit · Category</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Chaque entrée et chaque sortie d'argent est notée, avec le camion concerné.</a:t>
            </a:r>
            <a:endParaRPr lang="en-US" sz="1700" dirty="0"/>
          </a:p>
        </p:txBody>
      </p:sp>
      <p:sp>
        <p:nvSpPr>
          <p:cNvPr id="9" name="anim1-294"/>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295"/>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296"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297"/>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Comptes</a:t>
            </a:r>
            <a:endParaRPr lang="en-US" sz="1500" dirty="0"/>
          </a:p>
          <a:p>
            <a:pPr indent="0" marL="0">
              <a:buNone/>
            </a:pPr>
            <a:r>
              <a:rPr lang="en-US" sz="1400" dirty="0">
                <a:solidFill>
                  <a:schemeClr val="tx1"/>
                </a:solidFill>
              </a:rPr>
              <a:t>Les caisses et comptes de l'entreprise, avec ce qu'il y a dedans.</a:t>
            </a:r>
            <a:endParaRPr lang="en-US" sz="1500" dirty="0"/>
          </a:p>
        </p:txBody>
      </p:sp>
      <p:sp>
        <p:nvSpPr>
          <p:cNvPr id="13" name="anim2-298"/>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299"/>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300"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301"/>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Entrées et sorties</a:t>
            </a:r>
            <a:endParaRPr lang="en-US" sz="1500" dirty="0"/>
          </a:p>
          <a:p>
            <a:pPr indent="0" marL="0">
              <a:buNone/>
            </a:pPr>
            <a:r>
              <a:rPr lang="en-US" sz="1400" dirty="0">
                <a:solidFill>
                  <a:schemeClr val="tx1"/>
                </a:solidFill>
              </a:rPr>
              <a:t>Recette ou dépense : compte, type, camion, montant.</a:t>
            </a:r>
            <a:endParaRPr lang="en-US" sz="1500" dirty="0"/>
          </a:p>
        </p:txBody>
      </p:sp>
      <p:sp>
        <p:nvSpPr>
          <p:cNvPr id="17" name="anim3-302"/>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303"/>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304"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305"/>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Virements</a:t>
            </a:r>
            <a:endParaRPr lang="en-US" sz="1500" dirty="0"/>
          </a:p>
          <a:p>
            <a:pPr indent="0" marL="0">
              <a:buNone/>
            </a:pPr>
            <a:r>
              <a:rPr lang="en-US" sz="1400" dirty="0">
                <a:solidFill>
                  <a:schemeClr val="tx1"/>
                </a:solidFill>
              </a:rPr>
              <a:t>Passer de l'argent d'un compte à un autre.</a:t>
            </a:r>
            <a:endParaRPr lang="en-US" sz="1500" dirty="0"/>
          </a:p>
        </p:txBody>
      </p:sp>
      <p:sp>
        <p:nvSpPr>
          <p:cNvPr id="21" name="anim4-306"/>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307"/>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308"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309"/>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Types</a:t>
            </a:r>
            <a:endParaRPr lang="en-US" sz="1500" dirty="0"/>
          </a:p>
          <a:p>
            <a:pPr indent="0" marL="0">
              <a:buNone/>
            </a:pPr>
            <a:r>
              <a:rPr lang="en-US" sz="1400" dirty="0">
                <a:solidFill>
                  <a:schemeClr val="tx1"/>
                </a:solidFill>
              </a:rPr>
              <a:t>Recettes de trajet, carburant, salaires…</a:t>
            </a:r>
            <a:endParaRPr lang="en-US" sz="1500" dirty="0"/>
          </a:p>
        </p:txBody>
      </p:sp>
      <p:sp>
        <p:nvSpPr>
          <p:cNvPr id="25" name="anim5-310"/>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311"/>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À quoi ça sert</a:t>
            </a:r>
            <a:endParaRPr lang="en-US" sz="1800" dirty="0"/>
          </a:p>
        </p:txBody>
      </p:sp>
      <p:pic>
        <p:nvPicPr>
          <p:cNvPr id="27" name="anim6-312"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313"/>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On voit ce que rapporte chaque camion</a:t>
            </a:r>
            <a:endParaRPr lang="en-US" sz="1400" dirty="0"/>
          </a:p>
        </p:txBody>
      </p:sp>
      <p:pic>
        <p:nvPicPr>
          <p:cNvPr id="29" name="anim7-314"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315"/>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On retrouve tout par date, avec les totaux</a:t>
            </a:r>
            <a:endParaRPr lang="en-US" sz="1400" dirty="0"/>
          </a:p>
        </p:txBody>
      </p:sp>
      <p:pic>
        <p:nvPicPr>
          <p:cNvPr id="31" name="anim8-316"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317"/>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Des types adaptés à notre entreprise</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11 rapports prêts à l'emploi</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ARGENT ET RAPPORTS</a:t>
            </a:r>
            <a:endParaRPr lang="en-US" sz="1000" dirty="0"/>
          </a:p>
        </p:txBody>
      </p:sp>
      <p:sp>
        <p:nvSpPr>
          <p:cNvPr id="7" name="Text 4"/>
          <p:cNvSpPr txBox="1"/>
          <p:nvPr/>
        </p:nvSpPr>
        <p:spPr>
          <a:xfrm>
            <a:off x="548640" y="1417320"/>
            <a:ext cx="10972800" cy="411480"/>
          </a:xfrm>
          <a:prstGeom prst="rect">
            <a:avLst/>
          </a:prstGeom>
          <a:noFill/>
          <a:ln/>
        </p:spPr>
        <p:txBody>
          <a:bodyPr wrap="square" rtlCol="0" anchor="t"/>
          <a:lstStyle/>
          <a:p>
            <a:pPr indent="0" marL="0">
              <a:buNone/>
            </a:pPr>
            <a:r>
              <a:rPr lang="en-US" sz="1700" dirty="0">
                <a:solidFill>
                  <a:schemeClr val="tx2"/>
                </a:solidFill>
              </a:rPr>
              <a:t>On choisit les dates, puis on clique sur « Generate Report ».</a:t>
            </a:r>
            <a:endParaRPr lang="en-US" sz="1700" dirty="0"/>
          </a:p>
        </p:txBody>
      </p:sp>
      <p:sp>
        <p:nvSpPr>
          <p:cNvPr id="8" name="anim1-318"/>
          <p:cNvSpPr/>
          <p:nvPr/>
        </p:nvSpPr>
        <p:spPr>
          <a:xfrm>
            <a:off x="548640" y="20116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319"/>
          <p:cNvSpPr/>
          <p:nvPr/>
        </p:nvSpPr>
        <p:spPr>
          <a:xfrm>
            <a:off x="749808" y="2286000"/>
            <a:ext cx="594360" cy="594360"/>
          </a:xfrm>
          <a:prstGeom prst="roundRect">
            <a:avLst>
              <a:gd name="adj" fmla="val 22000"/>
            </a:avLst>
          </a:prstGeom>
          <a:solidFill>
            <a:schemeClr val="bg2"/>
          </a:solidFill>
          <a:ln w="12700">
            <a:solidFill>
              <a:schemeClr val="bg2"/>
            </a:solidFill>
            <a:prstDash val="solid"/>
          </a:ln>
        </p:spPr>
      </p:sp>
      <p:pic>
        <p:nvPicPr>
          <p:cNvPr id="10" name="anim1-320" descr="preencoded.png">    </p:cNvPr>
          <p:cNvPicPr>
            <a:picLocks noChangeAspect="1"/>
          </p:cNvPicPr>
          <p:nvPr/>
        </p:nvPicPr>
        <p:blipFill>
          <a:blip r:embed="rId2"/>
          <a:stretch>
            <a:fillRect/>
          </a:stretch>
        </p:blipFill>
        <p:spPr>
          <a:xfrm>
            <a:off x="904342" y="2440534"/>
            <a:ext cx="285293" cy="285293"/>
          </a:xfrm>
          <a:prstGeom prst="rect">
            <a:avLst/>
          </a:prstGeom>
        </p:spPr>
      </p:pic>
      <p:sp>
        <p:nvSpPr>
          <p:cNvPr id="11" name="anim1-321"/>
          <p:cNvSpPr txBox="1"/>
          <p:nvPr/>
        </p:nvSpPr>
        <p:spPr>
          <a:xfrm>
            <a:off x="1481328" y="2011680"/>
            <a:ext cx="1645920" cy="1143000"/>
          </a:xfrm>
          <a:prstGeom prst="rect">
            <a:avLst/>
          </a:prstGeom>
          <a:noFill/>
          <a:ln/>
        </p:spPr>
        <p:txBody>
          <a:bodyPr wrap="square" rtlCol="0" anchor="ctr"/>
          <a:lstStyle/>
          <a:p>
            <a:pPr indent="0" marL="0">
              <a:buNone/>
            </a:pPr>
            <a:r>
              <a:rPr lang="en-US" sz="1500" b="1" dirty="0">
                <a:solidFill>
                  <a:schemeClr val="tx2"/>
                </a:solidFill>
              </a:rPr>
              <a:t>Réservations</a:t>
            </a:r>
            <a:endParaRPr lang="en-US" sz="1500" dirty="0"/>
          </a:p>
        </p:txBody>
      </p:sp>
      <p:sp>
        <p:nvSpPr>
          <p:cNvPr id="12" name="anim2-322"/>
          <p:cNvSpPr/>
          <p:nvPr/>
        </p:nvSpPr>
        <p:spPr>
          <a:xfrm>
            <a:off x="3383280" y="20116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3" name="anim2-323"/>
          <p:cNvSpPr/>
          <p:nvPr/>
        </p:nvSpPr>
        <p:spPr>
          <a:xfrm>
            <a:off x="3584448" y="2286000"/>
            <a:ext cx="594360" cy="594360"/>
          </a:xfrm>
          <a:prstGeom prst="roundRect">
            <a:avLst>
              <a:gd name="adj" fmla="val 22000"/>
            </a:avLst>
          </a:prstGeom>
          <a:solidFill>
            <a:schemeClr val="bg2"/>
          </a:solidFill>
          <a:ln w="12700">
            <a:solidFill>
              <a:schemeClr val="bg2"/>
            </a:solidFill>
            <a:prstDash val="solid"/>
          </a:ln>
        </p:spPr>
      </p:sp>
      <p:pic>
        <p:nvPicPr>
          <p:cNvPr id="14" name="anim2-324" descr="preencoded.png">    </p:cNvPr>
          <p:cNvPicPr>
            <a:picLocks noChangeAspect="1"/>
          </p:cNvPicPr>
          <p:nvPr/>
        </p:nvPicPr>
        <p:blipFill>
          <a:blip r:embed="rId3"/>
          <a:stretch>
            <a:fillRect/>
          </a:stretch>
        </p:blipFill>
        <p:spPr>
          <a:xfrm>
            <a:off x="3738982" y="2440534"/>
            <a:ext cx="285293" cy="285293"/>
          </a:xfrm>
          <a:prstGeom prst="rect">
            <a:avLst/>
          </a:prstGeom>
        </p:spPr>
      </p:pic>
      <p:sp>
        <p:nvSpPr>
          <p:cNvPr id="15" name="anim2-325"/>
          <p:cNvSpPr txBox="1"/>
          <p:nvPr/>
        </p:nvSpPr>
        <p:spPr>
          <a:xfrm>
            <a:off x="4315968" y="2011680"/>
            <a:ext cx="1645920" cy="1143000"/>
          </a:xfrm>
          <a:prstGeom prst="rect">
            <a:avLst/>
          </a:prstGeom>
          <a:noFill/>
          <a:ln/>
        </p:spPr>
        <p:txBody>
          <a:bodyPr wrap="square" rtlCol="0" anchor="ctr"/>
          <a:lstStyle/>
          <a:p>
            <a:pPr indent="0" marL="0">
              <a:buNone/>
            </a:pPr>
            <a:r>
              <a:rPr lang="en-US" sz="1500" b="1" dirty="0">
                <a:solidFill>
                  <a:schemeClr val="tx2"/>
                </a:solidFill>
              </a:rPr>
              <a:t>Revenus et dépenses</a:t>
            </a:r>
            <a:endParaRPr lang="en-US" sz="1500" dirty="0"/>
          </a:p>
        </p:txBody>
      </p:sp>
      <p:sp>
        <p:nvSpPr>
          <p:cNvPr id="16" name="anim3-326"/>
          <p:cNvSpPr/>
          <p:nvPr/>
        </p:nvSpPr>
        <p:spPr>
          <a:xfrm>
            <a:off x="6217920" y="20116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7" name="anim3-327"/>
          <p:cNvSpPr/>
          <p:nvPr/>
        </p:nvSpPr>
        <p:spPr>
          <a:xfrm>
            <a:off x="6419088" y="2286000"/>
            <a:ext cx="594360" cy="594360"/>
          </a:xfrm>
          <a:prstGeom prst="roundRect">
            <a:avLst>
              <a:gd name="adj" fmla="val 22000"/>
            </a:avLst>
          </a:prstGeom>
          <a:solidFill>
            <a:schemeClr val="bg2"/>
          </a:solidFill>
          <a:ln w="12700">
            <a:solidFill>
              <a:schemeClr val="bg2"/>
            </a:solidFill>
            <a:prstDash val="solid"/>
          </a:ln>
        </p:spPr>
      </p:sp>
      <p:pic>
        <p:nvPicPr>
          <p:cNvPr id="18" name="anim3-328" descr="preencoded.png">    </p:cNvPr>
          <p:cNvPicPr>
            <a:picLocks noChangeAspect="1"/>
          </p:cNvPicPr>
          <p:nvPr/>
        </p:nvPicPr>
        <p:blipFill>
          <a:blip r:embed="rId4"/>
          <a:stretch>
            <a:fillRect/>
          </a:stretch>
        </p:blipFill>
        <p:spPr>
          <a:xfrm>
            <a:off x="6573622" y="2440534"/>
            <a:ext cx="285293" cy="285293"/>
          </a:xfrm>
          <a:prstGeom prst="rect">
            <a:avLst/>
          </a:prstGeom>
        </p:spPr>
      </p:pic>
      <p:sp>
        <p:nvSpPr>
          <p:cNvPr id="19" name="anim3-329"/>
          <p:cNvSpPr txBox="1"/>
          <p:nvPr/>
        </p:nvSpPr>
        <p:spPr>
          <a:xfrm>
            <a:off x="7150608" y="2011680"/>
            <a:ext cx="1645920" cy="1143000"/>
          </a:xfrm>
          <a:prstGeom prst="rect">
            <a:avLst/>
          </a:prstGeom>
          <a:noFill/>
          <a:ln/>
        </p:spPr>
        <p:txBody>
          <a:bodyPr wrap="square" rtlCol="0" anchor="ctr"/>
          <a:lstStyle/>
          <a:p>
            <a:pPr indent="0" marL="0">
              <a:buNone/>
            </a:pPr>
            <a:r>
              <a:rPr lang="en-US" sz="1500" b="1" dirty="0">
                <a:solidFill>
                  <a:schemeClr val="tx2"/>
                </a:solidFill>
              </a:rPr>
              <a:t>Carburant</a:t>
            </a:r>
            <a:endParaRPr lang="en-US" sz="1500" dirty="0"/>
          </a:p>
        </p:txBody>
      </p:sp>
      <p:sp>
        <p:nvSpPr>
          <p:cNvPr id="20" name="anim4-330"/>
          <p:cNvSpPr/>
          <p:nvPr/>
        </p:nvSpPr>
        <p:spPr>
          <a:xfrm>
            <a:off x="9052560" y="20116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1" name="anim4-331"/>
          <p:cNvSpPr/>
          <p:nvPr/>
        </p:nvSpPr>
        <p:spPr>
          <a:xfrm>
            <a:off x="9253728" y="2286000"/>
            <a:ext cx="594360" cy="594360"/>
          </a:xfrm>
          <a:prstGeom prst="roundRect">
            <a:avLst>
              <a:gd name="adj" fmla="val 22000"/>
            </a:avLst>
          </a:prstGeom>
          <a:solidFill>
            <a:schemeClr val="bg2"/>
          </a:solidFill>
          <a:ln w="12700">
            <a:solidFill>
              <a:schemeClr val="bg2"/>
            </a:solidFill>
            <a:prstDash val="solid"/>
          </a:ln>
        </p:spPr>
      </p:sp>
      <p:pic>
        <p:nvPicPr>
          <p:cNvPr id="22" name="anim4-332" descr="preencoded.png">    </p:cNvPr>
          <p:cNvPicPr>
            <a:picLocks noChangeAspect="1"/>
          </p:cNvPicPr>
          <p:nvPr/>
        </p:nvPicPr>
        <p:blipFill>
          <a:blip r:embed="rId5"/>
          <a:stretch>
            <a:fillRect/>
          </a:stretch>
        </p:blipFill>
        <p:spPr>
          <a:xfrm>
            <a:off x="9408262" y="2440534"/>
            <a:ext cx="285293" cy="285293"/>
          </a:xfrm>
          <a:prstGeom prst="rect">
            <a:avLst/>
          </a:prstGeom>
        </p:spPr>
      </p:pic>
      <p:sp>
        <p:nvSpPr>
          <p:cNvPr id="23" name="anim4-333"/>
          <p:cNvSpPr txBox="1"/>
          <p:nvPr/>
        </p:nvSpPr>
        <p:spPr>
          <a:xfrm>
            <a:off x="9985248" y="2011680"/>
            <a:ext cx="1645920" cy="1143000"/>
          </a:xfrm>
          <a:prstGeom prst="rect">
            <a:avLst/>
          </a:prstGeom>
          <a:noFill/>
          <a:ln/>
        </p:spPr>
        <p:txBody>
          <a:bodyPr wrap="square" rtlCol="0" anchor="ctr"/>
          <a:lstStyle/>
          <a:p>
            <a:pPr indent="0" marL="0">
              <a:buNone/>
            </a:pPr>
            <a:r>
              <a:rPr lang="en-US" sz="1500" b="1" dirty="0">
                <a:solidFill>
                  <a:schemeClr val="tx2"/>
                </a:solidFill>
              </a:rPr>
              <a:t>Chauffeurs</a:t>
            </a:r>
            <a:endParaRPr lang="en-US" sz="1500" dirty="0"/>
          </a:p>
        </p:txBody>
      </p:sp>
      <p:sp>
        <p:nvSpPr>
          <p:cNvPr id="24" name="anim5-334"/>
          <p:cNvSpPr/>
          <p:nvPr/>
        </p:nvSpPr>
        <p:spPr>
          <a:xfrm>
            <a:off x="548640" y="33832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5" name="anim5-335"/>
          <p:cNvSpPr/>
          <p:nvPr/>
        </p:nvSpPr>
        <p:spPr>
          <a:xfrm>
            <a:off x="749808" y="3657600"/>
            <a:ext cx="594360" cy="594360"/>
          </a:xfrm>
          <a:prstGeom prst="roundRect">
            <a:avLst>
              <a:gd name="adj" fmla="val 22000"/>
            </a:avLst>
          </a:prstGeom>
          <a:solidFill>
            <a:schemeClr val="bg2"/>
          </a:solidFill>
          <a:ln w="12700">
            <a:solidFill>
              <a:schemeClr val="bg2"/>
            </a:solidFill>
            <a:prstDash val="solid"/>
          </a:ln>
        </p:spPr>
      </p:sp>
      <p:pic>
        <p:nvPicPr>
          <p:cNvPr id="26" name="anim5-336" descr="preencoded.png">    </p:cNvPr>
          <p:cNvPicPr>
            <a:picLocks noChangeAspect="1"/>
          </p:cNvPicPr>
          <p:nvPr/>
        </p:nvPicPr>
        <p:blipFill>
          <a:blip r:embed="rId6"/>
          <a:stretch>
            <a:fillRect/>
          </a:stretch>
        </p:blipFill>
        <p:spPr>
          <a:xfrm>
            <a:off x="904342" y="3812134"/>
            <a:ext cx="285293" cy="285293"/>
          </a:xfrm>
          <a:prstGeom prst="rect">
            <a:avLst/>
          </a:prstGeom>
        </p:spPr>
      </p:pic>
      <p:sp>
        <p:nvSpPr>
          <p:cNvPr id="27" name="anim5-337"/>
          <p:cNvSpPr txBox="1"/>
          <p:nvPr/>
        </p:nvSpPr>
        <p:spPr>
          <a:xfrm>
            <a:off x="1481328" y="3383280"/>
            <a:ext cx="1645920" cy="1143000"/>
          </a:xfrm>
          <a:prstGeom prst="rect">
            <a:avLst/>
          </a:prstGeom>
          <a:noFill/>
          <a:ln/>
        </p:spPr>
        <p:txBody>
          <a:bodyPr wrap="square" rtlCol="0" anchor="ctr"/>
          <a:lstStyle/>
          <a:p>
            <a:pPr indent="0" marL="0">
              <a:buNone/>
            </a:pPr>
            <a:r>
              <a:rPr lang="en-US" sz="1500" b="1" dirty="0">
                <a:solidFill>
                  <a:schemeClr val="tx2"/>
                </a:solidFill>
              </a:rPr>
              <a:t>Coupons</a:t>
            </a:r>
            <a:endParaRPr lang="en-US" sz="1500" dirty="0"/>
          </a:p>
        </p:txBody>
      </p:sp>
      <p:sp>
        <p:nvSpPr>
          <p:cNvPr id="28" name="anim6-338"/>
          <p:cNvSpPr/>
          <p:nvPr/>
        </p:nvSpPr>
        <p:spPr>
          <a:xfrm>
            <a:off x="3383280" y="33832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9" name="anim6-339"/>
          <p:cNvSpPr/>
          <p:nvPr/>
        </p:nvSpPr>
        <p:spPr>
          <a:xfrm>
            <a:off x="3584448" y="3657600"/>
            <a:ext cx="594360" cy="594360"/>
          </a:xfrm>
          <a:prstGeom prst="roundRect">
            <a:avLst>
              <a:gd name="adj" fmla="val 22000"/>
            </a:avLst>
          </a:prstGeom>
          <a:solidFill>
            <a:schemeClr val="bg2"/>
          </a:solidFill>
          <a:ln w="12700">
            <a:solidFill>
              <a:schemeClr val="bg2"/>
            </a:solidFill>
            <a:prstDash val="solid"/>
          </a:ln>
        </p:spPr>
      </p:sp>
      <p:pic>
        <p:nvPicPr>
          <p:cNvPr id="30" name="anim6-340" descr="preencoded.png">    </p:cNvPr>
          <p:cNvPicPr>
            <a:picLocks noChangeAspect="1"/>
          </p:cNvPicPr>
          <p:nvPr/>
        </p:nvPicPr>
        <p:blipFill>
          <a:blip r:embed="rId7"/>
          <a:stretch>
            <a:fillRect/>
          </a:stretch>
        </p:blipFill>
        <p:spPr>
          <a:xfrm>
            <a:off x="3738982" y="3812134"/>
            <a:ext cx="285293" cy="285293"/>
          </a:xfrm>
          <a:prstGeom prst="rect">
            <a:avLst/>
          </a:prstGeom>
        </p:spPr>
      </p:pic>
      <p:sp>
        <p:nvSpPr>
          <p:cNvPr id="31" name="anim6-341"/>
          <p:cNvSpPr txBox="1"/>
          <p:nvPr/>
        </p:nvSpPr>
        <p:spPr>
          <a:xfrm>
            <a:off x="4315968" y="3383280"/>
            <a:ext cx="1645920" cy="1143000"/>
          </a:xfrm>
          <a:prstGeom prst="rect">
            <a:avLst/>
          </a:prstGeom>
          <a:noFill/>
          <a:ln/>
        </p:spPr>
        <p:txBody>
          <a:bodyPr wrap="square" rtlCol="0" anchor="ctr"/>
          <a:lstStyle/>
          <a:p>
            <a:pPr indent="0" marL="0">
              <a:buNone/>
            </a:pPr>
            <a:r>
              <a:rPr lang="en-US" sz="1500" b="1" dirty="0">
                <a:solidFill>
                  <a:schemeClr val="tx2"/>
                </a:solidFill>
              </a:rPr>
              <a:t>Rappels</a:t>
            </a:r>
            <a:endParaRPr lang="en-US" sz="1500" dirty="0"/>
          </a:p>
        </p:txBody>
      </p:sp>
      <p:sp>
        <p:nvSpPr>
          <p:cNvPr id="32" name="anim7-342"/>
          <p:cNvSpPr/>
          <p:nvPr/>
        </p:nvSpPr>
        <p:spPr>
          <a:xfrm>
            <a:off x="6217920" y="33832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33" name="anim7-343"/>
          <p:cNvSpPr/>
          <p:nvPr/>
        </p:nvSpPr>
        <p:spPr>
          <a:xfrm>
            <a:off x="6419088" y="3657600"/>
            <a:ext cx="594360" cy="594360"/>
          </a:xfrm>
          <a:prstGeom prst="roundRect">
            <a:avLst>
              <a:gd name="adj" fmla="val 22000"/>
            </a:avLst>
          </a:prstGeom>
          <a:solidFill>
            <a:schemeClr val="bg2"/>
          </a:solidFill>
          <a:ln w="12700">
            <a:solidFill>
              <a:schemeClr val="bg2"/>
            </a:solidFill>
            <a:prstDash val="solid"/>
          </a:ln>
        </p:spPr>
      </p:sp>
      <p:pic>
        <p:nvPicPr>
          <p:cNvPr id="34" name="anim7-344" descr="preencoded.png">    </p:cNvPr>
          <p:cNvPicPr>
            <a:picLocks noChangeAspect="1"/>
          </p:cNvPicPr>
          <p:nvPr/>
        </p:nvPicPr>
        <p:blipFill>
          <a:blip r:embed="rId8"/>
          <a:stretch>
            <a:fillRect/>
          </a:stretch>
        </p:blipFill>
        <p:spPr>
          <a:xfrm>
            <a:off x="6573622" y="3812134"/>
            <a:ext cx="285293" cy="285293"/>
          </a:xfrm>
          <a:prstGeom prst="rect">
            <a:avLst/>
          </a:prstGeom>
        </p:spPr>
      </p:pic>
      <p:sp>
        <p:nvSpPr>
          <p:cNvPr id="35" name="anim7-345"/>
          <p:cNvSpPr txBox="1"/>
          <p:nvPr/>
        </p:nvSpPr>
        <p:spPr>
          <a:xfrm>
            <a:off x="7150608" y="3383280"/>
            <a:ext cx="1645920" cy="1143000"/>
          </a:xfrm>
          <a:prstGeom prst="rect">
            <a:avLst/>
          </a:prstGeom>
          <a:noFill/>
          <a:ln/>
        </p:spPr>
        <p:txBody>
          <a:bodyPr wrap="square" rtlCol="0" anchor="ctr"/>
          <a:lstStyle/>
          <a:p>
            <a:pPr indent="0" marL="0">
              <a:buNone/>
            </a:pPr>
            <a:r>
              <a:rPr lang="en-US" sz="1500" b="1" dirty="0">
                <a:solidFill>
                  <a:schemeClr val="tx2"/>
                </a:solidFill>
              </a:rPr>
              <a:t>Entretien</a:t>
            </a:r>
            <a:endParaRPr lang="en-US" sz="1500" dirty="0"/>
          </a:p>
        </p:txBody>
      </p:sp>
      <p:sp>
        <p:nvSpPr>
          <p:cNvPr id="36" name="anim8-346"/>
          <p:cNvSpPr/>
          <p:nvPr/>
        </p:nvSpPr>
        <p:spPr>
          <a:xfrm>
            <a:off x="9052560" y="3383280"/>
            <a:ext cx="2651760" cy="1143000"/>
          </a:xfrm>
          <a:prstGeom prst="roundRect">
            <a:avLst>
              <a:gd name="adj" fmla="val 9600"/>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37" name="anim8-347"/>
          <p:cNvSpPr/>
          <p:nvPr/>
        </p:nvSpPr>
        <p:spPr>
          <a:xfrm>
            <a:off x="9253728" y="3657600"/>
            <a:ext cx="594360" cy="594360"/>
          </a:xfrm>
          <a:prstGeom prst="roundRect">
            <a:avLst>
              <a:gd name="adj" fmla="val 22000"/>
            </a:avLst>
          </a:prstGeom>
          <a:solidFill>
            <a:schemeClr val="accent1"/>
          </a:solidFill>
          <a:ln w="12700">
            <a:solidFill>
              <a:schemeClr val="accent1"/>
            </a:solidFill>
            <a:prstDash val="solid"/>
          </a:ln>
        </p:spPr>
      </p:sp>
      <p:pic>
        <p:nvPicPr>
          <p:cNvPr id="38" name="anim8-348" descr="preencoded.png">    </p:cNvPr>
          <p:cNvPicPr>
            <a:picLocks noChangeAspect="1"/>
          </p:cNvPicPr>
          <p:nvPr/>
        </p:nvPicPr>
        <p:blipFill>
          <a:blip r:embed="rId9"/>
          <a:stretch>
            <a:fillRect/>
          </a:stretch>
        </p:blipFill>
        <p:spPr>
          <a:xfrm>
            <a:off x="9408262" y="3812134"/>
            <a:ext cx="285293" cy="285293"/>
          </a:xfrm>
          <a:prstGeom prst="rect">
            <a:avLst/>
          </a:prstGeom>
        </p:spPr>
      </p:pic>
      <p:sp>
        <p:nvSpPr>
          <p:cNvPr id="39" name="anim8-349"/>
          <p:cNvSpPr txBox="1"/>
          <p:nvPr/>
        </p:nvSpPr>
        <p:spPr>
          <a:xfrm>
            <a:off x="9985248" y="3383280"/>
            <a:ext cx="1645920" cy="1143000"/>
          </a:xfrm>
          <a:prstGeom prst="rect">
            <a:avLst/>
          </a:prstGeom>
          <a:noFill/>
          <a:ln/>
        </p:spPr>
        <p:txBody>
          <a:bodyPr wrap="square" rtlCol="0" anchor="ctr"/>
          <a:lstStyle/>
          <a:p>
            <a:pPr indent="0" marL="0">
              <a:buNone/>
            </a:pPr>
            <a:r>
              <a:rPr lang="en-US" sz="1500" b="1" dirty="0">
                <a:solidFill>
                  <a:schemeClr val="bg1"/>
                </a:solidFill>
              </a:rPr>
              <a:t>Top revenus</a:t>
            </a:r>
            <a:endParaRPr lang="en-US" sz="1500" dirty="0"/>
          </a:p>
        </p:txBody>
      </p:sp>
      <p:sp>
        <p:nvSpPr>
          <p:cNvPr id="40" name="anim9-350"/>
          <p:cNvSpPr/>
          <p:nvPr/>
        </p:nvSpPr>
        <p:spPr>
          <a:xfrm>
            <a:off x="548640" y="4754880"/>
            <a:ext cx="2651760" cy="1143000"/>
          </a:xfrm>
          <a:prstGeom prst="roundRect">
            <a:avLst>
              <a:gd name="adj" fmla="val 9600"/>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41" name="anim9-351"/>
          <p:cNvSpPr/>
          <p:nvPr/>
        </p:nvSpPr>
        <p:spPr>
          <a:xfrm>
            <a:off x="749808" y="5029200"/>
            <a:ext cx="594360" cy="594360"/>
          </a:xfrm>
          <a:prstGeom prst="roundRect">
            <a:avLst>
              <a:gd name="adj" fmla="val 22000"/>
            </a:avLst>
          </a:prstGeom>
          <a:solidFill>
            <a:schemeClr val="accent1"/>
          </a:solidFill>
          <a:ln w="12700">
            <a:solidFill>
              <a:schemeClr val="accent1"/>
            </a:solidFill>
            <a:prstDash val="solid"/>
          </a:ln>
        </p:spPr>
      </p:sp>
      <p:pic>
        <p:nvPicPr>
          <p:cNvPr id="42" name="anim9-352" descr="preencoded.png">    </p:cNvPr>
          <p:cNvPicPr>
            <a:picLocks noChangeAspect="1"/>
          </p:cNvPicPr>
          <p:nvPr/>
        </p:nvPicPr>
        <p:blipFill>
          <a:blip r:embed="rId10"/>
          <a:stretch>
            <a:fillRect/>
          </a:stretch>
        </p:blipFill>
        <p:spPr>
          <a:xfrm>
            <a:off x="904342" y="5183734"/>
            <a:ext cx="285293" cy="285293"/>
          </a:xfrm>
          <a:prstGeom prst="rect">
            <a:avLst/>
          </a:prstGeom>
        </p:spPr>
      </p:pic>
      <p:sp>
        <p:nvSpPr>
          <p:cNvPr id="43" name="anim9-353"/>
          <p:cNvSpPr txBox="1"/>
          <p:nvPr/>
        </p:nvSpPr>
        <p:spPr>
          <a:xfrm>
            <a:off x="1481328" y="4754880"/>
            <a:ext cx="1645920" cy="1143000"/>
          </a:xfrm>
          <a:prstGeom prst="rect">
            <a:avLst/>
          </a:prstGeom>
          <a:noFill/>
          <a:ln/>
        </p:spPr>
        <p:txBody>
          <a:bodyPr wrap="square" rtlCol="0" anchor="ctr"/>
          <a:lstStyle/>
          <a:p>
            <a:pPr indent="0" marL="0">
              <a:buNone/>
            </a:pPr>
            <a:r>
              <a:rPr lang="en-US" sz="1500" b="1" dirty="0">
                <a:solidFill>
                  <a:schemeClr val="bg1"/>
                </a:solidFill>
              </a:rPr>
              <a:t>Top dépenses</a:t>
            </a:r>
            <a:endParaRPr lang="en-US" sz="1500" dirty="0"/>
          </a:p>
        </p:txBody>
      </p:sp>
      <p:sp>
        <p:nvSpPr>
          <p:cNvPr id="44" name="anim10-354"/>
          <p:cNvSpPr/>
          <p:nvPr/>
        </p:nvSpPr>
        <p:spPr>
          <a:xfrm>
            <a:off x="3383280" y="4754880"/>
            <a:ext cx="2651760" cy="1143000"/>
          </a:xfrm>
          <a:prstGeom prst="roundRect">
            <a:avLst>
              <a:gd name="adj" fmla="val 9600"/>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45" name="anim10-355"/>
          <p:cNvSpPr/>
          <p:nvPr/>
        </p:nvSpPr>
        <p:spPr>
          <a:xfrm>
            <a:off x="3584448" y="5029200"/>
            <a:ext cx="594360" cy="594360"/>
          </a:xfrm>
          <a:prstGeom prst="roundRect">
            <a:avLst>
              <a:gd name="adj" fmla="val 22000"/>
            </a:avLst>
          </a:prstGeom>
          <a:solidFill>
            <a:schemeClr val="accent1"/>
          </a:solidFill>
          <a:ln w="12700">
            <a:solidFill>
              <a:schemeClr val="accent1"/>
            </a:solidFill>
            <a:prstDash val="solid"/>
          </a:ln>
        </p:spPr>
      </p:sp>
      <p:pic>
        <p:nvPicPr>
          <p:cNvPr id="46" name="anim10-356" descr="preencoded.png">    </p:cNvPr>
          <p:cNvPicPr>
            <a:picLocks noChangeAspect="1"/>
          </p:cNvPicPr>
          <p:nvPr/>
        </p:nvPicPr>
        <p:blipFill>
          <a:blip r:embed="rId11"/>
          <a:stretch>
            <a:fillRect/>
          </a:stretch>
        </p:blipFill>
        <p:spPr>
          <a:xfrm>
            <a:off x="3738982" y="5183734"/>
            <a:ext cx="285293" cy="285293"/>
          </a:xfrm>
          <a:prstGeom prst="rect">
            <a:avLst/>
          </a:prstGeom>
        </p:spPr>
      </p:pic>
      <p:sp>
        <p:nvSpPr>
          <p:cNvPr id="47" name="anim10-357"/>
          <p:cNvSpPr txBox="1"/>
          <p:nvPr/>
        </p:nvSpPr>
        <p:spPr>
          <a:xfrm>
            <a:off x="4315968" y="4754880"/>
            <a:ext cx="1645920" cy="1143000"/>
          </a:xfrm>
          <a:prstGeom prst="rect">
            <a:avLst/>
          </a:prstGeom>
          <a:noFill/>
          <a:ln/>
        </p:spPr>
        <p:txBody>
          <a:bodyPr wrap="square" rtlCol="0" anchor="ctr"/>
          <a:lstStyle/>
          <a:p>
            <a:pPr indent="0" marL="0">
              <a:buNone/>
            </a:pPr>
            <a:r>
              <a:rPr lang="en-US" sz="1500" b="1" dirty="0">
                <a:solidFill>
                  <a:schemeClr val="bg1"/>
                </a:solidFill>
              </a:rPr>
              <a:t>Top véhicules</a:t>
            </a:r>
            <a:endParaRPr lang="en-US" sz="1500" dirty="0"/>
          </a:p>
        </p:txBody>
      </p:sp>
      <p:sp>
        <p:nvSpPr>
          <p:cNvPr id="48" name="anim11-358"/>
          <p:cNvSpPr/>
          <p:nvPr/>
        </p:nvSpPr>
        <p:spPr>
          <a:xfrm>
            <a:off x="6217920" y="4754880"/>
            <a:ext cx="2651760" cy="1143000"/>
          </a:xfrm>
          <a:prstGeom prst="roundRect">
            <a:avLst>
              <a:gd name="adj" fmla="val 9600"/>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49" name="anim11-359"/>
          <p:cNvSpPr/>
          <p:nvPr/>
        </p:nvSpPr>
        <p:spPr>
          <a:xfrm>
            <a:off x="6419088" y="5029200"/>
            <a:ext cx="594360" cy="594360"/>
          </a:xfrm>
          <a:prstGeom prst="roundRect">
            <a:avLst>
              <a:gd name="adj" fmla="val 22000"/>
            </a:avLst>
          </a:prstGeom>
          <a:solidFill>
            <a:schemeClr val="accent1"/>
          </a:solidFill>
          <a:ln w="12700">
            <a:solidFill>
              <a:schemeClr val="accent1"/>
            </a:solidFill>
            <a:prstDash val="solid"/>
          </a:ln>
        </p:spPr>
      </p:sp>
      <p:pic>
        <p:nvPicPr>
          <p:cNvPr id="50" name="anim11-360" descr="preencoded.png">    </p:cNvPr>
          <p:cNvPicPr>
            <a:picLocks noChangeAspect="1"/>
          </p:cNvPicPr>
          <p:nvPr/>
        </p:nvPicPr>
        <p:blipFill>
          <a:blip r:embed="rId12"/>
          <a:stretch>
            <a:fillRect/>
          </a:stretch>
        </p:blipFill>
        <p:spPr>
          <a:xfrm>
            <a:off x="6573622" y="5183734"/>
            <a:ext cx="285293" cy="285293"/>
          </a:xfrm>
          <a:prstGeom prst="rect">
            <a:avLst/>
          </a:prstGeom>
        </p:spPr>
      </p:pic>
      <p:sp>
        <p:nvSpPr>
          <p:cNvPr id="51" name="anim11-361"/>
          <p:cNvSpPr txBox="1"/>
          <p:nvPr/>
        </p:nvSpPr>
        <p:spPr>
          <a:xfrm>
            <a:off x="7150608" y="4754880"/>
            <a:ext cx="1645920" cy="1143000"/>
          </a:xfrm>
          <a:prstGeom prst="rect">
            <a:avLst/>
          </a:prstGeom>
          <a:noFill/>
          <a:ln/>
        </p:spPr>
        <p:txBody>
          <a:bodyPr wrap="square" rtlCol="0" anchor="ctr"/>
          <a:lstStyle/>
          <a:p>
            <a:pPr indent="0" marL="0">
              <a:buNone/>
            </a:pPr>
            <a:r>
              <a:rPr lang="en-US" sz="1500" b="1" dirty="0">
                <a:solidFill>
                  <a:schemeClr val="bg1"/>
                </a:solidFill>
              </a:rPr>
              <a:t>Top routes</a:t>
            </a:r>
            <a:endParaRPr lang="en-US" sz="1500" dirty="0"/>
          </a:p>
        </p:txBody>
      </p:sp>
      <p:sp>
        <p:nvSpPr>
          <p:cNvPr id="52" name="Text 38"/>
          <p:cNvSpPr txBox="1"/>
          <p:nvPr/>
        </p:nvSpPr>
        <p:spPr>
          <a:xfrm>
            <a:off x="9052560" y="4754880"/>
            <a:ext cx="2606040" cy="1143000"/>
          </a:xfrm>
          <a:prstGeom prst="rect">
            <a:avLst/>
          </a:prstGeom>
          <a:noFill/>
          <a:ln/>
        </p:spPr>
        <p:txBody>
          <a:bodyPr wrap="square" rtlCol="0" anchor="ctr"/>
          <a:lstStyle/>
          <a:p>
            <a:pPr indent="0" marL="0">
              <a:buNone/>
            </a:pPr>
            <a:r>
              <a:rPr lang="en-US" sz="1300" i="1" dirty="0">
                <a:solidFill>
                  <a:schemeClr val="accent5"/>
                </a:solidFill>
              </a:rPr>
              <a:t>Les « Top » montrent ce qui rapporte ou coûte le plus.</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5" fill="hold">
                      <p:stCondLst>
                        <p:cond delay="indefinite"/>
                        <p:cond evt="onBegin" delay="0">
                          <p:tn val="2"/>
                        </p:cond>
                      </p:stCondLst>
                      <p:childTnLst>
                        <p:par>
                          <p:cTn id="13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25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25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2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2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5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5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50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50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75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7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100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10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100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100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125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par>
                                <p:cTn id="66" presetID="10" presetClass="entr" presetSubtype="0" fill="hold" nodeType="withEffect">
                                  <p:stCondLst>
                                    <p:cond delay="1250"/>
                                  </p:stCondLst>
                                  <p:childTnLst>
                                    <p:set>
                                      <p:cBhvr>
                                        <p:cTn id="67" dur="1" fill="hold">
                                          <p:stCondLst>
                                            <p:cond delay="0"/>
                                          </p:stCondLst>
                                        </p:cTn>
                                        <p:tgtEl>
                                          <p:spTgt spid="29"/>
                                        </p:tgtEl>
                                        <p:attrNameLst>
                                          <p:attrName>style.visibility</p:attrName>
                                        </p:attrNameLst>
                                      </p:cBhvr>
                                      <p:to>
                                        <p:strVal val="visible"/>
                                      </p:to>
                                    </p:set>
                                    <p:animEffect transition="in" filter="fade">
                                      <p:cBhvr>
                                        <p:cTn id="68" dur="500"/>
                                        <p:tgtEl>
                                          <p:spTgt spid="29"/>
                                        </p:tgtEl>
                                      </p:cBhvr>
                                    </p:animEffect>
                                  </p:childTnLst>
                                </p:cTn>
                              </p:par>
                              <p:par>
                                <p:cTn id="69" presetID="10" presetClass="entr" presetSubtype="0" fill="hold" nodeType="withEffect">
                                  <p:stCondLst>
                                    <p:cond delay="125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00"/>
                                        <p:tgtEl>
                                          <p:spTgt spid="30"/>
                                        </p:tgtEl>
                                      </p:cBhvr>
                                    </p:animEffect>
                                  </p:childTnLst>
                                </p:cTn>
                              </p:par>
                              <p:par>
                                <p:cTn id="72" presetID="10" presetClass="entr" presetSubtype="0" fill="hold" nodeType="withEffect">
                                  <p:stCondLst>
                                    <p:cond delay="125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childTnLst>
                                </p:cTn>
                              </p:par>
                              <p:par>
                                <p:cTn id="75" presetID="10" presetClass="entr" presetSubtype="0" fill="hold" nodeType="withEffect">
                                  <p:stCondLst>
                                    <p:cond delay="150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00"/>
                                        <p:tgtEl>
                                          <p:spTgt spid="32"/>
                                        </p:tgtEl>
                                      </p:cBhvr>
                                    </p:animEffect>
                                  </p:childTnLst>
                                </p:cTn>
                              </p:par>
                              <p:par>
                                <p:cTn id="78" presetID="10" presetClass="entr" presetSubtype="0" fill="hold" nodeType="withEffect">
                                  <p:stCondLst>
                                    <p:cond delay="1500"/>
                                  </p:stCondLst>
                                  <p:childTnLst>
                                    <p:set>
                                      <p:cBhvr>
                                        <p:cTn id="79" dur="1" fill="hold">
                                          <p:stCondLst>
                                            <p:cond delay="0"/>
                                          </p:stCondLst>
                                        </p:cTn>
                                        <p:tgtEl>
                                          <p:spTgt spid="33"/>
                                        </p:tgtEl>
                                        <p:attrNameLst>
                                          <p:attrName>style.visibility</p:attrName>
                                        </p:attrNameLst>
                                      </p:cBhvr>
                                      <p:to>
                                        <p:strVal val="visible"/>
                                      </p:to>
                                    </p:set>
                                    <p:animEffect transition="in" filter="fade">
                                      <p:cBhvr>
                                        <p:cTn id="80" dur="500"/>
                                        <p:tgtEl>
                                          <p:spTgt spid="33"/>
                                        </p:tgtEl>
                                      </p:cBhvr>
                                    </p:animEffect>
                                  </p:childTnLst>
                                </p:cTn>
                              </p:par>
                              <p:par>
                                <p:cTn id="81" presetID="10" presetClass="entr" presetSubtype="0" fill="hold" nodeType="withEffect">
                                  <p:stCondLst>
                                    <p:cond delay="1500"/>
                                  </p:stCondLst>
                                  <p:childTnLst>
                                    <p:set>
                                      <p:cBhvr>
                                        <p:cTn id="82" dur="1" fill="hold">
                                          <p:stCondLst>
                                            <p:cond delay="0"/>
                                          </p:stCondLst>
                                        </p:cTn>
                                        <p:tgtEl>
                                          <p:spTgt spid="34"/>
                                        </p:tgtEl>
                                        <p:attrNameLst>
                                          <p:attrName>style.visibility</p:attrName>
                                        </p:attrNameLst>
                                      </p:cBhvr>
                                      <p:to>
                                        <p:strVal val="visible"/>
                                      </p:to>
                                    </p:set>
                                    <p:animEffect transition="in" filter="fade">
                                      <p:cBhvr>
                                        <p:cTn id="83" dur="500"/>
                                        <p:tgtEl>
                                          <p:spTgt spid="34"/>
                                        </p:tgtEl>
                                      </p:cBhvr>
                                    </p:animEffect>
                                  </p:childTnLst>
                                </p:cTn>
                              </p:par>
                              <p:par>
                                <p:cTn id="84" presetID="10" presetClass="entr" presetSubtype="0" fill="hold" nodeType="withEffect">
                                  <p:stCondLst>
                                    <p:cond delay="1500"/>
                                  </p:stCondLst>
                                  <p:childTnLst>
                                    <p:set>
                                      <p:cBhvr>
                                        <p:cTn id="85" dur="1" fill="hold">
                                          <p:stCondLst>
                                            <p:cond delay="0"/>
                                          </p:stCondLst>
                                        </p:cTn>
                                        <p:tgtEl>
                                          <p:spTgt spid="35"/>
                                        </p:tgtEl>
                                        <p:attrNameLst>
                                          <p:attrName>style.visibility</p:attrName>
                                        </p:attrNameLst>
                                      </p:cBhvr>
                                      <p:to>
                                        <p:strVal val="visible"/>
                                      </p:to>
                                    </p:set>
                                    <p:animEffect transition="in" filter="fade">
                                      <p:cBhvr>
                                        <p:cTn id="86" dur="500"/>
                                        <p:tgtEl>
                                          <p:spTgt spid="35"/>
                                        </p:tgtEl>
                                      </p:cBhvr>
                                    </p:animEffect>
                                  </p:childTnLst>
                                </p:cTn>
                              </p:par>
                              <p:par>
                                <p:cTn id="87" presetID="10" presetClass="entr" presetSubtype="0" fill="hold" nodeType="withEffect">
                                  <p:stCondLst>
                                    <p:cond delay="175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00"/>
                                        <p:tgtEl>
                                          <p:spTgt spid="36"/>
                                        </p:tgtEl>
                                      </p:cBhvr>
                                    </p:animEffect>
                                  </p:childTnLst>
                                </p:cTn>
                              </p:par>
                              <p:par>
                                <p:cTn id="90" presetID="10" presetClass="entr" presetSubtype="0" fill="hold" nodeType="withEffect">
                                  <p:stCondLst>
                                    <p:cond delay="1750"/>
                                  </p:stCondLst>
                                  <p:childTnLst>
                                    <p:set>
                                      <p:cBhvr>
                                        <p:cTn id="91" dur="1" fill="hold">
                                          <p:stCondLst>
                                            <p:cond delay="0"/>
                                          </p:stCondLst>
                                        </p:cTn>
                                        <p:tgtEl>
                                          <p:spTgt spid="37"/>
                                        </p:tgtEl>
                                        <p:attrNameLst>
                                          <p:attrName>style.visibility</p:attrName>
                                        </p:attrNameLst>
                                      </p:cBhvr>
                                      <p:to>
                                        <p:strVal val="visible"/>
                                      </p:to>
                                    </p:set>
                                    <p:animEffect transition="in" filter="fade">
                                      <p:cBhvr>
                                        <p:cTn id="92" dur="500"/>
                                        <p:tgtEl>
                                          <p:spTgt spid="37"/>
                                        </p:tgtEl>
                                      </p:cBhvr>
                                    </p:animEffect>
                                  </p:childTnLst>
                                </p:cTn>
                              </p:par>
                              <p:par>
                                <p:cTn id="93" presetID="10" presetClass="entr" presetSubtype="0" fill="hold" nodeType="withEffect">
                                  <p:stCondLst>
                                    <p:cond delay="175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00"/>
                                        <p:tgtEl>
                                          <p:spTgt spid="38"/>
                                        </p:tgtEl>
                                      </p:cBhvr>
                                    </p:animEffect>
                                  </p:childTnLst>
                                </p:cTn>
                              </p:par>
                              <p:par>
                                <p:cTn id="96" presetID="10" presetClass="entr" presetSubtype="0" fill="hold" nodeType="withEffect">
                                  <p:stCondLst>
                                    <p:cond delay="1750"/>
                                  </p:stCondLst>
                                  <p:childTnLst>
                                    <p:set>
                                      <p:cBhvr>
                                        <p:cTn id="97" dur="1" fill="hold">
                                          <p:stCondLst>
                                            <p:cond delay="0"/>
                                          </p:stCondLst>
                                        </p:cTn>
                                        <p:tgtEl>
                                          <p:spTgt spid="39"/>
                                        </p:tgtEl>
                                        <p:attrNameLst>
                                          <p:attrName>style.visibility</p:attrName>
                                        </p:attrNameLst>
                                      </p:cBhvr>
                                      <p:to>
                                        <p:strVal val="visible"/>
                                      </p:to>
                                    </p:set>
                                    <p:animEffect transition="in" filter="fade">
                                      <p:cBhvr>
                                        <p:cTn id="98" dur="500"/>
                                        <p:tgtEl>
                                          <p:spTgt spid="39"/>
                                        </p:tgtEl>
                                      </p:cBhvr>
                                    </p:animEffect>
                                  </p:childTnLst>
                                </p:cTn>
                              </p:par>
                              <p:par>
                                <p:cTn id="99" presetID="10" presetClass="entr" presetSubtype="0" fill="hold" nodeType="withEffect">
                                  <p:stCondLst>
                                    <p:cond delay="200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00"/>
                                        <p:tgtEl>
                                          <p:spTgt spid="40"/>
                                        </p:tgtEl>
                                      </p:cBhvr>
                                    </p:animEffect>
                                  </p:childTnLst>
                                </p:cTn>
                              </p:par>
                              <p:par>
                                <p:cTn id="102" presetID="10" presetClass="entr" presetSubtype="0" fill="hold" nodeType="withEffect">
                                  <p:stCondLst>
                                    <p:cond delay="200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500"/>
                                        <p:tgtEl>
                                          <p:spTgt spid="41"/>
                                        </p:tgtEl>
                                      </p:cBhvr>
                                    </p:animEffect>
                                  </p:childTnLst>
                                </p:cTn>
                              </p:par>
                              <p:par>
                                <p:cTn id="105" presetID="10" presetClass="entr" presetSubtype="0" fill="hold" nodeType="withEffect">
                                  <p:stCondLst>
                                    <p:cond delay="2000"/>
                                  </p:stCondLst>
                                  <p:childTnLst>
                                    <p:set>
                                      <p:cBhvr>
                                        <p:cTn id="106" dur="1" fill="hold">
                                          <p:stCondLst>
                                            <p:cond delay="0"/>
                                          </p:stCondLst>
                                        </p:cTn>
                                        <p:tgtEl>
                                          <p:spTgt spid="42"/>
                                        </p:tgtEl>
                                        <p:attrNameLst>
                                          <p:attrName>style.visibility</p:attrName>
                                        </p:attrNameLst>
                                      </p:cBhvr>
                                      <p:to>
                                        <p:strVal val="visible"/>
                                      </p:to>
                                    </p:set>
                                    <p:animEffect transition="in" filter="fade">
                                      <p:cBhvr>
                                        <p:cTn id="107" dur="500"/>
                                        <p:tgtEl>
                                          <p:spTgt spid="42"/>
                                        </p:tgtEl>
                                      </p:cBhvr>
                                    </p:animEffect>
                                  </p:childTnLst>
                                </p:cTn>
                              </p:par>
                              <p:par>
                                <p:cTn id="108" presetID="10" presetClass="entr" presetSubtype="0" fill="hold" nodeType="withEffect">
                                  <p:stCondLst>
                                    <p:cond delay="2000"/>
                                  </p:stCondLst>
                                  <p:childTnLst>
                                    <p:set>
                                      <p:cBhvr>
                                        <p:cTn id="109" dur="1" fill="hold">
                                          <p:stCondLst>
                                            <p:cond delay="0"/>
                                          </p:stCondLst>
                                        </p:cTn>
                                        <p:tgtEl>
                                          <p:spTgt spid="43"/>
                                        </p:tgtEl>
                                        <p:attrNameLst>
                                          <p:attrName>style.visibility</p:attrName>
                                        </p:attrNameLst>
                                      </p:cBhvr>
                                      <p:to>
                                        <p:strVal val="visible"/>
                                      </p:to>
                                    </p:set>
                                    <p:animEffect transition="in" filter="fade">
                                      <p:cBhvr>
                                        <p:cTn id="110" dur="500"/>
                                        <p:tgtEl>
                                          <p:spTgt spid="43"/>
                                        </p:tgtEl>
                                      </p:cBhvr>
                                    </p:animEffect>
                                  </p:childTnLst>
                                </p:cTn>
                              </p:par>
                              <p:par>
                                <p:cTn id="111" presetID="10" presetClass="entr" presetSubtype="0" fill="hold" nodeType="withEffect">
                                  <p:stCondLst>
                                    <p:cond delay="2250"/>
                                  </p:stCondLst>
                                  <p:childTnLst>
                                    <p:set>
                                      <p:cBhvr>
                                        <p:cTn id="112" dur="1" fill="hold">
                                          <p:stCondLst>
                                            <p:cond delay="0"/>
                                          </p:stCondLst>
                                        </p:cTn>
                                        <p:tgtEl>
                                          <p:spTgt spid="44"/>
                                        </p:tgtEl>
                                        <p:attrNameLst>
                                          <p:attrName>style.visibility</p:attrName>
                                        </p:attrNameLst>
                                      </p:cBhvr>
                                      <p:to>
                                        <p:strVal val="visible"/>
                                      </p:to>
                                    </p:set>
                                    <p:animEffect transition="in" filter="fade">
                                      <p:cBhvr>
                                        <p:cTn id="113" dur="500"/>
                                        <p:tgtEl>
                                          <p:spTgt spid="44"/>
                                        </p:tgtEl>
                                      </p:cBhvr>
                                    </p:animEffect>
                                  </p:childTnLst>
                                </p:cTn>
                              </p:par>
                              <p:par>
                                <p:cTn id="114" presetID="10" presetClass="entr" presetSubtype="0" fill="hold" nodeType="withEffect">
                                  <p:stCondLst>
                                    <p:cond delay="2250"/>
                                  </p:stCondLst>
                                  <p:childTnLst>
                                    <p:set>
                                      <p:cBhvr>
                                        <p:cTn id="115" dur="1" fill="hold">
                                          <p:stCondLst>
                                            <p:cond delay="0"/>
                                          </p:stCondLst>
                                        </p:cTn>
                                        <p:tgtEl>
                                          <p:spTgt spid="45"/>
                                        </p:tgtEl>
                                        <p:attrNameLst>
                                          <p:attrName>style.visibility</p:attrName>
                                        </p:attrNameLst>
                                      </p:cBhvr>
                                      <p:to>
                                        <p:strVal val="visible"/>
                                      </p:to>
                                    </p:set>
                                    <p:animEffect transition="in" filter="fade">
                                      <p:cBhvr>
                                        <p:cTn id="116" dur="500"/>
                                        <p:tgtEl>
                                          <p:spTgt spid="45"/>
                                        </p:tgtEl>
                                      </p:cBhvr>
                                    </p:animEffect>
                                  </p:childTnLst>
                                </p:cTn>
                              </p:par>
                              <p:par>
                                <p:cTn id="117" presetID="10" presetClass="entr" presetSubtype="0" fill="hold" nodeType="withEffect">
                                  <p:stCondLst>
                                    <p:cond delay="2250"/>
                                  </p:stCondLst>
                                  <p:childTnLst>
                                    <p:set>
                                      <p:cBhvr>
                                        <p:cTn id="118" dur="1" fill="hold">
                                          <p:stCondLst>
                                            <p:cond delay="0"/>
                                          </p:stCondLst>
                                        </p:cTn>
                                        <p:tgtEl>
                                          <p:spTgt spid="46"/>
                                        </p:tgtEl>
                                        <p:attrNameLst>
                                          <p:attrName>style.visibility</p:attrName>
                                        </p:attrNameLst>
                                      </p:cBhvr>
                                      <p:to>
                                        <p:strVal val="visible"/>
                                      </p:to>
                                    </p:set>
                                    <p:animEffect transition="in" filter="fade">
                                      <p:cBhvr>
                                        <p:cTn id="119" dur="500"/>
                                        <p:tgtEl>
                                          <p:spTgt spid="46"/>
                                        </p:tgtEl>
                                      </p:cBhvr>
                                    </p:animEffect>
                                  </p:childTnLst>
                                </p:cTn>
                              </p:par>
                              <p:par>
                                <p:cTn id="120" presetID="10" presetClass="entr" presetSubtype="0" fill="hold" nodeType="withEffect">
                                  <p:stCondLst>
                                    <p:cond delay="2250"/>
                                  </p:stCondLst>
                                  <p:childTnLst>
                                    <p:set>
                                      <p:cBhvr>
                                        <p:cTn id="121" dur="1" fill="hold">
                                          <p:stCondLst>
                                            <p:cond delay="0"/>
                                          </p:stCondLst>
                                        </p:cTn>
                                        <p:tgtEl>
                                          <p:spTgt spid="47"/>
                                        </p:tgtEl>
                                        <p:attrNameLst>
                                          <p:attrName>style.visibility</p:attrName>
                                        </p:attrNameLst>
                                      </p:cBhvr>
                                      <p:to>
                                        <p:strVal val="visible"/>
                                      </p:to>
                                    </p:set>
                                    <p:animEffect transition="in" filter="fade">
                                      <p:cBhvr>
                                        <p:cTn id="122" dur="500"/>
                                        <p:tgtEl>
                                          <p:spTgt spid="47"/>
                                        </p:tgtEl>
                                      </p:cBhvr>
                                    </p:animEffect>
                                  </p:childTnLst>
                                </p:cTn>
                              </p:par>
                              <p:par>
                                <p:cTn id="123" presetID="10" presetClass="entr" presetSubtype="0" fill="hold" nodeType="withEffect">
                                  <p:stCondLst>
                                    <p:cond delay="2500"/>
                                  </p:stCondLst>
                                  <p:childTnLst>
                                    <p:set>
                                      <p:cBhvr>
                                        <p:cTn id="124" dur="1" fill="hold">
                                          <p:stCondLst>
                                            <p:cond delay="0"/>
                                          </p:stCondLst>
                                        </p:cTn>
                                        <p:tgtEl>
                                          <p:spTgt spid="48"/>
                                        </p:tgtEl>
                                        <p:attrNameLst>
                                          <p:attrName>style.visibility</p:attrName>
                                        </p:attrNameLst>
                                      </p:cBhvr>
                                      <p:to>
                                        <p:strVal val="visible"/>
                                      </p:to>
                                    </p:set>
                                    <p:animEffect transition="in" filter="fade">
                                      <p:cBhvr>
                                        <p:cTn id="125" dur="500"/>
                                        <p:tgtEl>
                                          <p:spTgt spid="48"/>
                                        </p:tgtEl>
                                      </p:cBhvr>
                                    </p:animEffect>
                                  </p:childTnLst>
                                </p:cTn>
                              </p:par>
                              <p:par>
                                <p:cTn id="126" presetID="10" presetClass="entr" presetSubtype="0" fill="hold" nodeType="withEffect">
                                  <p:stCondLst>
                                    <p:cond delay="2500"/>
                                  </p:stCondLst>
                                  <p:childTnLst>
                                    <p:set>
                                      <p:cBhvr>
                                        <p:cTn id="127" dur="1" fill="hold">
                                          <p:stCondLst>
                                            <p:cond delay="0"/>
                                          </p:stCondLst>
                                        </p:cTn>
                                        <p:tgtEl>
                                          <p:spTgt spid="49"/>
                                        </p:tgtEl>
                                        <p:attrNameLst>
                                          <p:attrName>style.visibility</p:attrName>
                                        </p:attrNameLst>
                                      </p:cBhvr>
                                      <p:to>
                                        <p:strVal val="visible"/>
                                      </p:to>
                                    </p:set>
                                    <p:animEffect transition="in" filter="fade">
                                      <p:cBhvr>
                                        <p:cTn id="128" dur="500"/>
                                        <p:tgtEl>
                                          <p:spTgt spid="49"/>
                                        </p:tgtEl>
                                      </p:cBhvr>
                                    </p:animEffect>
                                  </p:childTnLst>
                                </p:cTn>
                              </p:par>
                              <p:par>
                                <p:cTn id="129" presetID="10" presetClass="entr" presetSubtype="0" fill="hold" nodeType="withEffect">
                                  <p:stCondLst>
                                    <p:cond delay="2500"/>
                                  </p:stCondLst>
                                  <p:childTnLst>
                                    <p:set>
                                      <p:cBhvr>
                                        <p:cTn id="130" dur="1" fill="hold">
                                          <p:stCondLst>
                                            <p:cond delay="0"/>
                                          </p:stCondLst>
                                        </p:cTn>
                                        <p:tgtEl>
                                          <p:spTgt spid="50"/>
                                        </p:tgtEl>
                                        <p:attrNameLst>
                                          <p:attrName>style.visibility</p:attrName>
                                        </p:attrNameLst>
                                      </p:cBhvr>
                                      <p:to>
                                        <p:strVal val="visible"/>
                                      </p:to>
                                    </p:set>
                                    <p:animEffect transition="in" filter="fade">
                                      <p:cBhvr>
                                        <p:cTn id="131" dur="500"/>
                                        <p:tgtEl>
                                          <p:spTgt spid="50"/>
                                        </p:tgtEl>
                                      </p:cBhvr>
                                    </p:animEffect>
                                  </p:childTnLst>
                                </p:cTn>
                              </p:par>
                              <p:par>
                                <p:cTn id="132" presetID="10" presetClass="entr" presetSubtype="0" fill="hold" nodeType="withEffect">
                                  <p:stCondLst>
                                    <p:cond delay="2500"/>
                                  </p:stCondLst>
                                  <p:childTnLst>
                                    <p:set>
                                      <p:cBhvr>
                                        <p:cTn id="133" dur="1" fill="hold">
                                          <p:stCondLst>
                                            <p:cond delay="0"/>
                                          </p:stCondLst>
                                        </p:cTn>
                                        <p:tgtEl>
                                          <p:spTgt spid="51"/>
                                        </p:tgtEl>
                                        <p:attrNameLst>
                                          <p:attrName>style.visibility</p:attrName>
                                        </p:attrNameLst>
                                      </p:cBhvr>
                                      <p:to>
                                        <p:strVal val="visible"/>
                                      </p:to>
                                    </p:set>
                                    <p:animEffect transition="in" filter="fade">
                                      <p:cBhvr>
                                        <p:cTn id="134"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5" grpId="0" animBg="1"/>
      <p:bldP spid="19" grpId="0" animBg="1"/>
      <p:bldP spid="23" grpId="0" animBg="1"/>
      <p:bldP spid="27" grpId="0" animBg="1"/>
      <p:bldP spid="31" grpId="0" animBg="1"/>
      <p:bldP spid="35" grpId="0" animBg="1"/>
      <p:bldP spid="39" grpId="0" animBg="1"/>
      <p:bldP spid="43" grpId="0" animBg="1"/>
      <p:bldP spid="47" grpId="0" animBg="1"/>
      <p:bldP spid="5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Les comptes des employés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COMPTES ET RÉGLAGES</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Employee › Employee Management · Add Employee</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Chaque utilisateur a son compte et ne voit que ce qu'il doit voir.</a:t>
            </a:r>
            <a:endParaRPr lang="en-US" sz="1700" dirty="0"/>
          </a:p>
        </p:txBody>
      </p:sp>
      <p:sp>
        <p:nvSpPr>
          <p:cNvPr id="9" name="anim1-362"/>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363"/>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364"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365"/>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Un compte par personne</a:t>
            </a:r>
            <a:endParaRPr lang="en-US" sz="1500" dirty="0"/>
          </a:p>
          <a:p>
            <a:pPr indent="0" marL="0">
              <a:buNone/>
            </a:pPr>
            <a:r>
              <a:rPr lang="en-US" sz="1400" dirty="0">
                <a:solidFill>
                  <a:schemeClr val="tx1"/>
                </a:solidFill>
              </a:rPr>
              <a:t>Nom, téléphone, e-mail, identifiant et mot de passe.</a:t>
            </a:r>
            <a:endParaRPr lang="en-US" sz="1500" dirty="0"/>
          </a:p>
        </p:txBody>
      </p:sp>
      <p:sp>
        <p:nvSpPr>
          <p:cNvPr id="13" name="anim2-366"/>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367"/>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368"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369"/>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Ce que chacun peut faire</a:t>
            </a:r>
            <a:endParaRPr lang="en-US" sz="1500" dirty="0"/>
          </a:p>
          <a:p>
            <a:pPr indent="0" marL="0">
              <a:buNone/>
            </a:pPr>
            <a:r>
              <a:rPr lang="en-US" sz="1400" dirty="0">
                <a:solidFill>
                  <a:schemeClr val="tx1"/>
                </a:solidFill>
              </a:rPr>
              <a:t>Des cases à cocher : voir, ajouter, modifier, supprimer.</a:t>
            </a:r>
            <a:endParaRPr lang="en-US" sz="1500" dirty="0"/>
          </a:p>
        </p:txBody>
      </p:sp>
      <p:sp>
        <p:nvSpPr>
          <p:cNvPr id="17" name="anim3-370"/>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371"/>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372"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373"/>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Pour chaque rubrique</a:t>
            </a:r>
            <a:endParaRPr lang="en-US" sz="1500" dirty="0"/>
          </a:p>
          <a:p>
            <a:pPr indent="0" marL="0">
              <a:buNone/>
            </a:pPr>
            <a:r>
              <a:rPr lang="en-US" sz="1400" dirty="0">
                <a:solidFill>
                  <a:schemeClr val="tx1"/>
                </a:solidFill>
              </a:rPr>
              <a:t>Camions, chauffeurs, argent, clients, carburant, entretien…</a:t>
            </a:r>
            <a:endParaRPr lang="en-US" sz="1500" dirty="0"/>
          </a:p>
        </p:txBody>
      </p:sp>
      <p:sp>
        <p:nvSpPr>
          <p:cNvPr id="21" name="anim4-374"/>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375"/>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376"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377"/>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Compte ouvert ou bloqué</a:t>
            </a:r>
            <a:endParaRPr lang="en-US" sz="1500" dirty="0"/>
          </a:p>
          <a:p>
            <a:pPr indent="0" marL="0">
              <a:buNone/>
            </a:pPr>
            <a:r>
              <a:rPr lang="en-US" sz="1400" dirty="0">
                <a:solidFill>
                  <a:schemeClr val="tx1"/>
                </a:solidFill>
              </a:rPr>
              <a:t>On bloque le compte de quelqu'un qui part.</a:t>
            </a:r>
            <a:endParaRPr lang="en-US" sz="1500" dirty="0"/>
          </a:p>
        </p:txBody>
      </p:sp>
      <p:sp>
        <p:nvSpPr>
          <p:cNvPr id="25" name="anim5-378"/>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379"/>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À quoi ça sert</a:t>
            </a:r>
            <a:endParaRPr lang="en-US" sz="1800" dirty="0"/>
          </a:p>
        </p:txBody>
      </p:sp>
      <p:pic>
        <p:nvPicPr>
          <p:cNvPr id="27" name="anim6-380"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381"/>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Chacun voit seulement son travail</a:t>
            </a:r>
            <a:endParaRPr lang="en-US" sz="1400" dirty="0"/>
          </a:p>
        </p:txBody>
      </p:sp>
      <p:pic>
        <p:nvPicPr>
          <p:cNvPr id="29" name="anim7-382"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383"/>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Les chiffres de l'argent restent protégés</a:t>
            </a:r>
            <a:endParaRPr lang="en-US" sz="1400" dirty="0"/>
          </a:p>
        </p:txBody>
      </p:sp>
      <p:pic>
        <p:nvPicPr>
          <p:cNvPr id="31" name="anim8-384"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385"/>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On sait qui a noté chaque opération</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Les réglages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COMPTES ET RÉGLAGES</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Setting's</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Les réglages sont faits par l'administrateur, une fois pour toutes.</a:t>
            </a:r>
            <a:endParaRPr lang="en-US" sz="1700" dirty="0"/>
          </a:p>
        </p:txBody>
      </p:sp>
      <p:sp>
        <p:nvSpPr>
          <p:cNvPr id="9" name="anim1-386"/>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387"/>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388"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389"/>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Notre entreprise</a:t>
            </a:r>
            <a:endParaRPr lang="en-US" sz="1500" dirty="0"/>
          </a:p>
          <a:p>
            <a:pPr indent="0" marL="0">
              <a:buNone/>
            </a:pPr>
            <a:r>
              <a:rPr lang="en-US" sz="1400" dirty="0">
                <a:solidFill>
                  <a:schemeClr val="tx1"/>
                </a:solidFill>
              </a:rPr>
              <a:t>Nom, adresse, contacts, logo, couleurs, heure.</a:t>
            </a:r>
            <a:endParaRPr lang="en-US" sz="1500" dirty="0"/>
          </a:p>
        </p:txBody>
      </p:sp>
      <p:sp>
        <p:nvSpPr>
          <p:cNvPr id="13" name="anim2-390"/>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391"/>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392"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393"/>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Messages</a:t>
            </a:r>
            <a:endParaRPr lang="en-US" sz="1500" dirty="0"/>
          </a:p>
          <a:p>
            <a:pPr indent="0" marL="0">
              <a:buNone/>
            </a:pPr>
            <a:r>
              <a:rPr lang="en-US" sz="1400" dirty="0">
                <a:solidFill>
                  <a:schemeClr val="tx1"/>
                </a:solidFill>
              </a:rPr>
              <a:t>Envoi d'e-mails et de SMS aux clients.</a:t>
            </a:r>
            <a:endParaRPr lang="en-US" sz="1500" dirty="0"/>
          </a:p>
        </p:txBody>
      </p:sp>
      <p:sp>
        <p:nvSpPr>
          <p:cNvPr id="17" name="anim3-394"/>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395"/>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396"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397"/>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Réservations et factures</a:t>
            </a:r>
            <a:endParaRPr lang="en-US" sz="1500" dirty="0"/>
          </a:p>
          <a:p>
            <a:pPr indent="0" marL="0">
              <a:buNone/>
            </a:pPr>
            <a:r>
              <a:rPr lang="en-US" sz="1400" dirty="0">
                <a:solidFill>
                  <a:schemeClr val="tx1"/>
                </a:solidFill>
              </a:rPr>
              <a:t>Numéros des réservations, réglage des factures.</a:t>
            </a:r>
            <a:endParaRPr lang="en-US" sz="1500" dirty="0"/>
          </a:p>
        </p:txBody>
      </p:sp>
      <p:sp>
        <p:nvSpPr>
          <p:cNvPr id="21" name="anim4-398"/>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399"/>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400"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401"/>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Copies de sécurité</a:t>
            </a:r>
            <a:endParaRPr lang="en-US" sz="1500" dirty="0"/>
          </a:p>
          <a:p>
            <a:pPr indent="0" marL="0">
              <a:buNone/>
            </a:pPr>
            <a:r>
              <a:rPr lang="en-US" sz="1400" dirty="0">
                <a:solidFill>
                  <a:schemeClr val="tx1"/>
                </a:solidFill>
              </a:rPr>
              <a:t>Une copie de toutes les informations en un clic.</a:t>
            </a:r>
            <a:endParaRPr lang="en-US" sz="1500" dirty="0"/>
          </a:p>
        </p:txBody>
      </p:sp>
      <p:sp>
        <p:nvSpPr>
          <p:cNvPr id="25" name="anim5-402"/>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403"/>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À quoi ça sert</a:t>
            </a:r>
            <a:endParaRPr lang="en-US" sz="1800" dirty="0"/>
          </a:p>
        </p:txBody>
      </p:sp>
      <p:pic>
        <p:nvPicPr>
          <p:cNvPr id="27" name="anim6-404"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405"/>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Documents aux couleurs de l'entreprise</a:t>
            </a:r>
            <a:endParaRPr lang="en-US" sz="1400" dirty="0"/>
          </a:p>
        </p:txBody>
      </p:sp>
      <p:pic>
        <p:nvPicPr>
          <p:cNvPr id="29" name="anim7-406"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407"/>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Les clients sont prévenus tout seuls</a:t>
            </a:r>
            <a:endParaRPr lang="en-US" sz="1400" dirty="0"/>
          </a:p>
        </p:txBody>
      </p:sp>
      <p:pic>
        <p:nvPicPr>
          <p:cNvPr id="31" name="anim8-408"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409"/>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Rien n'est perdu grâce aux copies</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nchor="ctr"/>
          <a:lstStyle/>
          <a:p>
            <a:pPr algn="l" indent="0" marL="0">
              <a:buNone/>
            </a:pPr>
            <a:r>
              <a:rPr lang="en-US" sz="3200" b="1" dirty="0">
                <a:solidFill>
                  <a:schemeClr val="bg1"/>
                </a:solidFill>
              </a:rPr>
              <a:t>Bien utiliser le logiciel : les bons réflexes</a:t>
            </a:r>
            <a:endParaRPr lang="en-US" sz="3200" dirty="0"/>
          </a:p>
        </p:txBody>
      </p:sp>
      <p:sp>
        <p:nvSpPr>
          <p:cNvPr id="3" name="anim1-410"/>
          <p:cNvSpPr txBox="1"/>
          <p:nvPr/>
        </p:nvSpPr>
        <p:spPr>
          <a:xfrm>
            <a:off x="731520" y="1508760"/>
            <a:ext cx="10515600" cy="457200"/>
          </a:xfrm>
          <a:prstGeom prst="rect">
            <a:avLst/>
          </a:prstGeom>
          <a:noFill/>
          <a:ln/>
        </p:spPr>
        <p:txBody>
          <a:bodyPr wrap="square" rtlCol="0" anchor="t"/>
          <a:lstStyle/>
          <a:p>
            <a:pPr indent="0" marL="0">
              <a:buNone/>
            </a:pPr>
            <a:r>
              <a:rPr lang="en-US" sz="1800" dirty="0">
                <a:solidFill>
                  <a:schemeClr val="accent2"/>
                </a:solidFill>
              </a:rPr>
              <a:t>Le logiciel protège nos informations, mais la sécurité dépend surtout de chacun de nous.</a:t>
            </a:r>
            <a:endParaRPr lang="en-US" sz="1800" dirty="0"/>
          </a:p>
        </p:txBody>
      </p:sp>
      <p:sp>
        <p:nvSpPr>
          <p:cNvPr id="4" name="anim2-411"/>
          <p:cNvSpPr/>
          <p:nvPr/>
        </p:nvSpPr>
        <p:spPr>
          <a:xfrm>
            <a:off x="731520" y="2331720"/>
            <a:ext cx="3337560" cy="3291840"/>
          </a:xfrm>
          <a:prstGeom prst="roundRect">
            <a:avLst>
              <a:gd name="adj" fmla="val 4167"/>
            </a:avLst>
          </a:prstGeom>
          <a:solidFill>
            <a:srgbClr val="28356B"/>
          </a:solidFill>
          <a:ln w="12700">
            <a:solidFill>
              <a:srgbClr val="4A5C9A"/>
            </a:solidFill>
            <a:prstDash val="solid"/>
          </a:ln>
        </p:spPr>
      </p:sp>
      <p:sp>
        <p:nvSpPr>
          <p:cNvPr id="5" name="anim2-412"/>
          <p:cNvSpPr/>
          <p:nvPr/>
        </p:nvSpPr>
        <p:spPr>
          <a:xfrm>
            <a:off x="1892808" y="2606040"/>
            <a:ext cx="1005840" cy="1005840"/>
          </a:xfrm>
          <a:prstGeom prst="ellipse">
            <a:avLst/>
          </a:prstGeom>
          <a:solidFill>
            <a:schemeClr val="bg1"/>
          </a:solidFill>
          <a:ln w="50800">
            <a:solidFill>
              <a:srgbClr val="3A4A82"/>
            </a:solidFill>
            <a:prstDash val="solid"/>
          </a:ln>
        </p:spPr>
      </p:sp>
      <p:pic>
        <p:nvPicPr>
          <p:cNvPr id="6" name="anim2-413" descr="preencoded.png">    </p:cNvPr>
          <p:cNvPicPr>
            <a:picLocks noChangeAspect="1"/>
          </p:cNvPicPr>
          <p:nvPr/>
        </p:nvPicPr>
        <p:blipFill>
          <a:blip r:embed="rId1"/>
          <a:stretch>
            <a:fillRect/>
          </a:stretch>
        </p:blipFill>
        <p:spPr>
          <a:xfrm>
            <a:off x="2148840" y="2862072"/>
            <a:ext cx="493776" cy="493776"/>
          </a:xfrm>
          <a:prstGeom prst="rect">
            <a:avLst/>
          </a:prstGeom>
        </p:spPr>
      </p:pic>
      <p:sp>
        <p:nvSpPr>
          <p:cNvPr id="7" name="anim2-414"/>
          <p:cNvSpPr txBox="1"/>
          <p:nvPr/>
        </p:nvSpPr>
        <p:spPr>
          <a:xfrm>
            <a:off x="960120" y="3794760"/>
            <a:ext cx="2880360" cy="1645920"/>
          </a:xfrm>
          <a:prstGeom prst="rect">
            <a:avLst/>
          </a:prstGeom>
          <a:noFill/>
          <a:ln/>
        </p:spPr>
        <p:txBody>
          <a:bodyPr wrap="square" rtlCol="0" anchor="t"/>
          <a:lstStyle/>
          <a:p>
            <a:pPr algn="ctr" indent="0" marL="0">
              <a:spcAft>
                <a:spcPts val="600"/>
              </a:spcAft>
              <a:buNone/>
            </a:pPr>
            <a:r>
              <a:rPr lang="en-US" sz="2100" b="1" dirty="0">
                <a:solidFill>
                  <a:schemeClr val="bg1"/>
                </a:solidFill>
              </a:rPr>
              <a:t>Sécurité</a:t>
            </a:r>
            <a:endParaRPr lang="en-US" sz="1500" dirty="0"/>
          </a:p>
          <a:p>
            <a:pPr algn="ctr" indent="0" marL="0">
              <a:buNone/>
            </a:pPr>
            <a:r>
              <a:rPr lang="en-US" sz="1500" dirty="0">
                <a:solidFill>
                  <a:schemeClr val="accent2"/>
                </a:solidFill>
              </a:rPr>
              <a:t>Protéger son compte et l'accès au logiciel.</a:t>
            </a:r>
            <a:endParaRPr lang="en-US" sz="1500" dirty="0"/>
          </a:p>
        </p:txBody>
      </p:sp>
      <p:sp>
        <p:nvSpPr>
          <p:cNvPr id="8" name="anim3-415"/>
          <p:cNvSpPr/>
          <p:nvPr/>
        </p:nvSpPr>
        <p:spPr>
          <a:xfrm>
            <a:off x="4343400" y="2331720"/>
            <a:ext cx="3337560" cy="3291840"/>
          </a:xfrm>
          <a:prstGeom prst="roundRect">
            <a:avLst>
              <a:gd name="adj" fmla="val 4167"/>
            </a:avLst>
          </a:prstGeom>
          <a:solidFill>
            <a:srgbClr val="28356B"/>
          </a:solidFill>
          <a:ln w="12700">
            <a:solidFill>
              <a:srgbClr val="4A5C9A"/>
            </a:solidFill>
            <a:prstDash val="solid"/>
          </a:ln>
        </p:spPr>
      </p:sp>
      <p:sp>
        <p:nvSpPr>
          <p:cNvPr id="9" name="anim3-416"/>
          <p:cNvSpPr/>
          <p:nvPr/>
        </p:nvSpPr>
        <p:spPr>
          <a:xfrm>
            <a:off x="5504688" y="2606040"/>
            <a:ext cx="1005840" cy="1005840"/>
          </a:xfrm>
          <a:prstGeom prst="ellipse">
            <a:avLst/>
          </a:prstGeom>
          <a:solidFill>
            <a:schemeClr val="bg1"/>
          </a:solidFill>
          <a:ln w="50800">
            <a:solidFill>
              <a:srgbClr val="3A4A82"/>
            </a:solidFill>
            <a:prstDash val="solid"/>
          </a:ln>
        </p:spPr>
      </p:sp>
      <p:pic>
        <p:nvPicPr>
          <p:cNvPr id="10" name="anim3-417" descr="preencoded.png">    </p:cNvPr>
          <p:cNvPicPr>
            <a:picLocks noChangeAspect="1"/>
          </p:cNvPicPr>
          <p:nvPr/>
        </p:nvPicPr>
        <p:blipFill>
          <a:blip r:embed="rId2"/>
          <a:stretch>
            <a:fillRect/>
          </a:stretch>
        </p:blipFill>
        <p:spPr>
          <a:xfrm>
            <a:off x="5760720" y="2862072"/>
            <a:ext cx="493776" cy="493776"/>
          </a:xfrm>
          <a:prstGeom prst="rect">
            <a:avLst/>
          </a:prstGeom>
        </p:spPr>
      </p:pic>
      <p:sp>
        <p:nvSpPr>
          <p:cNvPr id="11" name="anim3-418"/>
          <p:cNvSpPr txBox="1"/>
          <p:nvPr/>
        </p:nvSpPr>
        <p:spPr>
          <a:xfrm>
            <a:off x="4572000" y="3794760"/>
            <a:ext cx="2880360" cy="1645920"/>
          </a:xfrm>
          <a:prstGeom prst="rect">
            <a:avLst/>
          </a:prstGeom>
          <a:noFill/>
          <a:ln/>
        </p:spPr>
        <p:txBody>
          <a:bodyPr wrap="square" rtlCol="0" anchor="t"/>
          <a:lstStyle/>
          <a:p>
            <a:pPr algn="ctr" indent="0" marL="0">
              <a:spcAft>
                <a:spcPts val="600"/>
              </a:spcAft>
              <a:buNone/>
            </a:pPr>
            <a:r>
              <a:rPr lang="en-US" sz="2100" b="1" dirty="0">
                <a:solidFill>
                  <a:schemeClr val="bg1"/>
                </a:solidFill>
              </a:rPr>
              <a:t>Confidentialité</a:t>
            </a:r>
            <a:endParaRPr lang="en-US" sz="1500" dirty="0"/>
          </a:p>
          <a:p>
            <a:pPr algn="ctr" indent="0" marL="0">
              <a:buNone/>
            </a:pPr>
            <a:r>
              <a:rPr lang="en-US" sz="1500" dirty="0">
                <a:solidFill>
                  <a:schemeClr val="accent2"/>
                </a:solidFill>
              </a:rPr>
              <a:t>Garder pour nous les informations des clients, des chauffeurs et de l'entreprise.</a:t>
            </a:r>
            <a:endParaRPr lang="en-US" sz="1500" dirty="0"/>
          </a:p>
        </p:txBody>
      </p:sp>
      <p:sp>
        <p:nvSpPr>
          <p:cNvPr id="12" name="anim4-419"/>
          <p:cNvSpPr/>
          <p:nvPr/>
        </p:nvSpPr>
        <p:spPr>
          <a:xfrm>
            <a:off x="7955280" y="2331720"/>
            <a:ext cx="3337560" cy="3291840"/>
          </a:xfrm>
          <a:prstGeom prst="roundRect">
            <a:avLst>
              <a:gd name="adj" fmla="val 4167"/>
            </a:avLst>
          </a:prstGeom>
          <a:solidFill>
            <a:srgbClr val="28356B"/>
          </a:solidFill>
          <a:ln w="12700">
            <a:solidFill>
              <a:srgbClr val="4A5C9A"/>
            </a:solidFill>
            <a:prstDash val="solid"/>
          </a:ln>
        </p:spPr>
      </p:sp>
      <p:sp>
        <p:nvSpPr>
          <p:cNvPr id="13" name="anim4-420"/>
          <p:cNvSpPr/>
          <p:nvPr/>
        </p:nvSpPr>
        <p:spPr>
          <a:xfrm>
            <a:off x="9116568" y="2606040"/>
            <a:ext cx="1005840" cy="1005840"/>
          </a:xfrm>
          <a:prstGeom prst="ellipse">
            <a:avLst/>
          </a:prstGeom>
          <a:solidFill>
            <a:schemeClr val="bg1"/>
          </a:solidFill>
          <a:ln w="50800">
            <a:solidFill>
              <a:srgbClr val="3A4A82"/>
            </a:solidFill>
            <a:prstDash val="solid"/>
          </a:ln>
        </p:spPr>
      </p:sp>
      <p:pic>
        <p:nvPicPr>
          <p:cNvPr id="14" name="anim4-421" descr="preencoded.png">    </p:cNvPr>
          <p:cNvPicPr>
            <a:picLocks noChangeAspect="1"/>
          </p:cNvPicPr>
          <p:nvPr/>
        </p:nvPicPr>
        <p:blipFill>
          <a:blip r:embed="rId3"/>
          <a:stretch>
            <a:fillRect/>
          </a:stretch>
        </p:blipFill>
        <p:spPr>
          <a:xfrm>
            <a:off x="9372600" y="2862072"/>
            <a:ext cx="493776" cy="493776"/>
          </a:xfrm>
          <a:prstGeom prst="rect">
            <a:avLst/>
          </a:prstGeom>
        </p:spPr>
      </p:pic>
      <p:sp>
        <p:nvSpPr>
          <p:cNvPr id="15" name="anim4-422"/>
          <p:cNvSpPr txBox="1"/>
          <p:nvPr/>
        </p:nvSpPr>
        <p:spPr>
          <a:xfrm>
            <a:off x="8183880" y="3794760"/>
            <a:ext cx="2880360" cy="1645920"/>
          </a:xfrm>
          <a:prstGeom prst="rect">
            <a:avLst/>
          </a:prstGeom>
          <a:noFill/>
          <a:ln/>
        </p:spPr>
        <p:txBody>
          <a:bodyPr wrap="square" rtlCol="0" anchor="t"/>
          <a:lstStyle/>
          <a:p>
            <a:pPr algn="ctr" indent="0" marL="0">
              <a:spcAft>
                <a:spcPts val="600"/>
              </a:spcAft>
              <a:buNone/>
            </a:pPr>
            <a:r>
              <a:rPr lang="en-US" sz="2100" b="1" dirty="0">
                <a:solidFill>
                  <a:schemeClr val="bg1"/>
                </a:solidFill>
              </a:rPr>
              <a:t>Bien noter</a:t>
            </a:r>
            <a:endParaRPr lang="en-US" sz="1500" dirty="0"/>
          </a:p>
          <a:p>
            <a:pPr algn="ctr" indent="0" marL="0">
              <a:buNone/>
            </a:pPr>
            <a:r>
              <a:rPr lang="en-US" sz="1500" dirty="0">
                <a:solidFill>
                  <a:schemeClr val="accent2"/>
                </a:solidFill>
              </a:rPr>
              <a:t>Noter juste, complet et tout de suite, pour des chiffres justes.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cond evt="onBegin" delay="0">
                          <p:tn val="2"/>
                        </p:cond>
                      </p:stCondLst>
                      <p:childTnLst>
                        <p:par>
                          <p:cTn id="43"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2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nodeType="withEffect">
                                  <p:stCondLst>
                                    <p:cond delay="2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nodeType="withEffect">
                                  <p:stCondLst>
                                    <p:cond delay="2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nodeType="withEffect">
                                  <p:stCondLst>
                                    <p:cond delay="2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nodeType="withEffect">
                                  <p:stCondLst>
                                    <p:cond delay="5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nodeType="withEffect">
                                  <p:stCondLst>
                                    <p:cond delay="5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nodeType="withEffect">
                                  <p:stCondLst>
                                    <p:cond delay="5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nodeType="withEffect">
                                  <p:stCondLst>
                                    <p:cond delay="5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nodeType="withEffect">
                                  <p:stCondLst>
                                    <p:cond delay="7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nodeType="withEffect">
                                  <p:stCondLst>
                                    <p:cond delay="7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nodeType="withEffect">
                                  <p:stCondLst>
                                    <p:cond delay="7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nodeType="withEffect">
                                  <p:stCondLst>
                                    <p:cond delay="75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P spid="11" grpId="0" animBg="1"/>
      <p:bldP spid="1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Sécurité : protéger son compte</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LES BONS RÉFLEXES</a:t>
            </a:r>
            <a:endParaRPr lang="en-US" sz="1000" dirty="0"/>
          </a:p>
        </p:txBody>
      </p:sp>
      <p:sp>
        <p:nvSpPr>
          <p:cNvPr id="7" name="Text 4"/>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1700" dirty="0">
                <a:solidFill>
                  <a:schemeClr val="tx2"/>
                </a:solidFill>
              </a:rPr>
              <a:t>Votre compte, c'est votre signature : tout ce qui est fait avec est enregistré à votre nom.</a:t>
            </a:r>
            <a:endParaRPr lang="en-US" sz="1700" dirty="0"/>
          </a:p>
        </p:txBody>
      </p:sp>
      <p:sp>
        <p:nvSpPr>
          <p:cNvPr id="8" name="anim1-423"/>
          <p:cNvSpPr/>
          <p:nvPr/>
        </p:nvSpPr>
        <p:spPr>
          <a:xfrm>
            <a:off x="54864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424"/>
          <p:cNvSpPr txBox="1"/>
          <p:nvPr/>
        </p:nvSpPr>
        <p:spPr>
          <a:xfrm>
            <a:off x="822960" y="2103120"/>
            <a:ext cx="4937760" cy="457200"/>
          </a:xfrm>
          <a:prstGeom prst="rect">
            <a:avLst/>
          </a:prstGeom>
          <a:noFill/>
          <a:ln/>
        </p:spPr>
        <p:txBody>
          <a:bodyPr wrap="square" lIns="0" tIns="0" rIns="0" bIns="0" rtlCol="0" anchor="t"/>
          <a:lstStyle/>
          <a:p>
            <a:pPr indent="0" marL="0">
              <a:buNone/>
            </a:pPr>
            <a:r>
              <a:rPr lang="en-US" sz="1900" b="1" dirty="0">
                <a:solidFill>
                  <a:schemeClr val="accent3"/>
                </a:solidFill>
              </a:rPr>
              <a:t>À faire</a:t>
            </a:r>
            <a:endParaRPr lang="en-US" sz="1900" dirty="0"/>
          </a:p>
        </p:txBody>
      </p:sp>
      <p:pic>
        <p:nvPicPr>
          <p:cNvPr id="10" name="anim2-425" descr="preencoded.png">    </p:cNvPr>
          <p:cNvPicPr>
            <a:picLocks noChangeAspect="1"/>
          </p:cNvPicPr>
          <p:nvPr/>
        </p:nvPicPr>
        <p:blipFill>
          <a:blip r:embed="rId2"/>
          <a:stretch>
            <a:fillRect/>
          </a:stretch>
        </p:blipFill>
        <p:spPr>
          <a:xfrm>
            <a:off x="822960" y="2734056"/>
            <a:ext cx="292608" cy="292608"/>
          </a:xfrm>
          <a:prstGeom prst="rect">
            <a:avLst/>
          </a:prstGeom>
        </p:spPr>
      </p:pic>
      <p:sp>
        <p:nvSpPr>
          <p:cNvPr id="11" name="anim2-426"/>
          <p:cNvSpPr txBox="1"/>
          <p:nvPr/>
        </p:nvSpPr>
        <p:spPr>
          <a:xfrm>
            <a:off x="128016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Choisir un mot de passe long et personnel</a:t>
            </a:r>
            <a:endParaRPr lang="en-US" sz="1500" dirty="0"/>
          </a:p>
        </p:txBody>
      </p:sp>
      <p:pic>
        <p:nvPicPr>
          <p:cNvPr id="12" name="anim3-427" descr="preencoded.png">    </p:cNvPr>
          <p:cNvPicPr>
            <a:picLocks noChangeAspect="1"/>
          </p:cNvPicPr>
          <p:nvPr/>
        </p:nvPicPr>
        <p:blipFill>
          <a:blip r:embed="rId3"/>
          <a:stretch>
            <a:fillRect/>
          </a:stretch>
        </p:blipFill>
        <p:spPr>
          <a:xfrm>
            <a:off x="822960" y="3447288"/>
            <a:ext cx="292608" cy="292608"/>
          </a:xfrm>
          <a:prstGeom prst="rect">
            <a:avLst/>
          </a:prstGeom>
        </p:spPr>
      </p:pic>
      <p:sp>
        <p:nvSpPr>
          <p:cNvPr id="13" name="anim3-428"/>
          <p:cNvSpPr txBox="1"/>
          <p:nvPr/>
        </p:nvSpPr>
        <p:spPr>
          <a:xfrm>
            <a:off x="128016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Le changer dès qu'il a pu être vu</a:t>
            </a:r>
            <a:endParaRPr lang="en-US" sz="1500" dirty="0"/>
          </a:p>
        </p:txBody>
      </p:sp>
      <p:pic>
        <p:nvPicPr>
          <p:cNvPr id="14" name="anim4-429" descr="preencoded.png">    </p:cNvPr>
          <p:cNvPicPr>
            <a:picLocks noChangeAspect="1"/>
          </p:cNvPicPr>
          <p:nvPr/>
        </p:nvPicPr>
        <p:blipFill>
          <a:blip r:embed="rId4"/>
          <a:stretch>
            <a:fillRect/>
          </a:stretch>
        </p:blipFill>
        <p:spPr>
          <a:xfrm>
            <a:off x="822960" y="4160520"/>
            <a:ext cx="292608" cy="292608"/>
          </a:xfrm>
          <a:prstGeom prst="rect">
            <a:avLst/>
          </a:prstGeom>
        </p:spPr>
      </p:pic>
      <p:sp>
        <p:nvSpPr>
          <p:cNvPr id="15" name="anim4-430"/>
          <p:cNvSpPr txBox="1"/>
          <p:nvPr/>
        </p:nvSpPr>
        <p:spPr>
          <a:xfrm>
            <a:off x="128016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Verrouiller son ordinateur quand on s'absente</a:t>
            </a:r>
            <a:endParaRPr lang="en-US" sz="1500" dirty="0"/>
          </a:p>
        </p:txBody>
      </p:sp>
      <p:pic>
        <p:nvPicPr>
          <p:cNvPr id="16" name="anim5-431" descr="preencoded.png">    </p:cNvPr>
          <p:cNvPicPr>
            <a:picLocks noChangeAspect="1"/>
          </p:cNvPicPr>
          <p:nvPr/>
        </p:nvPicPr>
        <p:blipFill>
          <a:blip r:embed="rId5"/>
          <a:stretch>
            <a:fillRect/>
          </a:stretch>
        </p:blipFill>
        <p:spPr>
          <a:xfrm>
            <a:off x="822960" y="4873752"/>
            <a:ext cx="292608" cy="292608"/>
          </a:xfrm>
          <a:prstGeom prst="rect">
            <a:avLst/>
          </a:prstGeom>
        </p:spPr>
      </p:pic>
      <p:sp>
        <p:nvSpPr>
          <p:cNvPr id="17" name="anim5-432"/>
          <p:cNvSpPr txBox="1"/>
          <p:nvPr/>
        </p:nvSpPr>
        <p:spPr>
          <a:xfrm>
            <a:off x="128016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Se déconnecter sur un ordinateur partagé</a:t>
            </a:r>
            <a:endParaRPr lang="en-US" sz="1500" dirty="0"/>
          </a:p>
        </p:txBody>
      </p:sp>
      <p:sp>
        <p:nvSpPr>
          <p:cNvPr id="18" name="anim7-433"/>
          <p:cNvSpPr/>
          <p:nvPr/>
        </p:nvSpPr>
        <p:spPr>
          <a:xfrm>
            <a:off x="617220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9" name="anim7-434"/>
          <p:cNvSpPr txBox="1"/>
          <p:nvPr/>
        </p:nvSpPr>
        <p:spPr>
          <a:xfrm>
            <a:off x="6446520" y="2103120"/>
            <a:ext cx="4937760" cy="457200"/>
          </a:xfrm>
          <a:prstGeom prst="rect">
            <a:avLst/>
          </a:prstGeom>
          <a:noFill/>
          <a:ln/>
        </p:spPr>
        <p:txBody>
          <a:bodyPr wrap="square" lIns="0" tIns="0" rIns="0" bIns="0" rtlCol="0" anchor="t"/>
          <a:lstStyle/>
          <a:p>
            <a:pPr indent="0" marL="0">
              <a:buNone/>
            </a:pPr>
            <a:r>
              <a:rPr lang="en-US" sz="1900" b="1" dirty="0">
                <a:solidFill>
                  <a:schemeClr val="accent5"/>
                </a:solidFill>
              </a:rPr>
              <a:t>À éviter</a:t>
            </a:r>
            <a:endParaRPr lang="en-US" sz="1900" dirty="0"/>
          </a:p>
        </p:txBody>
      </p:sp>
      <p:pic>
        <p:nvPicPr>
          <p:cNvPr id="20" name="anim8-435" descr="preencoded.png">    </p:cNvPr>
          <p:cNvPicPr>
            <a:picLocks noChangeAspect="1"/>
          </p:cNvPicPr>
          <p:nvPr/>
        </p:nvPicPr>
        <p:blipFill>
          <a:blip r:embed="rId6"/>
          <a:stretch>
            <a:fillRect/>
          </a:stretch>
        </p:blipFill>
        <p:spPr>
          <a:xfrm>
            <a:off x="6446520" y="2734056"/>
            <a:ext cx="292608" cy="292608"/>
          </a:xfrm>
          <a:prstGeom prst="rect">
            <a:avLst/>
          </a:prstGeom>
        </p:spPr>
      </p:pic>
      <p:sp>
        <p:nvSpPr>
          <p:cNvPr id="21" name="anim8-436"/>
          <p:cNvSpPr txBox="1"/>
          <p:nvPr/>
        </p:nvSpPr>
        <p:spPr>
          <a:xfrm>
            <a:off x="690372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Prêter son mot de passe, même à un collègue pressé</a:t>
            </a:r>
            <a:endParaRPr lang="en-US" sz="1500" dirty="0"/>
          </a:p>
        </p:txBody>
      </p:sp>
      <p:pic>
        <p:nvPicPr>
          <p:cNvPr id="22" name="anim9-437" descr="preencoded.png">    </p:cNvPr>
          <p:cNvPicPr>
            <a:picLocks noChangeAspect="1"/>
          </p:cNvPicPr>
          <p:nvPr/>
        </p:nvPicPr>
        <p:blipFill>
          <a:blip r:embed="rId7"/>
          <a:stretch>
            <a:fillRect/>
          </a:stretch>
        </p:blipFill>
        <p:spPr>
          <a:xfrm>
            <a:off x="6446520" y="3447288"/>
            <a:ext cx="292608" cy="292608"/>
          </a:xfrm>
          <a:prstGeom prst="rect">
            <a:avLst/>
          </a:prstGeom>
        </p:spPr>
      </p:pic>
      <p:sp>
        <p:nvSpPr>
          <p:cNvPr id="23" name="anim9-438"/>
          <p:cNvSpPr txBox="1"/>
          <p:nvPr/>
        </p:nvSpPr>
        <p:spPr>
          <a:xfrm>
            <a:off x="690372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Noter son mot de passe sur un post-it</a:t>
            </a:r>
            <a:endParaRPr lang="en-US" sz="1500" dirty="0"/>
          </a:p>
        </p:txBody>
      </p:sp>
      <p:pic>
        <p:nvPicPr>
          <p:cNvPr id="24" name="anim10-439" descr="preencoded.png">    </p:cNvPr>
          <p:cNvPicPr>
            <a:picLocks noChangeAspect="1"/>
          </p:cNvPicPr>
          <p:nvPr/>
        </p:nvPicPr>
        <p:blipFill>
          <a:blip r:embed="rId8"/>
          <a:stretch>
            <a:fillRect/>
          </a:stretch>
        </p:blipFill>
        <p:spPr>
          <a:xfrm>
            <a:off x="6446520" y="4160520"/>
            <a:ext cx="292608" cy="292608"/>
          </a:xfrm>
          <a:prstGeom prst="rect">
            <a:avLst/>
          </a:prstGeom>
        </p:spPr>
      </p:pic>
      <p:sp>
        <p:nvSpPr>
          <p:cNvPr id="25" name="anim10-440"/>
          <p:cNvSpPr txBox="1"/>
          <p:nvPr/>
        </p:nvSpPr>
        <p:spPr>
          <a:xfrm>
            <a:off x="690372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Donner son mot de passe à quelqu'un qui le demande par message</a:t>
            </a:r>
            <a:endParaRPr lang="en-US" sz="1500" dirty="0"/>
          </a:p>
        </p:txBody>
      </p:sp>
      <p:pic>
        <p:nvPicPr>
          <p:cNvPr id="26" name="anim11-441" descr="preencoded.png">    </p:cNvPr>
          <p:cNvPicPr>
            <a:picLocks noChangeAspect="1"/>
          </p:cNvPicPr>
          <p:nvPr/>
        </p:nvPicPr>
        <p:blipFill>
          <a:blip r:embed="rId9"/>
          <a:stretch>
            <a:fillRect/>
          </a:stretch>
        </p:blipFill>
        <p:spPr>
          <a:xfrm>
            <a:off x="6446520" y="4873752"/>
            <a:ext cx="292608" cy="292608"/>
          </a:xfrm>
          <a:prstGeom prst="rect">
            <a:avLst/>
          </a:prstGeom>
        </p:spPr>
      </p:pic>
      <p:sp>
        <p:nvSpPr>
          <p:cNvPr id="27" name="anim11-442"/>
          <p:cNvSpPr txBox="1"/>
          <p:nvPr/>
        </p:nvSpPr>
        <p:spPr>
          <a:xfrm>
            <a:off x="690372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Se connecter sur un ordinateur ou un Wi-Fi qu'on ne connaît pas</a:t>
            </a:r>
            <a:endParaRPr lang="en-US" sz="1500" dirty="0"/>
          </a:p>
        </p:txBody>
      </p:sp>
      <p:sp>
        <p:nvSpPr>
          <p:cNvPr id="28" name="anim13-443"/>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300" b="1" dirty="0">
                <a:solidFill>
                  <a:schemeClr val="accent1"/>
                </a:solidFill>
              </a:rPr>
              <a:t>Dans le logiciel  </a:t>
            </a:r>
            <a:pPr indent="0" marL="0">
              <a:buNone/>
            </a:pPr>
            <a:r>
              <a:rPr lang="en-US" sz="1300" dirty="0">
                <a:solidFill>
                  <a:schemeClr val="tx2"/>
                </a:solidFill>
              </a:rPr>
              <a:t>le menu « Change Password » sert à changer son mot de passe.</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25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2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50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50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7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7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10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10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125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125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15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150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1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1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200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20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225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225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25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P spid="15" grpId="0" animBg="1"/>
      <p:bldP spid="17" grpId="0" animBg="1"/>
      <p:bldP spid="19" grpId="0" animBg="1"/>
      <p:bldP spid="21" grpId="0" animBg="1"/>
      <p:bldP spid="23" grpId="0" animBg="1"/>
      <p:bldP spid="25"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Confidentialité : protéger les informations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LES BONS RÉFLEXES</a:t>
            </a:r>
            <a:endParaRPr lang="en-US" sz="1000" dirty="0"/>
          </a:p>
        </p:txBody>
      </p:sp>
      <p:sp>
        <p:nvSpPr>
          <p:cNvPr id="7" name="Text 4"/>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1700" dirty="0">
                <a:solidFill>
                  <a:schemeClr val="tx2"/>
                </a:solidFill>
              </a:rPr>
              <a:t>Numéros des clients, permis des chauffeurs, salaires, chiffres de l'entreprise : ce sont des informations privées.</a:t>
            </a:r>
            <a:endParaRPr lang="en-US" sz="1700" dirty="0"/>
          </a:p>
        </p:txBody>
      </p:sp>
      <p:sp>
        <p:nvSpPr>
          <p:cNvPr id="8" name="anim1-444"/>
          <p:cNvSpPr/>
          <p:nvPr/>
        </p:nvSpPr>
        <p:spPr>
          <a:xfrm>
            <a:off x="54864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445"/>
          <p:cNvSpPr txBox="1"/>
          <p:nvPr/>
        </p:nvSpPr>
        <p:spPr>
          <a:xfrm>
            <a:off x="822960" y="2103120"/>
            <a:ext cx="4937760" cy="457200"/>
          </a:xfrm>
          <a:prstGeom prst="rect">
            <a:avLst/>
          </a:prstGeom>
          <a:noFill/>
          <a:ln/>
        </p:spPr>
        <p:txBody>
          <a:bodyPr wrap="square" lIns="0" tIns="0" rIns="0" bIns="0" rtlCol="0" anchor="t"/>
          <a:lstStyle/>
          <a:p>
            <a:pPr indent="0" marL="0">
              <a:buNone/>
            </a:pPr>
            <a:r>
              <a:rPr lang="en-US" sz="1900" b="1" dirty="0">
                <a:solidFill>
                  <a:schemeClr val="accent3"/>
                </a:solidFill>
              </a:rPr>
              <a:t>À faire</a:t>
            </a:r>
            <a:endParaRPr lang="en-US" sz="1900" dirty="0"/>
          </a:p>
        </p:txBody>
      </p:sp>
      <p:pic>
        <p:nvPicPr>
          <p:cNvPr id="10" name="anim2-446" descr="preencoded.png">    </p:cNvPr>
          <p:cNvPicPr>
            <a:picLocks noChangeAspect="1"/>
          </p:cNvPicPr>
          <p:nvPr/>
        </p:nvPicPr>
        <p:blipFill>
          <a:blip r:embed="rId2"/>
          <a:stretch>
            <a:fillRect/>
          </a:stretch>
        </p:blipFill>
        <p:spPr>
          <a:xfrm>
            <a:off x="822960" y="2734056"/>
            <a:ext cx="292608" cy="292608"/>
          </a:xfrm>
          <a:prstGeom prst="rect">
            <a:avLst/>
          </a:prstGeom>
        </p:spPr>
      </p:pic>
      <p:sp>
        <p:nvSpPr>
          <p:cNvPr id="11" name="anim2-447"/>
          <p:cNvSpPr txBox="1"/>
          <p:nvPr/>
        </p:nvSpPr>
        <p:spPr>
          <a:xfrm>
            <a:off x="128016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Consulter uniquement ce dont on a besoin</a:t>
            </a:r>
            <a:endParaRPr lang="en-US" sz="1500" dirty="0"/>
          </a:p>
        </p:txBody>
      </p:sp>
      <p:pic>
        <p:nvPicPr>
          <p:cNvPr id="12" name="anim3-448" descr="preencoded.png">    </p:cNvPr>
          <p:cNvPicPr>
            <a:picLocks noChangeAspect="1"/>
          </p:cNvPicPr>
          <p:nvPr/>
        </p:nvPicPr>
        <p:blipFill>
          <a:blip r:embed="rId3"/>
          <a:stretch>
            <a:fillRect/>
          </a:stretch>
        </p:blipFill>
        <p:spPr>
          <a:xfrm>
            <a:off x="822960" y="3447288"/>
            <a:ext cx="292608" cy="292608"/>
          </a:xfrm>
          <a:prstGeom prst="rect">
            <a:avLst/>
          </a:prstGeom>
        </p:spPr>
      </p:pic>
      <p:sp>
        <p:nvSpPr>
          <p:cNvPr id="13" name="anim3-449"/>
          <p:cNvSpPr txBox="1"/>
          <p:nvPr/>
        </p:nvSpPr>
        <p:spPr>
          <a:xfrm>
            <a:off x="128016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Garder les fichiers sortis du logiciel dans les dossiers de l'entreprise</a:t>
            </a:r>
            <a:endParaRPr lang="en-US" sz="1500" dirty="0"/>
          </a:p>
        </p:txBody>
      </p:sp>
      <p:pic>
        <p:nvPicPr>
          <p:cNvPr id="14" name="anim4-450" descr="preencoded.png">    </p:cNvPr>
          <p:cNvPicPr>
            <a:picLocks noChangeAspect="1"/>
          </p:cNvPicPr>
          <p:nvPr/>
        </p:nvPicPr>
        <p:blipFill>
          <a:blip r:embed="rId4"/>
          <a:stretch>
            <a:fillRect/>
          </a:stretch>
        </p:blipFill>
        <p:spPr>
          <a:xfrm>
            <a:off x="822960" y="4160520"/>
            <a:ext cx="292608" cy="292608"/>
          </a:xfrm>
          <a:prstGeom prst="rect">
            <a:avLst/>
          </a:prstGeom>
        </p:spPr>
      </p:pic>
      <p:sp>
        <p:nvSpPr>
          <p:cNvPr id="15" name="anim4-451"/>
          <p:cNvSpPr txBox="1"/>
          <p:nvPr/>
        </p:nvSpPr>
        <p:spPr>
          <a:xfrm>
            <a:off x="128016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Supprimer ces fichiers quand on n'en a plus besoin</a:t>
            </a:r>
            <a:endParaRPr lang="en-US" sz="1500" dirty="0"/>
          </a:p>
        </p:txBody>
      </p:sp>
      <p:pic>
        <p:nvPicPr>
          <p:cNvPr id="16" name="anim5-452" descr="preencoded.png">    </p:cNvPr>
          <p:cNvPicPr>
            <a:picLocks noChangeAspect="1"/>
          </p:cNvPicPr>
          <p:nvPr/>
        </p:nvPicPr>
        <p:blipFill>
          <a:blip r:embed="rId5"/>
          <a:stretch>
            <a:fillRect/>
          </a:stretch>
        </p:blipFill>
        <p:spPr>
          <a:xfrm>
            <a:off x="822960" y="4873752"/>
            <a:ext cx="292608" cy="292608"/>
          </a:xfrm>
          <a:prstGeom prst="rect">
            <a:avLst/>
          </a:prstGeom>
        </p:spPr>
      </p:pic>
      <p:sp>
        <p:nvSpPr>
          <p:cNvPr id="17" name="anim5-453"/>
          <p:cNvSpPr txBox="1"/>
          <p:nvPr/>
        </p:nvSpPr>
        <p:spPr>
          <a:xfrm>
            <a:off x="128016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Demander l'avis de son responsable en cas de doute</a:t>
            </a:r>
            <a:endParaRPr lang="en-US" sz="1500" dirty="0"/>
          </a:p>
        </p:txBody>
      </p:sp>
      <p:sp>
        <p:nvSpPr>
          <p:cNvPr id="18" name="anim7-454"/>
          <p:cNvSpPr/>
          <p:nvPr/>
        </p:nvSpPr>
        <p:spPr>
          <a:xfrm>
            <a:off x="617220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9" name="anim7-455"/>
          <p:cNvSpPr txBox="1"/>
          <p:nvPr/>
        </p:nvSpPr>
        <p:spPr>
          <a:xfrm>
            <a:off x="6446520" y="2103120"/>
            <a:ext cx="4937760" cy="457200"/>
          </a:xfrm>
          <a:prstGeom prst="rect">
            <a:avLst/>
          </a:prstGeom>
          <a:noFill/>
          <a:ln/>
        </p:spPr>
        <p:txBody>
          <a:bodyPr wrap="square" lIns="0" tIns="0" rIns="0" bIns="0" rtlCol="0" anchor="t"/>
          <a:lstStyle/>
          <a:p>
            <a:pPr indent="0" marL="0">
              <a:buNone/>
            </a:pPr>
            <a:r>
              <a:rPr lang="en-US" sz="1900" b="1" dirty="0">
                <a:solidFill>
                  <a:schemeClr val="accent5"/>
                </a:solidFill>
              </a:rPr>
              <a:t>À éviter</a:t>
            </a:r>
            <a:endParaRPr lang="en-US" sz="1900" dirty="0"/>
          </a:p>
        </p:txBody>
      </p:sp>
      <p:pic>
        <p:nvPicPr>
          <p:cNvPr id="20" name="anim8-456" descr="preencoded.png">    </p:cNvPr>
          <p:cNvPicPr>
            <a:picLocks noChangeAspect="1"/>
          </p:cNvPicPr>
          <p:nvPr/>
        </p:nvPicPr>
        <p:blipFill>
          <a:blip r:embed="rId6"/>
          <a:stretch>
            <a:fillRect/>
          </a:stretch>
        </p:blipFill>
        <p:spPr>
          <a:xfrm>
            <a:off x="6446520" y="2734056"/>
            <a:ext cx="292608" cy="292608"/>
          </a:xfrm>
          <a:prstGeom prst="rect">
            <a:avLst/>
          </a:prstGeom>
        </p:spPr>
      </p:pic>
      <p:sp>
        <p:nvSpPr>
          <p:cNvPr id="21" name="anim8-457"/>
          <p:cNvSpPr txBox="1"/>
          <p:nvPr/>
        </p:nvSpPr>
        <p:spPr>
          <a:xfrm>
            <a:off x="690372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Envoyer une liste ou une photo de l'écran sur WhatsApp</a:t>
            </a:r>
            <a:endParaRPr lang="en-US" sz="1500" dirty="0"/>
          </a:p>
        </p:txBody>
      </p:sp>
      <p:pic>
        <p:nvPicPr>
          <p:cNvPr id="22" name="anim9-458" descr="preencoded.png">    </p:cNvPr>
          <p:cNvPicPr>
            <a:picLocks noChangeAspect="1"/>
          </p:cNvPicPr>
          <p:nvPr/>
        </p:nvPicPr>
        <p:blipFill>
          <a:blip r:embed="rId7"/>
          <a:stretch>
            <a:fillRect/>
          </a:stretch>
        </p:blipFill>
        <p:spPr>
          <a:xfrm>
            <a:off x="6446520" y="3447288"/>
            <a:ext cx="292608" cy="292608"/>
          </a:xfrm>
          <a:prstGeom prst="rect">
            <a:avLst/>
          </a:prstGeom>
        </p:spPr>
      </p:pic>
      <p:sp>
        <p:nvSpPr>
          <p:cNvPr id="23" name="anim9-459"/>
          <p:cNvSpPr txBox="1"/>
          <p:nvPr/>
        </p:nvSpPr>
        <p:spPr>
          <a:xfrm>
            <a:off x="690372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Communiquer les coordonnées d'un client ou d'un chauffeur</a:t>
            </a:r>
            <a:endParaRPr lang="en-US" sz="1500" dirty="0"/>
          </a:p>
        </p:txBody>
      </p:sp>
      <p:pic>
        <p:nvPicPr>
          <p:cNvPr id="24" name="anim10-460" descr="preencoded.png">    </p:cNvPr>
          <p:cNvPicPr>
            <a:picLocks noChangeAspect="1"/>
          </p:cNvPicPr>
          <p:nvPr/>
        </p:nvPicPr>
        <p:blipFill>
          <a:blip r:embed="rId8"/>
          <a:stretch>
            <a:fillRect/>
          </a:stretch>
        </p:blipFill>
        <p:spPr>
          <a:xfrm>
            <a:off x="6446520" y="4160520"/>
            <a:ext cx="292608" cy="292608"/>
          </a:xfrm>
          <a:prstGeom prst="rect">
            <a:avLst/>
          </a:prstGeom>
        </p:spPr>
      </p:pic>
      <p:sp>
        <p:nvSpPr>
          <p:cNvPr id="25" name="anim10-461"/>
          <p:cNvSpPr txBox="1"/>
          <p:nvPr/>
        </p:nvSpPr>
        <p:spPr>
          <a:xfrm>
            <a:off x="690372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Laisser un document imprimé traîner</a:t>
            </a:r>
            <a:endParaRPr lang="en-US" sz="1500" dirty="0"/>
          </a:p>
        </p:txBody>
      </p:sp>
      <p:pic>
        <p:nvPicPr>
          <p:cNvPr id="26" name="anim11-462" descr="preencoded.png">    </p:cNvPr>
          <p:cNvPicPr>
            <a:picLocks noChangeAspect="1"/>
          </p:cNvPicPr>
          <p:nvPr/>
        </p:nvPicPr>
        <p:blipFill>
          <a:blip r:embed="rId9"/>
          <a:stretch>
            <a:fillRect/>
          </a:stretch>
        </p:blipFill>
        <p:spPr>
          <a:xfrm>
            <a:off x="6446520" y="4873752"/>
            <a:ext cx="292608" cy="292608"/>
          </a:xfrm>
          <a:prstGeom prst="rect">
            <a:avLst/>
          </a:prstGeom>
        </p:spPr>
      </p:pic>
      <p:sp>
        <p:nvSpPr>
          <p:cNvPr id="27" name="anim11-463"/>
          <p:cNvSpPr txBox="1"/>
          <p:nvPr/>
        </p:nvSpPr>
        <p:spPr>
          <a:xfrm>
            <a:off x="690372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Parler des chiffres de l'entreprise à l'extérieur</a:t>
            </a:r>
            <a:endParaRPr lang="en-US" sz="1500" dirty="0"/>
          </a:p>
        </p:txBody>
      </p:sp>
      <p:sp>
        <p:nvSpPr>
          <p:cNvPr id="28" name="anim13-464"/>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300" b="1" dirty="0">
                <a:solidFill>
                  <a:schemeClr val="accent1"/>
                </a:solidFill>
              </a:rPr>
              <a:t>Dans le logiciel  </a:t>
            </a:r>
            <a:pPr indent="0" marL="0">
              <a:buNone/>
            </a:pPr>
            <a:r>
              <a:rPr lang="en-US" sz="1300" dirty="0">
                <a:solidFill>
                  <a:schemeClr val="tx2"/>
                </a:solidFill>
              </a:rPr>
              <a:t>chacun voit seulement ce que son compte permet ; on sort une liste (Excel, PDF) seulement si le travail le demande.</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25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2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50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50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7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7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10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10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125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125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15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150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1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1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200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20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225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225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25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P spid="15" grpId="0" animBg="1"/>
      <p:bldP spid="17" grpId="0" animBg="1"/>
      <p:bldP spid="19" grpId="0" animBg="1"/>
      <p:bldP spid="21" grpId="0" animBg="1"/>
      <p:bldP spid="23" grpId="0" animBg="1"/>
      <p:bldP spid="25" grpId="0" animBg="1"/>
      <p:bldP spid="27"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Bien noter : des informations justes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LES BONS RÉFLEXES</a:t>
            </a:r>
            <a:endParaRPr lang="en-US" sz="1000" dirty="0"/>
          </a:p>
        </p:txBody>
      </p:sp>
      <p:sp>
        <p:nvSpPr>
          <p:cNvPr id="7" name="Text 4"/>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1700" dirty="0">
                <a:solidFill>
                  <a:schemeClr val="tx2"/>
                </a:solidFill>
              </a:rPr>
              <a:t>Les chiffres du logiciel sont justes seulement si ce qu'on note est juste.</a:t>
            </a:r>
            <a:endParaRPr lang="en-US" sz="1700" dirty="0"/>
          </a:p>
        </p:txBody>
      </p:sp>
      <p:sp>
        <p:nvSpPr>
          <p:cNvPr id="8" name="anim1-465"/>
          <p:cNvSpPr/>
          <p:nvPr/>
        </p:nvSpPr>
        <p:spPr>
          <a:xfrm>
            <a:off x="54864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466"/>
          <p:cNvSpPr txBox="1"/>
          <p:nvPr/>
        </p:nvSpPr>
        <p:spPr>
          <a:xfrm>
            <a:off x="822960" y="2103120"/>
            <a:ext cx="4937760" cy="457200"/>
          </a:xfrm>
          <a:prstGeom prst="rect">
            <a:avLst/>
          </a:prstGeom>
          <a:noFill/>
          <a:ln/>
        </p:spPr>
        <p:txBody>
          <a:bodyPr wrap="square" lIns="0" tIns="0" rIns="0" bIns="0" rtlCol="0" anchor="t"/>
          <a:lstStyle/>
          <a:p>
            <a:pPr indent="0" marL="0">
              <a:buNone/>
            </a:pPr>
            <a:r>
              <a:rPr lang="en-US" sz="1900" b="1" dirty="0">
                <a:solidFill>
                  <a:schemeClr val="accent3"/>
                </a:solidFill>
              </a:rPr>
              <a:t>À faire</a:t>
            </a:r>
            <a:endParaRPr lang="en-US" sz="1900" dirty="0"/>
          </a:p>
        </p:txBody>
      </p:sp>
      <p:pic>
        <p:nvPicPr>
          <p:cNvPr id="10" name="anim2-467" descr="preencoded.png">    </p:cNvPr>
          <p:cNvPicPr>
            <a:picLocks noChangeAspect="1"/>
          </p:cNvPicPr>
          <p:nvPr/>
        </p:nvPicPr>
        <p:blipFill>
          <a:blip r:embed="rId2"/>
          <a:stretch>
            <a:fillRect/>
          </a:stretch>
        </p:blipFill>
        <p:spPr>
          <a:xfrm>
            <a:off x="822960" y="2734056"/>
            <a:ext cx="292608" cy="292608"/>
          </a:xfrm>
          <a:prstGeom prst="rect">
            <a:avLst/>
          </a:prstGeom>
        </p:spPr>
      </p:pic>
      <p:sp>
        <p:nvSpPr>
          <p:cNvPr id="11" name="anim2-468"/>
          <p:cNvSpPr txBox="1"/>
          <p:nvPr/>
        </p:nvSpPr>
        <p:spPr>
          <a:xfrm>
            <a:off x="128016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Noter tout de suite : un plein, un trajet, une dépense</a:t>
            </a:r>
            <a:endParaRPr lang="en-US" sz="1500" dirty="0"/>
          </a:p>
        </p:txBody>
      </p:sp>
      <p:pic>
        <p:nvPicPr>
          <p:cNvPr id="12" name="anim3-469" descr="preencoded.png">    </p:cNvPr>
          <p:cNvPicPr>
            <a:picLocks noChangeAspect="1"/>
          </p:cNvPicPr>
          <p:nvPr/>
        </p:nvPicPr>
        <p:blipFill>
          <a:blip r:embed="rId3"/>
          <a:stretch>
            <a:fillRect/>
          </a:stretch>
        </p:blipFill>
        <p:spPr>
          <a:xfrm>
            <a:off x="822960" y="3447288"/>
            <a:ext cx="292608" cy="292608"/>
          </a:xfrm>
          <a:prstGeom prst="rect">
            <a:avLst/>
          </a:prstGeom>
        </p:spPr>
      </p:pic>
      <p:sp>
        <p:nvSpPr>
          <p:cNvPr id="13" name="anim3-470"/>
          <p:cNvSpPr txBox="1"/>
          <p:nvPr/>
        </p:nvSpPr>
        <p:spPr>
          <a:xfrm>
            <a:off x="128016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Vérifier camion, chauffeur, montant et date avant d'enregistrer</a:t>
            </a:r>
            <a:endParaRPr lang="en-US" sz="1500" dirty="0"/>
          </a:p>
        </p:txBody>
      </p:sp>
      <p:pic>
        <p:nvPicPr>
          <p:cNvPr id="14" name="anim4-471" descr="preencoded.png">    </p:cNvPr>
          <p:cNvPicPr>
            <a:picLocks noChangeAspect="1"/>
          </p:cNvPicPr>
          <p:nvPr/>
        </p:nvPicPr>
        <p:blipFill>
          <a:blip r:embed="rId4"/>
          <a:stretch>
            <a:fillRect/>
          </a:stretch>
        </p:blipFill>
        <p:spPr>
          <a:xfrm>
            <a:off x="822960" y="4160520"/>
            <a:ext cx="292608" cy="292608"/>
          </a:xfrm>
          <a:prstGeom prst="rect">
            <a:avLst/>
          </a:prstGeom>
        </p:spPr>
      </p:pic>
      <p:sp>
        <p:nvSpPr>
          <p:cNvPr id="15" name="anim4-472"/>
          <p:cNvSpPr txBox="1"/>
          <p:nvPr/>
        </p:nvSpPr>
        <p:spPr>
          <a:xfrm>
            <a:off x="128016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Joindre les documents (permis, assurance, contrat)</a:t>
            </a:r>
            <a:endParaRPr lang="en-US" sz="1500" dirty="0"/>
          </a:p>
        </p:txBody>
      </p:sp>
      <p:pic>
        <p:nvPicPr>
          <p:cNvPr id="16" name="anim5-473" descr="preencoded.png">    </p:cNvPr>
          <p:cNvPicPr>
            <a:picLocks noChangeAspect="1"/>
          </p:cNvPicPr>
          <p:nvPr/>
        </p:nvPicPr>
        <p:blipFill>
          <a:blip r:embed="rId5"/>
          <a:stretch>
            <a:fillRect/>
          </a:stretch>
        </p:blipFill>
        <p:spPr>
          <a:xfrm>
            <a:off x="822960" y="4873752"/>
            <a:ext cx="292608" cy="292608"/>
          </a:xfrm>
          <a:prstGeom prst="rect">
            <a:avLst/>
          </a:prstGeom>
        </p:spPr>
      </p:pic>
      <p:sp>
        <p:nvSpPr>
          <p:cNvPr id="17" name="anim5-474"/>
          <p:cNvSpPr txBox="1"/>
          <p:nvPr/>
        </p:nvSpPr>
        <p:spPr>
          <a:xfrm>
            <a:off x="128016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Mettre à jour les dates de fin des papiers</a:t>
            </a:r>
            <a:endParaRPr lang="en-US" sz="1500" dirty="0"/>
          </a:p>
        </p:txBody>
      </p:sp>
      <p:sp>
        <p:nvSpPr>
          <p:cNvPr id="18" name="anim7-475"/>
          <p:cNvSpPr/>
          <p:nvPr/>
        </p:nvSpPr>
        <p:spPr>
          <a:xfrm>
            <a:off x="617220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9" name="anim7-476"/>
          <p:cNvSpPr txBox="1"/>
          <p:nvPr/>
        </p:nvSpPr>
        <p:spPr>
          <a:xfrm>
            <a:off x="6446520" y="2103120"/>
            <a:ext cx="4937760" cy="457200"/>
          </a:xfrm>
          <a:prstGeom prst="rect">
            <a:avLst/>
          </a:prstGeom>
          <a:noFill/>
          <a:ln/>
        </p:spPr>
        <p:txBody>
          <a:bodyPr wrap="square" lIns="0" tIns="0" rIns="0" bIns="0" rtlCol="0" anchor="t"/>
          <a:lstStyle/>
          <a:p>
            <a:pPr indent="0" marL="0">
              <a:buNone/>
            </a:pPr>
            <a:r>
              <a:rPr lang="en-US" sz="1900" b="1" dirty="0">
                <a:solidFill>
                  <a:schemeClr val="accent5"/>
                </a:solidFill>
              </a:rPr>
              <a:t>À éviter</a:t>
            </a:r>
            <a:endParaRPr lang="en-US" sz="1900" dirty="0"/>
          </a:p>
        </p:txBody>
      </p:sp>
      <p:pic>
        <p:nvPicPr>
          <p:cNvPr id="20" name="anim8-477" descr="preencoded.png">    </p:cNvPr>
          <p:cNvPicPr>
            <a:picLocks noChangeAspect="1"/>
          </p:cNvPicPr>
          <p:nvPr/>
        </p:nvPicPr>
        <p:blipFill>
          <a:blip r:embed="rId6"/>
          <a:stretch>
            <a:fillRect/>
          </a:stretch>
        </p:blipFill>
        <p:spPr>
          <a:xfrm>
            <a:off x="6446520" y="2734056"/>
            <a:ext cx="292608" cy="292608"/>
          </a:xfrm>
          <a:prstGeom prst="rect">
            <a:avLst/>
          </a:prstGeom>
        </p:spPr>
      </p:pic>
      <p:sp>
        <p:nvSpPr>
          <p:cNvPr id="21" name="anim8-478"/>
          <p:cNvSpPr txBox="1"/>
          <p:nvPr/>
        </p:nvSpPr>
        <p:spPr>
          <a:xfrm>
            <a:off x="690372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Tout noter en fin de semaine ou de mois</a:t>
            </a:r>
            <a:endParaRPr lang="en-US" sz="1500" dirty="0"/>
          </a:p>
        </p:txBody>
      </p:sp>
      <p:pic>
        <p:nvPicPr>
          <p:cNvPr id="22" name="anim9-479" descr="preencoded.png">    </p:cNvPr>
          <p:cNvPicPr>
            <a:picLocks noChangeAspect="1"/>
          </p:cNvPicPr>
          <p:nvPr/>
        </p:nvPicPr>
        <p:blipFill>
          <a:blip r:embed="rId7"/>
          <a:stretch>
            <a:fillRect/>
          </a:stretch>
        </p:blipFill>
        <p:spPr>
          <a:xfrm>
            <a:off x="6446520" y="3447288"/>
            <a:ext cx="292608" cy="292608"/>
          </a:xfrm>
          <a:prstGeom prst="rect">
            <a:avLst/>
          </a:prstGeom>
        </p:spPr>
      </p:pic>
      <p:sp>
        <p:nvSpPr>
          <p:cNvPr id="23" name="anim9-480"/>
          <p:cNvSpPr txBox="1"/>
          <p:nvPr/>
        </p:nvSpPr>
        <p:spPr>
          <a:xfrm>
            <a:off x="690372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Créer deux fois le même client ou le même type</a:t>
            </a:r>
            <a:endParaRPr lang="en-US" sz="1500" dirty="0"/>
          </a:p>
        </p:txBody>
      </p:sp>
      <p:pic>
        <p:nvPicPr>
          <p:cNvPr id="24" name="anim10-481" descr="preencoded.png">    </p:cNvPr>
          <p:cNvPicPr>
            <a:picLocks noChangeAspect="1"/>
          </p:cNvPicPr>
          <p:nvPr/>
        </p:nvPicPr>
        <p:blipFill>
          <a:blip r:embed="rId8"/>
          <a:stretch>
            <a:fillRect/>
          </a:stretch>
        </p:blipFill>
        <p:spPr>
          <a:xfrm>
            <a:off x="6446520" y="4160520"/>
            <a:ext cx="292608" cy="292608"/>
          </a:xfrm>
          <a:prstGeom prst="rect">
            <a:avLst/>
          </a:prstGeom>
        </p:spPr>
      </p:pic>
      <p:sp>
        <p:nvSpPr>
          <p:cNvPr id="25" name="anim10-482"/>
          <p:cNvSpPr txBox="1"/>
          <p:nvPr/>
        </p:nvSpPr>
        <p:spPr>
          <a:xfrm>
            <a:off x="690372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Laisser des essais dans le logiciel</a:t>
            </a:r>
            <a:endParaRPr lang="en-US" sz="1500" dirty="0"/>
          </a:p>
        </p:txBody>
      </p:sp>
      <p:pic>
        <p:nvPicPr>
          <p:cNvPr id="26" name="anim11-483" descr="preencoded.png">    </p:cNvPr>
          <p:cNvPicPr>
            <a:picLocks noChangeAspect="1"/>
          </p:cNvPicPr>
          <p:nvPr/>
        </p:nvPicPr>
        <p:blipFill>
          <a:blip r:embed="rId9"/>
          <a:stretch>
            <a:fillRect/>
          </a:stretch>
        </p:blipFill>
        <p:spPr>
          <a:xfrm>
            <a:off x="6446520" y="4873752"/>
            <a:ext cx="292608" cy="292608"/>
          </a:xfrm>
          <a:prstGeom prst="rect">
            <a:avLst/>
          </a:prstGeom>
        </p:spPr>
      </p:pic>
      <p:sp>
        <p:nvSpPr>
          <p:cNvPr id="27" name="anim11-484"/>
          <p:cNvSpPr txBox="1"/>
          <p:nvPr/>
        </p:nvSpPr>
        <p:spPr>
          <a:xfrm>
            <a:off x="690372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Corriger en silence l'erreur d'un collègue</a:t>
            </a:r>
            <a:endParaRPr lang="en-US" sz="1500" dirty="0"/>
          </a:p>
        </p:txBody>
      </p:sp>
      <p:sp>
        <p:nvSpPr>
          <p:cNvPr id="28" name="anim13-485"/>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300" b="1" dirty="0">
                <a:solidFill>
                  <a:schemeClr val="accent1"/>
                </a:solidFill>
              </a:rPr>
              <a:t>Dans le logiciel  </a:t>
            </a:r>
            <a:pPr indent="0" marL="0">
              <a:buNone/>
            </a:pPr>
            <a:r>
              <a:rPr lang="en-US" sz="1300" dirty="0">
                <a:solidFill>
                  <a:schemeClr val="tx2"/>
                </a:solidFill>
              </a:rPr>
              <a:t>chercher avant de créer ; les cases avec * sont obligatoires.</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25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2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50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50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7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7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10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10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125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125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15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150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1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1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200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20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225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225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25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P spid="15" grpId="0" animBg="1"/>
      <p:bldP spid="17" grpId="0" animBg="1"/>
      <p:bldP spid="19" grpId="0" animBg="1"/>
      <p:bldP spid="21" grpId="0" animBg="1"/>
      <p:bldP spid="23" grpId="0" animBg="1"/>
      <p:bldP spid="25" grpId="0" animBg="1"/>
      <p:bldP spid="27" grpId="0" animBg="1"/>
      <p:bldP spid="2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En cas de problème : les bons réflexes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LES BONS RÉFLEXES</a:t>
            </a:r>
            <a:endParaRPr lang="en-US" sz="1000" dirty="0"/>
          </a:p>
        </p:txBody>
      </p:sp>
      <p:sp>
        <p:nvSpPr>
          <p:cNvPr id="7" name="Text 4"/>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1700" dirty="0">
                <a:solidFill>
                  <a:schemeClr val="tx2"/>
                </a:solidFill>
              </a:rPr>
              <a:t>Prévenir vite vaut mieux que réparer tard. Prévenir n'est jamais une faute.</a:t>
            </a:r>
            <a:endParaRPr lang="en-US" sz="1700" dirty="0"/>
          </a:p>
        </p:txBody>
      </p:sp>
      <p:sp>
        <p:nvSpPr>
          <p:cNvPr id="8" name="anim1-486"/>
          <p:cNvSpPr/>
          <p:nvPr/>
        </p:nvSpPr>
        <p:spPr>
          <a:xfrm>
            <a:off x="548640" y="2057400"/>
            <a:ext cx="5440680" cy="1828800"/>
          </a:xfrm>
          <a:prstGeom prst="roundRect">
            <a:avLst>
              <a:gd name="adj" fmla="val 6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487"/>
          <p:cNvSpPr/>
          <p:nvPr/>
        </p:nvSpPr>
        <p:spPr>
          <a:xfrm>
            <a:off x="749808" y="2258568"/>
            <a:ext cx="548640" cy="548640"/>
          </a:xfrm>
          <a:prstGeom prst="roundRect">
            <a:avLst>
              <a:gd name="adj" fmla="val 22000"/>
            </a:avLst>
          </a:prstGeom>
          <a:solidFill>
            <a:schemeClr val="bg2"/>
          </a:solidFill>
          <a:ln w="12700">
            <a:solidFill>
              <a:schemeClr val="bg2"/>
            </a:solidFill>
            <a:prstDash val="solid"/>
          </a:ln>
        </p:spPr>
      </p:sp>
      <p:pic>
        <p:nvPicPr>
          <p:cNvPr id="10" name="anim1-488" descr="preencoded.png">    </p:cNvPr>
          <p:cNvPicPr>
            <a:picLocks noChangeAspect="1"/>
          </p:cNvPicPr>
          <p:nvPr/>
        </p:nvPicPr>
        <p:blipFill>
          <a:blip r:embed="rId2"/>
          <a:stretch>
            <a:fillRect/>
          </a:stretch>
        </p:blipFill>
        <p:spPr>
          <a:xfrm>
            <a:off x="892454" y="2401214"/>
            <a:ext cx="263347" cy="263347"/>
          </a:xfrm>
          <a:prstGeom prst="rect">
            <a:avLst/>
          </a:prstGeom>
        </p:spPr>
      </p:pic>
      <p:sp>
        <p:nvSpPr>
          <p:cNvPr id="11" name="anim1-489"/>
          <p:cNvSpPr txBox="1"/>
          <p:nvPr/>
        </p:nvSpPr>
        <p:spPr>
          <a:xfrm>
            <a:off x="1444752" y="2185416"/>
            <a:ext cx="4389120" cy="1572768"/>
          </a:xfrm>
          <a:prstGeom prst="rect">
            <a:avLst/>
          </a:prstGeom>
          <a:noFill/>
          <a:ln/>
        </p:spPr>
        <p:txBody>
          <a:bodyPr wrap="square" rtlCol="0" anchor="t"/>
          <a:lstStyle/>
          <a:p>
            <a:pPr indent="0" marL="0">
              <a:spcAft>
                <a:spcPts val="400"/>
              </a:spcAft>
              <a:buNone/>
            </a:pPr>
            <a:r>
              <a:rPr lang="en-US" sz="1600" b="1" dirty="0">
                <a:solidFill>
                  <a:schemeClr val="tx2"/>
                </a:solidFill>
              </a:rPr>
              <a:t>Mon mot de passe a pu être vu</a:t>
            </a:r>
            <a:endParaRPr lang="en-US" sz="1500" dirty="0"/>
          </a:p>
          <a:p>
            <a:pPr indent="0" marL="0">
              <a:buNone/>
            </a:pPr>
            <a:r>
              <a:rPr lang="en-US" sz="1400" dirty="0">
                <a:solidFill>
                  <a:schemeClr val="tx1"/>
                </a:solidFill>
              </a:rPr>
              <a:t>Je le change tout de suite (Change Password) et je préviens mon responsable.</a:t>
            </a:r>
            <a:endParaRPr lang="en-US" sz="1500" dirty="0"/>
          </a:p>
        </p:txBody>
      </p:sp>
      <p:sp>
        <p:nvSpPr>
          <p:cNvPr id="12" name="anim2-490"/>
          <p:cNvSpPr/>
          <p:nvPr/>
        </p:nvSpPr>
        <p:spPr>
          <a:xfrm>
            <a:off x="6172200" y="2057400"/>
            <a:ext cx="5440680" cy="1828800"/>
          </a:xfrm>
          <a:prstGeom prst="roundRect">
            <a:avLst>
              <a:gd name="adj" fmla="val 6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3" name="anim2-491"/>
          <p:cNvSpPr/>
          <p:nvPr/>
        </p:nvSpPr>
        <p:spPr>
          <a:xfrm>
            <a:off x="6373368" y="2258568"/>
            <a:ext cx="548640" cy="548640"/>
          </a:xfrm>
          <a:prstGeom prst="roundRect">
            <a:avLst>
              <a:gd name="adj" fmla="val 22000"/>
            </a:avLst>
          </a:prstGeom>
          <a:solidFill>
            <a:schemeClr val="bg2"/>
          </a:solidFill>
          <a:ln w="12700">
            <a:solidFill>
              <a:schemeClr val="bg2"/>
            </a:solidFill>
            <a:prstDash val="solid"/>
          </a:ln>
        </p:spPr>
      </p:sp>
      <p:pic>
        <p:nvPicPr>
          <p:cNvPr id="14" name="anim2-492" descr="preencoded.png">    </p:cNvPr>
          <p:cNvPicPr>
            <a:picLocks noChangeAspect="1"/>
          </p:cNvPicPr>
          <p:nvPr/>
        </p:nvPicPr>
        <p:blipFill>
          <a:blip r:embed="rId3"/>
          <a:stretch>
            <a:fillRect/>
          </a:stretch>
        </p:blipFill>
        <p:spPr>
          <a:xfrm>
            <a:off x="6516014" y="2401214"/>
            <a:ext cx="263347" cy="263347"/>
          </a:xfrm>
          <a:prstGeom prst="rect">
            <a:avLst/>
          </a:prstGeom>
        </p:spPr>
      </p:pic>
      <p:sp>
        <p:nvSpPr>
          <p:cNvPr id="15" name="anim2-493"/>
          <p:cNvSpPr txBox="1"/>
          <p:nvPr/>
        </p:nvSpPr>
        <p:spPr>
          <a:xfrm>
            <a:off x="7068312" y="2185416"/>
            <a:ext cx="4389120" cy="1572768"/>
          </a:xfrm>
          <a:prstGeom prst="rect">
            <a:avLst/>
          </a:prstGeom>
          <a:noFill/>
          <a:ln/>
        </p:spPr>
        <p:txBody>
          <a:bodyPr wrap="square" rtlCol="0" anchor="t"/>
          <a:lstStyle/>
          <a:p>
            <a:pPr indent="0" marL="0">
              <a:spcAft>
                <a:spcPts val="400"/>
              </a:spcAft>
              <a:buNone/>
            </a:pPr>
            <a:r>
              <a:rPr lang="en-US" sz="1600" b="1" dirty="0">
                <a:solidFill>
                  <a:schemeClr val="tx2"/>
                </a:solidFill>
              </a:rPr>
              <a:t>Un message me demande mon mot de passe</a:t>
            </a:r>
            <a:endParaRPr lang="en-US" sz="1500" dirty="0"/>
          </a:p>
          <a:p>
            <a:pPr indent="0" marL="0">
              <a:buNone/>
            </a:pPr>
            <a:r>
              <a:rPr lang="en-US" sz="1400" dirty="0">
                <a:solidFill>
                  <a:schemeClr val="tx1"/>
                </a:solidFill>
              </a:rPr>
              <a:t>Je ne réponds pas, je ne clique pas, je préviens.</a:t>
            </a:r>
            <a:endParaRPr lang="en-US" sz="1500" dirty="0"/>
          </a:p>
        </p:txBody>
      </p:sp>
      <p:sp>
        <p:nvSpPr>
          <p:cNvPr id="16" name="anim3-494"/>
          <p:cNvSpPr/>
          <p:nvPr/>
        </p:nvSpPr>
        <p:spPr>
          <a:xfrm>
            <a:off x="548640" y="4114800"/>
            <a:ext cx="5440680" cy="1828800"/>
          </a:xfrm>
          <a:prstGeom prst="roundRect">
            <a:avLst>
              <a:gd name="adj" fmla="val 6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7" name="anim3-495"/>
          <p:cNvSpPr/>
          <p:nvPr/>
        </p:nvSpPr>
        <p:spPr>
          <a:xfrm>
            <a:off x="749808" y="4315968"/>
            <a:ext cx="548640" cy="548640"/>
          </a:xfrm>
          <a:prstGeom prst="roundRect">
            <a:avLst>
              <a:gd name="adj" fmla="val 22000"/>
            </a:avLst>
          </a:prstGeom>
          <a:solidFill>
            <a:schemeClr val="bg2"/>
          </a:solidFill>
          <a:ln w="12700">
            <a:solidFill>
              <a:schemeClr val="bg2"/>
            </a:solidFill>
            <a:prstDash val="solid"/>
          </a:ln>
        </p:spPr>
      </p:sp>
      <p:pic>
        <p:nvPicPr>
          <p:cNvPr id="18" name="anim3-496" descr="preencoded.png">    </p:cNvPr>
          <p:cNvPicPr>
            <a:picLocks noChangeAspect="1"/>
          </p:cNvPicPr>
          <p:nvPr/>
        </p:nvPicPr>
        <p:blipFill>
          <a:blip r:embed="rId4"/>
          <a:stretch>
            <a:fillRect/>
          </a:stretch>
        </p:blipFill>
        <p:spPr>
          <a:xfrm>
            <a:off x="892454" y="4458614"/>
            <a:ext cx="263347" cy="263347"/>
          </a:xfrm>
          <a:prstGeom prst="rect">
            <a:avLst/>
          </a:prstGeom>
        </p:spPr>
      </p:pic>
      <p:sp>
        <p:nvSpPr>
          <p:cNvPr id="19" name="anim3-497"/>
          <p:cNvSpPr txBox="1"/>
          <p:nvPr/>
        </p:nvSpPr>
        <p:spPr>
          <a:xfrm>
            <a:off x="1444752" y="4242816"/>
            <a:ext cx="4389120" cy="1572768"/>
          </a:xfrm>
          <a:prstGeom prst="rect">
            <a:avLst/>
          </a:prstGeom>
          <a:noFill/>
          <a:ln/>
        </p:spPr>
        <p:txBody>
          <a:bodyPr wrap="square" rtlCol="0" anchor="t"/>
          <a:lstStyle/>
          <a:p>
            <a:pPr indent="0" marL="0">
              <a:spcAft>
                <a:spcPts val="400"/>
              </a:spcAft>
              <a:buNone/>
            </a:pPr>
            <a:r>
              <a:rPr lang="en-US" sz="1600" b="1" dirty="0">
                <a:solidFill>
                  <a:schemeClr val="tx2"/>
                </a:solidFill>
              </a:rPr>
              <a:t>Je vois une erreur</a:t>
            </a:r>
            <a:endParaRPr lang="en-US" sz="1500" dirty="0"/>
          </a:p>
          <a:p>
            <a:pPr indent="0" marL="0">
              <a:buNone/>
            </a:pPr>
            <a:r>
              <a:rPr lang="en-US" sz="1400" dirty="0">
                <a:solidFill>
                  <a:schemeClr val="tx1"/>
                </a:solidFill>
              </a:rPr>
              <a:t>Je la corrige si mon compte le permet, sinon je préviens mon responsable.</a:t>
            </a:r>
            <a:endParaRPr lang="en-US" sz="1500" dirty="0"/>
          </a:p>
        </p:txBody>
      </p:sp>
      <p:sp>
        <p:nvSpPr>
          <p:cNvPr id="20" name="anim4-498"/>
          <p:cNvSpPr/>
          <p:nvPr/>
        </p:nvSpPr>
        <p:spPr>
          <a:xfrm>
            <a:off x="6172200" y="4114800"/>
            <a:ext cx="5440680" cy="1828800"/>
          </a:xfrm>
          <a:prstGeom prst="roundRect">
            <a:avLst>
              <a:gd name="adj" fmla="val 6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1" name="anim4-499"/>
          <p:cNvSpPr/>
          <p:nvPr/>
        </p:nvSpPr>
        <p:spPr>
          <a:xfrm>
            <a:off x="6373368" y="4315968"/>
            <a:ext cx="548640" cy="548640"/>
          </a:xfrm>
          <a:prstGeom prst="roundRect">
            <a:avLst>
              <a:gd name="adj" fmla="val 22000"/>
            </a:avLst>
          </a:prstGeom>
          <a:solidFill>
            <a:schemeClr val="bg2"/>
          </a:solidFill>
          <a:ln w="12700">
            <a:solidFill>
              <a:schemeClr val="bg2"/>
            </a:solidFill>
            <a:prstDash val="solid"/>
          </a:ln>
        </p:spPr>
      </p:sp>
      <p:pic>
        <p:nvPicPr>
          <p:cNvPr id="22" name="anim4-500" descr="preencoded.png">    </p:cNvPr>
          <p:cNvPicPr>
            <a:picLocks noChangeAspect="1"/>
          </p:cNvPicPr>
          <p:nvPr/>
        </p:nvPicPr>
        <p:blipFill>
          <a:blip r:embed="rId5"/>
          <a:stretch>
            <a:fillRect/>
          </a:stretch>
        </p:blipFill>
        <p:spPr>
          <a:xfrm>
            <a:off x="6516014" y="4458614"/>
            <a:ext cx="263347" cy="263347"/>
          </a:xfrm>
          <a:prstGeom prst="rect">
            <a:avLst/>
          </a:prstGeom>
        </p:spPr>
      </p:pic>
      <p:sp>
        <p:nvSpPr>
          <p:cNvPr id="23" name="anim4-501"/>
          <p:cNvSpPr txBox="1"/>
          <p:nvPr/>
        </p:nvSpPr>
        <p:spPr>
          <a:xfrm>
            <a:off x="7068312" y="4242816"/>
            <a:ext cx="4389120" cy="1572768"/>
          </a:xfrm>
          <a:prstGeom prst="rect">
            <a:avLst/>
          </a:prstGeom>
          <a:noFill/>
          <a:ln/>
        </p:spPr>
        <p:txBody>
          <a:bodyPr wrap="square" rtlCol="0" anchor="t"/>
          <a:lstStyle/>
          <a:p>
            <a:pPr indent="0" marL="0">
              <a:spcAft>
                <a:spcPts val="400"/>
              </a:spcAft>
              <a:buNone/>
            </a:pPr>
            <a:r>
              <a:rPr lang="en-US" sz="1600" b="1" dirty="0">
                <a:solidFill>
                  <a:schemeClr val="tx2"/>
                </a:solidFill>
              </a:rPr>
              <a:t>Un collègue quitte l'entreprise</a:t>
            </a:r>
            <a:endParaRPr lang="en-US" sz="1500" dirty="0"/>
          </a:p>
          <a:p>
            <a:pPr indent="0" marL="0">
              <a:buNone/>
            </a:pPr>
            <a:r>
              <a:rPr lang="en-US" sz="1400" dirty="0">
                <a:solidFill>
                  <a:schemeClr val="tx1"/>
                </a:solidFill>
              </a:rPr>
              <a:t>Le responsable fait bloquer son compte le jour même.</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25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25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2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2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5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5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50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50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75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7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5" grpId="0" animBg="1"/>
      <p:bldP spid="19" grpId="0" animBg="1"/>
      <p:bldP spid="23"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nchor="ctr"/>
          <a:lstStyle/>
          <a:p>
            <a:pPr algn="l" indent="0" marL="0">
              <a:buNone/>
            </a:pPr>
            <a:r>
              <a:rPr lang="en-US" sz="3200" b="1" dirty="0">
                <a:solidFill>
                  <a:schemeClr val="bg1"/>
                </a:solidFill>
              </a:rPr>
              <a:t>Vrai ou faux ?</a:t>
            </a:r>
            <a:endParaRPr lang="en-US" sz="3200" dirty="0"/>
          </a:p>
        </p:txBody>
      </p:sp>
      <p:sp>
        <p:nvSpPr>
          <p:cNvPr id="3" name="anim1-502"/>
          <p:cNvSpPr txBox="1"/>
          <p:nvPr/>
        </p:nvSpPr>
        <p:spPr>
          <a:xfrm>
            <a:off x="731520" y="1508760"/>
            <a:ext cx="10515600" cy="457200"/>
          </a:xfrm>
          <a:prstGeom prst="rect">
            <a:avLst/>
          </a:prstGeom>
          <a:noFill/>
          <a:ln/>
        </p:spPr>
        <p:txBody>
          <a:bodyPr wrap="square" rtlCol="0" anchor="t"/>
          <a:lstStyle/>
          <a:p>
            <a:pPr indent="0" marL="0">
              <a:buNone/>
            </a:pPr>
            <a:r>
              <a:rPr lang="en-US" sz="1800" dirty="0">
                <a:solidFill>
                  <a:schemeClr val="accent2"/>
                </a:solidFill>
              </a:rPr>
              <a:t>Votez à main levée.</a:t>
            </a:r>
            <a:endParaRPr lang="en-US" sz="1800" dirty="0"/>
          </a:p>
        </p:txBody>
      </p:sp>
      <p:sp>
        <p:nvSpPr>
          <p:cNvPr id="4" name="anim2-503"/>
          <p:cNvSpPr/>
          <p:nvPr/>
        </p:nvSpPr>
        <p:spPr>
          <a:xfrm>
            <a:off x="731520" y="2286000"/>
            <a:ext cx="5212080" cy="1463040"/>
          </a:xfrm>
          <a:prstGeom prst="roundRect">
            <a:avLst>
              <a:gd name="adj" fmla="val 9375"/>
            </a:avLst>
          </a:prstGeom>
          <a:solidFill>
            <a:srgbClr val="28356B"/>
          </a:solidFill>
          <a:ln w="12700">
            <a:solidFill>
              <a:srgbClr val="4A5C9A"/>
            </a:solidFill>
            <a:prstDash val="solid"/>
          </a:ln>
        </p:spPr>
      </p:sp>
      <p:sp>
        <p:nvSpPr>
          <p:cNvPr id="5" name="anim2-504"/>
          <p:cNvSpPr/>
          <p:nvPr/>
        </p:nvSpPr>
        <p:spPr>
          <a:xfrm>
            <a:off x="1005840" y="2697480"/>
            <a:ext cx="640080" cy="640080"/>
          </a:xfrm>
          <a:prstGeom prst="ellipse">
            <a:avLst/>
          </a:prstGeom>
          <a:solidFill>
            <a:schemeClr val="bg1"/>
          </a:solidFill>
          <a:ln w="12700">
            <a:solidFill>
              <a:schemeClr val="bg1"/>
            </a:solidFill>
            <a:prstDash val="solid"/>
          </a:ln>
        </p:spPr>
      </p:sp>
      <p:sp>
        <p:nvSpPr>
          <p:cNvPr id="6" name="anim2-505"/>
          <p:cNvSpPr txBox="1"/>
          <p:nvPr/>
        </p:nvSpPr>
        <p:spPr>
          <a:xfrm>
            <a:off x="1005840" y="269748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1</a:t>
            </a:r>
            <a:endParaRPr lang="en-US" sz="2000" dirty="0"/>
          </a:p>
        </p:txBody>
      </p:sp>
      <p:sp>
        <p:nvSpPr>
          <p:cNvPr id="7" name="anim2-506"/>
          <p:cNvSpPr txBox="1"/>
          <p:nvPr/>
        </p:nvSpPr>
        <p:spPr>
          <a:xfrm>
            <a:off x="1874520" y="2286000"/>
            <a:ext cx="3886200" cy="1463040"/>
          </a:xfrm>
          <a:prstGeom prst="rect">
            <a:avLst/>
          </a:prstGeom>
          <a:noFill/>
          <a:ln/>
        </p:spPr>
        <p:txBody>
          <a:bodyPr wrap="square" lIns="0" tIns="0" rIns="0" bIns="0" rtlCol="0" anchor="ctr"/>
          <a:lstStyle/>
          <a:p>
            <a:pPr indent="0" marL="0">
              <a:buNone/>
            </a:pPr>
            <a:r>
              <a:rPr lang="en-US" sz="1700" dirty="0">
                <a:solidFill>
                  <a:schemeClr val="bg1"/>
                </a:solidFill>
              </a:rPr>
              <a:t>Je peux prêter mon mot de passe à un collègue pressé.</a:t>
            </a:r>
            <a:endParaRPr lang="en-US" sz="1700" dirty="0"/>
          </a:p>
        </p:txBody>
      </p:sp>
      <p:sp>
        <p:nvSpPr>
          <p:cNvPr id="8" name="anim3-507"/>
          <p:cNvSpPr/>
          <p:nvPr/>
        </p:nvSpPr>
        <p:spPr>
          <a:xfrm>
            <a:off x="6172200" y="2286000"/>
            <a:ext cx="5212080" cy="1463040"/>
          </a:xfrm>
          <a:prstGeom prst="roundRect">
            <a:avLst>
              <a:gd name="adj" fmla="val 9375"/>
            </a:avLst>
          </a:prstGeom>
          <a:solidFill>
            <a:srgbClr val="28356B"/>
          </a:solidFill>
          <a:ln w="12700">
            <a:solidFill>
              <a:srgbClr val="4A5C9A"/>
            </a:solidFill>
            <a:prstDash val="solid"/>
          </a:ln>
        </p:spPr>
      </p:sp>
      <p:sp>
        <p:nvSpPr>
          <p:cNvPr id="9" name="anim3-508"/>
          <p:cNvSpPr/>
          <p:nvPr/>
        </p:nvSpPr>
        <p:spPr>
          <a:xfrm>
            <a:off x="6446520" y="2697480"/>
            <a:ext cx="640080" cy="640080"/>
          </a:xfrm>
          <a:prstGeom prst="ellipse">
            <a:avLst/>
          </a:prstGeom>
          <a:solidFill>
            <a:schemeClr val="bg1"/>
          </a:solidFill>
          <a:ln w="12700">
            <a:solidFill>
              <a:schemeClr val="bg1"/>
            </a:solidFill>
            <a:prstDash val="solid"/>
          </a:ln>
        </p:spPr>
      </p:sp>
      <p:sp>
        <p:nvSpPr>
          <p:cNvPr id="10" name="anim3-509"/>
          <p:cNvSpPr txBox="1"/>
          <p:nvPr/>
        </p:nvSpPr>
        <p:spPr>
          <a:xfrm>
            <a:off x="6446520" y="269748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2</a:t>
            </a:r>
            <a:endParaRPr lang="en-US" sz="2000" dirty="0"/>
          </a:p>
        </p:txBody>
      </p:sp>
      <p:sp>
        <p:nvSpPr>
          <p:cNvPr id="11" name="anim3-510"/>
          <p:cNvSpPr txBox="1"/>
          <p:nvPr/>
        </p:nvSpPr>
        <p:spPr>
          <a:xfrm>
            <a:off x="7315200" y="2286000"/>
            <a:ext cx="3886200" cy="1463040"/>
          </a:xfrm>
          <a:prstGeom prst="rect">
            <a:avLst/>
          </a:prstGeom>
          <a:noFill/>
          <a:ln/>
        </p:spPr>
        <p:txBody>
          <a:bodyPr wrap="square" lIns="0" tIns="0" rIns="0" bIns="0" rtlCol="0" anchor="ctr"/>
          <a:lstStyle/>
          <a:p>
            <a:pPr indent="0" marL="0">
              <a:buNone/>
            </a:pPr>
            <a:r>
              <a:rPr lang="en-US" sz="1700" dirty="0">
                <a:solidFill>
                  <a:schemeClr val="bg1"/>
                </a:solidFill>
              </a:rPr>
              <a:t>Je peux envoyer la liste des clients sur WhatsApp.</a:t>
            </a:r>
            <a:endParaRPr lang="en-US" sz="1700" dirty="0"/>
          </a:p>
        </p:txBody>
      </p:sp>
      <p:sp>
        <p:nvSpPr>
          <p:cNvPr id="12" name="anim4-511"/>
          <p:cNvSpPr/>
          <p:nvPr/>
        </p:nvSpPr>
        <p:spPr>
          <a:xfrm>
            <a:off x="731520" y="4023360"/>
            <a:ext cx="5212080" cy="1463040"/>
          </a:xfrm>
          <a:prstGeom prst="roundRect">
            <a:avLst>
              <a:gd name="adj" fmla="val 9375"/>
            </a:avLst>
          </a:prstGeom>
          <a:solidFill>
            <a:srgbClr val="28356B"/>
          </a:solidFill>
          <a:ln w="12700">
            <a:solidFill>
              <a:srgbClr val="4A5C9A"/>
            </a:solidFill>
            <a:prstDash val="solid"/>
          </a:ln>
        </p:spPr>
      </p:sp>
      <p:sp>
        <p:nvSpPr>
          <p:cNvPr id="13" name="anim4-512"/>
          <p:cNvSpPr/>
          <p:nvPr/>
        </p:nvSpPr>
        <p:spPr>
          <a:xfrm>
            <a:off x="1005840" y="4434840"/>
            <a:ext cx="640080" cy="640080"/>
          </a:xfrm>
          <a:prstGeom prst="ellipse">
            <a:avLst/>
          </a:prstGeom>
          <a:solidFill>
            <a:schemeClr val="bg1"/>
          </a:solidFill>
          <a:ln w="12700">
            <a:solidFill>
              <a:schemeClr val="bg1"/>
            </a:solidFill>
            <a:prstDash val="solid"/>
          </a:ln>
        </p:spPr>
      </p:sp>
      <p:sp>
        <p:nvSpPr>
          <p:cNvPr id="14" name="anim4-513"/>
          <p:cNvSpPr txBox="1"/>
          <p:nvPr/>
        </p:nvSpPr>
        <p:spPr>
          <a:xfrm>
            <a:off x="1005840" y="443484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15" name="anim4-514"/>
          <p:cNvSpPr txBox="1"/>
          <p:nvPr/>
        </p:nvSpPr>
        <p:spPr>
          <a:xfrm>
            <a:off x="1874520" y="4023360"/>
            <a:ext cx="3886200" cy="1463040"/>
          </a:xfrm>
          <a:prstGeom prst="rect">
            <a:avLst/>
          </a:prstGeom>
          <a:noFill/>
          <a:ln/>
        </p:spPr>
        <p:txBody>
          <a:bodyPr wrap="square" lIns="0" tIns="0" rIns="0" bIns="0" rtlCol="0" anchor="ctr"/>
          <a:lstStyle/>
          <a:p>
            <a:pPr indent="0" marL="0">
              <a:buNone/>
            </a:pPr>
            <a:r>
              <a:rPr lang="en-US" sz="1700" dirty="0">
                <a:solidFill>
                  <a:schemeClr val="bg1"/>
                </a:solidFill>
              </a:rPr>
              <a:t>Je note le plein dès qu'il est fait.</a:t>
            </a:r>
            <a:endParaRPr lang="en-US" sz="1700" dirty="0"/>
          </a:p>
        </p:txBody>
      </p:sp>
      <p:sp>
        <p:nvSpPr>
          <p:cNvPr id="16" name="anim5-515"/>
          <p:cNvSpPr/>
          <p:nvPr/>
        </p:nvSpPr>
        <p:spPr>
          <a:xfrm>
            <a:off x="6172200" y="4023360"/>
            <a:ext cx="5212080" cy="1463040"/>
          </a:xfrm>
          <a:prstGeom prst="roundRect">
            <a:avLst>
              <a:gd name="adj" fmla="val 9375"/>
            </a:avLst>
          </a:prstGeom>
          <a:solidFill>
            <a:srgbClr val="28356B"/>
          </a:solidFill>
          <a:ln w="12700">
            <a:solidFill>
              <a:srgbClr val="4A5C9A"/>
            </a:solidFill>
            <a:prstDash val="solid"/>
          </a:ln>
        </p:spPr>
      </p:sp>
      <p:sp>
        <p:nvSpPr>
          <p:cNvPr id="17" name="anim5-516"/>
          <p:cNvSpPr/>
          <p:nvPr/>
        </p:nvSpPr>
        <p:spPr>
          <a:xfrm>
            <a:off x="6446520" y="4434840"/>
            <a:ext cx="640080" cy="640080"/>
          </a:xfrm>
          <a:prstGeom prst="ellipse">
            <a:avLst/>
          </a:prstGeom>
          <a:solidFill>
            <a:schemeClr val="bg1"/>
          </a:solidFill>
          <a:ln w="12700">
            <a:solidFill>
              <a:schemeClr val="bg1"/>
            </a:solidFill>
            <a:prstDash val="solid"/>
          </a:ln>
        </p:spPr>
      </p:sp>
      <p:sp>
        <p:nvSpPr>
          <p:cNvPr id="18" name="anim5-517"/>
          <p:cNvSpPr txBox="1"/>
          <p:nvPr/>
        </p:nvSpPr>
        <p:spPr>
          <a:xfrm>
            <a:off x="6446520" y="443484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4</a:t>
            </a:r>
            <a:endParaRPr lang="en-US" sz="2000" dirty="0"/>
          </a:p>
        </p:txBody>
      </p:sp>
      <p:sp>
        <p:nvSpPr>
          <p:cNvPr id="19" name="anim5-518"/>
          <p:cNvSpPr txBox="1"/>
          <p:nvPr/>
        </p:nvSpPr>
        <p:spPr>
          <a:xfrm>
            <a:off x="7315200" y="4023360"/>
            <a:ext cx="3886200" cy="1463040"/>
          </a:xfrm>
          <a:prstGeom prst="rect">
            <a:avLst/>
          </a:prstGeom>
          <a:noFill/>
          <a:ln/>
        </p:spPr>
        <p:txBody>
          <a:bodyPr wrap="square" lIns="0" tIns="0" rIns="0" bIns="0" rtlCol="0" anchor="ctr"/>
          <a:lstStyle/>
          <a:p>
            <a:pPr indent="0" marL="0">
              <a:buNone/>
            </a:pPr>
            <a:r>
              <a:rPr lang="en-US" sz="1700" dirty="0">
                <a:solidFill>
                  <a:schemeClr val="bg1"/>
                </a:solidFill>
              </a:rPr>
              <a:t>Le compte d'un collègue qui part doit être bloqué.</a:t>
            </a:r>
            <a:endParaRPr lang="en-US" sz="17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cond evt="onBegin" delay="0">
                          <p:tn val="2"/>
                        </p:cond>
                      </p:stCondLst>
                      <p:childTnLst>
                        <p:par>
                          <p:cTn id="55"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2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nodeType="withEffect">
                                  <p:stCondLst>
                                    <p:cond delay="2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nodeType="withEffect">
                                  <p:stCondLst>
                                    <p:cond delay="2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nodeType="withEffect">
                                  <p:stCondLst>
                                    <p:cond delay="2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nodeType="withEffect">
                                  <p:stCondLst>
                                    <p:cond delay="5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nodeType="withEffect">
                                  <p:stCondLst>
                                    <p:cond delay="5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nodeType="withEffect">
                                  <p:stCondLst>
                                    <p:cond delay="5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nodeType="withEffect">
                                  <p:stCondLst>
                                    <p:cond delay="5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nodeType="withEffect">
                                  <p:stCondLst>
                                    <p:cond delay="7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nodeType="withEffect">
                                  <p:stCondLst>
                                    <p:cond delay="7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nodeType="withEffect">
                                  <p:stCondLst>
                                    <p:cond delay="7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nodeType="withEffect">
                                  <p:stCondLst>
                                    <p:cond delay="75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nodeType="withEffect">
                                  <p:stCondLst>
                                    <p:cond delay="10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nodeType="withEffect">
                                  <p:stCondLst>
                                    <p:cond delay="100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nodeType="withEffect">
                                  <p:stCondLst>
                                    <p:cond delay="100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nodeType="withEffect">
                                  <p:stCondLst>
                                    <p:cond delay="100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10" grpId="0" animBg="1"/>
      <p:bldP spid="11" grpId="0" animBg="1"/>
      <p:bldP spid="14" grpId="0" animBg="1"/>
      <p:bldP spid="15" grpId="0" animBg="1"/>
      <p:bldP spid="18" grpId="0" animBg="1"/>
      <p:bldP spid="19"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nchor="ctr"/>
          <a:lstStyle/>
          <a:p>
            <a:pPr algn="l" indent="0" marL="0">
              <a:buNone/>
            </a:pPr>
            <a:r>
              <a:rPr lang="en-US" sz="3200" b="1" dirty="0">
                <a:solidFill>
                  <a:schemeClr val="bg1"/>
                </a:solidFill>
              </a:rPr>
              <a:t>En résumé, en quelques chiffres</a:t>
            </a:r>
            <a:endParaRPr lang="en-US" sz="3200" dirty="0"/>
          </a:p>
        </p:txBody>
      </p:sp>
      <p:sp>
        <p:nvSpPr>
          <p:cNvPr id="3" name="anim1-519"/>
          <p:cNvSpPr/>
          <p:nvPr/>
        </p:nvSpPr>
        <p:spPr>
          <a:xfrm>
            <a:off x="731520" y="1920240"/>
            <a:ext cx="2514600" cy="3291840"/>
          </a:xfrm>
          <a:prstGeom prst="roundRect">
            <a:avLst>
              <a:gd name="adj" fmla="val 5455"/>
            </a:avLst>
          </a:prstGeom>
          <a:solidFill>
            <a:srgbClr val="28356B"/>
          </a:solidFill>
          <a:ln w="12700">
            <a:solidFill>
              <a:srgbClr val="4A5C9A"/>
            </a:solidFill>
            <a:prstDash val="solid"/>
          </a:ln>
        </p:spPr>
      </p:sp>
      <p:sp>
        <p:nvSpPr>
          <p:cNvPr id="4" name="anim1-520"/>
          <p:cNvSpPr txBox="1"/>
          <p:nvPr/>
        </p:nvSpPr>
        <p:spPr>
          <a:xfrm>
            <a:off x="731520" y="2148840"/>
            <a:ext cx="2514600" cy="1463040"/>
          </a:xfrm>
          <a:prstGeom prst="rect">
            <a:avLst/>
          </a:prstGeom>
          <a:noFill/>
          <a:ln/>
        </p:spPr>
        <p:txBody>
          <a:bodyPr wrap="square" rtlCol="0" anchor="ctr"/>
          <a:lstStyle/>
          <a:p>
            <a:pPr algn="ctr" indent="0" marL="0">
              <a:buNone/>
            </a:pPr>
            <a:r>
              <a:rPr lang="en-US" sz="8000" b="1" dirty="0">
                <a:solidFill>
                  <a:schemeClr val="bg1"/>
                </a:solidFill>
                <a:latin typeface="Arial" pitchFamily="34" charset="0"/>
                <a:ea typeface="Arial" pitchFamily="34" charset="-122"/>
                <a:cs typeface="Arial" pitchFamily="34" charset="-120"/>
              </a:rPr>
              <a:t>18</a:t>
            </a:r>
            <a:endParaRPr lang="en-US" sz="8000" dirty="0"/>
          </a:p>
        </p:txBody>
      </p:sp>
      <p:sp>
        <p:nvSpPr>
          <p:cNvPr id="5" name="anim1-521"/>
          <p:cNvSpPr txBox="1"/>
          <p:nvPr/>
        </p:nvSpPr>
        <p:spPr>
          <a:xfrm>
            <a:off x="868680" y="3703320"/>
            <a:ext cx="2240280" cy="1280160"/>
          </a:xfrm>
          <a:prstGeom prst="rect">
            <a:avLst/>
          </a:prstGeom>
          <a:noFill/>
          <a:ln/>
        </p:spPr>
        <p:txBody>
          <a:bodyPr wrap="square" rtlCol="0" anchor="t"/>
          <a:lstStyle/>
          <a:p>
            <a:pPr algn="ctr" indent="0" marL="0">
              <a:spcAft>
                <a:spcPts val="400"/>
              </a:spcAft>
              <a:buNone/>
            </a:pPr>
            <a:r>
              <a:rPr lang="en-US" sz="1900" b="1" dirty="0">
                <a:solidFill>
                  <a:schemeClr val="bg1"/>
                </a:solidFill>
              </a:rPr>
              <a:t>rubriques</a:t>
            </a:r>
            <a:endParaRPr lang="en-US" sz="1500" dirty="0"/>
          </a:p>
          <a:p>
            <a:pPr algn="ctr" indent="0" marL="0">
              <a:buNone/>
            </a:pPr>
            <a:r>
              <a:rPr lang="en-US" sz="1400" dirty="0">
                <a:solidFill>
                  <a:schemeClr val="accent2"/>
                </a:solidFill>
              </a:rPr>
              <a:t>pour tout le travail de l'entreprise</a:t>
            </a:r>
            <a:endParaRPr lang="en-US" sz="1500" dirty="0"/>
          </a:p>
        </p:txBody>
      </p:sp>
      <p:sp>
        <p:nvSpPr>
          <p:cNvPr id="6" name="anim2-522"/>
          <p:cNvSpPr/>
          <p:nvPr/>
        </p:nvSpPr>
        <p:spPr>
          <a:xfrm>
            <a:off x="3474720" y="1920240"/>
            <a:ext cx="2514600" cy="3291840"/>
          </a:xfrm>
          <a:prstGeom prst="roundRect">
            <a:avLst>
              <a:gd name="adj" fmla="val 5455"/>
            </a:avLst>
          </a:prstGeom>
          <a:solidFill>
            <a:srgbClr val="28356B"/>
          </a:solidFill>
          <a:ln w="12700">
            <a:solidFill>
              <a:srgbClr val="4A5C9A"/>
            </a:solidFill>
            <a:prstDash val="solid"/>
          </a:ln>
        </p:spPr>
      </p:sp>
      <p:sp>
        <p:nvSpPr>
          <p:cNvPr id="7" name="anim2-523"/>
          <p:cNvSpPr txBox="1"/>
          <p:nvPr/>
        </p:nvSpPr>
        <p:spPr>
          <a:xfrm>
            <a:off x="3474720" y="2148840"/>
            <a:ext cx="2514600" cy="1463040"/>
          </a:xfrm>
          <a:prstGeom prst="rect">
            <a:avLst/>
          </a:prstGeom>
          <a:noFill/>
          <a:ln/>
        </p:spPr>
        <p:txBody>
          <a:bodyPr wrap="square" rtlCol="0" anchor="ctr"/>
          <a:lstStyle/>
          <a:p>
            <a:pPr algn="ctr" indent="0" marL="0">
              <a:buNone/>
            </a:pPr>
            <a:r>
              <a:rPr lang="en-US" sz="8000" b="1" dirty="0">
                <a:solidFill>
                  <a:schemeClr val="bg1"/>
                </a:solidFill>
                <a:latin typeface="Arial" pitchFamily="34" charset="0"/>
                <a:ea typeface="Arial" pitchFamily="34" charset="-122"/>
                <a:cs typeface="Arial" pitchFamily="34" charset="-120"/>
              </a:rPr>
              <a:t>11</a:t>
            </a:r>
            <a:endParaRPr lang="en-US" sz="8000" dirty="0"/>
          </a:p>
        </p:txBody>
      </p:sp>
      <p:sp>
        <p:nvSpPr>
          <p:cNvPr id="8" name="anim2-524"/>
          <p:cNvSpPr txBox="1"/>
          <p:nvPr/>
        </p:nvSpPr>
        <p:spPr>
          <a:xfrm>
            <a:off x="3611880" y="3703320"/>
            <a:ext cx="2240280" cy="1280160"/>
          </a:xfrm>
          <a:prstGeom prst="rect">
            <a:avLst/>
          </a:prstGeom>
          <a:noFill/>
          <a:ln/>
        </p:spPr>
        <p:txBody>
          <a:bodyPr wrap="square" rtlCol="0" anchor="t"/>
          <a:lstStyle/>
          <a:p>
            <a:pPr algn="ctr" indent="0" marL="0">
              <a:spcAft>
                <a:spcPts val="400"/>
              </a:spcAft>
              <a:buNone/>
            </a:pPr>
            <a:r>
              <a:rPr lang="en-US" sz="1900" b="1" dirty="0">
                <a:solidFill>
                  <a:schemeClr val="bg1"/>
                </a:solidFill>
              </a:rPr>
              <a:t>rapports</a:t>
            </a:r>
            <a:endParaRPr lang="en-US" sz="1500" dirty="0"/>
          </a:p>
          <a:p>
            <a:pPr algn="ctr" indent="0" marL="0">
              <a:buNone/>
            </a:pPr>
            <a:r>
              <a:rPr lang="en-US" sz="1400" dirty="0">
                <a:solidFill>
                  <a:schemeClr val="accent2"/>
                </a:solidFill>
              </a:rPr>
              <a:t>prêts à l'emploi</a:t>
            </a:r>
            <a:endParaRPr lang="en-US" sz="1500" dirty="0"/>
          </a:p>
        </p:txBody>
      </p:sp>
      <p:sp>
        <p:nvSpPr>
          <p:cNvPr id="9" name="anim3-525"/>
          <p:cNvSpPr/>
          <p:nvPr/>
        </p:nvSpPr>
        <p:spPr>
          <a:xfrm>
            <a:off x="6217920" y="1920240"/>
            <a:ext cx="2514600" cy="3291840"/>
          </a:xfrm>
          <a:prstGeom prst="roundRect">
            <a:avLst>
              <a:gd name="adj" fmla="val 5455"/>
            </a:avLst>
          </a:prstGeom>
          <a:solidFill>
            <a:srgbClr val="28356B"/>
          </a:solidFill>
          <a:ln w="12700">
            <a:solidFill>
              <a:srgbClr val="4A5C9A"/>
            </a:solidFill>
            <a:prstDash val="solid"/>
          </a:ln>
        </p:spPr>
      </p:sp>
      <p:sp>
        <p:nvSpPr>
          <p:cNvPr id="10" name="anim3-526"/>
          <p:cNvSpPr txBox="1"/>
          <p:nvPr/>
        </p:nvSpPr>
        <p:spPr>
          <a:xfrm>
            <a:off x="6217920" y="2148840"/>
            <a:ext cx="2514600" cy="1463040"/>
          </a:xfrm>
          <a:prstGeom prst="rect">
            <a:avLst/>
          </a:prstGeom>
          <a:noFill/>
          <a:ln/>
        </p:spPr>
        <p:txBody>
          <a:bodyPr wrap="square" rtlCol="0" anchor="ctr"/>
          <a:lstStyle/>
          <a:p>
            <a:pPr algn="ctr" indent="0" marL="0">
              <a:buNone/>
            </a:pPr>
            <a:r>
              <a:rPr lang="en-US" sz="8000" b="1" dirty="0">
                <a:solidFill>
                  <a:schemeClr val="bg1"/>
                </a:solidFill>
                <a:latin typeface="Arial" pitchFamily="34" charset="0"/>
                <a:ea typeface="Arial" pitchFamily="34" charset="-122"/>
                <a:cs typeface="Arial" pitchFamily="34" charset="-120"/>
              </a:rPr>
              <a:t>9</a:t>
            </a:r>
            <a:endParaRPr lang="en-US" sz="8000" dirty="0"/>
          </a:p>
        </p:txBody>
      </p:sp>
      <p:sp>
        <p:nvSpPr>
          <p:cNvPr id="11" name="anim3-527"/>
          <p:cNvSpPr txBox="1"/>
          <p:nvPr/>
        </p:nvSpPr>
        <p:spPr>
          <a:xfrm>
            <a:off x="6355080" y="3703320"/>
            <a:ext cx="2240280" cy="1280160"/>
          </a:xfrm>
          <a:prstGeom prst="rect">
            <a:avLst/>
          </a:prstGeom>
          <a:noFill/>
          <a:ln/>
        </p:spPr>
        <p:txBody>
          <a:bodyPr wrap="square" rtlCol="0" anchor="t"/>
          <a:lstStyle/>
          <a:p>
            <a:pPr algn="ctr" indent="0" marL="0">
              <a:spcAft>
                <a:spcPts val="400"/>
              </a:spcAft>
              <a:buNone/>
            </a:pPr>
            <a:r>
              <a:rPr lang="en-US" sz="1900" b="1" dirty="0">
                <a:solidFill>
                  <a:schemeClr val="bg1"/>
                </a:solidFill>
              </a:rPr>
              <a:t>façons</a:t>
            </a:r>
            <a:endParaRPr lang="en-US" sz="1500" dirty="0"/>
          </a:p>
          <a:p>
            <a:pPr algn="ctr" indent="0" marL="0">
              <a:buNone/>
            </a:pPr>
            <a:r>
              <a:rPr lang="en-US" sz="1400" dirty="0">
                <a:solidFill>
                  <a:schemeClr val="accent2"/>
                </a:solidFill>
              </a:rPr>
              <a:t>de faire payer un trajet</a:t>
            </a:r>
            <a:endParaRPr lang="en-US" sz="1500" dirty="0"/>
          </a:p>
        </p:txBody>
      </p:sp>
      <p:sp>
        <p:nvSpPr>
          <p:cNvPr id="12" name="anim4-528"/>
          <p:cNvSpPr/>
          <p:nvPr/>
        </p:nvSpPr>
        <p:spPr>
          <a:xfrm>
            <a:off x="8961120" y="1920240"/>
            <a:ext cx="2514600" cy="3291840"/>
          </a:xfrm>
          <a:prstGeom prst="roundRect">
            <a:avLst>
              <a:gd name="adj" fmla="val 5455"/>
            </a:avLst>
          </a:prstGeom>
          <a:solidFill>
            <a:srgbClr val="28356B"/>
          </a:solidFill>
          <a:ln w="12700">
            <a:solidFill>
              <a:srgbClr val="4A5C9A"/>
            </a:solidFill>
            <a:prstDash val="solid"/>
          </a:ln>
        </p:spPr>
      </p:sp>
      <p:sp>
        <p:nvSpPr>
          <p:cNvPr id="13" name="anim4-529"/>
          <p:cNvSpPr txBox="1"/>
          <p:nvPr/>
        </p:nvSpPr>
        <p:spPr>
          <a:xfrm>
            <a:off x="8961120" y="2148840"/>
            <a:ext cx="2514600" cy="1463040"/>
          </a:xfrm>
          <a:prstGeom prst="rect">
            <a:avLst/>
          </a:prstGeom>
          <a:noFill/>
          <a:ln/>
        </p:spPr>
        <p:txBody>
          <a:bodyPr wrap="square" rtlCol="0" anchor="ctr"/>
          <a:lstStyle/>
          <a:p>
            <a:pPr algn="ctr" indent="0" marL="0">
              <a:buNone/>
            </a:pPr>
            <a:r>
              <a:rPr lang="en-US" sz="8000" b="1" dirty="0">
                <a:solidFill>
                  <a:schemeClr val="accent2"/>
                </a:solidFill>
                <a:latin typeface="Arial" pitchFamily="34" charset="0"/>
                <a:ea typeface="Arial" pitchFamily="34" charset="-122"/>
                <a:cs typeface="Arial" pitchFamily="34" charset="-120"/>
              </a:rPr>
              <a:t>1</a:t>
            </a:r>
            <a:endParaRPr lang="en-US" sz="8000" dirty="0"/>
          </a:p>
        </p:txBody>
      </p:sp>
      <p:sp>
        <p:nvSpPr>
          <p:cNvPr id="14" name="anim4-530"/>
          <p:cNvSpPr txBox="1"/>
          <p:nvPr/>
        </p:nvSpPr>
        <p:spPr>
          <a:xfrm>
            <a:off x="9098280" y="3703320"/>
            <a:ext cx="2240280" cy="1280160"/>
          </a:xfrm>
          <a:prstGeom prst="rect">
            <a:avLst/>
          </a:prstGeom>
          <a:noFill/>
          <a:ln/>
        </p:spPr>
        <p:txBody>
          <a:bodyPr wrap="square" rtlCol="0" anchor="t"/>
          <a:lstStyle/>
          <a:p>
            <a:pPr algn="ctr" indent="0" marL="0">
              <a:spcAft>
                <a:spcPts val="400"/>
              </a:spcAft>
              <a:buNone/>
            </a:pPr>
            <a:r>
              <a:rPr lang="en-US" sz="1900" b="1" dirty="0">
                <a:solidFill>
                  <a:schemeClr val="bg1"/>
                </a:solidFill>
              </a:rPr>
              <a:t>seule application</a:t>
            </a:r>
            <a:endParaRPr lang="en-US" sz="1500" dirty="0"/>
          </a:p>
          <a:p>
            <a:pPr algn="ctr" indent="0" marL="0">
              <a:buNone/>
            </a:pPr>
            <a:r>
              <a:rPr lang="en-US" sz="1400" dirty="0">
                <a:solidFill>
                  <a:schemeClr val="accent2"/>
                </a:solidFill>
              </a:rPr>
              <a:t>pour la direction et les agents</a:t>
            </a:r>
            <a:endParaRPr lang="en-US" sz="1500" dirty="0"/>
          </a:p>
        </p:txBody>
      </p:sp>
      <p:sp>
        <p:nvSpPr>
          <p:cNvPr id="15" name="anim5-531"/>
          <p:cNvSpPr txBox="1"/>
          <p:nvPr/>
        </p:nvSpPr>
        <p:spPr>
          <a:xfrm>
            <a:off x="731520" y="5577840"/>
            <a:ext cx="10698480" cy="457200"/>
          </a:xfrm>
          <a:prstGeom prst="rect">
            <a:avLst/>
          </a:prstGeom>
          <a:noFill/>
          <a:ln/>
        </p:spPr>
        <p:txBody>
          <a:bodyPr wrap="square" rtlCol="0" anchor="t"/>
          <a:lstStyle/>
          <a:p>
            <a:pPr indent="0" marL="0">
              <a:buNone/>
            </a:pPr>
            <a:r>
              <a:rPr lang="en-US" sz="1500" dirty="0">
                <a:solidFill>
                  <a:schemeClr val="accent2"/>
                </a:solidFill>
              </a:rPr>
              <a:t>Et aussi : les alertes sur les dates de fin, les camions sur la carte, les listes en Excel ou PDF, les copies de sécurité.</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cond evt="onBegin" delay="0">
                          <p:tn val="2"/>
                        </p:cond>
                      </p:stCondLst>
                      <p:childTnLst>
                        <p:par>
                          <p:cTn id="43"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nodeType="withEffect">
                                  <p:stCondLst>
                                    <p:cond delay="2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nodeType="withEffect">
                                  <p:stCondLst>
                                    <p:cond delay="2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nodeType="withEffect">
                                  <p:stCondLst>
                                    <p:cond delay="5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nodeType="withEffect">
                                  <p:stCondLst>
                                    <p:cond delay="5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nodeType="withEffect">
                                  <p:stCondLst>
                                    <p:cond delay="5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nodeType="withEffect">
                                  <p:stCondLst>
                                    <p:cond delay="7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nodeType="withEffect">
                                  <p:stCondLst>
                                    <p:cond delay="7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nodeType="withEffect">
                                  <p:stCondLst>
                                    <p:cond delay="7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nodeType="withEffect">
                                  <p:stCondLst>
                                    <p:cond delay="10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3" grpId="0" animBg="1"/>
      <p:bldP spid="14" grpId="0" animBg="1"/>
      <p:bldP spid="15"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Qui fait quoi au quotidien ?</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POUR FINIR</a:t>
            </a:r>
            <a:endParaRPr lang="en-US" sz="1000" dirty="0"/>
          </a:p>
        </p:txBody>
      </p:sp>
      <p:sp>
        <p:nvSpPr>
          <p:cNvPr id="7" name="anim1-532"/>
          <p:cNvSpPr/>
          <p:nvPr/>
        </p:nvSpPr>
        <p:spPr>
          <a:xfrm>
            <a:off x="548640" y="1463040"/>
            <a:ext cx="5394960" cy="4663440"/>
          </a:xfrm>
          <a:prstGeom prst="roundRect">
            <a:avLst>
              <a:gd name="adj" fmla="val 2353"/>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8" name="anim1-533"/>
          <p:cNvSpPr/>
          <p:nvPr/>
        </p:nvSpPr>
        <p:spPr>
          <a:xfrm>
            <a:off x="822960" y="1691640"/>
            <a:ext cx="777240" cy="777240"/>
          </a:xfrm>
          <a:prstGeom prst="roundRect">
            <a:avLst>
              <a:gd name="adj" fmla="val 22000"/>
            </a:avLst>
          </a:prstGeom>
          <a:solidFill>
            <a:schemeClr val="tx2"/>
          </a:solidFill>
          <a:ln w="12700">
            <a:solidFill>
              <a:schemeClr val="tx2"/>
            </a:solidFill>
            <a:prstDash val="solid"/>
          </a:ln>
        </p:spPr>
      </p:sp>
      <p:pic>
        <p:nvPicPr>
          <p:cNvPr id="9" name="anim1-534" descr="preencoded.png">    </p:cNvPr>
          <p:cNvPicPr>
            <a:picLocks noChangeAspect="1"/>
          </p:cNvPicPr>
          <p:nvPr/>
        </p:nvPicPr>
        <p:blipFill>
          <a:blip r:embed="rId2"/>
          <a:stretch>
            <a:fillRect/>
          </a:stretch>
        </p:blipFill>
        <p:spPr>
          <a:xfrm>
            <a:off x="1025042" y="1893722"/>
            <a:ext cx="373075" cy="373075"/>
          </a:xfrm>
          <a:prstGeom prst="rect">
            <a:avLst/>
          </a:prstGeom>
        </p:spPr>
      </p:pic>
      <p:sp>
        <p:nvSpPr>
          <p:cNvPr id="10" name="anim1-535"/>
          <p:cNvSpPr txBox="1"/>
          <p:nvPr/>
        </p:nvSpPr>
        <p:spPr>
          <a:xfrm>
            <a:off x="1783080" y="1691640"/>
            <a:ext cx="3931920" cy="777240"/>
          </a:xfrm>
          <a:prstGeom prst="rect">
            <a:avLst/>
          </a:prstGeom>
          <a:noFill/>
          <a:ln/>
        </p:spPr>
        <p:txBody>
          <a:bodyPr wrap="square" rtlCol="0" anchor="ctr"/>
          <a:lstStyle/>
          <a:p>
            <a:pPr indent="0" marL="0">
              <a:buNone/>
            </a:pPr>
            <a:r>
              <a:rPr lang="en-US" sz="2200" b="1" dirty="0">
                <a:solidFill>
                  <a:schemeClr val="tx2"/>
                </a:solidFill>
              </a:rPr>
              <a:t>La direction</a:t>
            </a:r>
            <a:endParaRPr lang="en-US" sz="2200" dirty="0"/>
          </a:p>
        </p:txBody>
      </p:sp>
      <p:pic>
        <p:nvPicPr>
          <p:cNvPr id="11" name="anim2-536" descr="preencoded.png">    </p:cNvPr>
          <p:cNvPicPr>
            <a:picLocks noChangeAspect="1"/>
          </p:cNvPicPr>
          <p:nvPr/>
        </p:nvPicPr>
        <p:blipFill>
          <a:blip r:embed="rId3"/>
          <a:stretch>
            <a:fillRect/>
          </a:stretch>
        </p:blipFill>
        <p:spPr>
          <a:xfrm>
            <a:off x="868680" y="2788920"/>
            <a:ext cx="292608" cy="292608"/>
          </a:xfrm>
          <a:prstGeom prst="rect">
            <a:avLst/>
          </a:prstGeom>
        </p:spPr>
      </p:pic>
      <p:sp>
        <p:nvSpPr>
          <p:cNvPr id="12" name="anim2-537"/>
          <p:cNvSpPr txBox="1"/>
          <p:nvPr/>
        </p:nvSpPr>
        <p:spPr>
          <a:xfrm>
            <a:off x="1325880" y="2743200"/>
            <a:ext cx="4434840" cy="731520"/>
          </a:xfrm>
          <a:prstGeom prst="rect">
            <a:avLst/>
          </a:prstGeom>
          <a:noFill/>
          <a:ln/>
        </p:spPr>
        <p:txBody>
          <a:bodyPr wrap="square" lIns="0" tIns="0" rIns="0" bIns="0" rtlCol="0" anchor="t"/>
          <a:lstStyle/>
          <a:p>
            <a:pPr indent="0" marL="0">
              <a:buNone/>
            </a:pPr>
            <a:r>
              <a:rPr lang="en-US" sz="1700" dirty="0">
                <a:solidFill>
                  <a:schemeClr val="tx1"/>
                </a:solidFill>
              </a:rPr>
              <a:t>Consulte le tableau de bord chaque jour</a:t>
            </a:r>
            <a:endParaRPr lang="en-US" sz="1700" dirty="0"/>
          </a:p>
        </p:txBody>
      </p:sp>
      <p:pic>
        <p:nvPicPr>
          <p:cNvPr id="13" name="anim3-538" descr="preencoded.png">    </p:cNvPr>
          <p:cNvPicPr>
            <a:picLocks noChangeAspect="1"/>
          </p:cNvPicPr>
          <p:nvPr/>
        </p:nvPicPr>
        <p:blipFill>
          <a:blip r:embed="rId4"/>
          <a:stretch>
            <a:fillRect/>
          </a:stretch>
        </p:blipFill>
        <p:spPr>
          <a:xfrm>
            <a:off x="868680" y="3593592"/>
            <a:ext cx="292608" cy="292608"/>
          </a:xfrm>
          <a:prstGeom prst="rect">
            <a:avLst/>
          </a:prstGeom>
        </p:spPr>
      </p:pic>
      <p:sp>
        <p:nvSpPr>
          <p:cNvPr id="14" name="anim3-539"/>
          <p:cNvSpPr txBox="1"/>
          <p:nvPr/>
        </p:nvSpPr>
        <p:spPr>
          <a:xfrm>
            <a:off x="1325880" y="3547872"/>
            <a:ext cx="4434840" cy="731520"/>
          </a:xfrm>
          <a:prstGeom prst="rect">
            <a:avLst/>
          </a:prstGeom>
          <a:noFill/>
          <a:ln/>
        </p:spPr>
        <p:txBody>
          <a:bodyPr wrap="square" lIns="0" tIns="0" rIns="0" bIns="0" rtlCol="0" anchor="t"/>
          <a:lstStyle/>
          <a:p>
            <a:pPr indent="0" marL="0">
              <a:buNone/>
            </a:pPr>
            <a:r>
              <a:rPr lang="en-US" sz="1700" dirty="0">
                <a:solidFill>
                  <a:schemeClr val="tx1"/>
                </a:solidFill>
              </a:rPr>
              <a:t>Regarde les rapports : camions, routes, dépenses</a:t>
            </a:r>
            <a:endParaRPr lang="en-US" sz="1700" dirty="0"/>
          </a:p>
        </p:txBody>
      </p:sp>
      <p:pic>
        <p:nvPicPr>
          <p:cNvPr id="15" name="anim4-540" descr="preencoded.png">    </p:cNvPr>
          <p:cNvPicPr>
            <a:picLocks noChangeAspect="1"/>
          </p:cNvPicPr>
          <p:nvPr/>
        </p:nvPicPr>
        <p:blipFill>
          <a:blip r:embed="rId5"/>
          <a:stretch>
            <a:fillRect/>
          </a:stretch>
        </p:blipFill>
        <p:spPr>
          <a:xfrm>
            <a:off x="868680" y="4398264"/>
            <a:ext cx="292608" cy="292608"/>
          </a:xfrm>
          <a:prstGeom prst="rect">
            <a:avLst/>
          </a:prstGeom>
        </p:spPr>
      </p:pic>
      <p:sp>
        <p:nvSpPr>
          <p:cNvPr id="16" name="anim4-541"/>
          <p:cNvSpPr txBox="1"/>
          <p:nvPr/>
        </p:nvSpPr>
        <p:spPr>
          <a:xfrm>
            <a:off x="1325880" y="4352544"/>
            <a:ext cx="4434840" cy="731520"/>
          </a:xfrm>
          <a:prstGeom prst="rect">
            <a:avLst/>
          </a:prstGeom>
          <a:noFill/>
          <a:ln/>
        </p:spPr>
        <p:txBody>
          <a:bodyPr wrap="square" lIns="0" tIns="0" rIns="0" bIns="0" rtlCol="0" anchor="t"/>
          <a:lstStyle/>
          <a:p>
            <a:pPr indent="0" marL="0">
              <a:buNone/>
            </a:pPr>
            <a:r>
              <a:rPr lang="en-US" sz="1700" dirty="0">
                <a:solidFill>
                  <a:schemeClr val="tx1"/>
                </a:solidFill>
              </a:rPr>
              <a:t>Décide qui peut faire quoi dans le logiciel</a:t>
            </a:r>
            <a:endParaRPr lang="en-US" sz="1700" dirty="0"/>
          </a:p>
        </p:txBody>
      </p:sp>
      <p:pic>
        <p:nvPicPr>
          <p:cNvPr id="17" name="anim5-542" descr="preencoded.png">    </p:cNvPr>
          <p:cNvPicPr>
            <a:picLocks noChangeAspect="1"/>
          </p:cNvPicPr>
          <p:nvPr/>
        </p:nvPicPr>
        <p:blipFill>
          <a:blip r:embed="rId6"/>
          <a:stretch>
            <a:fillRect/>
          </a:stretch>
        </p:blipFill>
        <p:spPr>
          <a:xfrm>
            <a:off x="868680" y="5202936"/>
            <a:ext cx="292608" cy="292608"/>
          </a:xfrm>
          <a:prstGeom prst="rect">
            <a:avLst/>
          </a:prstGeom>
        </p:spPr>
      </p:pic>
      <p:sp>
        <p:nvSpPr>
          <p:cNvPr id="18" name="anim5-543"/>
          <p:cNvSpPr txBox="1"/>
          <p:nvPr/>
        </p:nvSpPr>
        <p:spPr>
          <a:xfrm>
            <a:off x="1325880" y="5157216"/>
            <a:ext cx="4434840" cy="731520"/>
          </a:xfrm>
          <a:prstGeom prst="rect">
            <a:avLst/>
          </a:prstGeom>
          <a:noFill/>
          <a:ln/>
        </p:spPr>
        <p:txBody>
          <a:bodyPr wrap="square" lIns="0" tIns="0" rIns="0" bIns="0" rtlCol="0" anchor="t"/>
          <a:lstStyle/>
          <a:p>
            <a:pPr indent="0" marL="0">
              <a:buNone/>
            </a:pPr>
            <a:r>
              <a:rPr lang="en-US" sz="1700" dirty="0">
                <a:solidFill>
                  <a:schemeClr val="tx1"/>
                </a:solidFill>
              </a:rPr>
              <a:t>Vérifie que tout est bien noté</a:t>
            </a:r>
            <a:endParaRPr lang="en-US" sz="1700" dirty="0"/>
          </a:p>
        </p:txBody>
      </p:sp>
      <p:sp>
        <p:nvSpPr>
          <p:cNvPr id="19" name="anim6-544"/>
          <p:cNvSpPr/>
          <p:nvPr/>
        </p:nvSpPr>
        <p:spPr>
          <a:xfrm>
            <a:off x="6217920" y="1463040"/>
            <a:ext cx="5394960" cy="4663440"/>
          </a:xfrm>
          <a:prstGeom prst="roundRect">
            <a:avLst>
              <a:gd name="adj" fmla="val 2353"/>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0" name="anim6-545"/>
          <p:cNvSpPr/>
          <p:nvPr/>
        </p:nvSpPr>
        <p:spPr>
          <a:xfrm>
            <a:off x="6492240" y="1691640"/>
            <a:ext cx="777240" cy="777240"/>
          </a:xfrm>
          <a:prstGeom prst="roundRect">
            <a:avLst>
              <a:gd name="adj" fmla="val 22000"/>
            </a:avLst>
          </a:prstGeom>
          <a:solidFill>
            <a:schemeClr val="accent1"/>
          </a:solidFill>
          <a:ln w="12700">
            <a:solidFill>
              <a:schemeClr val="accent1"/>
            </a:solidFill>
            <a:prstDash val="solid"/>
          </a:ln>
        </p:spPr>
      </p:sp>
      <p:pic>
        <p:nvPicPr>
          <p:cNvPr id="21" name="anim6-546" descr="preencoded.png">    </p:cNvPr>
          <p:cNvPicPr>
            <a:picLocks noChangeAspect="1"/>
          </p:cNvPicPr>
          <p:nvPr/>
        </p:nvPicPr>
        <p:blipFill>
          <a:blip r:embed="rId7"/>
          <a:stretch>
            <a:fillRect/>
          </a:stretch>
        </p:blipFill>
        <p:spPr>
          <a:xfrm>
            <a:off x="6694322" y="1893722"/>
            <a:ext cx="373075" cy="373075"/>
          </a:xfrm>
          <a:prstGeom prst="rect">
            <a:avLst/>
          </a:prstGeom>
        </p:spPr>
      </p:pic>
      <p:sp>
        <p:nvSpPr>
          <p:cNvPr id="22" name="anim6-547"/>
          <p:cNvSpPr txBox="1"/>
          <p:nvPr/>
        </p:nvSpPr>
        <p:spPr>
          <a:xfrm>
            <a:off x="7452360" y="1691640"/>
            <a:ext cx="3931920" cy="777240"/>
          </a:xfrm>
          <a:prstGeom prst="rect">
            <a:avLst/>
          </a:prstGeom>
          <a:noFill/>
          <a:ln/>
        </p:spPr>
        <p:txBody>
          <a:bodyPr wrap="square" rtlCol="0" anchor="ctr"/>
          <a:lstStyle/>
          <a:p>
            <a:pPr indent="0" marL="0">
              <a:buNone/>
            </a:pPr>
            <a:r>
              <a:rPr lang="en-US" sz="2200" b="1" dirty="0">
                <a:solidFill>
                  <a:schemeClr val="tx2"/>
                </a:solidFill>
              </a:rPr>
              <a:t>Les agents</a:t>
            </a:r>
            <a:endParaRPr lang="en-US" sz="2200" dirty="0"/>
          </a:p>
        </p:txBody>
      </p:sp>
      <p:pic>
        <p:nvPicPr>
          <p:cNvPr id="23" name="anim7-548" descr="preencoded.png">    </p:cNvPr>
          <p:cNvPicPr>
            <a:picLocks noChangeAspect="1"/>
          </p:cNvPicPr>
          <p:nvPr/>
        </p:nvPicPr>
        <p:blipFill>
          <a:blip r:embed="rId8"/>
          <a:stretch>
            <a:fillRect/>
          </a:stretch>
        </p:blipFill>
        <p:spPr>
          <a:xfrm>
            <a:off x="6537960" y="2788920"/>
            <a:ext cx="292608" cy="292608"/>
          </a:xfrm>
          <a:prstGeom prst="rect">
            <a:avLst/>
          </a:prstGeom>
        </p:spPr>
      </p:pic>
      <p:sp>
        <p:nvSpPr>
          <p:cNvPr id="24" name="anim7-549"/>
          <p:cNvSpPr txBox="1"/>
          <p:nvPr/>
        </p:nvSpPr>
        <p:spPr>
          <a:xfrm>
            <a:off x="6995160" y="2743200"/>
            <a:ext cx="4434840" cy="731520"/>
          </a:xfrm>
          <a:prstGeom prst="rect">
            <a:avLst/>
          </a:prstGeom>
          <a:noFill/>
          <a:ln/>
        </p:spPr>
        <p:txBody>
          <a:bodyPr wrap="square" lIns="0" tIns="0" rIns="0" bIns="0" rtlCol="0" anchor="t"/>
          <a:lstStyle/>
          <a:p>
            <a:pPr indent="0" marL="0">
              <a:buNone/>
            </a:pPr>
            <a:r>
              <a:rPr lang="en-US" sz="1700" dirty="0">
                <a:solidFill>
                  <a:schemeClr val="tx1"/>
                </a:solidFill>
              </a:rPr>
              <a:t>Vérifient le calendrier avant de réserver</a:t>
            </a:r>
            <a:endParaRPr lang="en-US" sz="1700" dirty="0"/>
          </a:p>
        </p:txBody>
      </p:sp>
      <p:pic>
        <p:nvPicPr>
          <p:cNvPr id="25" name="anim8-550" descr="preencoded.png">    </p:cNvPr>
          <p:cNvPicPr>
            <a:picLocks noChangeAspect="1"/>
          </p:cNvPicPr>
          <p:nvPr/>
        </p:nvPicPr>
        <p:blipFill>
          <a:blip r:embed="rId9"/>
          <a:stretch>
            <a:fillRect/>
          </a:stretch>
        </p:blipFill>
        <p:spPr>
          <a:xfrm>
            <a:off x="6537960" y="3593592"/>
            <a:ext cx="292608" cy="292608"/>
          </a:xfrm>
          <a:prstGeom prst="rect">
            <a:avLst/>
          </a:prstGeom>
        </p:spPr>
      </p:pic>
      <p:sp>
        <p:nvSpPr>
          <p:cNvPr id="26" name="anim8-551"/>
          <p:cNvSpPr txBox="1"/>
          <p:nvPr/>
        </p:nvSpPr>
        <p:spPr>
          <a:xfrm>
            <a:off x="6995160" y="3547872"/>
            <a:ext cx="4434840" cy="731520"/>
          </a:xfrm>
          <a:prstGeom prst="rect">
            <a:avLst/>
          </a:prstGeom>
          <a:noFill/>
          <a:ln/>
        </p:spPr>
        <p:txBody>
          <a:bodyPr wrap="square" lIns="0" tIns="0" rIns="0" bIns="0" rtlCol="0" anchor="t"/>
          <a:lstStyle/>
          <a:p>
            <a:pPr indent="0" marL="0">
              <a:buNone/>
            </a:pPr>
            <a:r>
              <a:rPr lang="en-US" sz="1700" dirty="0">
                <a:solidFill>
                  <a:schemeClr val="tx1"/>
                </a:solidFill>
              </a:rPr>
              <a:t>Notent trajets, pleins et dépenses tout de suite</a:t>
            </a:r>
            <a:endParaRPr lang="en-US" sz="1700" dirty="0"/>
          </a:p>
        </p:txBody>
      </p:sp>
      <p:pic>
        <p:nvPicPr>
          <p:cNvPr id="27" name="anim9-552" descr="preencoded.png">    </p:cNvPr>
          <p:cNvPicPr>
            <a:picLocks noChangeAspect="1"/>
          </p:cNvPicPr>
          <p:nvPr/>
        </p:nvPicPr>
        <p:blipFill>
          <a:blip r:embed="rId10"/>
          <a:stretch>
            <a:fillRect/>
          </a:stretch>
        </p:blipFill>
        <p:spPr>
          <a:xfrm>
            <a:off x="6537960" y="4398264"/>
            <a:ext cx="292608" cy="292608"/>
          </a:xfrm>
          <a:prstGeom prst="rect">
            <a:avLst/>
          </a:prstGeom>
        </p:spPr>
      </p:pic>
      <p:sp>
        <p:nvSpPr>
          <p:cNvPr id="28" name="anim9-553"/>
          <p:cNvSpPr txBox="1"/>
          <p:nvPr/>
        </p:nvSpPr>
        <p:spPr>
          <a:xfrm>
            <a:off x="6995160" y="4352544"/>
            <a:ext cx="4434840" cy="731520"/>
          </a:xfrm>
          <a:prstGeom prst="rect">
            <a:avLst/>
          </a:prstGeom>
          <a:noFill/>
          <a:ln/>
        </p:spPr>
        <p:txBody>
          <a:bodyPr wrap="square" lIns="0" tIns="0" rIns="0" bIns="0" rtlCol="0" anchor="t"/>
          <a:lstStyle/>
          <a:p>
            <a:pPr indent="0" marL="0">
              <a:buNone/>
            </a:pPr>
            <a:r>
              <a:rPr lang="en-US" sz="1700" dirty="0">
                <a:solidFill>
                  <a:schemeClr val="tx1"/>
                </a:solidFill>
              </a:rPr>
              <a:t>Mettent à jour les papiers et les dates de fin</a:t>
            </a:r>
            <a:endParaRPr lang="en-US" sz="1700" dirty="0"/>
          </a:p>
        </p:txBody>
      </p:sp>
      <p:pic>
        <p:nvPicPr>
          <p:cNvPr id="29" name="anim10-554" descr="preencoded.png">    </p:cNvPr>
          <p:cNvPicPr>
            <a:picLocks noChangeAspect="1"/>
          </p:cNvPicPr>
          <p:nvPr/>
        </p:nvPicPr>
        <p:blipFill>
          <a:blip r:embed="rId11"/>
          <a:stretch>
            <a:fillRect/>
          </a:stretch>
        </p:blipFill>
        <p:spPr>
          <a:xfrm>
            <a:off x="6537960" y="5202936"/>
            <a:ext cx="292608" cy="292608"/>
          </a:xfrm>
          <a:prstGeom prst="rect">
            <a:avLst/>
          </a:prstGeom>
        </p:spPr>
      </p:pic>
      <p:sp>
        <p:nvSpPr>
          <p:cNvPr id="30" name="anim10-555"/>
          <p:cNvSpPr txBox="1"/>
          <p:nvPr/>
        </p:nvSpPr>
        <p:spPr>
          <a:xfrm>
            <a:off x="6995160" y="5157216"/>
            <a:ext cx="4434840" cy="731520"/>
          </a:xfrm>
          <a:prstGeom prst="rect">
            <a:avLst/>
          </a:prstGeom>
          <a:noFill/>
          <a:ln/>
        </p:spPr>
        <p:txBody>
          <a:bodyPr wrap="square" lIns="0" tIns="0" rIns="0" bIns="0" rtlCol="0" anchor="t"/>
          <a:lstStyle/>
          <a:p>
            <a:pPr indent="0" marL="0">
              <a:buNone/>
            </a:pPr>
            <a:r>
              <a:rPr lang="en-US" sz="1700" dirty="0">
                <a:solidFill>
                  <a:schemeClr val="tx1"/>
                </a:solidFill>
              </a:rPr>
              <a:t>Préviennent en cas d'erreur ou de problème</a:t>
            </a:r>
            <a:endParaRPr lang="en-US" sz="17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500"/>
                                        <p:tgtEl>
                                          <p:spTgt spid="8"/>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nodeType="withEffect">
                                  <p:stCondLst>
                                    <p:cond delay="25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25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nodeType="withEffect">
                                  <p:stCondLst>
                                    <p:cond delay="50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50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par>
                                <p:cTn id="27" presetID="10" presetClass="entr" presetSubtype="0" fill="hold" nodeType="withEffect">
                                  <p:stCondLst>
                                    <p:cond delay="75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7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10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nodeType="withEffect">
                                  <p:stCondLst>
                                    <p:cond delay="100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12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125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12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125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par>
                                <p:cTn id="51" presetID="10" presetClass="entr" presetSubtype="0" fill="hold" nodeType="withEffect">
                                  <p:stCondLst>
                                    <p:cond delay="150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par>
                                <p:cTn id="54" presetID="10" presetClass="entr" presetSubtype="0" fill="hold" nodeType="withEffect">
                                  <p:stCondLst>
                                    <p:cond delay="150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00"/>
                                        <p:tgtEl>
                                          <p:spTgt spid="24"/>
                                        </p:tgtEl>
                                      </p:cBhvr>
                                    </p:animEffect>
                                  </p:childTnLst>
                                </p:cTn>
                              </p:par>
                              <p:par>
                                <p:cTn id="57" presetID="10" presetClass="entr" presetSubtype="0" fill="hold" nodeType="withEffect">
                                  <p:stCondLst>
                                    <p:cond delay="175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par>
                                <p:cTn id="60" presetID="10" presetClass="entr" presetSubtype="0" fill="hold" nodeType="withEffect">
                                  <p:stCondLst>
                                    <p:cond delay="175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nodeType="withEffect">
                                  <p:stCondLst>
                                    <p:cond delay="200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par>
                                <p:cTn id="66" presetID="10" presetClass="entr" presetSubtype="0" fill="hold" nodeType="withEffect">
                                  <p:stCondLst>
                                    <p:cond delay="200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500"/>
                                        <p:tgtEl>
                                          <p:spTgt spid="28"/>
                                        </p:tgtEl>
                                      </p:cBhvr>
                                    </p:animEffect>
                                  </p:childTnLst>
                                </p:cTn>
                              </p:par>
                              <p:par>
                                <p:cTn id="69" presetID="10" presetClass="entr" presetSubtype="0" fill="hold" nodeType="withEffect">
                                  <p:stCondLst>
                                    <p:cond delay="225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500"/>
                                        <p:tgtEl>
                                          <p:spTgt spid="29"/>
                                        </p:tgtEl>
                                      </p:cBhvr>
                                    </p:animEffect>
                                  </p:childTnLst>
                                </p:cTn>
                              </p:par>
                              <p:par>
                                <p:cTn id="72" presetID="10" presetClass="entr" presetSubtype="0" fill="hold" nodeType="withEffect">
                                  <p:stCondLst>
                                    <p:cond delay="225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P spid="16" grpId="0" animBg="1"/>
      <p:bldP spid="18" grpId="0" animBg="1"/>
      <p:bldP spid="22" grpId="0" animBg="1"/>
      <p:bldP spid="24" grpId="0" animBg="1"/>
      <p:bldP spid="26" grpId="0" animBg="1"/>
      <p:bldP spid="28" grpId="0" animBg="1"/>
      <p:bldP spid="3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Démonstration : un circuit de travail</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POUR FINIR</a:t>
            </a:r>
            <a:endParaRPr lang="en-US" sz="1000" dirty="0"/>
          </a:p>
        </p:txBody>
      </p:sp>
      <p:sp>
        <p:nvSpPr>
          <p:cNvPr id="7" name="Text 4"/>
          <p:cNvSpPr txBox="1"/>
          <p:nvPr/>
        </p:nvSpPr>
        <p:spPr>
          <a:xfrm>
            <a:off x="548640" y="1417320"/>
            <a:ext cx="10972800" cy="411480"/>
          </a:xfrm>
          <a:prstGeom prst="rect">
            <a:avLst/>
          </a:prstGeom>
          <a:noFill/>
          <a:ln/>
        </p:spPr>
        <p:txBody>
          <a:bodyPr wrap="square" rtlCol="0" anchor="t"/>
          <a:lstStyle/>
          <a:p>
            <a:pPr indent="0" marL="0">
              <a:buNone/>
            </a:pPr>
            <a:r>
              <a:rPr lang="en-US" sz="1700" dirty="0">
                <a:solidFill>
                  <a:schemeClr val="tx2"/>
                </a:solidFill>
              </a:rPr>
              <a:t>On le fait ensemble, en direct, du client jusqu'au rapport.</a:t>
            </a:r>
            <a:endParaRPr lang="en-US" sz="1700" dirty="0"/>
          </a:p>
        </p:txBody>
      </p:sp>
      <p:sp>
        <p:nvSpPr>
          <p:cNvPr id="8" name="anim1-556"/>
          <p:cNvSpPr/>
          <p:nvPr/>
        </p:nvSpPr>
        <p:spPr>
          <a:xfrm>
            <a:off x="548640" y="2788920"/>
            <a:ext cx="11064240" cy="0"/>
          </a:xfrm>
          <a:prstGeom prst="line">
            <a:avLst/>
          </a:prstGeom>
          <a:noFill/>
          <a:ln w="330200">
            <a:solidFill>
              <a:srgbClr val="D5DCEB"/>
            </a:solidFill>
            <a:prstDash val="solid"/>
          </a:ln>
        </p:spPr>
      </p:sp>
      <p:sp>
        <p:nvSpPr>
          <p:cNvPr id="9" name="anim1-557"/>
          <p:cNvSpPr/>
          <p:nvPr/>
        </p:nvSpPr>
        <p:spPr>
          <a:xfrm>
            <a:off x="685800" y="2788920"/>
            <a:ext cx="10789920" cy="0"/>
          </a:xfrm>
          <a:prstGeom prst="line">
            <a:avLst/>
          </a:prstGeom>
          <a:noFill/>
          <a:ln w="25400">
            <a:solidFill>
              <a:srgbClr val="FFFFFF"/>
            </a:solidFill>
            <a:prstDash val="dash"/>
          </a:ln>
        </p:spPr>
      </p:sp>
      <p:pic>
        <p:nvPicPr>
          <p:cNvPr id="10" name="anim1-558" descr="preencoded.png">    </p:cNvPr>
          <p:cNvPicPr>
            <a:picLocks noChangeAspect="1"/>
          </p:cNvPicPr>
          <p:nvPr/>
        </p:nvPicPr>
        <p:blipFill>
          <a:blip r:embed="rId2"/>
          <a:stretch>
            <a:fillRect/>
          </a:stretch>
        </p:blipFill>
        <p:spPr>
          <a:xfrm>
            <a:off x="502920" y="1965960"/>
            <a:ext cx="548640" cy="548640"/>
          </a:xfrm>
          <a:prstGeom prst="rect">
            <a:avLst/>
          </a:prstGeom>
        </p:spPr>
      </p:pic>
      <p:sp>
        <p:nvSpPr>
          <p:cNvPr id="11" name="anim2-559"/>
          <p:cNvSpPr/>
          <p:nvPr/>
        </p:nvSpPr>
        <p:spPr>
          <a:xfrm>
            <a:off x="123444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12" name="anim2-560" descr="preencoded.png">    </p:cNvPr>
          <p:cNvPicPr>
            <a:picLocks noChangeAspect="1"/>
          </p:cNvPicPr>
          <p:nvPr/>
        </p:nvPicPr>
        <p:blipFill>
          <a:blip r:embed="rId3"/>
          <a:stretch>
            <a:fillRect/>
          </a:stretch>
        </p:blipFill>
        <p:spPr>
          <a:xfrm>
            <a:off x="1536192" y="2542032"/>
            <a:ext cx="493776" cy="493776"/>
          </a:xfrm>
          <a:prstGeom prst="rect">
            <a:avLst/>
          </a:prstGeom>
        </p:spPr>
      </p:pic>
      <p:sp>
        <p:nvSpPr>
          <p:cNvPr id="13" name="anim2-561"/>
          <p:cNvSpPr/>
          <p:nvPr/>
        </p:nvSpPr>
        <p:spPr>
          <a:xfrm>
            <a:off x="2039112" y="2148840"/>
            <a:ext cx="384048" cy="384048"/>
          </a:xfrm>
          <a:prstGeom prst="ellipse">
            <a:avLst/>
          </a:prstGeom>
          <a:solidFill>
            <a:schemeClr val="accent4"/>
          </a:solidFill>
          <a:ln w="25400">
            <a:solidFill>
              <a:schemeClr val="bg1"/>
            </a:solidFill>
            <a:prstDash val="solid"/>
          </a:ln>
        </p:spPr>
      </p:sp>
      <p:sp>
        <p:nvSpPr>
          <p:cNvPr id="14" name="anim2-562"/>
          <p:cNvSpPr txBox="1"/>
          <p:nvPr/>
        </p:nvSpPr>
        <p:spPr>
          <a:xfrm>
            <a:off x="203911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5" name="anim2-563"/>
          <p:cNvSpPr txBox="1"/>
          <p:nvPr/>
        </p:nvSpPr>
        <p:spPr>
          <a:xfrm>
            <a:off x="777240" y="3520440"/>
            <a:ext cx="2011680" cy="1005840"/>
          </a:xfrm>
          <a:prstGeom prst="rect">
            <a:avLst/>
          </a:prstGeom>
          <a:noFill/>
          <a:ln/>
        </p:spPr>
        <p:txBody>
          <a:bodyPr wrap="square" rtlCol="0" anchor="t"/>
          <a:lstStyle/>
          <a:p>
            <a:pPr algn="ctr" indent="0" marL="0">
              <a:buNone/>
            </a:pPr>
            <a:r>
              <a:rPr lang="en-US" sz="1600" b="1" dirty="0">
                <a:solidFill>
                  <a:schemeClr val="tx2"/>
                </a:solidFill>
              </a:rPr>
              <a:t>Client</a:t>
            </a:r>
            <a:endParaRPr lang="en-US" sz="1500" dirty="0"/>
          </a:p>
          <a:p>
            <a:pPr algn="ctr" indent="0" marL="0">
              <a:buNone/>
            </a:pPr>
            <a:r>
              <a:rPr lang="en-US" sz="1200" dirty="0">
                <a:solidFill>
                  <a:schemeClr val="accent5"/>
                </a:solidFill>
              </a:rPr>
              <a:t>Customer › Add Customer</a:t>
            </a:r>
            <a:endParaRPr lang="en-US" sz="1500" dirty="0"/>
          </a:p>
        </p:txBody>
      </p:sp>
      <p:sp>
        <p:nvSpPr>
          <p:cNvPr id="16" name="anim3-564"/>
          <p:cNvSpPr/>
          <p:nvPr/>
        </p:nvSpPr>
        <p:spPr>
          <a:xfrm>
            <a:off x="338328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17" name="anim3-565" descr="preencoded.png">    </p:cNvPr>
          <p:cNvPicPr>
            <a:picLocks noChangeAspect="1"/>
          </p:cNvPicPr>
          <p:nvPr/>
        </p:nvPicPr>
        <p:blipFill>
          <a:blip r:embed="rId4"/>
          <a:stretch>
            <a:fillRect/>
          </a:stretch>
        </p:blipFill>
        <p:spPr>
          <a:xfrm>
            <a:off x="3685032" y="2542032"/>
            <a:ext cx="493776" cy="493776"/>
          </a:xfrm>
          <a:prstGeom prst="rect">
            <a:avLst/>
          </a:prstGeom>
        </p:spPr>
      </p:pic>
      <p:sp>
        <p:nvSpPr>
          <p:cNvPr id="18" name="anim3-566"/>
          <p:cNvSpPr/>
          <p:nvPr/>
        </p:nvSpPr>
        <p:spPr>
          <a:xfrm>
            <a:off x="4187952" y="2148840"/>
            <a:ext cx="384048" cy="384048"/>
          </a:xfrm>
          <a:prstGeom prst="ellipse">
            <a:avLst/>
          </a:prstGeom>
          <a:solidFill>
            <a:schemeClr val="accent4"/>
          </a:solidFill>
          <a:ln w="25400">
            <a:solidFill>
              <a:schemeClr val="bg1"/>
            </a:solidFill>
            <a:prstDash val="solid"/>
          </a:ln>
        </p:spPr>
      </p:sp>
      <p:sp>
        <p:nvSpPr>
          <p:cNvPr id="19" name="anim3-567"/>
          <p:cNvSpPr txBox="1"/>
          <p:nvPr/>
        </p:nvSpPr>
        <p:spPr>
          <a:xfrm>
            <a:off x="418795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0" name="anim3-568"/>
          <p:cNvSpPr txBox="1"/>
          <p:nvPr/>
        </p:nvSpPr>
        <p:spPr>
          <a:xfrm>
            <a:off x="2926080" y="3520440"/>
            <a:ext cx="2011680" cy="1005840"/>
          </a:xfrm>
          <a:prstGeom prst="rect">
            <a:avLst/>
          </a:prstGeom>
          <a:noFill/>
          <a:ln/>
        </p:spPr>
        <p:txBody>
          <a:bodyPr wrap="square" rtlCol="0" anchor="t"/>
          <a:lstStyle/>
          <a:p>
            <a:pPr algn="ctr" indent="0" marL="0">
              <a:buNone/>
            </a:pPr>
            <a:r>
              <a:rPr lang="en-US" sz="1600" b="1" dirty="0">
                <a:solidFill>
                  <a:schemeClr val="tx2"/>
                </a:solidFill>
              </a:rPr>
              <a:t>Trajet</a:t>
            </a:r>
            <a:endParaRPr lang="en-US" sz="1500" dirty="0"/>
          </a:p>
          <a:p>
            <a:pPr algn="ctr" indent="0" marL="0">
              <a:buNone/>
            </a:pPr>
            <a:r>
              <a:rPr lang="en-US" sz="1200" dirty="0">
                <a:solidFill>
                  <a:schemeClr val="accent5"/>
                </a:solidFill>
              </a:rPr>
              <a:t>Trips › Add Trips</a:t>
            </a:r>
            <a:endParaRPr lang="en-US" sz="1500" dirty="0"/>
          </a:p>
        </p:txBody>
      </p:sp>
      <p:sp>
        <p:nvSpPr>
          <p:cNvPr id="21" name="anim4-569"/>
          <p:cNvSpPr/>
          <p:nvPr/>
        </p:nvSpPr>
        <p:spPr>
          <a:xfrm>
            <a:off x="553212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22" name="anim4-570" descr="preencoded.png">    </p:cNvPr>
          <p:cNvPicPr>
            <a:picLocks noChangeAspect="1"/>
          </p:cNvPicPr>
          <p:nvPr/>
        </p:nvPicPr>
        <p:blipFill>
          <a:blip r:embed="rId5"/>
          <a:stretch>
            <a:fillRect/>
          </a:stretch>
        </p:blipFill>
        <p:spPr>
          <a:xfrm>
            <a:off x="5833872" y="2542032"/>
            <a:ext cx="493776" cy="493776"/>
          </a:xfrm>
          <a:prstGeom prst="rect">
            <a:avLst/>
          </a:prstGeom>
        </p:spPr>
      </p:pic>
      <p:sp>
        <p:nvSpPr>
          <p:cNvPr id="23" name="anim4-571"/>
          <p:cNvSpPr/>
          <p:nvPr/>
        </p:nvSpPr>
        <p:spPr>
          <a:xfrm>
            <a:off x="6336792" y="2148840"/>
            <a:ext cx="384048" cy="384048"/>
          </a:xfrm>
          <a:prstGeom prst="ellipse">
            <a:avLst/>
          </a:prstGeom>
          <a:solidFill>
            <a:schemeClr val="accent4"/>
          </a:solidFill>
          <a:ln w="25400">
            <a:solidFill>
              <a:schemeClr val="bg1"/>
            </a:solidFill>
            <a:prstDash val="solid"/>
          </a:ln>
        </p:spPr>
      </p:sp>
      <p:sp>
        <p:nvSpPr>
          <p:cNvPr id="24" name="anim4-572"/>
          <p:cNvSpPr txBox="1"/>
          <p:nvPr/>
        </p:nvSpPr>
        <p:spPr>
          <a:xfrm>
            <a:off x="633679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anim4-573"/>
          <p:cNvSpPr txBox="1"/>
          <p:nvPr/>
        </p:nvSpPr>
        <p:spPr>
          <a:xfrm>
            <a:off x="5074920" y="3520440"/>
            <a:ext cx="2011680" cy="1005840"/>
          </a:xfrm>
          <a:prstGeom prst="rect">
            <a:avLst/>
          </a:prstGeom>
          <a:noFill/>
          <a:ln/>
        </p:spPr>
        <p:txBody>
          <a:bodyPr wrap="square" rtlCol="0" anchor="t"/>
          <a:lstStyle/>
          <a:p>
            <a:pPr algn="ctr" indent="0" marL="0">
              <a:buNone/>
            </a:pPr>
            <a:r>
              <a:rPr lang="en-US" sz="1600" b="1" dirty="0">
                <a:solidFill>
                  <a:schemeClr val="tx2"/>
                </a:solidFill>
              </a:rPr>
              <a:t>Carburant</a:t>
            </a:r>
            <a:endParaRPr lang="en-US" sz="1500" dirty="0"/>
          </a:p>
          <a:p>
            <a:pPr algn="ctr" indent="0" marL="0">
              <a:buNone/>
            </a:pPr>
            <a:r>
              <a:rPr lang="en-US" sz="1200" dirty="0">
                <a:solidFill>
                  <a:schemeClr val="accent5"/>
                </a:solidFill>
              </a:rPr>
              <a:t>Fuel › Add Fuel</a:t>
            </a:r>
            <a:endParaRPr lang="en-US" sz="1500" dirty="0"/>
          </a:p>
        </p:txBody>
      </p:sp>
      <p:sp>
        <p:nvSpPr>
          <p:cNvPr id="26" name="anim5-574"/>
          <p:cNvSpPr/>
          <p:nvPr/>
        </p:nvSpPr>
        <p:spPr>
          <a:xfrm>
            <a:off x="768096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27" name="anim5-575" descr="preencoded.png">    </p:cNvPr>
          <p:cNvPicPr>
            <a:picLocks noChangeAspect="1"/>
          </p:cNvPicPr>
          <p:nvPr/>
        </p:nvPicPr>
        <p:blipFill>
          <a:blip r:embed="rId6"/>
          <a:stretch>
            <a:fillRect/>
          </a:stretch>
        </p:blipFill>
        <p:spPr>
          <a:xfrm>
            <a:off x="7982712" y="2542032"/>
            <a:ext cx="493776" cy="493776"/>
          </a:xfrm>
          <a:prstGeom prst="rect">
            <a:avLst/>
          </a:prstGeom>
        </p:spPr>
      </p:pic>
      <p:sp>
        <p:nvSpPr>
          <p:cNvPr id="28" name="anim5-576"/>
          <p:cNvSpPr/>
          <p:nvPr/>
        </p:nvSpPr>
        <p:spPr>
          <a:xfrm>
            <a:off x="8485632" y="2148840"/>
            <a:ext cx="384048" cy="384048"/>
          </a:xfrm>
          <a:prstGeom prst="ellipse">
            <a:avLst/>
          </a:prstGeom>
          <a:solidFill>
            <a:schemeClr val="accent4"/>
          </a:solidFill>
          <a:ln w="25400">
            <a:solidFill>
              <a:schemeClr val="bg1"/>
            </a:solidFill>
            <a:prstDash val="solid"/>
          </a:ln>
        </p:spPr>
      </p:sp>
      <p:sp>
        <p:nvSpPr>
          <p:cNvPr id="29" name="anim5-577"/>
          <p:cNvSpPr txBox="1"/>
          <p:nvPr/>
        </p:nvSpPr>
        <p:spPr>
          <a:xfrm>
            <a:off x="848563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0" name="anim5-578"/>
          <p:cNvSpPr txBox="1"/>
          <p:nvPr/>
        </p:nvSpPr>
        <p:spPr>
          <a:xfrm>
            <a:off x="7223760" y="3520440"/>
            <a:ext cx="2011680" cy="1005840"/>
          </a:xfrm>
          <a:prstGeom prst="rect">
            <a:avLst/>
          </a:prstGeom>
          <a:noFill/>
          <a:ln/>
        </p:spPr>
        <p:txBody>
          <a:bodyPr wrap="square" rtlCol="0" anchor="t"/>
          <a:lstStyle/>
          <a:p>
            <a:pPr algn="ctr" indent="0" marL="0">
              <a:buNone/>
            </a:pPr>
            <a:r>
              <a:rPr lang="en-US" sz="1600" b="1" dirty="0">
                <a:solidFill>
                  <a:schemeClr val="tx2"/>
                </a:solidFill>
              </a:rPr>
              <a:t>Argent reçu</a:t>
            </a:r>
            <a:endParaRPr lang="en-US" sz="1500" dirty="0"/>
          </a:p>
          <a:p>
            <a:pPr algn="ctr" indent="0" marL="0">
              <a:buNone/>
            </a:pPr>
            <a:r>
              <a:rPr lang="en-US" sz="1200" dirty="0">
                <a:solidFill>
                  <a:schemeClr val="accent5"/>
                </a:solidFill>
              </a:rPr>
              <a:t>Accounts › Add Transactions</a:t>
            </a:r>
            <a:endParaRPr lang="en-US" sz="1500" dirty="0"/>
          </a:p>
        </p:txBody>
      </p:sp>
      <p:sp>
        <p:nvSpPr>
          <p:cNvPr id="31" name="anim6-579"/>
          <p:cNvSpPr/>
          <p:nvPr/>
        </p:nvSpPr>
        <p:spPr>
          <a:xfrm>
            <a:off x="982980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32" name="anim6-580" descr="preencoded.png">    </p:cNvPr>
          <p:cNvPicPr>
            <a:picLocks noChangeAspect="1"/>
          </p:cNvPicPr>
          <p:nvPr/>
        </p:nvPicPr>
        <p:blipFill>
          <a:blip r:embed="rId7"/>
          <a:stretch>
            <a:fillRect/>
          </a:stretch>
        </p:blipFill>
        <p:spPr>
          <a:xfrm>
            <a:off x="10131552" y="2542032"/>
            <a:ext cx="493776" cy="493776"/>
          </a:xfrm>
          <a:prstGeom prst="rect">
            <a:avLst/>
          </a:prstGeom>
        </p:spPr>
      </p:pic>
      <p:sp>
        <p:nvSpPr>
          <p:cNvPr id="33" name="anim6-581"/>
          <p:cNvSpPr/>
          <p:nvPr/>
        </p:nvSpPr>
        <p:spPr>
          <a:xfrm>
            <a:off x="10634472" y="2148840"/>
            <a:ext cx="384048" cy="384048"/>
          </a:xfrm>
          <a:prstGeom prst="ellipse">
            <a:avLst/>
          </a:prstGeom>
          <a:solidFill>
            <a:schemeClr val="accent4"/>
          </a:solidFill>
          <a:ln w="25400">
            <a:solidFill>
              <a:schemeClr val="bg1"/>
            </a:solidFill>
            <a:prstDash val="solid"/>
          </a:ln>
        </p:spPr>
      </p:sp>
      <p:sp>
        <p:nvSpPr>
          <p:cNvPr id="34" name="anim6-582"/>
          <p:cNvSpPr txBox="1"/>
          <p:nvPr/>
        </p:nvSpPr>
        <p:spPr>
          <a:xfrm>
            <a:off x="1063447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anim6-583"/>
          <p:cNvSpPr txBox="1"/>
          <p:nvPr/>
        </p:nvSpPr>
        <p:spPr>
          <a:xfrm>
            <a:off x="9372600" y="3520440"/>
            <a:ext cx="2011680" cy="1005840"/>
          </a:xfrm>
          <a:prstGeom prst="rect">
            <a:avLst/>
          </a:prstGeom>
          <a:noFill/>
          <a:ln/>
        </p:spPr>
        <p:txBody>
          <a:bodyPr wrap="square" rtlCol="0" anchor="t"/>
          <a:lstStyle/>
          <a:p>
            <a:pPr algn="ctr" indent="0" marL="0">
              <a:buNone/>
            </a:pPr>
            <a:r>
              <a:rPr lang="en-US" sz="1600" b="1" dirty="0">
                <a:solidFill>
                  <a:schemeClr val="tx2"/>
                </a:solidFill>
              </a:rPr>
              <a:t>Tableau de bord et rapport</a:t>
            </a:r>
            <a:endParaRPr lang="en-US" sz="1500" dirty="0"/>
          </a:p>
          <a:p>
            <a:pPr algn="ctr" indent="0" marL="0">
              <a:buNone/>
            </a:pPr>
            <a:r>
              <a:rPr lang="en-US" sz="1200" dirty="0">
                <a:solidFill>
                  <a:schemeClr val="accent5"/>
                </a:solidFill>
              </a:rPr>
              <a:t>Dashboard · Reports</a:t>
            </a:r>
            <a:endParaRPr lang="en-US" sz="1500" dirty="0"/>
          </a:p>
        </p:txBody>
      </p:sp>
      <p:sp>
        <p:nvSpPr>
          <p:cNvPr id="36" name="anim7-584"/>
          <p:cNvSpPr/>
          <p:nvPr/>
        </p:nvSpPr>
        <p:spPr>
          <a:xfrm>
            <a:off x="548640" y="4846320"/>
            <a:ext cx="11064240" cy="1188720"/>
          </a:xfrm>
          <a:prstGeom prst="roundRect">
            <a:avLst>
              <a:gd name="adj" fmla="val 9231"/>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37" name="anim7-585"/>
          <p:cNvSpPr/>
          <p:nvPr/>
        </p:nvSpPr>
        <p:spPr>
          <a:xfrm>
            <a:off x="777240" y="5074920"/>
            <a:ext cx="731520" cy="731520"/>
          </a:xfrm>
          <a:prstGeom prst="roundRect">
            <a:avLst>
              <a:gd name="adj" fmla="val 22000"/>
            </a:avLst>
          </a:prstGeom>
          <a:solidFill>
            <a:schemeClr val="accent1"/>
          </a:solidFill>
          <a:ln w="12700">
            <a:solidFill>
              <a:schemeClr val="accent1"/>
            </a:solidFill>
            <a:prstDash val="solid"/>
          </a:ln>
        </p:spPr>
      </p:sp>
      <p:pic>
        <p:nvPicPr>
          <p:cNvPr id="38" name="anim7-586" descr="preencoded.png">    </p:cNvPr>
          <p:cNvPicPr>
            <a:picLocks noChangeAspect="1"/>
          </p:cNvPicPr>
          <p:nvPr/>
        </p:nvPicPr>
        <p:blipFill>
          <a:blip r:embed="rId8"/>
          <a:stretch>
            <a:fillRect/>
          </a:stretch>
        </p:blipFill>
        <p:spPr>
          <a:xfrm>
            <a:off x="967435" y="5265115"/>
            <a:ext cx="351130" cy="351130"/>
          </a:xfrm>
          <a:prstGeom prst="rect">
            <a:avLst/>
          </a:prstGeom>
        </p:spPr>
      </p:pic>
      <p:sp>
        <p:nvSpPr>
          <p:cNvPr id="39" name="anim7-587"/>
          <p:cNvSpPr txBox="1"/>
          <p:nvPr/>
        </p:nvSpPr>
        <p:spPr>
          <a:xfrm>
            <a:off x="1737360" y="4846320"/>
            <a:ext cx="9692640" cy="1188720"/>
          </a:xfrm>
          <a:prstGeom prst="rect">
            <a:avLst/>
          </a:prstGeom>
          <a:noFill/>
          <a:ln/>
        </p:spPr>
        <p:txBody>
          <a:bodyPr wrap="square" rtlCol="0" anchor="ctr"/>
          <a:lstStyle/>
          <a:p>
            <a:pPr indent="0" marL="0">
              <a:buNone/>
            </a:pPr>
            <a:r>
              <a:rPr lang="en-US" sz="1500" b="1" dirty="0">
                <a:solidFill>
                  <a:schemeClr val="accent2"/>
                </a:solidFill>
              </a:rPr>
              <a:t>Objectif  </a:t>
            </a:r>
            <a:pPr indent="0" marL="0">
              <a:buNone/>
            </a:pPr>
            <a:r>
              <a:rPr lang="en-US" sz="1500" dirty="0">
                <a:solidFill>
                  <a:schemeClr val="bg1"/>
                </a:solidFill>
              </a:rPr>
              <a:t>voir qu'on note une seule fois, et que tout se met à jour : le calendrier, l'argent, le tableau de bord et les rapports.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9" fill="hold">
                      <p:stCondLst>
                        <p:cond delay="indefinite"/>
                        <p:cond evt="onBegin" delay="0">
                          <p:tn val="2"/>
                        </p:cond>
                      </p:stCondLst>
                      <p:childTnLst>
                        <p:par>
                          <p:cTn id="100"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2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25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25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2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2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5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5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50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50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5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7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75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75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100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100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10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par>
                                <p:cTn id="66" presetID="10" presetClass="entr" presetSubtype="0" fill="hold" nodeType="withEffect">
                                  <p:stCondLst>
                                    <p:cond delay="1000"/>
                                  </p:stCondLst>
                                  <p:childTnLst>
                                    <p:set>
                                      <p:cBhvr>
                                        <p:cTn id="67" dur="1" fill="hold">
                                          <p:stCondLst>
                                            <p:cond delay="0"/>
                                          </p:stCondLst>
                                        </p:cTn>
                                        <p:tgtEl>
                                          <p:spTgt spid="29"/>
                                        </p:tgtEl>
                                        <p:attrNameLst>
                                          <p:attrName>style.visibility</p:attrName>
                                        </p:attrNameLst>
                                      </p:cBhvr>
                                      <p:to>
                                        <p:strVal val="visible"/>
                                      </p:to>
                                    </p:set>
                                    <p:animEffect transition="in" filter="fade">
                                      <p:cBhvr>
                                        <p:cTn id="68" dur="500"/>
                                        <p:tgtEl>
                                          <p:spTgt spid="29"/>
                                        </p:tgtEl>
                                      </p:cBhvr>
                                    </p:animEffect>
                                  </p:childTnLst>
                                </p:cTn>
                              </p:par>
                              <p:par>
                                <p:cTn id="69" presetID="10" presetClass="entr" presetSubtype="0" fill="hold" nodeType="withEffect">
                                  <p:stCondLst>
                                    <p:cond delay="100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00"/>
                                        <p:tgtEl>
                                          <p:spTgt spid="30"/>
                                        </p:tgtEl>
                                      </p:cBhvr>
                                    </p:animEffect>
                                  </p:childTnLst>
                                </p:cTn>
                              </p:par>
                              <p:par>
                                <p:cTn id="72" presetID="10" presetClass="entr" presetSubtype="0" fill="hold" nodeType="withEffect">
                                  <p:stCondLst>
                                    <p:cond delay="125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childTnLst>
                                </p:cTn>
                              </p:par>
                              <p:par>
                                <p:cTn id="75" presetID="10" presetClass="entr" presetSubtype="0" fill="hold" nodeType="withEffect">
                                  <p:stCondLst>
                                    <p:cond delay="125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00"/>
                                        <p:tgtEl>
                                          <p:spTgt spid="32"/>
                                        </p:tgtEl>
                                      </p:cBhvr>
                                    </p:animEffect>
                                  </p:childTnLst>
                                </p:cTn>
                              </p:par>
                              <p:par>
                                <p:cTn id="78" presetID="10" presetClass="entr" presetSubtype="0" fill="hold" nodeType="withEffect">
                                  <p:stCondLst>
                                    <p:cond delay="1250"/>
                                  </p:stCondLst>
                                  <p:childTnLst>
                                    <p:set>
                                      <p:cBhvr>
                                        <p:cTn id="79" dur="1" fill="hold">
                                          <p:stCondLst>
                                            <p:cond delay="0"/>
                                          </p:stCondLst>
                                        </p:cTn>
                                        <p:tgtEl>
                                          <p:spTgt spid="33"/>
                                        </p:tgtEl>
                                        <p:attrNameLst>
                                          <p:attrName>style.visibility</p:attrName>
                                        </p:attrNameLst>
                                      </p:cBhvr>
                                      <p:to>
                                        <p:strVal val="visible"/>
                                      </p:to>
                                    </p:set>
                                    <p:animEffect transition="in" filter="fade">
                                      <p:cBhvr>
                                        <p:cTn id="80" dur="500"/>
                                        <p:tgtEl>
                                          <p:spTgt spid="33"/>
                                        </p:tgtEl>
                                      </p:cBhvr>
                                    </p:animEffect>
                                  </p:childTnLst>
                                </p:cTn>
                              </p:par>
                              <p:par>
                                <p:cTn id="81" presetID="10" presetClass="entr" presetSubtype="0" fill="hold" nodeType="withEffect">
                                  <p:stCondLst>
                                    <p:cond delay="1250"/>
                                  </p:stCondLst>
                                  <p:childTnLst>
                                    <p:set>
                                      <p:cBhvr>
                                        <p:cTn id="82" dur="1" fill="hold">
                                          <p:stCondLst>
                                            <p:cond delay="0"/>
                                          </p:stCondLst>
                                        </p:cTn>
                                        <p:tgtEl>
                                          <p:spTgt spid="34"/>
                                        </p:tgtEl>
                                        <p:attrNameLst>
                                          <p:attrName>style.visibility</p:attrName>
                                        </p:attrNameLst>
                                      </p:cBhvr>
                                      <p:to>
                                        <p:strVal val="visible"/>
                                      </p:to>
                                    </p:set>
                                    <p:animEffect transition="in" filter="fade">
                                      <p:cBhvr>
                                        <p:cTn id="83" dur="500"/>
                                        <p:tgtEl>
                                          <p:spTgt spid="34"/>
                                        </p:tgtEl>
                                      </p:cBhvr>
                                    </p:animEffect>
                                  </p:childTnLst>
                                </p:cTn>
                              </p:par>
                              <p:par>
                                <p:cTn id="84" presetID="10" presetClass="entr" presetSubtype="0" fill="hold" nodeType="withEffect">
                                  <p:stCondLst>
                                    <p:cond delay="1250"/>
                                  </p:stCondLst>
                                  <p:childTnLst>
                                    <p:set>
                                      <p:cBhvr>
                                        <p:cTn id="85" dur="1" fill="hold">
                                          <p:stCondLst>
                                            <p:cond delay="0"/>
                                          </p:stCondLst>
                                        </p:cTn>
                                        <p:tgtEl>
                                          <p:spTgt spid="35"/>
                                        </p:tgtEl>
                                        <p:attrNameLst>
                                          <p:attrName>style.visibility</p:attrName>
                                        </p:attrNameLst>
                                      </p:cBhvr>
                                      <p:to>
                                        <p:strVal val="visible"/>
                                      </p:to>
                                    </p:set>
                                    <p:animEffect transition="in" filter="fade">
                                      <p:cBhvr>
                                        <p:cTn id="86" dur="500"/>
                                        <p:tgtEl>
                                          <p:spTgt spid="35"/>
                                        </p:tgtEl>
                                      </p:cBhvr>
                                    </p:animEffect>
                                  </p:childTnLst>
                                </p:cTn>
                              </p:par>
                              <p:par>
                                <p:cTn id="87" presetID="10" presetClass="entr" presetSubtype="0" fill="hold" nodeType="withEffect">
                                  <p:stCondLst>
                                    <p:cond delay="150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00"/>
                                        <p:tgtEl>
                                          <p:spTgt spid="36"/>
                                        </p:tgtEl>
                                      </p:cBhvr>
                                    </p:animEffect>
                                  </p:childTnLst>
                                </p:cTn>
                              </p:par>
                              <p:par>
                                <p:cTn id="90" presetID="10" presetClass="entr" presetSubtype="0" fill="hold" nodeType="withEffect">
                                  <p:stCondLst>
                                    <p:cond delay="1500"/>
                                  </p:stCondLst>
                                  <p:childTnLst>
                                    <p:set>
                                      <p:cBhvr>
                                        <p:cTn id="91" dur="1" fill="hold">
                                          <p:stCondLst>
                                            <p:cond delay="0"/>
                                          </p:stCondLst>
                                        </p:cTn>
                                        <p:tgtEl>
                                          <p:spTgt spid="37"/>
                                        </p:tgtEl>
                                        <p:attrNameLst>
                                          <p:attrName>style.visibility</p:attrName>
                                        </p:attrNameLst>
                                      </p:cBhvr>
                                      <p:to>
                                        <p:strVal val="visible"/>
                                      </p:to>
                                    </p:set>
                                    <p:animEffect transition="in" filter="fade">
                                      <p:cBhvr>
                                        <p:cTn id="92" dur="500"/>
                                        <p:tgtEl>
                                          <p:spTgt spid="37"/>
                                        </p:tgtEl>
                                      </p:cBhvr>
                                    </p:animEffect>
                                  </p:childTnLst>
                                </p:cTn>
                              </p:par>
                              <p:par>
                                <p:cTn id="93" presetID="10" presetClass="entr" presetSubtype="0" fill="hold" nodeType="withEffect">
                                  <p:stCondLst>
                                    <p:cond delay="150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00"/>
                                        <p:tgtEl>
                                          <p:spTgt spid="38"/>
                                        </p:tgtEl>
                                      </p:cBhvr>
                                    </p:animEffect>
                                  </p:childTnLst>
                                </p:cTn>
                              </p:par>
                              <p:par>
                                <p:cTn id="96" presetID="10" presetClass="entr" presetSubtype="0" fill="hold" nodeType="withEffect">
                                  <p:stCondLst>
                                    <p:cond delay="1500"/>
                                  </p:stCondLst>
                                  <p:childTnLst>
                                    <p:set>
                                      <p:cBhvr>
                                        <p:cTn id="97" dur="1" fill="hold">
                                          <p:stCondLst>
                                            <p:cond delay="0"/>
                                          </p:stCondLst>
                                        </p:cTn>
                                        <p:tgtEl>
                                          <p:spTgt spid="39"/>
                                        </p:tgtEl>
                                        <p:attrNameLst>
                                          <p:attrName>style.visibility</p:attrName>
                                        </p:attrNameLst>
                                      </p:cBhvr>
                                      <p:to>
                                        <p:strVal val="visible"/>
                                      </p:to>
                                    </p:set>
                                    <p:animEffect transition="in" filter="fade">
                                      <p:cBhvr>
                                        <p:cTn id="98"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9" grpId="0" animBg="1"/>
      <p:bldP spid="20" grpId="0" animBg="1"/>
      <p:bldP spid="24" grpId="0" animBg="1"/>
      <p:bldP spid="25" grpId="0" animBg="1"/>
      <p:bldP spid="29" grpId="0" animBg="1"/>
      <p:bldP spid="30" grpId="0" animBg="1"/>
      <p:bldP spid="34" grpId="0" animBg="1"/>
      <p:bldP spid="35" grpId="0" animBg="1"/>
      <p:bldP spid="3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8412480" y="822960"/>
            <a:ext cx="3566160" cy="3566160"/>
          </a:xfrm>
          <a:prstGeom prst="ellipse">
            <a:avLst/>
          </a:prstGeom>
          <a:solidFill>
            <a:schemeClr val="accent1">
              <a:alpha val="45000"/>
            </a:schemeClr>
          </a:solidFill>
          <a:ln w="12700">
            <a:solidFill>
              <a:schemeClr val="accent2">
                <a:alpha val="40000"/>
              </a:schemeClr>
            </a:solidFill>
            <a:prstDash val="solid"/>
          </a:ln>
        </p:spPr>
      </p:sp>
      <p:pic>
        <p:nvPicPr>
          <p:cNvPr id="3" name="anim1-588" descr="preencoded.png">    </p:cNvPr>
          <p:cNvPicPr>
            <a:picLocks noChangeAspect="1"/>
          </p:cNvPicPr>
          <p:nvPr/>
        </p:nvPicPr>
        <p:blipFill>
          <a:blip r:embed="rId1"/>
          <a:stretch>
            <a:fillRect/>
          </a:stretch>
        </p:blipFill>
        <p:spPr>
          <a:xfrm>
            <a:off x="9189720" y="1600200"/>
            <a:ext cx="2011680" cy="2011680"/>
          </a:xfrm>
          <a:prstGeom prst="rect">
            <a:avLst/>
          </a:prstGeom>
        </p:spPr>
      </p:pic>
      <p:sp>
        <p:nvSpPr>
          <p:cNvPr id="4" name="Text 0"/>
          <p:cNvSpPr/>
          <p:nvPr>
            <p:ph idx="100" type="title" hasCustomPrompt="1"/>
          </p:nvPr>
        </p:nvSpPr>
        <p:spPr>
          <a:xfrm>
            <a:off x="731520" y="1828800"/>
            <a:ext cx="6583680" cy="1737360"/>
          </a:xfrm>
          <a:prstGeom prst="rect">
            <a:avLst/>
          </a:prstGeom>
          <a:noFill/>
          <a:ln/>
        </p:spPr>
        <p:txBody>
          <a:bodyPr wrap="square" rtlCol="0" anchor="b"/>
          <a:lstStyle/>
          <a:p>
            <a:pPr algn="l" indent="0" marL="0">
              <a:buNone/>
            </a:pPr>
            <a:r>
              <a:rPr lang="en-US" sz="4000" b="1" dirty="0">
                <a:solidFill>
                  <a:schemeClr val="bg1"/>
                </a:solidFill>
              </a:rPr>
              <a:t>Questions et échanges</a:t>
            </a:r>
            <a:endParaRPr lang="en-US" sz="4000" dirty="0"/>
          </a:p>
        </p:txBody>
      </p:sp>
      <p:sp>
        <p:nvSpPr>
          <p:cNvPr id="5" name="anim2-589"/>
          <p:cNvSpPr txBox="1"/>
          <p:nvPr/>
        </p:nvSpPr>
        <p:spPr>
          <a:xfrm>
            <a:off x="731520" y="3703320"/>
            <a:ext cx="6583680" cy="548640"/>
          </a:xfrm>
          <a:prstGeom prst="rect">
            <a:avLst/>
          </a:prstGeom>
          <a:noFill/>
          <a:ln/>
        </p:spPr>
        <p:txBody>
          <a:bodyPr wrap="square" rtlCol="0" anchor="t"/>
          <a:lstStyle/>
          <a:p>
            <a:pPr indent="0" marL="0">
              <a:buNone/>
            </a:pPr>
            <a:r>
              <a:rPr lang="en-US" sz="2000" dirty="0">
                <a:solidFill>
                  <a:schemeClr val="accent2"/>
                </a:solidFill>
              </a:rPr>
              <a:t>Merci de votre attention</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0">
  <p:cSld name="Slide 27">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Coûts de fonctionnement</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RÉSERVE</a:t>
            </a:r>
            <a:endParaRPr lang="en-US" sz="1000" dirty="0"/>
          </a:p>
        </p:txBody>
      </p:sp>
      <p:sp>
        <p:nvSpPr>
          <p:cNvPr id="7" name="anim1-590"/>
          <p:cNvSpPr/>
          <p:nvPr/>
        </p:nvSpPr>
        <p:spPr>
          <a:xfrm>
            <a:off x="548640" y="1463040"/>
            <a:ext cx="5120640" cy="2103120"/>
          </a:xfrm>
          <a:prstGeom prst="roundRect">
            <a:avLst>
              <a:gd name="adj" fmla="val 5217"/>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8" name="anim1-591"/>
          <p:cNvSpPr/>
          <p:nvPr/>
        </p:nvSpPr>
        <p:spPr>
          <a:xfrm>
            <a:off x="777240" y="1691640"/>
            <a:ext cx="548640" cy="548640"/>
          </a:xfrm>
          <a:prstGeom prst="roundRect">
            <a:avLst>
              <a:gd name="adj" fmla="val 22000"/>
            </a:avLst>
          </a:prstGeom>
          <a:solidFill>
            <a:schemeClr val="bg2"/>
          </a:solidFill>
          <a:ln w="12700">
            <a:solidFill>
              <a:schemeClr val="bg2"/>
            </a:solidFill>
            <a:prstDash val="solid"/>
          </a:ln>
        </p:spPr>
      </p:sp>
      <p:pic>
        <p:nvPicPr>
          <p:cNvPr id="9" name="anim1-592" descr="preencoded.png">    </p:cNvPr>
          <p:cNvPicPr>
            <a:picLocks noChangeAspect="1"/>
          </p:cNvPicPr>
          <p:nvPr/>
        </p:nvPicPr>
        <p:blipFill>
          <a:blip r:embed="rId2"/>
          <a:stretch>
            <a:fillRect/>
          </a:stretch>
        </p:blipFill>
        <p:spPr>
          <a:xfrm>
            <a:off x="919886" y="1834286"/>
            <a:ext cx="263347" cy="263347"/>
          </a:xfrm>
          <a:prstGeom prst="rect">
            <a:avLst/>
          </a:prstGeom>
        </p:spPr>
      </p:pic>
      <p:sp>
        <p:nvSpPr>
          <p:cNvPr id="10" name="anim1-593"/>
          <p:cNvSpPr txBox="1"/>
          <p:nvPr/>
        </p:nvSpPr>
        <p:spPr>
          <a:xfrm>
            <a:off x="1463040" y="1691640"/>
            <a:ext cx="4023360" cy="548640"/>
          </a:xfrm>
          <a:prstGeom prst="rect">
            <a:avLst/>
          </a:prstGeom>
          <a:noFill/>
          <a:ln/>
        </p:spPr>
        <p:txBody>
          <a:bodyPr wrap="square" rtlCol="0" anchor="ctr"/>
          <a:lstStyle/>
          <a:p>
            <a:pPr indent="0" marL="0">
              <a:buNone/>
            </a:pPr>
            <a:r>
              <a:rPr lang="en-US" sz="1600" b="1" dirty="0">
                <a:solidFill>
                  <a:schemeClr val="tx2"/>
                </a:solidFill>
              </a:rPr>
              <a:t>Hébergement du serveur</a:t>
            </a:r>
            <a:endParaRPr lang="en-US" sz="1600" dirty="0"/>
          </a:p>
        </p:txBody>
      </p:sp>
      <p:sp>
        <p:nvSpPr>
          <p:cNvPr id="11" name="anim1-594"/>
          <p:cNvSpPr txBox="1"/>
          <p:nvPr/>
        </p:nvSpPr>
        <p:spPr>
          <a:xfrm>
            <a:off x="777240" y="2377440"/>
            <a:ext cx="4754880" cy="1097280"/>
          </a:xfrm>
          <a:prstGeom prst="rect">
            <a:avLst/>
          </a:prstGeom>
          <a:noFill/>
          <a:ln/>
        </p:spPr>
        <p:txBody>
          <a:bodyPr wrap="square" rtlCol="0" anchor="t"/>
          <a:lstStyle/>
          <a:p>
            <a:pPr indent="0" marL="0">
              <a:buNone/>
            </a:pPr>
            <a:r>
              <a:rPr lang="en-US" sz="3200" b="1" dirty="0">
                <a:solidFill>
                  <a:schemeClr val="tx2"/>
                </a:solidFill>
              </a:rPr>
              <a:t>100 000 FCFA</a:t>
            </a:r>
            <a:endParaRPr lang="en-US" sz="1500" dirty="0"/>
          </a:p>
          <a:p>
            <a:pPr indent="0" marL="0">
              <a:buNone/>
            </a:pPr>
            <a:r>
              <a:rPr lang="en-US" sz="1600" dirty="0">
                <a:solidFill>
                  <a:schemeClr val="accent5"/>
                </a:solidFill>
              </a:rPr>
              <a:t>par an</a:t>
            </a:r>
            <a:endParaRPr lang="en-US" sz="1500" dirty="0"/>
          </a:p>
        </p:txBody>
      </p:sp>
      <p:sp>
        <p:nvSpPr>
          <p:cNvPr id="12" name="anim2-595"/>
          <p:cNvSpPr/>
          <p:nvPr/>
        </p:nvSpPr>
        <p:spPr>
          <a:xfrm>
            <a:off x="548640" y="3840480"/>
            <a:ext cx="5120640" cy="2103120"/>
          </a:xfrm>
          <a:prstGeom prst="roundRect">
            <a:avLst>
              <a:gd name="adj" fmla="val 5217"/>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3" name="anim2-596"/>
          <p:cNvSpPr/>
          <p:nvPr/>
        </p:nvSpPr>
        <p:spPr>
          <a:xfrm>
            <a:off x="777240" y="4069080"/>
            <a:ext cx="548640" cy="548640"/>
          </a:xfrm>
          <a:prstGeom prst="roundRect">
            <a:avLst>
              <a:gd name="adj" fmla="val 22000"/>
            </a:avLst>
          </a:prstGeom>
          <a:solidFill>
            <a:schemeClr val="bg2"/>
          </a:solidFill>
          <a:ln w="12700">
            <a:solidFill>
              <a:schemeClr val="bg2"/>
            </a:solidFill>
            <a:prstDash val="solid"/>
          </a:ln>
        </p:spPr>
      </p:sp>
      <p:pic>
        <p:nvPicPr>
          <p:cNvPr id="14" name="anim2-597" descr="preencoded.png">    </p:cNvPr>
          <p:cNvPicPr>
            <a:picLocks noChangeAspect="1"/>
          </p:cNvPicPr>
          <p:nvPr/>
        </p:nvPicPr>
        <p:blipFill>
          <a:blip r:embed="rId3"/>
          <a:stretch>
            <a:fillRect/>
          </a:stretch>
        </p:blipFill>
        <p:spPr>
          <a:xfrm>
            <a:off x="919886" y="4211726"/>
            <a:ext cx="263347" cy="263347"/>
          </a:xfrm>
          <a:prstGeom prst="rect">
            <a:avLst/>
          </a:prstGeom>
        </p:spPr>
      </p:pic>
      <p:sp>
        <p:nvSpPr>
          <p:cNvPr id="15" name="anim2-598"/>
          <p:cNvSpPr txBox="1"/>
          <p:nvPr/>
        </p:nvSpPr>
        <p:spPr>
          <a:xfrm>
            <a:off x="1463040" y="4069080"/>
            <a:ext cx="4023360" cy="548640"/>
          </a:xfrm>
          <a:prstGeom prst="rect">
            <a:avLst/>
          </a:prstGeom>
          <a:noFill/>
          <a:ln/>
        </p:spPr>
        <p:txBody>
          <a:bodyPr wrap="square" rtlCol="0" anchor="ctr"/>
          <a:lstStyle/>
          <a:p>
            <a:pPr indent="0" marL="0">
              <a:buNone/>
            </a:pPr>
            <a:r>
              <a:rPr lang="en-US" sz="1600" b="1" dirty="0">
                <a:solidFill>
                  <a:schemeClr val="tx2"/>
                </a:solidFill>
              </a:rPr>
              <a:t>Maintenance</a:t>
            </a:r>
            <a:endParaRPr lang="en-US" sz="1600" dirty="0"/>
          </a:p>
        </p:txBody>
      </p:sp>
      <p:sp>
        <p:nvSpPr>
          <p:cNvPr id="16" name="anim2-599"/>
          <p:cNvSpPr txBox="1"/>
          <p:nvPr/>
        </p:nvSpPr>
        <p:spPr>
          <a:xfrm>
            <a:off x="777240" y="4754880"/>
            <a:ext cx="4754880" cy="1097280"/>
          </a:xfrm>
          <a:prstGeom prst="rect">
            <a:avLst/>
          </a:prstGeom>
          <a:noFill/>
          <a:ln/>
        </p:spPr>
        <p:txBody>
          <a:bodyPr wrap="square" rtlCol="0" anchor="t"/>
          <a:lstStyle/>
          <a:p>
            <a:pPr indent="0" marL="0">
              <a:buNone/>
            </a:pPr>
            <a:r>
              <a:rPr lang="en-US" sz="3200" b="1" dirty="0">
                <a:solidFill>
                  <a:schemeClr val="tx2"/>
                </a:solidFill>
              </a:rPr>
              <a:t>100 000 FCFA</a:t>
            </a:r>
            <a:endParaRPr lang="en-US" sz="1500" dirty="0"/>
          </a:p>
          <a:p>
            <a:pPr indent="0" marL="0">
              <a:buNone/>
            </a:pPr>
            <a:r>
              <a:rPr lang="en-US" sz="1600" dirty="0">
                <a:solidFill>
                  <a:schemeClr val="accent5"/>
                </a:solidFill>
              </a:rPr>
              <a:t>par mois, formation des agents comprise</a:t>
            </a:r>
            <a:endParaRPr lang="en-US" sz="1500" dirty="0"/>
          </a:p>
        </p:txBody>
      </p:sp>
      <p:sp>
        <p:nvSpPr>
          <p:cNvPr id="17" name="anim3-600"/>
          <p:cNvSpPr txBox="1"/>
          <p:nvPr/>
        </p:nvSpPr>
        <p:spPr>
          <a:xfrm>
            <a:off x="6126480" y="1463040"/>
            <a:ext cx="5486400" cy="411480"/>
          </a:xfrm>
          <a:prstGeom prst="rect">
            <a:avLst/>
          </a:prstGeom>
          <a:noFill/>
          <a:ln/>
        </p:spPr>
        <p:txBody>
          <a:bodyPr wrap="square" rtlCol="0" anchor="t"/>
          <a:lstStyle/>
          <a:p>
            <a:pPr indent="0" marL="0">
              <a:buNone/>
            </a:pPr>
            <a:r>
              <a:rPr lang="en-US" sz="1700" b="1" dirty="0">
                <a:solidFill>
                  <a:schemeClr val="tx2"/>
                </a:solidFill>
              </a:rPr>
              <a:t>Calendrier de paiement de la maintenance</a:t>
            </a:r>
            <a:endParaRPr lang="en-US" sz="1700" dirty="0"/>
          </a:p>
        </p:txBody>
      </p:sp>
      <p:sp>
        <p:nvSpPr>
          <p:cNvPr id="18" name="anim3-601"/>
          <p:cNvSpPr/>
          <p:nvPr/>
        </p:nvSpPr>
        <p:spPr>
          <a:xfrm>
            <a:off x="6126480" y="2011680"/>
            <a:ext cx="5532120" cy="1737360"/>
          </a:xfrm>
          <a:prstGeom prst="roundRect">
            <a:avLst>
              <a:gd name="adj" fmla="val 6316"/>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19" name="anim3-602"/>
          <p:cNvSpPr txBox="1"/>
          <p:nvPr/>
        </p:nvSpPr>
        <p:spPr>
          <a:xfrm>
            <a:off x="6355080" y="2103120"/>
            <a:ext cx="5120640" cy="1554480"/>
          </a:xfrm>
          <a:prstGeom prst="rect">
            <a:avLst/>
          </a:prstGeom>
          <a:noFill/>
          <a:ln/>
        </p:spPr>
        <p:txBody>
          <a:bodyPr wrap="square" rtlCol="0" anchor="ctr"/>
          <a:lstStyle/>
          <a:p>
            <a:pPr indent="0" marL="0">
              <a:buNone/>
            </a:pPr>
            <a:r>
              <a:rPr lang="en-US" sz="2000" b="1" dirty="0">
                <a:solidFill>
                  <a:schemeClr val="bg1"/>
                </a:solidFill>
              </a:rPr>
              <a:t>Premier paiement : 300 000 FCFA</a:t>
            </a:r>
            <a:endParaRPr lang="en-US" sz="1500" dirty="0"/>
          </a:p>
          <a:p>
            <a:pPr indent="0" marL="0">
              <a:buNone/>
            </a:pPr>
            <a:r>
              <a:rPr lang="en-US" sz="1500" dirty="0">
                <a:solidFill>
                  <a:schemeClr val="accent2"/>
                </a:solidFill>
              </a:rPr>
              <a:t>1er mois de maintenance + 2 mois payés d'avance (mois 2 et 3)</a:t>
            </a:r>
            <a:endParaRPr lang="en-US" sz="1500" dirty="0"/>
          </a:p>
        </p:txBody>
      </p:sp>
      <p:sp>
        <p:nvSpPr>
          <p:cNvPr id="20" name="anim4-603"/>
          <p:cNvSpPr/>
          <p:nvPr/>
        </p:nvSpPr>
        <p:spPr>
          <a:xfrm>
            <a:off x="8686800" y="3840480"/>
            <a:ext cx="411480" cy="411480"/>
          </a:xfrm>
          <a:prstGeom prst="downArrow">
            <a:avLst/>
          </a:prstGeom>
          <a:solidFill>
            <a:schemeClr val="accent1"/>
          </a:solidFill>
          <a:ln w="12700">
            <a:solidFill>
              <a:schemeClr val="accent1"/>
            </a:solidFill>
            <a:prstDash val="solid"/>
          </a:ln>
        </p:spPr>
      </p:sp>
      <p:sp>
        <p:nvSpPr>
          <p:cNvPr id="21" name="anim4-604"/>
          <p:cNvSpPr/>
          <p:nvPr/>
        </p:nvSpPr>
        <p:spPr>
          <a:xfrm>
            <a:off x="6126480" y="4343400"/>
            <a:ext cx="5532120" cy="1600200"/>
          </a:xfrm>
          <a:prstGeom prst="roundRect">
            <a:avLst>
              <a:gd name="adj" fmla="val 6857"/>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605"/>
          <p:cNvSpPr txBox="1"/>
          <p:nvPr/>
        </p:nvSpPr>
        <p:spPr>
          <a:xfrm>
            <a:off x="6355080" y="4434840"/>
            <a:ext cx="5120640" cy="1417320"/>
          </a:xfrm>
          <a:prstGeom prst="rect">
            <a:avLst/>
          </a:prstGeom>
          <a:noFill/>
          <a:ln/>
        </p:spPr>
        <p:txBody>
          <a:bodyPr wrap="square" rtlCol="0" anchor="ctr"/>
          <a:lstStyle/>
          <a:p>
            <a:pPr indent="0" marL="0">
              <a:buNone/>
            </a:pPr>
            <a:r>
              <a:rPr lang="en-US" sz="2000" b="1" dirty="0">
                <a:solidFill>
                  <a:schemeClr val="tx2"/>
                </a:solidFill>
              </a:rPr>
              <a:t>À partir du 4ᵉ mois : 100 000 FCFA</a:t>
            </a:r>
            <a:endParaRPr lang="en-US" sz="1500" dirty="0"/>
          </a:p>
          <a:p>
            <a:pPr indent="0" marL="0">
              <a:buNone/>
            </a:pPr>
            <a:r>
              <a:rPr lang="en-US" sz="1500" dirty="0">
                <a:solidFill>
                  <a:schemeClr val="accent5"/>
                </a:solidFill>
              </a:rPr>
              <a:t>réglés chaque mois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500"/>
                                        <p:tgtEl>
                                          <p:spTgt spid="8"/>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25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nodeType="withEffect">
                                  <p:stCondLst>
                                    <p:cond delay="25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25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par>
                                <p:cTn id="27" presetID="10" presetClass="entr" presetSubtype="0" fill="hold" nodeType="withEffect">
                                  <p:stCondLst>
                                    <p:cond delay="25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nodeType="withEffect">
                                  <p:stCondLst>
                                    <p:cond delay="50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50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75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7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75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animBg="1"/>
      <p:bldP spid="16" grpId="0" animBg="1"/>
      <p:bldP spid="17" grpId="0" animBg="1"/>
      <p:bldP spid="19" grpId="0" animBg="1"/>
      <p:bldP spid="22" grpId="0" animBg="1"/>
    </p:bldLst>
  </p:timing>
</p:sld>
</file>

<file path=ppt/theme/theme1.xml><?xml version="1.0" encoding="utf-8"?>
<a:theme xmlns:a="http://schemas.openxmlformats.org/drawingml/2006/main" name="DTI">
  <a:themeElements>
    <a:clrScheme name="DTI">
      <a:dk1>
        <a:srgbClr val="1B2430"/>
      </a:dk1>
      <a:lt1>
        <a:srgbClr val="FFFFFF"/>
      </a:lt1>
      <a:dk2>
        <a:srgbClr val="1E2340"/>
      </a:dk2>
      <a:lt2>
        <a:srgbClr val="EEF2FA"/>
      </a:lt2>
      <a:accent1>
        <a:srgbClr val="3B5BA9"/>
      </a:accent1>
      <a:accent2>
        <a:srgbClr val="A9BCEB"/>
      </a:accent2>
      <a:accent3>
        <a:srgbClr val="3F8A6A"/>
      </a:accent3>
      <a:accent4>
        <a:srgbClr val="C60007"/>
      </a:accent4>
      <a:accent5>
        <a:srgbClr val="6B7584"/>
      </a:accent5>
      <a:accent6>
        <a:srgbClr val="E1E6F0"/>
      </a:accent6>
      <a:hlink>
        <a:srgbClr val="3B5BA9"/>
      </a:hlink>
      <a:folHlink>
        <a:srgbClr val="6B7584"/>
      </a:folHlink>
    </a:clrScheme>
    <a:fontScheme name="DT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Division Terrestre Internationale</dc:title>
  <dc:subject>PptxGenJS Presentation</dc:subject>
  <dc:creator>PptxGenJS</dc:creator>
  <cp:lastModifiedBy>PptxGenJS</cp:lastModifiedBy>
  <cp:revision>1</cp:revision>
  <dcterms:created xsi:type="dcterms:W3CDTF">2026-10-30T03:14:45Z</dcterms:created>
  <dcterms:modified xsi:type="dcterms:W3CDTF">2026-10-30T03:14:45Z</dcterms:modified>
</cp:coreProperties>
</file>